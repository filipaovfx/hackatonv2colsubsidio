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sldIdLst>
    <p:sldId id="412" r:id="rId5"/>
    <p:sldId id="429" r:id="rId6"/>
    <p:sldId id="430" r:id="rId7"/>
    <p:sldId id="431" r:id="rId8"/>
    <p:sldId id="432" r:id="rId9"/>
    <p:sldId id="433" r:id="rId10"/>
    <p:sldId id="434" r:id="rId11"/>
    <p:sldId id="435" r:id="rId12"/>
    <p:sldId id="436" r:id="rId13"/>
    <p:sldId id="437" r:id="rId14"/>
    <p:sldId id="438" r:id="rId15"/>
    <p:sldId id="439" r:id="rId16"/>
    <p:sldId id="440" r:id="rId17"/>
    <p:sldId id="441" r:id="rId18"/>
    <p:sldId id="442" r:id="rId19"/>
    <p:sldId id="443" r:id="rId20"/>
    <p:sldId id="444" r:id="rId21"/>
    <p:sldId id="445" r:id="rId22"/>
    <p:sldId id="446" r:id="rId23"/>
    <p:sldId id="447" r:id="rId24"/>
    <p:sldId id="448" r:id="rId25"/>
    <p:sldId id="449" r:id="rId2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477DAC7-21DC-7088-0C7C-669EB0B5D495}" name="DIEGO GENARO KLINGER DIAZ" initials="DK" userId="S::diegklidia@colsubsidio.com::5007c175-0183-4088-9659-65555e0e71d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1B2F"/>
    <a:srgbClr val="0067B1"/>
    <a:srgbClr val="DB0014"/>
    <a:srgbClr val="5BC514"/>
    <a:srgbClr val="81C3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236772-80C9-412B-9B21-9AB36B2EA5CD}" v="25" dt="2026-01-23T15:49:10.7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176" autoAdjust="0"/>
  </p:normalViewPr>
  <p:slideViewPr>
    <p:cSldViewPr snapToGrid="0">
      <p:cViewPr>
        <p:scale>
          <a:sx n="130" d="100"/>
          <a:sy n="130" d="100"/>
        </p:scale>
        <p:origin x="216" y="-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C29D2D-90F5-4013-83E1-3D6C4BCEC8A7}" type="datetimeFigureOut">
              <a:rPr lang="es-ES" smtClean="0"/>
              <a:t>17/07/2026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76B690-FABF-4DFA-8B18-32240B9BEDCE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6317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6B690-FABF-4DFA-8B18-32240B9BEDCE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32533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3D0C4-5639-5CDC-B1E2-C3C6CB455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01542A1-8E67-BC1D-AE25-4234D7EEA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347C016-FF50-DBC4-C910-B3DB8BDD0C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37F261C-06C2-BA6C-F875-4339661C76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6B690-FABF-4DFA-8B18-32240B9BEDCE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856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AD23A-2C6F-68D0-9352-F72D39403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7D42D12-21FE-7489-01F6-6902CBFE55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1FA58A0-E017-2DA5-A192-0690D831D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F66640-D075-26E7-35A9-28A96B47B3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6B690-FABF-4DFA-8B18-32240B9BEDCE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1162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565D2-2723-5A19-08DD-7D47322B8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500CA8D-6EC6-5772-E254-366468D4DD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863A656-B036-6739-65A2-A93D51D406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76F76DC-20AF-9303-6190-4B841D1931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6B690-FABF-4DFA-8B18-32240B9BEDCE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0325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54D55-8C84-29D5-2A0F-6DF121325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4ACD41D-1304-034D-6641-7D8CC7757B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83ECA7D-1E14-092A-4592-8C9C83C59F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76FF32A-8E5A-EBF0-9575-AF41AD3B79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6B690-FABF-4DFA-8B18-32240B9BEDCE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23974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67871-62D2-FEED-4B1E-53861BFAA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902E6B3-42F2-2ED6-0FCA-4F887D75C1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3BFAF6B-D6C1-FF1B-3EF1-E455E734CF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F911016-1ACE-B3FB-BBAC-9C99F2B74C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6B690-FABF-4DFA-8B18-32240B9BEDCE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565784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CBA15-E065-1DF0-D08B-87449CEB0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ECFA61B-D4B0-94F3-43C2-3DCAD38113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700510B-DF17-E6E6-F9FA-CD4ECFA573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53D7B22-0743-B173-119A-620BB40EFE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6B690-FABF-4DFA-8B18-32240B9BEDCE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90978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941EF-D4C0-C154-EB0D-019213C16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3EAEEC-E713-9DDF-EC1A-7BEBE4FE8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CC4E195-0108-AC9C-C6D9-8572FD735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D8831FB-AAE6-4918-B98C-8DE9325A20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6B690-FABF-4DFA-8B18-32240B9BEDCE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85389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C67C4-7B08-84A2-0B5D-A3FFD0336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04DD66C-76AE-0677-4B2A-D6ABCA7889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083D62B-454B-B67B-3FD4-10DA3D64F4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BC7804F-61D1-B169-597A-26C89B58C6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6B690-FABF-4DFA-8B18-32240B9BEDCE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41623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9AE57-AA21-400F-8208-5BC52E161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C424BDA-594C-C580-2F85-F5DE976A59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9B4ECCD-0E39-7654-444B-119A49989A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FF3DC3C-A967-7FFE-7C13-887E1B0A2D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6B690-FABF-4DFA-8B18-32240B9BEDCE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05424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614AF-44B1-AA83-3D5D-9DCFAC68C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6117C40-F808-D663-1399-9B4DCC1D02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98592ED-F6C1-6206-C432-78C573A04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7AAF22C-61DD-8525-1787-4C5684CAA4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6B690-FABF-4DFA-8B18-32240B9BEDCE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68501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B791E-A4E0-0898-7EEE-E4FFC01BE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B460C11-4D3D-29E0-002F-9CBB25E721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7A2E19A-DFE7-5D1C-8717-41F47D979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E57FD04-1A49-F050-404D-A2D240FC97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6B690-FABF-4DFA-8B18-32240B9BEDCE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175187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92AA6-5D41-66FB-3C30-10E70713F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B15EA75-17ED-54E5-1F4E-FEA9A65C73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7E4DA49-7E28-8EFB-946A-C3C5B2B83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D28D10A-DF0B-B4B0-2E91-44CACCFCAB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6B690-FABF-4DFA-8B18-32240B9BEDCE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97606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A9BC8-347A-97E6-56CF-351AE06F8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52A3CC2-11F7-71B4-3A6C-9F70F79E85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EC1F81A-A715-25AF-6FB6-34603A08D8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CEC8077-B4FA-3DE6-50C1-A54A16F277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6B690-FABF-4DFA-8B18-32240B9BEDCE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87386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86DBB-F4D7-08F2-574F-2E5E79255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CC19CE5-6A09-CC19-203C-313911262B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3D05BB2-681E-8F01-BFE2-2F250CAD6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7214C6A-87FC-F452-909B-E4D1C2AB56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6B690-FABF-4DFA-8B18-32240B9BEDCE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60585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D99C7-DEE3-97ED-7785-A7B954A31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75EEEB1-7500-9114-9853-9CDE7528C3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AAAF667-CBF8-DB2A-8F62-66C51B7016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FADBA75-F40E-7659-AC3D-7C33AE23F3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6B690-FABF-4DFA-8B18-32240B9BEDCE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65837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43DBF-4274-CD1E-C3CF-05DEF4817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90C8EBA-F5BE-37D3-DB96-0F2590867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40481EA-8954-A521-FC7D-7B5A65D3F9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E96031-E2A2-6084-21C3-908F2A71EB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6B690-FABF-4DFA-8B18-32240B9BEDCE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98935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18013-D422-CB9F-6BD0-CB097A6E0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D468ADC-A4E9-6412-BDF1-4B42C01066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7E7ECDB-83F6-810D-DED3-B2E01D3262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4356544-1CA6-FF87-92C1-FC6D7B878F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6B690-FABF-4DFA-8B18-32240B9BEDCE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50589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3419F-25D1-3BD7-CCBC-497E8A9C5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F020143-A3B3-0A76-318F-2835E9D30A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B2FF5F6-7062-52D6-AA83-146443FCD9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0358336-C8BE-3F24-8C51-D7386E0B5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6B690-FABF-4DFA-8B18-32240B9BEDCE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34097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35E0E-FC8D-271F-0A79-C302C2D3B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D5A5DD2-55B7-7AC0-FDAF-E8CA81CF95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FDDF671-5096-29B8-1386-CAC4EAEB1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7BA6B4-DA95-EB9A-C4AB-4568E9BB7C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6B690-FABF-4DFA-8B18-32240B9BEDCE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54445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D2774-AE79-09F8-1119-C543A991F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5E122AC-9D1A-C8C9-29BF-769E2CF967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DBB11A2-2372-75DC-4789-D2C267073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AF91F56-C53C-698A-7BC1-49D3452773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6B690-FABF-4DFA-8B18-32240B9BEDCE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21618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C409F-8E7D-4195-F9DC-EBFD10EC7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E106FC5-5426-D46F-6EF1-9CC01482B1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A74055F-AE2E-7451-225D-AC4B2FD9B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7019AE5-1B4E-5649-4745-B9F7F3F409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6B690-FABF-4DFA-8B18-32240B9BEDCE}" type="slidenum">
              <a:rPr lang="es-ES" smtClean="0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4797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AF88C2-7D6D-F77D-013B-F2DBC0E315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A342D4-F3F6-11F6-8687-787BF8D4F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F8068E-7A65-74EB-EF90-7EAC1FF7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9DC54-B683-469A-A91F-37E92AA7ED46}" type="datetimeFigureOut">
              <a:rPr lang="es-ES" smtClean="0"/>
              <a:t>17/07/2026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8A72E9-CDFC-EE39-D422-8B4A75DA4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94E2B3-4670-5004-9E30-9A515DEFD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94F33-7323-4E9B-96E2-F2FA99E0867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3493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9CEDB8-D81A-7EA0-EEF1-92C4BB966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66CE13-FF84-BCA0-E642-055976222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06C002-8092-8A98-8C24-BD0A7A8A8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9DC54-B683-469A-A91F-37E92AA7ED46}" type="datetimeFigureOut">
              <a:rPr lang="es-ES" smtClean="0"/>
              <a:t>17/07/2026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899217-AD82-9060-CF65-FC0A0BC74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791B70-EB52-1D4C-503E-1DF9C3D0E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94F33-7323-4E9B-96E2-F2FA99E0867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3172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97AF07-E9DD-9365-497A-12F33C5D7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72F5ED-95A3-9E9B-0B8F-86D8AE00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EDAD50-6060-DA99-3709-BF41547AB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9DC54-B683-469A-A91F-37E92AA7ED46}" type="datetimeFigureOut">
              <a:rPr lang="es-ES" smtClean="0"/>
              <a:t>17/07/2026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A8D0D4-4137-680A-06F2-3FD8104BF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1237B2-017B-DF6C-4280-6CC0B76A6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94F33-7323-4E9B-96E2-F2FA99E0867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3694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EABFA-4EE3-90E6-F217-B8BF4EE9C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168DB3-0D09-12AF-6F13-B64B54E779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48B654F-BD99-C33D-E31B-FFCB94532F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2FA6270-52A9-7269-B226-B8E21B352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9DC54-B683-469A-A91F-37E92AA7ED46}" type="datetimeFigureOut">
              <a:rPr lang="es-ES" smtClean="0"/>
              <a:t>17/07/2026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204060-AFA3-75EE-81E5-AA3A43778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E8B8321-E93B-12DA-BFFF-6AD4C2962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94F33-7323-4E9B-96E2-F2FA99E0867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0431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62EF0A-30BE-3DE3-89C9-0919DF79E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B4BF9F-D4AD-B960-9E7A-7FDA8840D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C9648AD-FDB0-DF29-792E-43F6FF56B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CAB6590-1570-BF26-491E-174FCE5878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8D01621-48BC-0BA2-82E6-B1BC86106C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A594F44-A878-95EE-2220-4BD0EF271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9DC54-B683-469A-A91F-37E92AA7ED46}" type="datetimeFigureOut">
              <a:rPr lang="es-ES" smtClean="0"/>
              <a:t>17/07/2026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63E9080-389F-9855-3072-8767F53DD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4394341-7E17-7182-C31D-C7D2BDB92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94F33-7323-4E9B-96E2-F2FA99E0867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8919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8F76B5-03CD-2935-C153-47B5B1348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87E6D5D-BA76-CEC7-2BCB-8104B39B4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9DC54-B683-469A-A91F-37E92AA7ED46}" type="datetimeFigureOut">
              <a:rPr lang="es-ES" smtClean="0"/>
              <a:t>17/07/2026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73D214C-AA9B-3485-2E9B-EAD2C3408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306D853-A423-191E-F0AF-34752B840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94F33-7323-4E9B-96E2-F2FA99E0867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4947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B177EE1-3090-BD61-876E-62857A0E4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9DC54-B683-469A-A91F-37E92AA7ED46}" type="datetimeFigureOut">
              <a:rPr lang="es-ES" smtClean="0"/>
              <a:t>17/07/2026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A5C972D-EB50-81B4-F2EF-A6B74583E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54F13F3-14B9-14E7-983E-3B5DF095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94F33-7323-4E9B-96E2-F2FA99E0867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2482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7DA55D-F31C-1C21-22F8-F0AEE7068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2234B1-5C18-AE22-F10D-129AEFDBA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EE68E9F-DF6B-8836-3EF4-7E0FB7DC6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F75155-1D3A-8CA4-7D94-6640B87D6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9DC54-B683-469A-A91F-37E92AA7ED46}" type="datetimeFigureOut">
              <a:rPr lang="es-ES" smtClean="0"/>
              <a:t>17/07/2026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1E0CA94-E836-1825-82C3-ED6361F36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F66210F-B4FC-164A-086C-EC95A2CBE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94F33-7323-4E9B-96E2-F2FA99E0867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8045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7573EA-A595-1A81-E419-14668BEBC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069B036-3690-A268-8320-A3CDB9F55D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E170C5D-4DFF-5B3C-C88E-1EC878E0DD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A65F57C-615B-6673-5EF0-9ED29947F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9DC54-B683-469A-A91F-37E92AA7ED46}" type="datetimeFigureOut">
              <a:rPr lang="es-ES" smtClean="0"/>
              <a:t>17/07/2026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0BE4C6-D6F9-FE27-41DC-E906129F3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7D1EE18-145A-9EDC-2AEB-1CF9FC14A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94F33-7323-4E9B-96E2-F2FA99E0867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5253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028EB4-A267-8D31-0854-5521FB84B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C7A244B-3A59-9026-E33B-D6F77F33DD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FB2FE9-39B9-C83E-F336-323007923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9DC54-B683-469A-A91F-37E92AA7ED46}" type="datetimeFigureOut">
              <a:rPr lang="es-ES" smtClean="0"/>
              <a:t>17/07/2026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B61531-8FE1-04B7-0039-3C5463C55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6A9011-F717-3E4A-DEBA-FA3E81945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94F33-7323-4E9B-96E2-F2FA99E0867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7065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F87DD20-0851-2AB5-309F-23CAEF52A9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760117-A4BE-AFE9-C010-0B6C5446B2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1584A9-5EB2-3AE4-0175-B573E192A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9DC54-B683-469A-A91F-37E92AA7ED46}" type="datetimeFigureOut">
              <a:rPr lang="es-ES" smtClean="0"/>
              <a:t>17/07/2026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D66D40-F444-90DB-48ED-F5674F077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613FC6-4C95-A4D0-2F2D-858F4C3A8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94F33-7323-4E9B-96E2-F2FA99E0867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89063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superiores redondeadas 1">
            <a:extLst>
              <a:ext uri="{FF2B5EF4-FFF2-40B4-BE49-F238E27FC236}">
                <a16:creationId xmlns:a16="http://schemas.microsoft.com/office/drawing/2014/main" id="{FB1B32C9-C666-4696-DC63-670E0DFE4817}"/>
              </a:ext>
            </a:extLst>
          </p:cNvPr>
          <p:cNvSpPr/>
          <p:nvPr userDrawn="1"/>
        </p:nvSpPr>
        <p:spPr>
          <a:xfrm rot="16200000">
            <a:off x="11226482" y="-469403"/>
            <a:ext cx="496115" cy="143492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FF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35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834B911-84B7-6EEC-03FA-02866C697DCC}"/>
              </a:ext>
            </a:extLst>
          </p:cNvPr>
          <p:cNvSpPr/>
          <p:nvPr userDrawn="1"/>
        </p:nvSpPr>
        <p:spPr>
          <a:xfrm>
            <a:off x="11016948" y="0"/>
            <a:ext cx="990236" cy="3304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b="1">
                <a:solidFill>
                  <a:schemeClr val="tx1"/>
                </a:solidFill>
              </a:rPr>
              <a:t>BIBA</a:t>
            </a:r>
            <a:endParaRPr lang="es-CO" sz="675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76D3DC9-0327-C510-18A2-B466B5280BF2}"/>
              </a:ext>
            </a:extLst>
          </p:cNvPr>
          <p:cNvSpPr/>
          <p:nvPr userDrawn="1"/>
        </p:nvSpPr>
        <p:spPr>
          <a:xfrm>
            <a:off x="11006600" y="207463"/>
            <a:ext cx="990236" cy="3304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750" b="1">
                <a:solidFill>
                  <a:schemeClr val="tx1"/>
                </a:solidFill>
              </a:rPr>
              <a:t>SERVICIOS SOCIALES</a:t>
            </a:r>
            <a:endParaRPr lang="es-CO" sz="750">
              <a:solidFill>
                <a:schemeClr val="tx1"/>
              </a:solidFill>
            </a:endParaRPr>
          </a:p>
        </p:txBody>
      </p:sp>
      <p:sp>
        <p:nvSpPr>
          <p:cNvPr id="10" name="Triángulo isósceles 9">
            <a:extLst>
              <a:ext uri="{FF2B5EF4-FFF2-40B4-BE49-F238E27FC236}">
                <a16:creationId xmlns:a16="http://schemas.microsoft.com/office/drawing/2014/main" id="{941BBBAD-3CB6-1A67-250A-4DA3B0D38056}"/>
              </a:ext>
            </a:extLst>
          </p:cNvPr>
          <p:cNvSpPr/>
          <p:nvPr userDrawn="1"/>
        </p:nvSpPr>
        <p:spPr>
          <a:xfrm rot="5400000">
            <a:off x="-105106" y="105105"/>
            <a:ext cx="651645" cy="441434"/>
          </a:xfrm>
          <a:prstGeom prst="triangl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1" name="Gráfico 2">
            <a:extLst>
              <a:ext uri="{FF2B5EF4-FFF2-40B4-BE49-F238E27FC236}">
                <a16:creationId xmlns:a16="http://schemas.microsoft.com/office/drawing/2014/main" id="{CB758CA7-8495-D1FE-FFFF-721EE6DA590E}"/>
              </a:ext>
            </a:extLst>
          </p:cNvPr>
          <p:cNvGrpSpPr/>
          <p:nvPr userDrawn="1"/>
        </p:nvGrpSpPr>
        <p:grpSpPr>
          <a:xfrm>
            <a:off x="8189897" y="1238380"/>
            <a:ext cx="5654102" cy="5619620"/>
            <a:chOff x="10284142" y="318897"/>
            <a:chExt cx="280987" cy="287940"/>
          </a:xfrm>
          <a:noFill/>
          <a:effectLst/>
        </p:grpSpPr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297BD343-1AF6-3DE5-FD59-C4CC170325CB}"/>
                </a:ext>
              </a:extLst>
            </p:cNvPr>
            <p:cNvSpPr/>
            <p:nvPr/>
          </p:nvSpPr>
          <p:spPr>
            <a:xfrm>
              <a:off x="10284142" y="398621"/>
              <a:ext cx="64484" cy="128682"/>
            </a:xfrm>
            <a:custGeom>
              <a:avLst/>
              <a:gdLst>
                <a:gd name="connsiteX0" fmla="*/ 0 w 64484"/>
                <a:gd name="connsiteY0" fmla="*/ 64389 h 128682"/>
                <a:gd name="connsiteX1" fmla="*/ 64484 w 64484"/>
                <a:gd name="connsiteY1" fmla="*/ 128683 h 128682"/>
                <a:gd name="connsiteX2" fmla="*/ 64484 w 64484"/>
                <a:gd name="connsiteY2" fmla="*/ 0 h 128682"/>
                <a:gd name="connsiteX3" fmla="*/ 0 w 64484"/>
                <a:gd name="connsiteY3" fmla="*/ 64389 h 12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484" h="128682">
                  <a:moveTo>
                    <a:pt x="0" y="64389"/>
                  </a:moveTo>
                  <a:lnTo>
                    <a:pt x="64484" y="128683"/>
                  </a:lnTo>
                  <a:lnTo>
                    <a:pt x="64484" y="0"/>
                  </a:lnTo>
                  <a:lnTo>
                    <a:pt x="0" y="64389"/>
                  </a:lnTo>
                  <a:close/>
                </a:path>
              </a:pathLst>
            </a:custGeom>
            <a:grpFill/>
            <a:ln w="19050" cap="flat">
              <a:solidFill>
                <a:srgbClr val="FFFF00">
                  <a:alpha val="16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 sz="1350"/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87E0C444-0298-2CBA-D8B3-A8077A1DBB3A}"/>
                </a:ext>
              </a:extLst>
            </p:cNvPr>
            <p:cNvSpPr/>
            <p:nvPr/>
          </p:nvSpPr>
          <p:spPr>
            <a:xfrm>
              <a:off x="10356722" y="472440"/>
              <a:ext cx="65913" cy="128777"/>
            </a:xfrm>
            <a:custGeom>
              <a:avLst/>
              <a:gdLst>
                <a:gd name="connsiteX0" fmla="*/ 65913 w 65913"/>
                <a:gd name="connsiteY0" fmla="*/ 66008 h 128777"/>
                <a:gd name="connsiteX1" fmla="*/ 65913 w 65913"/>
                <a:gd name="connsiteY1" fmla="*/ 128778 h 128777"/>
                <a:gd name="connsiteX2" fmla="*/ 0 w 65913"/>
                <a:gd name="connsiteY2" fmla="*/ 62675 h 128777"/>
                <a:gd name="connsiteX3" fmla="*/ 0 w 65913"/>
                <a:gd name="connsiteY3" fmla="*/ 0 h 128777"/>
                <a:gd name="connsiteX4" fmla="*/ 65913 w 65913"/>
                <a:gd name="connsiteY4" fmla="*/ 66008 h 128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913" h="128777">
                  <a:moveTo>
                    <a:pt x="65913" y="66008"/>
                  </a:moveTo>
                  <a:lnTo>
                    <a:pt x="65913" y="128778"/>
                  </a:lnTo>
                  <a:lnTo>
                    <a:pt x="0" y="62675"/>
                  </a:lnTo>
                  <a:lnTo>
                    <a:pt x="0" y="0"/>
                  </a:lnTo>
                  <a:lnTo>
                    <a:pt x="65913" y="66008"/>
                  </a:lnTo>
                  <a:close/>
                </a:path>
              </a:pathLst>
            </a:custGeom>
            <a:grpFill/>
            <a:ln w="19050" cap="flat">
              <a:solidFill>
                <a:srgbClr val="FFFF00">
                  <a:alpha val="16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 sz="1350"/>
            </a:p>
          </p:txBody>
        </p:sp>
        <p:sp>
          <p:nvSpPr>
            <p:cNvPr id="14" name="Forma libre: forma 13">
              <a:extLst>
                <a:ext uri="{FF2B5EF4-FFF2-40B4-BE49-F238E27FC236}">
                  <a16:creationId xmlns:a16="http://schemas.microsoft.com/office/drawing/2014/main" id="{F69AED40-4D8D-325D-F2FA-EC1926FC89EE}"/>
                </a:ext>
              </a:extLst>
            </p:cNvPr>
            <p:cNvSpPr/>
            <p:nvPr/>
          </p:nvSpPr>
          <p:spPr>
            <a:xfrm>
              <a:off x="10362437" y="324612"/>
              <a:ext cx="60293" cy="60198"/>
            </a:xfrm>
            <a:custGeom>
              <a:avLst/>
              <a:gdLst>
                <a:gd name="connsiteX0" fmla="*/ 0 w 60293"/>
                <a:gd name="connsiteY0" fmla="*/ 60198 h 60198"/>
                <a:gd name="connsiteX1" fmla="*/ 60293 w 60293"/>
                <a:gd name="connsiteY1" fmla="*/ 0 h 60198"/>
                <a:gd name="connsiteX2" fmla="*/ 60293 w 60293"/>
                <a:gd name="connsiteY2" fmla="*/ 60198 h 60198"/>
                <a:gd name="connsiteX3" fmla="*/ 0 w 60293"/>
                <a:gd name="connsiteY3" fmla="*/ 60198 h 60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293" h="60198">
                  <a:moveTo>
                    <a:pt x="0" y="60198"/>
                  </a:moveTo>
                  <a:lnTo>
                    <a:pt x="60293" y="0"/>
                  </a:lnTo>
                  <a:lnTo>
                    <a:pt x="60293" y="60198"/>
                  </a:lnTo>
                  <a:lnTo>
                    <a:pt x="0" y="60198"/>
                  </a:lnTo>
                  <a:close/>
                </a:path>
              </a:pathLst>
            </a:custGeom>
            <a:grpFill/>
            <a:ln w="19050" cap="flat">
              <a:solidFill>
                <a:srgbClr val="FFFF00">
                  <a:alpha val="16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 sz="1350"/>
            </a:p>
          </p:txBody>
        </p:sp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8F45B84F-5444-1FC4-CFF6-A785F3EB8F75}"/>
                </a:ext>
              </a:extLst>
            </p:cNvPr>
            <p:cNvSpPr/>
            <p:nvPr/>
          </p:nvSpPr>
          <p:spPr>
            <a:xfrm>
              <a:off x="10356722" y="392811"/>
              <a:ext cx="66008" cy="65913"/>
            </a:xfrm>
            <a:custGeom>
              <a:avLst/>
              <a:gdLst>
                <a:gd name="connsiteX0" fmla="*/ 0 w 66008"/>
                <a:gd name="connsiteY0" fmla="*/ 0 h 65913"/>
                <a:gd name="connsiteX1" fmla="*/ 66008 w 66008"/>
                <a:gd name="connsiteY1" fmla="*/ 0 h 65913"/>
                <a:gd name="connsiteX2" fmla="*/ 66008 w 66008"/>
                <a:gd name="connsiteY2" fmla="*/ 65913 h 65913"/>
                <a:gd name="connsiteX3" fmla="*/ 0 w 66008"/>
                <a:gd name="connsiteY3" fmla="*/ 65913 h 6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008" h="65913">
                  <a:moveTo>
                    <a:pt x="0" y="0"/>
                  </a:moveTo>
                  <a:lnTo>
                    <a:pt x="66008" y="0"/>
                  </a:lnTo>
                  <a:lnTo>
                    <a:pt x="66008" y="65913"/>
                  </a:lnTo>
                  <a:lnTo>
                    <a:pt x="0" y="65913"/>
                  </a:lnTo>
                  <a:close/>
                </a:path>
              </a:pathLst>
            </a:custGeom>
            <a:grpFill/>
            <a:ln w="19050" cap="flat">
              <a:solidFill>
                <a:srgbClr val="FFFF00">
                  <a:alpha val="16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 sz="1350"/>
            </a:p>
          </p:txBody>
        </p:sp>
        <p:sp>
          <p:nvSpPr>
            <p:cNvPr id="16" name="Forma libre: forma 15">
              <a:extLst>
                <a:ext uri="{FF2B5EF4-FFF2-40B4-BE49-F238E27FC236}">
                  <a16:creationId xmlns:a16="http://schemas.microsoft.com/office/drawing/2014/main" id="{9822E31B-A2A7-0D66-4105-96C57C2A0DDD}"/>
                </a:ext>
              </a:extLst>
            </p:cNvPr>
            <p:cNvSpPr/>
            <p:nvPr/>
          </p:nvSpPr>
          <p:spPr>
            <a:xfrm>
              <a:off x="10362437" y="466820"/>
              <a:ext cx="60293" cy="60198"/>
            </a:xfrm>
            <a:custGeom>
              <a:avLst/>
              <a:gdLst>
                <a:gd name="connsiteX0" fmla="*/ 0 w 60293"/>
                <a:gd name="connsiteY0" fmla="*/ 0 h 60198"/>
                <a:gd name="connsiteX1" fmla="*/ 60293 w 60293"/>
                <a:gd name="connsiteY1" fmla="*/ 0 h 60198"/>
                <a:gd name="connsiteX2" fmla="*/ 60293 w 60293"/>
                <a:gd name="connsiteY2" fmla="*/ 60198 h 60198"/>
                <a:gd name="connsiteX3" fmla="*/ 0 w 60293"/>
                <a:gd name="connsiteY3" fmla="*/ 0 h 60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293" h="60198">
                  <a:moveTo>
                    <a:pt x="0" y="0"/>
                  </a:moveTo>
                  <a:lnTo>
                    <a:pt x="60293" y="0"/>
                  </a:lnTo>
                  <a:lnTo>
                    <a:pt x="60293" y="6019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050" cap="flat">
              <a:solidFill>
                <a:srgbClr val="FFFF00">
                  <a:alpha val="16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 sz="1350"/>
            </a:p>
          </p:txBody>
        </p:sp>
        <p:sp>
          <p:nvSpPr>
            <p:cNvPr id="17" name="Forma libre: forma 16">
              <a:extLst>
                <a:ext uri="{FF2B5EF4-FFF2-40B4-BE49-F238E27FC236}">
                  <a16:creationId xmlns:a16="http://schemas.microsoft.com/office/drawing/2014/main" id="{C46BA5D6-7CB1-86F1-B36E-7CD653153748}"/>
                </a:ext>
              </a:extLst>
            </p:cNvPr>
            <p:cNvSpPr/>
            <p:nvPr/>
          </p:nvSpPr>
          <p:spPr>
            <a:xfrm>
              <a:off x="10430636" y="472440"/>
              <a:ext cx="134397" cy="134397"/>
            </a:xfrm>
            <a:custGeom>
              <a:avLst/>
              <a:gdLst>
                <a:gd name="connsiteX0" fmla="*/ 0 w 134397"/>
                <a:gd name="connsiteY0" fmla="*/ 134398 h 134397"/>
                <a:gd name="connsiteX1" fmla="*/ 0 w 134397"/>
                <a:gd name="connsiteY1" fmla="*/ 0 h 134397"/>
                <a:gd name="connsiteX2" fmla="*/ 134398 w 134397"/>
                <a:gd name="connsiteY2" fmla="*/ 134398 h 134397"/>
                <a:gd name="connsiteX3" fmla="*/ 0 w 134397"/>
                <a:gd name="connsiteY3" fmla="*/ 134398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97" h="134397">
                  <a:moveTo>
                    <a:pt x="0" y="134398"/>
                  </a:moveTo>
                  <a:lnTo>
                    <a:pt x="0" y="0"/>
                  </a:lnTo>
                  <a:lnTo>
                    <a:pt x="134398" y="134398"/>
                  </a:lnTo>
                  <a:lnTo>
                    <a:pt x="0" y="134398"/>
                  </a:lnTo>
                  <a:close/>
                </a:path>
              </a:pathLst>
            </a:custGeom>
            <a:grpFill/>
            <a:ln w="19050" cap="flat">
              <a:solidFill>
                <a:srgbClr val="FFFF00">
                  <a:alpha val="16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s-CO" sz="1350"/>
            </a:p>
          </p:txBody>
        </p:sp>
        <p:sp>
          <p:nvSpPr>
            <p:cNvPr id="18" name="Forma libre: forma 17">
              <a:extLst>
                <a:ext uri="{FF2B5EF4-FFF2-40B4-BE49-F238E27FC236}">
                  <a16:creationId xmlns:a16="http://schemas.microsoft.com/office/drawing/2014/main" id="{5405851F-4C86-DD59-305E-FBBE2BA4E76D}"/>
                </a:ext>
              </a:extLst>
            </p:cNvPr>
            <p:cNvSpPr/>
            <p:nvPr/>
          </p:nvSpPr>
          <p:spPr>
            <a:xfrm>
              <a:off x="10430731" y="318897"/>
              <a:ext cx="134397" cy="134397"/>
            </a:xfrm>
            <a:custGeom>
              <a:avLst/>
              <a:gdLst>
                <a:gd name="connsiteX0" fmla="*/ 0 w 134397"/>
                <a:gd name="connsiteY0" fmla="*/ 0 h 134397"/>
                <a:gd name="connsiteX1" fmla="*/ 0 w 134397"/>
                <a:gd name="connsiteY1" fmla="*/ 134398 h 134397"/>
                <a:gd name="connsiteX2" fmla="*/ 134398 w 134397"/>
                <a:gd name="connsiteY2" fmla="*/ 0 h 134397"/>
                <a:gd name="connsiteX3" fmla="*/ 0 w 134397"/>
                <a:gd name="connsiteY3" fmla="*/ 0 h 134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97" h="134397">
                  <a:moveTo>
                    <a:pt x="0" y="0"/>
                  </a:moveTo>
                  <a:lnTo>
                    <a:pt x="0" y="134398"/>
                  </a:lnTo>
                  <a:lnTo>
                    <a:pt x="1343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050" cap="flat">
              <a:solidFill>
                <a:srgbClr val="FFFF00">
                  <a:alpha val="16000"/>
                </a:srgbClr>
              </a:solidFill>
              <a:prstDash val="solid"/>
              <a:miter/>
            </a:ln>
          </p:spPr>
          <p:txBody>
            <a:bodyPr rtlCol="0" anchor="ctr"/>
            <a:lstStyle/>
            <a:p>
              <a:r>
                <a:rPr lang="es-CO" sz="135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7127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03825C8-A943-B38E-A458-FFC11EE71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E45CBB9-AED0-5048-89ED-051DE6C8B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4886FE-EAF6-86F1-9535-DA892B2E4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C9DC54-B683-469A-A91F-37E92AA7ED46}" type="datetimeFigureOut">
              <a:rPr lang="es-ES" smtClean="0"/>
              <a:t>17/07/2026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A31867-74E6-6B17-7D8A-C409A57AB0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FD4085-0B6E-C14C-F25A-E1C8383C48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294F33-7323-4E9B-96E2-F2FA99E0867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5191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2.wdp"/><Relationship Id="rId18" Type="http://schemas.openxmlformats.org/officeDocument/2006/relationships/image" Target="../media/image12.png"/><Relationship Id="rId3" Type="http://schemas.openxmlformats.org/officeDocument/2006/relationships/image" Target="../media/image1.png"/><Relationship Id="rId21" Type="http://schemas.openxmlformats.org/officeDocument/2006/relationships/image" Target="../media/image14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microsoft.com/office/2007/relationships/hdphoto" Target="../media/hdphoto4.wdp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microsoft.com/office/2007/relationships/hdphoto" Target="../media/hdphoto1.wdp"/><Relationship Id="rId5" Type="http://schemas.openxmlformats.org/officeDocument/2006/relationships/image" Target="../media/image3.png"/><Relationship Id="rId15" Type="http://schemas.microsoft.com/office/2007/relationships/hdphoto" Target="../media/hdphoto3.wdp"/><Relationship Id="rId23" Type="http://schemas.microsoft.com/office/2007/relationships/hdphoto" Target="../media/hdphoto6.wdp"/><Relationship Id="rId10" Type="http://schemas.openxmlformats.org/officeDocument/2006/relationships/image" Target="../media/image8.png"/><Relationship Id="rId19" Type="http://schemas.microsoft.com/office/2007/relationships/hdphoto" Target="../media/hdphoto5.wdp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0.png"/><Relationship Id="rId22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2.wdp"/><Relationship Id="rId18" Type="http://schemas.openxmlformats.org/officeDocument/2006/relationships/image" Target="../media/image12.png"/><Relationship Id="rId3" Type="http://schemas.openxmlformats.org/officeDocument/2006/relationships/image" Target="../media/image1.png"/><Relationship Id="rId21" Type="http://schemas.openxmlformats.org/officeDocument/2006/relationships/image" Target="../media/image14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microsoft.com/office/2007/relationships/hdphoto" Target="../media/hdphoto4.wdp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microsoft.com/office/2007/relationships/hdphoto" Target="../media/hdphoto1.wdp"/><Relationship Id="rId5" Type="http://schemas.openxmlformats.org/officeDocument/2006/relationships/image" Target="../media/image3.png"/><Relationship Id="rId15" Type="http://schemas.microsoft.com/office/2007/relationships/hdphoto" Target="../media/hdphoto3.wdp"/><Relationship Id="rId23" Type="http://schemas.microsoft.com/office/2007/relationships/hdphoto" Target="../media/hdphoto6.wdp"/><Relationship Id="rId10" Type="http://schemas.openxmlformats.org/officeDocument/2006/relationships/image" Target="../media/image8.png"/><Relationship Id="rId19" Type="http://schemas.microsoft.com/office/2007/relationships/hdphoto" Target="../media/hdphoto5.wdp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0.png"/><Relationship Id="rId22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2.wdp"/><Relationship Id="rId18" Type="http://schemas.openxmlformats.org/officeDocument/2006/relationships/image" Target="../media/image12.png"/><Relationship Id="rId3" Type="http://schemas.openxmlformats.org/officeDocument/2006/relationships/image" Target="../media/image1.png"/><Relationship Id="rId21" Type="http://schemas.openxmlformats.org/officeDocument/2006/relationships/image" Target="../media/image14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microsoft.com/office/2007/relationships/hdphoto" Target="../media/hdphoto4.wdp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microsoft.com/office/2007/relationships/hdphoto" Target="../media/hdphoto1.wdp"/><Relationship Id="rId5" Type="http://schemas.openxmlformats.org/officeDocument/2006/relationships/image" Target="../media/image3.png"/><Relationship Id="rId15" Type="http://schemas.microsoft.com/office/2007/relationships/hdphoto" Target="../media/hdphoto3.wdp"/><Relationship Id="rId23" Type="http://schemas.microsoft.com/office/2007/relationships/hdphoto" Target="../media/hdphoto6.wdp"/><Relationship Id="rId10" Type="http://schemas.openxmlformats.org/officeDocument/2006/relationships/image" Target="../media/image8.png"/><Relationship Id="rId19" Type="http://schemas.microsoft.com/office/2007/relationships/hdphoto" Target="../media/hdphoto5.wdp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0.png"/><Relationship Id="rId22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2.wdp"/><Relationship Id="rId18" Type="http://schemas.openxmlformats.org/officeDocument/2006/relationships/image" Target="../media/image12.png"/><Relationship Id="rId3" Type="http://schemas.openxmlformats.org/officeDocument/2006/relationships/image" Target="../media/image1.png"/><Relationship Id="rId21" Type="http://schemas.openxmlformats.org/officeDocument/2006/relationships/image" Target="../media/image14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microsoft.com/office/2007/relationships/hdphoto" Target="../media/hdphoto4.wdp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microsoft.com/office/2007/relationships/hdphoto" Target="../media/hdphoto1.wdp"/><Relationship Id="rId5" Type="http://schemas.openxmlformats.org/officeDocument/2006/relationships/image" Target="../media/image3.png"/><Relationship Id="rId15" Type="http://schemas.microsoft.com/office/2007/relationships/hdphoto" Target="../media/hdphoto3.wdp"/><Relationship Id="rId23" Type="http://schemas.microsoft.com/office/2007/relationships/hdphoto" Target="../media/hdphoto6.wdp"/><Relationship Id="rId10" Type="http://schemas.openxmlformats.org/officeDocument/2006/relationships/image" Target="../media/image8.png"/><Relationship Id="rId19" Type="http://schemas.microsoft.com/office/2007/relationships/hdphoto" Target="../media/hdphoto5.wdp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0.png"/><Relationship Id="rId22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2.wdp"/><Relationship Id="rId18" Type="http://schemas.openxmlformats.org/officeDocument/2006/relationships/image" Target="../media/image12.png"/><Relationship Id="rId3" Type="http://schemas.openxmlformats.org/officeDocument/2006/relationships/image" Target="../media/image1.png"/><Relationship Id="rId21" Type="http://schemas.openxmlformats.org/officeDocument/2006/relationships/image" Target="../media/image14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microsoft.com/office/2007/relationships/hdphoto" Target="../media/hdphoto4.wdp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microsoft.com/office/2007/relationships/hdphoto" Target="../media/hdphoto1.wdp"/><Relationship Id="rId5" Type="http://schemas.openxmlformats.org/officeDocument/2006/relationships/image" Target="../media/image3.png"/><Relationship Id="rId15" Type="http://schemas.microsoft.com/office/2007/relationships/hdphoto" Target="../media/hdphoto3.wdp"/><Relationship Id="rId23" Type="http://schemas.microsoft.com/office/2007/relationships/hdphoto" Target="../media/hdphoto6.wdp"/><Relationship Id="rId10" Type="http://schemas.openxmlformats.org/officeDocument/2006/relationships/image" Target="../media/image8.png"/><Relationship Id="rId19" Type="http://schemas.microsoft.com/office/2007/relationships/hdphoto" Target="../media/hdphoto5.wdp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0.png"/><Relationship Id="rId22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2.wdp"/><Relationship Id="rId18" Type="http://schemas.openxmlformats.org/officeDocument/2006/relationships/image" Target="../media/image12.png"/><Relationship Id="rId3" Type="http://schemas.openxmlformats.org/officeDocument/2006/relationships/image" Target="../media/image1.png"/><Relationship Id="rId21" Type="http://schemas.openxmlformats.org/officeDocument/2006/relationships/image" Target="../media/image14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microsoft.com/office/2007/relationships/hdphoto" Target="../media/hdphoto4.wdp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microsoft.com/office/2007/relationships/hdphoto" Target="../media/hdphoto1.wdp"/><Relationship Id="rId5" Type="http://schemas.openxmlformats.org/officeDocument/2006/relationships/image" Target="../media/image3.png"/><Relationship Id="rId15" Type="http://schemas.microsoft.com/office/2007/relationships/hdphoto" Target="../media/hdphoto3.wdp"/><Relationship Id="rId23" Type="http://schemas.microsoft.com/office/2007/relationships/hdphoto" Target="../media/hdphoto6.wdp"/><Relationship Id="rId10" Type="http://schemas.openxmlformats.org/officeDocument/2006/relationships/image" Target="../media/image8.png"/><Relationship Id="rId19" Type="http://schemas.microsoft.com/office/2007/relationships/hdphoto" Target="../media/hdphoto5.wdp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0.png"/><Relationship Id="rId22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2.wdp"/><Relationship Id="rId18" Type="http://schemas.openxmlformats.org/officeDocument/2006/relationships/image" Target="../media/image12.png"/><Relationship Id="rId3" Type="http://schemas.openxmlformats.org/officeDocument/2006/relationships/image" Target="../media/image1.png"/><Relationship Id="rId21" Type="http://schemas.openxmlformats.org/officeDocument/2006/relationships/image" Target="../media/image14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microsoft.com/office/2007/relationships/hdphoto" Target="../media/hdphoto4.wdp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microsoft.com/office/2007/relationships/hdphoto" Target="../media/hdphoto1.wdp"/><Relationship Id="rId5" Type="http://schemas.openxmlformats.org/officeDocument/2006/relationships/image" Target="../media/image3.png"/><Relationship Id="rId15" Type="http://schemas.microsoft.com/office/2007/relationships/hdphoto" Target="../media/hdphoto3.wdp"/><Relationship Id="rId23" Type="http://schemas.microsoft.com/office/2007/relationships/hdphoto" Target="../media/hdphoto6.wdp"/><Relationship Id="rId10" Type="http://schemas.openxmlformats.org/officeDocument/2006/relationships/image" Target="../media/image8.png"/><Relationship Id="rId19" Type="http://schemas.microsoft.com/office/2007/relationships/hdphoto" Target="../media/hdphoto5.wdp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0.png"/><Relationship Id="rId22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2.wdp"/><Relationship Id="rId18" Type="http://schemas.openxmlformats.org/officeDocument/2006/relationships/image" Target="../media/image12.png"/><Relationship Id="rId3" Type="http://schemas.openxmlformats.org/officeDocument/2006/relationships/image" Target="../media/image1.png"/><Relationship Id="rId21" Type="http://schemas.openxmlformats.org/officeDocument/2006/relationships/image" Target="../media/image14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microsoft.com/office/2007/relationships/hdphoto" Target="../media/hdphoto4.wdp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microsoft.com/office/2007/relationships/hdphoto" Target="../media/hdphoto1.wdp"/><Relationship Id="rId5" Type="http://schemas.openxmlformats.org/officeDocument/2006/relationships/image" Target="../media/image3.png"/><Relationship Id="rId15" Type="http://schemas.microsoft.com/office/2007/relationships/hdphoto" Target="../media/hdphoto3.wdp"/><Relationship Id="rId23" Type="http://schemas.microsoft.com/office/2007/relationships/hdphoto" Target="../media/hdphoto6.wdp"/><Relationship Id="rId10" Type="http://schemas.openxmlformats.org/officeDocument/2006/relationships/image" Target="../media/image8.png"/><Relationship Id="rId19" Type="http://schemas.microsoft.com/office/2007/relationships/hdphoto" Target="../media/hdphoto5.wdp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0.png"/><Relationship Id="rId22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2.wdp"/><Relationship Id="rId18" Type="http://schemas.openxmlformats.org/officeDocument/2006/relationships/image" Target="../media/image12.png"/><Relationship Id="rId3" Type="http://schemas.openxmlformats.org/officeDocument/2006/relationships/image" Target="../media/image1.png"/><Relationship Id="rId21" Type="http://schemas.openxmlformats.org/officeDocument/2006/relationships/image" Target="../media/image14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microsoft.com/office/2007/relationships/hdphoto" Target="../media/hdphoto4.wdp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microsoft.com/office/2007/relationships/hdphoto" Target="../media/hdphoto1.wdp"/><Relationship Id="rId5" Type="http://schemas.openxmlformats.org/officeDocument/2006/relationships/image" Target="../media/image3.png"/><Relationship Id="rId15" Type="http://schemas.microsoft.com/office/2007/relationships/hdphoto" Target="../media/hdphoto3.wdp"/><Relationship Id="rId23" Type="http://schemas.microsoft.com/office/2007/relationships/hdphoto" Target="../media/hdphoto6.wdp"/><Relationship Id="rId10" Type="http://schemas.openxmlformats.org/officeDocument/2006/relationships/image" Target="../media/image8.png"/><Relationship Id="rId19" Type="http://schemas.microsoft.com/office/2007/relationships/hdphoto" Target="../media/hdphoto5.wdp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0.png"/><Relationship Id="rId22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2.wdp"/><Relationship Id="rId18" Type="http://schemas.openxmlformats.org/officeDocument/2006/relationships/image" Target="../media/image12.png"/><Relationship Id="rId3" Type="http://schemas.openxmlformats.org/officeDocument/2006/relationships/image" Target="../media/image1.png"/><Relationship Id="rId21" Type="http://schemas.openxmlformats.org/officeDocument/2006/relationships/image" Target="../media/image14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microsoft.com/office/2007/relationships/hdphoto" Target="../media/hdphoto4.wdp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microsoft.com/office/2007/relationships/hdphoto" Target="../media/hdphoto1.wdp"/><Relationship Id="rId5" Type="http://schemas.openxmlformats.org/officeDocument/2006/relationships/image" Target="../media/image3.png"/><Relationship Id="rId15" Type="http://schemas.microsoft.com/office/2007/relationships/hdphoto" Target="../media/hdphoto3.wdp"/><Relationship Id="rId23" Type="http://schemas.microsoft.com/office/2007/relationships/hdphoto" Target="../media/hdphoto6.wdp"/><Relationship Id="rId10" Type="http://schemas.openxmlformats.org/officeDocument/2006/relationships/image" Target="../media/image8.png"/><Relationship Id="rId19" Type="http://schemas.microsoft.com/office/2007/relationships/hdphoto" Target="../media/hdphoto5.wdp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0.png"/><Relationship Id="rId22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2.wdp"/><Relationship Id="rId18" Type="http://schemas.openxmlformats.org/officeDocument/2006/relationships/image" Target="../media/image12.png"/><Relationship Id="rId3" Type="http://schemas.openxmlformats.org/officeDocument/2006/relationships/image" Target="../media/image1.png"/><Relationship Id="rId21" Type="http://schemas.openxmlformats.org/officeDocument/2006/relationships/image" Target="../media/image14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microsoft.com/office/2007/relationships/hdphoto" Target="../media/hdphoto4.wdp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microsoft.com/office/2007/relationships/hdphoto" Target="../media/hdphoto1.wdp"/><Relationship Id="rId5" Type="http://schemas.openxmlformats.org/officeDocument/2006/relationships/image" Target="../media/image3.png"/><Relationship Id="rId15" Type="http://schemas.microsoft.com/office/2007/relationships/hdphoto" Target="../media/hdphoto3.wdp"/><Relationship Id="rId23" Type="http://schemas.microsoft.com/office/2007/relationships/hdphoto" Target="../media/hdphoto6.wdp"/><Relationship Id="rId10" Type="http://schemas.openxmlformats.org/officeDocument/2006/relationships/image" Target="../media/image8.png"/><Relationship Id="rId19" Type="http://schemas.microsoft.com/office/2007/relationships/hdphoto" Target="../media/hdphoto5.wdp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0.png"/><Relationship Id="rId22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2.wdp"/><Relationship Id="rId18" Type="http://schemas.openxmlformats.org/officeDocument/2006/relationships/image" Target="../media/image12.png"/><Relationship Id="rId3" Type="http://schemas.openxmlformats.org/officeDocument/2006/relationships/image" Target="../media/image1.png"/><Relationship Id="rId21" Type="http://schemas.openxmlformats.org/officeDocument/2006/relationships/image" Target="../media/image14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microsoft.com/office/2007/relationships/hdphoto" Target="../media/hdphoto4.wdp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microsoft.com/office/2007/relationships/hdphoto" Target="../media/hdphoto1.wdp"/><Relationship Id="rId5" Type="http://schemas.openxmlformats.org/officeDocument/2006/relationships/image" Target="../media/image3.png"/><Relationship Id="rId15" Type="http://schemas.microsoft.com/office/2007/relationships/hdphoto" Target="../media/hdphoto3.wdp"/><Relationship Id="rId23" Type="http://schemas.microsoft.com/office/2007/relationships/hdphoto" Target="../media/hdphoto6.wdp"/><Relationship Id="rId10" Type="http://schemas.openxmlformats.org/officeDocument/2006/relationships/image" Target="../media/image8.png"/><Relationship Id="rId19" Type="http://schemas.microsoft.com/office/2007/relationships/hdphoto" Target="../media/hdphoto5.wdp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0.png"/><Relationship Id="rId22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2.wdp"/><Relationship Id="rId18" Type="http://schemas.openxmlformats.org/officeDocument/2006/relationships/image" Target="../media/image12.png"/><Relationship Id="rId3" Type="http://schemas.openxmlformats.org/officeDocument/2006/relationships/image" Target="../media/image1.png"/><Relationship Id="rId21" Type="http://schemas.openxmlformats.org/officeDocument/2006/relationships/image" Target="../media/image14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microsoft.com/office/2007/relationships/hdphoto" Target="../media/hdphoto4.wdp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microsoft.com/office/2007/relationships/hdphoto" Target="../media/hdphoto1.wdp"/><Relationship Id="rId5" Type="http://schemas.openxmlformats.org/officeDocument/2006/relationships/image" Target="../media/image3.png"/><Relationship Id="rId15" Type="http://schemas.microsoft.com/office/2007/relationships/hdphoto" Target="../media/hdphoto3.wdp"/><Relationship Id="rId23" Type="http://schemas.microsoft.com/office/2007/relationships/hdphoto" Target="../media/hdphoto6.wdp"/><Relationship Id="rId10" Type="http://schemas.openxmlformats.org/officeDocument/2006/relationships/image" Target="../media/image8.png"/><Relationship Id="rId19" Type="http://schemas.microsoft.com/office/2007/relationships/hdphoto" Target="../media/hdphoto5.wdp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0.png"/><Relationship Id="rId22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2.wdp"/><Relationship Id="rId18" Type="http://schemas.openxmlformats.org/officeDocument/2006/relationships/image" Target="../media/image12.png"/><Relationship Id="rId3" Type="http://schemas.openxmlformats.org/officeDocument/2006/relationships/image" Target="../media/image1.png"/><Relationship Id="rId21" Type="http://schemas.openxmlformats.org/officeDocument/2006/relationships/image" Target="../media/image14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microsoft.com/office/2007/relationships/hdphoto" Target="../media/hdphoto4.wdp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microsoft.com/office/2007/relationships/hdphoto" Target="../media/hdphoto1.wdp"/><Relationship Id="rId5" Type="http://schemas.openxmlformats.org/officeDocument/2006/relationships/image" Target="../media/image3.png"/><Relationship Id="rId15" Type="http://schemas.microsoft.com/office/2007/relationships/hdphoto" Target="../media/hdphoto3.wdp"/><Relationship Id="rId23" Type="http://schemas.microsoft.com/office/2007/relationships/hdphoto" Target="../media/hdphoto6.wdp"/><Relationship Id="rId10" Type="http://schemas.openxmlformats.org/officeDocument/2006/relationships/image" Target="../media/image8.png"/><Relationship Id="rId19" Type="http://schemas.microsoft.com/office/2007/relationships/hdphoto" Target="../media/hdphoto5.wdp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0.png"/><Relationship Id="rId22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2.wdp"/><Relationship Id="rId18" Type="http://schemas.openxmlformats.org/officeDocument/2006/relationships/image" Target="../media/image12.png"/><Relationship Id="rId3" Type="http://schemas.openxmlformats.org/officeDocument/2006/relationships/image" Target="../media/image1.png"/><Relationship Id="rId21" Type="http://schemas.openxmlformats.org/officeDocument/2006/relationships/image" Target="../media/image14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microsoft.com/office/2007/relationships/hdphoto" Target="../media/hdphoto4.wdp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microsoft.com/office/2007/relationships/hdphoto" Target="../media/hdphoto1.wdp"/><Relationship Id="rId5" Type="http://schemas.openxmlformats.org/officeDocument/2006/relationships/image" Target="../media/image3.png"/><Relationship Id="rId15" Type="http://schemas.microsoft.com/office/2007/relationships/hdphoto" Target="../media/hdphoto3.wdp"/><Relationship Id="rId23" Type="http://schemas.microsoft.com/office/2007/relationships/hdphoto" Target="../media/hdphoto6.wdp"/><Relationship Id="rId10" Type="http://schemas.openxmlformats.org/officeDocument/2006/relationships/image" Target="../media/image8.png"/><Relationship Id="rId19" Type="http://schemas.microsoft.com/office/2007/relationships/hdphoto" Target="../media/hdphoto5.wdp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0.png"/><Relationship Id="rId22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2.wdp"/><Relationship Id="rId18" Type="http://schemas.openxmlformats.org/officeDocument/2006/relationships/image" Target="../media/image12.png"/><Relationship Id="rId3" Type="http://schemas.openxmlformats.org/officeDocument/2006/relationships/image" Target="../media/image1.png"/><Relationship Id="rId21" Type="http://schemas.openxmlformats.org/officeDocument/2006/relationships/image" Target="../media/image14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microsoft.com/office/2007/relationships/hdphoto" Target="../media/hdphoto4.wdp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microsoft.com/office/2007/relationships/hdphoto" Target="../media/hdphoto1.wdp"/><Relationship Id="rId5" Type="http://schemas.openxmlformats.org/officeDocument/2006/relationships/image" Target="../media/image3.png"/><Relationship Id="rId15" Type="http://schemas.microsoft.com/office/2007/relationships/hdphoto" Target="../media/hdphoto3.wdp"/><Relationship Id="rId23" Type="http://schemas.microsoft.com/office/2007/relationships/hdphoto" Target="../media/hdphoto6.wdp"/><Relationship Id="rId10" Type="http://schemas.openxmlformats.org/officeDocument/2006/relationships/image" Target="../media/image8.png"/><Relationship Id="rId19" Type="http://schemas.microsoft.com/office/2007/relationships/hdphoto" Target="../media/hdphoto5.wdp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0.png"/><Relationship Id="rId22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2.wdp"/><Relationship Id="rId18" Type="http://schemas.openxmlformats.org/officeDocument/2006/relationships/image" Target="../media/image12.png"/><Relationship Id="rId3" Type="http://schemas.openxmlformats.org/officeDocument/2006/relationships/image" Target="../media/image1.png"/><Relationship Id="rId21" Type="http://schemas.openxmlformats.org/officeDocument/2006/relationships/image" Target="../media/image14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microsoft.com/office/2007/relationships/hdphoto" Target="../media/hdphoto4.wdp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microsoft.com/office/2007/relationships/hdphoto" Target="../media/hdphoto1.wdp"/><Relationship Id="rId5" Type="http://schemas.openxmlformats.org/officeDocument/2006/relationships/image" Target="../media/image3.png"/><Relationship Id="rId15" Type="http://schemas.microsoft.com/office/2007/relationships/hdphoto" Target="../media/hdphoto3.wdp"/><Relationship Id="rId23" Type="http://schemas.microsoft.com/office/2007/relationships/hdphoto" Target="../media/hdphoto6.wdp"/><Relationship Id="rId10" Type="http://schemas.openxmlformats.org/officeDocument/2006/relationships/image" Target="../media/image8.png"/><Relationship Id="rId19" Type="http://schemas.microsoft.com/office/2007/relationships/hdphoto" Target="../media/hdphoto5.wdp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0.png"/><Relationship Id="rId22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2.wdp"/><Relationship Id="rId18" Type="http://schemas.openxmlformats.org/officeDocument/2006/relationships/image" Target="../media/image12.png"/><Relationship Id="rId3" Type="http://schemas.openxmlformats.org/officeDocument/2006/relationships/image" Target="../media/image1.png"/><Relationship Id="rId21" Type="http://schemas.openxmlformats.org/officeDocument/2006/relationships/image" Target="../media/image14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microsoft.com/office/2007/relationships/hdphoto" Target="../media/hdphoto4.wdp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microsoft.com/office/2007/relationships/hdphoto" Target="../media/hdphoto1.wdp"/><Relationship Id="rId5" Type="http://schemas.openxmlformats.org/officeDocument/2006/relationships/image" Target="../media/image3.png"/><Relationship Id="rId15" Type="http://schemas.microsoft.com/office/2007/relationships/hdphoto" Target="../media/hdphoto3.wdp"/><Relationship Id="rId23" Type="http://schemas.microsoft.com/office/2007/relationships/hdphoto" Target="../media/hdphoto6.wdp"/><Relationship Id="rId10" Type="http://schemas.openxmlformats.org/officeDocument/2006/relationships/image" Target="../media/image8.png"/><Relationship Id="rId19" Type="http://schemas.microsoft.com/office/2007/relationships/hdphoto" Target="../media/hdphoto5.wdp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0.png"/><Relationship Id="rId22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2.wdp"/><Relationship Id="rId18" Type="http://schemas.openxmlformats.org/officeDocument/2006/relationships/image" Target="../media/image12.png"/><Relationship Id="rId3" Type="http://schemas.openxmlformats.org/officeDocument/2006/relationships/image" Target="../media/image1.png"/><Relationship Id="rId21" Type="http://schemas.openxmlformats.org/officeDocument/2006/relationships/image" Target="../media/image14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microsoft.com/office/2007/relationships/hdphoto" Target="../media/hdphoto4.wdp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microsoft.com/office/2007/relationships/hdphoto" Target="../media/hdphoto1.wdp"/><Relationship Id="rId5" Type="http://schemas.openxmlformats.org/officeDocument/2006/relationships/image" Target="../media/image3.png"/><Relationship Id="rId15" Type="http://schemas.microsoft.com/office/2007/relationships/hdphoto" Target="../media/hdphoto3.wdp"/><Relationship Id="rId23" Type="http://schemas.microsoft.com/office/2007/relationships/hdphoto" Target="../media/hdphoto6.wdp"/><Relationship Id="rId10" Type="http://schemas.openxmlformats.org/officeDocument/2006/relationships/image" Target="../media/image8.png"/><Relationship Id="rId19" Type="http://schemas.microsoft.com/office/2007/relationships/hdphoto" Target="../media/hdphoto5.wdp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0.png"/><Relationship Id="rId22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2.wdp"/><Relationship Id="rId18" Type="http://schemas.openxmlformats.org/officeDocument/2006/relationships/image" Target="../media/image12.png"/><Relationship Id="rId3" Type="http://schemas.openxmlformats.org/officeDocument/2006/relationships/image" Target="../media/image1.png"/><Relationship Id="rId21" Type="http://schemas.openxmlformats.org/officeDocument/2006/relationships/image" Target="../media/image14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microsoft.com/office/2007/relationships/hdphoto" Target="../media/hdphoto4.wdp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microsoft.com/office/2007/relationships/hdphoto" Target="../media/hdphoto1.wdp"/><Relationship Id="rId5" Type="http://schemas.openxmlformats.org/officeDocument/2006/relationships/image" Target="../media/image3.png"/><Relationship Id="rId15" Type="http://schemas.microsoft.com/office/2007/relationships/hdphoto" Target="../media/hdphoto3.wdp"/><Relationship Id="rId23" Type="http://schemas.microsoft.com/office/2007/relationships/hdphoto" Target="../media/hdphoto6.wdp"/><Relationship Id="rId10" Type="http://schemas.openxmlformats.org/officeDocument/2006/relationships/image" Target="../media/image8.png"/><Relationship Id="rId19" Type="http://schemas.microsoft.com/office/2007/relationships/hdphoto" Target="../media/hdphoto5.wdp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0.png"/><Relationship Id="rId22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2.wdp"/><Relationship Id="rId18" Type="http://schemas.openxmlformats.org/officeDocument/2006/relationships/image" Target="../media/image12.png"/><Relationship Id="rId3" Type="http://schemas.openxmlformats.org/officeDocument/2006/relationships/image" Target="../media/image1.png"/><Relationship Id="rId21" Type="http://schemas.openxmlformats.org/officeDocument/2006/relationships/image" Target="../media/image14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microsoft.com/office/2007/relationships/hdphoto" Target="../media/hdphoto4.wdp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microsoft.com/office/2007/relationships/hdphoto" Target="../media/hdphoto1.wdp"/><Relationship Id="rId5" Type="http://schemas.openxmlformats.org/officeDocument/2006/relationships/image" Target="../media/image3.png"/><Relationship Id="rId15" Type="http://schemas.microsoft.com/office/2007/relationships/hdphoto" Target="../media/hdphoto3.wdp"/><Relationship Id="rId23" Type="http://schemas.microsoft.com/office/2007/relationships/hdphoto" Target="../media/hdphoto6.wdp"/><Relationship Id="rId10" Type="http://schemas.openxmlformats.org/officeDocument/2006/relationships/image" Target="../media/image8.png"/><Relationship Id="rId19" Type="http://schemas.microsoft.com/office/2007/relationships/hdphoto" Target="../media/hdphoto5.wdp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0.png"/><Relationship Id="rId22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microsoft.com/office/2007/relationships/hdphoto" Target="../media/hdphoto2.wdp"/><Relationship Id="rId18" Type="http://schemas.openxmlformats.org/officeDocument/2006/relationships/image" Target="../media/image12.png"/><Relationship Id="rId3" Type="http://schemas.openxmlformats.org/officeDocument/2006/relationships/image" Target="../media/image1.png"/><Relationship Id="rId21" Type="http://schemas.openxmlformats.org/officeDocument/2006/relationships/image" Target="../media/image14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microsoft.com/office/2007/relationships/hdphoto" Target="../media/hdphoto4.wdp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microsoft.com/office/2007/relationships/hdphoto" Target="../media/hdphoto1.wdp"/><Relationship Id="rId5" Type="http://schemas.openxmlformats.org/officeDocument/2006/relationships/image" Target="../media/image3.png"/><Relationship Id="rId15" Type="http://schemas.microsoft.com/office/2007/relationships/hdphoto" Target="../media/hdphoto3.wdp"/><Relationship Id="rId23" Type="http://schemas.microsoft.com/office/2007/relationships/hdphoto" Target="../media/hdphoto6.wdp"/><Relationship Id="rId10" Type="http://schemas.openxmlformats.org/officeDocument/2006/relationships/image" Target="../media/image8.png"/><Relationship Id="rId19" Type="http://schemas.microsoft.com/office/2007/relationships/hdphoto" Target="../media/hdphoto5.wdp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0.png"/><Relationship Id="rId2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EDE1C06F-AA74-DE0C-6679-612CBB77AE42}"/>
              </a:ext>
            </a:extLst>
          </p:cNvPr>
          <p:cNvCxnSpPr>
            <a:cxnSpLocks/>
          </p:cNvCxnSpPr>
          <p:nvPr/>
        </p:nvCxnSpPr>
        <p:spPr>
          <a:xfrm flipH="1">
            <a:off x="0" y="645614"/>
            <a:ext cx="10809007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uadroTexto 85">
            <a:extLst>
              <a:ext uri="{FF2B5EF4-FFF2-40B4-BE49-F238E27FC236}">
                <a16:creationId xmlns:a16="http://schemas.microsoft.com/office/drawing/2014/main" id="{EF1444D3-BE0B-C477-D225-7FB4FB976A72}"/>
              </a:ext>
            </a:extLst>
          </p:cNvPr>
          <p:cNvSpPr txBox="1"/>
          <p:nvPr/>
        </p:nvSpPr>
        <p:spPr>
          <a:xfrm>
            <a:off x="-128399" y="120715"/>
            <a:ext cx="95771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>
                <a:solidFill>
                  <a:schemeClr val="bg1"/>
                </a:solidFill>
                <a:latin typeface="KG Red Hands" panose="02000505000000020004" pitchFamily="2" charset="0"/>
              </a:rPr>
              <a:t>      Bosques de Arrayan</a:t>
            </a:r>
            <a:endParaRPr lang="es-ES" sz="240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95FFDEC5-E647-4E60-9FB8-32349ACC1EC4}"/>
              </a:ext>
              <a:ext uri="{147F2762-F138-4A5C-976F-8EAC2B608ADB}">
                <a16:predDERef xmlns:a16="http://schemas.microsoft.com/office/drawing/2014/main" pred="{95DEFF95-1524-40DB-8538-DE0C2D5BEC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3398838"/>
            <a:ext cx="555625" cy="49371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D53D0C4A-FE71-44C0-97B3-1EA296D3DCE3}"/>
              </a:ext>
              <a:ext uri="{147F2762-F138-4A5C-976F-8EAC2B608ADB}">
                <a16:predDERef xmlns:a16="http://schemas.microsoft.com/office/drawing/2014/main" pred="{95FFDEC5-E647-4E60-9FB8-32349ACC1E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087813"/>
            <a:ext cx="555625" cy="46196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7008BA42-7365-4AD1-B913-F26820CE47EA}"/>
              </a:ext>
              <a:ext uri="{147F2762-F138-4A5C-976F-8EAC2B608ADB}">
                <a16:predDERef xmlns:a16="http://schemas.microsoft.com/office/drawing/2014/main" pred="{D53D0C4A-FE71-44C0-97B3-1EA296D3DCE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814888"/>
            <a:ext cx="555625" cy="41116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DAB4A57E-0053-439A-A75E-A827C1A83D9A}"/>
              </a:ext>
              <a:ext uri="{147F2762-F138-4A5C-976F-8EAC2B608ADB}">
                <a16:predDERef xmlns:a16="http://schemas.microsoft.com/office/drawing/2014/main" pred="{7008BA42-7365-4AD1-B913-F26820CE47E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1775" y="5427663"/>
            <a:ext cx="465138" cy="433387"/>
          </a:xfrm>
          <a:prstGeom prst="rect">
            <a:avLst/>
          </a:prstGeom>
        </p:spPr>
      </p:pic>
      <p:grpSp>
        <p:nvGrpSpPr>
          <p:cNvPr id="135" name="Grupo 134">
            <a:extLst>
              <a:ext uri="{FF2B5EF4-FFF2-40B4-BE49-F238E27FC236}">
                <a16:creationId xmlns:a16="http://schemas.microsoft.com/office/drawing/2014/main" id="{1D900860-2ADF-EE3B-CC3D-2C91A9AB33E0}"/>
              </a:ext>
            </a:extLst>
          </p:cNvPr>
          <p:cNvGrpSpPr/>
          <p:nvPr/>
        </p:nvGrpSpPr>
        <p:grpSpPr>
          <a:xfrm>
            <a:off x="5564187" y="853892"/>
            <a:ext cx="2195988" cy="1780012"/>
            <a:chOff x="5353656" y="1110832"/>
            <a:chExt cx="2195988" cy="1780012"/>
          </a:xfrm>
        </p:grpSpPr>
        <p:sp>
          <p:nvSpPr>
            <p:cNvPr id="58" name="Rectángulo 57">
              <a:extLst>
                <a:ext uri="{FF2B5EF4-FFF2-40B4-BE49-F238E27FC236}">
                  <a16:creationId xmlns:a16="http://schemas.microsoft.com/office/drawing/2014/main" id="{6D76926F-CB60-2C30-F5C1-BFABC7A28256}"/>
                </a:ext>
              </a:extLst>
            </p:cNvPr>
            <p:cNvSpPr/>
            <p:nvPr/>
          </p:nvSpPr>
          <p:spPr>
            <a:xfrm>
              <a:off x="5353656" y="1110832"/>
              <a:ext cx="2195987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43" name="Grupo 42">
              <a:extLst>
                <a:ext uri="{FF2B5EF4-FFF2-40B4-BE49-F238E27FC236}">
                  <a16:creationId xmlns:a16="http://schemas.microsoft.com/office/drawing/2014/main" id="{BC8D28AC-3984-B195-BA8A-BD1780FFA359}"/>
                </a:ext>
              </a:extLst>
            </p:cNvPr>
            <p:cNvGrpSpPr/>
            <p:nvPr/>
          </p:nvGrpSpPr>
          <p:grpSpPr>
            <a:xfrm>
              <a:off x="5353657" y="1223137"/>
              <a:ext cx="2083693" cy="1630468"/>
              <a:chOff x="3249940" y="1229837"/>
              <a:chExt cx="2083693" cy="1630468"/>
            </a:xfrm>
          </p:grpSpPr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821EFAF0-BA2C-5979-19D1-AE70A601A028}"/>
                  </a:ext>
                </a:extLst>
              </p:cNvPr>
              <p:cNvSpPr txBox="1"/>
              <p:nvPr/>
            </p:nvSpPr>
            <p:spPr>
              <a:xfrm>
                <a:off x="3552927" y="1229837"/>
                <a:ext cx="178070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Rango Salario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CA53A501-492B-3747-FAD3-A309CF554825}"/>
                  </a:ext>
                </a:extLst>
              </p:cNvPr>
              <p:cNvSpPr txBox="1"/>
              <p:nvPr/>
            </p:nvSpPr>
            <p:spPr>
              <a:xfrm>
                <a:off x="3249940" y="2306307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66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Hasta 2 </a:t>
                </a:r>
                <a:r>
                  <a:rPr lang="es-CO" sz="1200" b="1" dirty="0" err="1">
                    <a:solidFill>
                      <a:schemeClr val="bg1"/>
                    </a:solidFill>
                  </a:rPr>
                  <a:t>smlv</a:t>
                </a:r>
                <a:endParaRPr lang="es-CO" sz="12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53" name="Imagen 52">
              <a:extLst>
                <a:ext uri="{FF2B5EF4-FFF2-40B4-BE49-F238E27FC236}">
                  <a16:creationId xmlns:a16="http://schemas.microsoft.com/office/drawing/2014/main" id="{C672D038-87FB-47FA-38CE-E98950CAF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12042" y="1623254"/>
              <a:ext cx="641350" cy="641350"/>
            </a:xfrm>
            <a:prstGeom prst="rect">
              <a:avLst/>
            </a:prstGeom>
          </p:spPr>
        </p:pic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EED66E0B-AE83-98C3-EB6F-ED016975FFF2}"/>
                </a:ext>
              </a:extLst>
            </p:cNvPr>
            <p:cNvSpPr txBox="1"/>
            <p:nvPr/>
          </p:nvSpPr>
          <p:spPr>
            <a:xfrm>
              <a:off x="6376735" y="2289285"/>
              <a:ext cx="1172909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34</a:t>
              </a:r>
              <a:r>
                <a:rPr lang="es-CO" sz="18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Mas de 2 </a:t>
              </a:r>
              <a:r>
                <a:rPr lang="es-CO" sz="1200" b="1" dirty="0" err="1">
                  <a:solidFill>
                    <a:schemeClr val="bg1"/>
                  </a:solidFill>
                </a:rPr>
                <a:t>smlv</a:t>
              </a:r>
              <a:endParaRPr lang="es-CO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D7D49ABE-A48C-5984-8788-F7A8CD4BB2E9}"/>
              </a:ext>
            </a:extLst>
          </p:cNvPr>
          <p:cNvGrpSpPr/>
          <p:nvPr/>
        </p:nvGrpSpPr>
        <p:grpSpPr>
          <a:xfrm>
            <a:off x="3320687" y="874756"/>
            <a:ext cx="1941094" cy="1759148"/>
            <a:chOff x="3224463" y="1110832"/>
            <a:chExt cx="1941094" cy="1759148"/>
          </a:xfrm>
        </p:grpSpPr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67759751-3053-50EB-D769-B2C6604CBE2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36596" y="1677993"/>
              <a:ext cx="721895" cy="721895"/>
            </a:xfrm>
            <a:prstGeom prst="rect">
              <a:avLst/>
            </a:prstGeom>
          </p:spPr>
        </p:pic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FCA2F339-908F-71C6-4FC2-2F702EF0F1C8}"/>
                </a:ext>
              </a:extLst>
            </p:cNvPr>
            <p:cNvGrpSpPr/>
            <p:nvPr/>
          </p:nvGrpSpPr>
          <p:grpSpPr>
            <a:xfrm>
              <a:off x="3420553" y="1223137"/>
              <a:ext cx="1609350" cy="1516670"/>
              <a:chOff x="3420553" y="1223137"/>
              <a:chExt cx="1609350" cy="1516670"/>
            </a:xfrm>
          </p:grpSpPr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BB69FB30-81C8-4B69-25DB-5F64C5CE07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74608" y="1613811"/>
                <a:ext cx="723600" cy="723600"/>
              </a:xfrm>
              <a:prstGeom prst="rect">
                <a:avLst/>
              </a:prstGeom>
            </p:spPr>
          </p:pic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3642AF43-945D-E88A-5C48-07988F6813C9}"/>
                  </a:ext>
                </a:extLst>
              </p:cNvPr>
              <p:cNvSpPr txBox="1"/>
              <p:nvPr/>
            </p:nvSpPr>
            <p:spPr>
              <a:xfrm>
                <a:off x="3685253" y="1223137"/>
                <a:ext cx="1098946" cy="345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Género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01669A3B-EEBF-8E34-9CF9-A38B0765ED13}"/>
                  </a:ext>
                </a:extLst>
              </p:cNvPr>
              <p:cNvSpPr txBox="1"/>
              <p:nvPr/>
            </p:nvSpPr>
            <p:spPr>
              <a:xfrm>
                <a:off x="3420553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47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F9C2F8D5-ADD4-8C34-D7FC-E57BB7880831}"/>
                  </a:ext>
                </a:extLst>
              </p:cNvPr>
              <p:cNvSpPr txBox="1"/>
              <p:nvPr/>
            </p:nvSpPr>
            <p:spPr>
              <a:xfrm>
                <a:off x="4308008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53%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</p:grp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62EEAE81-2252-2EF9-1C01-795213EDBA52}"/>
                </a:ext>
              </a:extLst>
            </p:cNvPr>
            <p:cNvSpPr/>
            <p:nvPr/>
          </p:nvSpPr>
          <p:spPr>
            <a:xfrm>
              <a:off x="3224463" y="1110832"/>
              <a:ext cx="1941094" cy="175914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78" name="CuadroTexto 77">
            <a:extLst>
              <a:ext uri="{FF2B5EF4-FFF2-40B4-BE49-F238E27FC236}">
                <a16:creationId xmlns:a16="http://schemas.microsoft.com/office/drawing/2014/main" id="{335FD61F-5EF8-33C8-B977-3BF338E8A484}"/>
              </a:ext>
            </a:extLst>
          </p:cNvPr>
          <p:cNvSpPr txBox="1"/>
          <p:nvPr/>
        </p:nvSpPr>
        <p:spPr>
          <a:xfrm>
            <a:off x="1376075" y="3222417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29%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Joven</a:t>
            </a:r>
          </a:p>
        </p:txBody>
      </p: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E2007E7D-06FB-54D5-F19C-C653EABE7949}"/>
              </a:ext>
            </a:extLst>
          </p:cNvPr>
          <p:cNvGrpSpPr/>
          <p:nvPr/>
        </p:nvGrpSpPr>
        <p:grpSpPr>
          <a:xfrm>
            <a:off x="-155207" y="2771278"/>
            <a:ext cx="2688149" cy="1998661"/>
            <a:chOff x="435343" y="3108160"/>
            <a:chExt cx="2688149" cy="1998661"/>
          </a:xfrm>
        </p:grpSpPr>
        <p:grpSp>
          <p:nvGrpSpPr>
            <p:cNvPr id="69" name="Grupo 68">
              <a:extLst>
                <a:ext uri="{FF2B5EF4-FFF2-40B4-BE49-F238E27FC236}">
                  <a16:creationId xmlns:a16="http://schemas.microsoft.com/office/drawing/2014/main" id="{2F71B869-4298-3876-E641-5A5624E2801E}"/>
                </a:ext>
              </a:extLst>
            </p:cNvPr>
            <p:cNvGrpSpPr/>
            <p:nvPr/>
          </p:nvGrpSpPr>
          <p:grpSpPr>
            <a:xfrm>
              <a:off x="457829" y="3108160"/>
              <a:ext cx="2665663" cy="1998661"/>
              <a:chOff x="7590765" y="1110832"/>
              <a:chExt cx="2665663" cy="1822499"/>
            </a:xfrm>
          </p:grpSpPr>
          <p:sp>
            <p:nvSpPr>
              <p:cNvPr id="70" name="Rectángulo 69">
                <a:extLst>
                  <a:ext uri="{FF2B5EF4-FFF2-40B4-BE49-F238E27FC236}">
                    <a16:creationId xmlns:a16="http://schemas.microsoft.com/office/drawing/2014/main" id="{E6FA6141-D51C-73F2-FC77-892882D4B85F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71" name="Grupo 70">
                <a:extLst>
                  <a:ext uri="{FF2B5EF4-FFF2-40B4-BE49-F238E27FC236}">
                    <a16:creationId xmlns:a16="http://schemas.microsoft.com/office/drawing/2014/main" id="{DE347801-FBD4-522C-C2F4-15E0872573F5}"/>
                  </a:ext>
                </a:extLst>
              </p:cNvPr>
              <p:cNvGrpSpPr/>
              <p:nvPr/>
            </p:nvGrpSpPr>
            <p:grpSpPr>
              <a:xfrm>
                <a:off x="7590765" y="1223137"/>
                <a:ext cx="2024519" cy="1655939"/>
                <a:chOff x="3026344" y="1229837"/>
                <a:chExt cx="2024519" cy="1655939"/>
              </a:xfrm>
            </p:grpSpPr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0B86E819-5732-7D0E-24F6-9E927ABD0674}"/>
                    </a:ext>
                  </a:extLst>
                </p:cNvPr>
                <p:cNvSpPr txBox="1"/>
                <p:nvPr/>
              </p:nvSpPr>
              <p:spPr>
                <a:xfrm>
                  <a:off x="3645002" y="1229837"/>
                  <a:ext cx="1405861" cy="3087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Segmento 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FDDF1228-6E38-373E-604E-219CB3F22DC7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12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26%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Básico</a:t>
                  </a:r>
                </a:p>
              </p:txBody>
            </p:sp>
          </p:grpSp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BEB76E88-2E2A-43E5-5F97-9CDE8EBC42F2}"/>
                  </a:ext>
                </a:extLst>
              </p:cNvPr>
              <p:cNvSpPr txBox="1"/>
              <p:nvPr/>
            </p:nvSpPr>
            <p:spPr>
              <a:xfrm>
                <a:off x="9083519" y="231777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0%</a:t>
                </a:r>
              </a:p>
              <a:p>
                <a:r>
                  <a:rPr lang="es-CO" sz="1400" b="1">
                    <a:solidFill>
                      <a:schemeClr val="bg1"/>
                    </a:solidFill>
                  </a:rPr>
                  <a:t>       Alto</a:t>
                </a:r>
              </a:p>
            </p:txBody>
          </p:sp>
        </p:grpSp>
        <p:sp>
          <p:nvSpPr>
            <p:cNvPr id="77" name="CuadroTexto 76">
              <a:extLst>
                <a:ext uri="{FF2B5EF4-FFF2-40B4-BE49-F238E27FC236}">
                  <a16:creationId xmlns:a16="http://schemas.microsoft.com/office/drawing/2014/main" id="{5889E298-FE88-A76E-B6B3-E669005BC16E}"/>
                </a:ext>
              </a:extLst>
            </p:cNvPr>
            <p:cNvSpPr txBox="1"/>
            <p:nvPr/>
          </p:nvSpPr>
          <p:spPr>
            <a:xfrm>
              <a:off x="435343" y="3559299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45%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Medio</a:t>
              </a:r>
            </a:p>
          </p:txBody>
        </p:sp>
        <p:pic>
          <p:nvPicPr>
            <p:cNvPr id="80" name="Imagen 79">
              <a:extLst>
                <a:ext uri="{FF2B5EF4-FFF2-40B4-BE49-F238E27FC236}">
                  <a16:creationId xmlns:a16="http://schemas.microsoft.com/office/drawing/2014/main" id="{63D809E8-BE12-8245-9788-823654AB2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LineDrawing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90862" y="3871141"/>
              <a:ext cx="680857" cy="680857"/>
            </a:xfrm>
            <a:prstGeom prst="rect">
              <a:avLst/>
            </a:prstGeom>
          </p:spPr>
        </p:pic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20B61D16-5EA4-BB90-CBDA-EA329EAD831C}"/>
              </a:ext>
            </a:extLst>
          </p:cNvPr>
          <p:cNvGrpSpPr/>
          <p:nvPr/>
        </p:nvGrpSpPr>
        <p:grpSpPr>
          <a:xfrm>
            <a:off x="2169335" y="2774370"/>
            <a:ext cx="3284086" cy="1982993"/>
            <a:chOff x="2759885" y="3111252"/>
            <a:chExt cx="3284086" cy="1982993"/>
          </a:xfrm>
        </p:grpSpPr>
        <p:sp>
          <p:nvSpPr>
            <p:cNvPr id="88" name="CuadroTexto 87">
              <a:extLst>
                <a:ext uri="{FF2B5EF4-FFF2-40B4-BE49-F238E27FC236}">
                  <a16:creationId xmlns:a16="http://schemas.microsoft.com/office/drawing/2014/main" id="{201F7D95-9ACF-D231-D82D-0ED895FAB5DC}"/>
                </a:ext>
              </a:extLst>
            </p:cNvPr>
            <p:cNvSpPr txBox="1"/>
            <p:nvPr/>
          </p:nvSpPr>
          <p:spPr>
            <a:xfrm>
              <a:off x="2759885" y="3531697"/>
              <a:ext cx="154680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   44%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             Sin Grupo</a:t>
              </a:r>
            </a:p>
          </p:txBody>
        </p:sp>
        <p:grpSp>
          <p:nvGrpSpPr>
            <p:cNvPr id="124" name="Grupo 123">
              <a:extLst>
                <a:ext uri="{FF2B5EF4-FFF2-40B4-BE49-F238E27FC236}">
                  <a16:creationId xmlns:a16="http://schemas.microsoft.com/office/drawing/2014/main" id="{FEF9C5CE-F1F9-ACFE-5FAE-6CD6E4E68B05}"/>
                </a:ext>
              </a:extLst>
            </p:cNvPr>
            <p:cNvGrpSpPr/>
            <p:nvPr/>
          </p:nvGrpSpPr>
          <p:grpSpPr>
            <a:xfrm>
              <a:off x="2827705" y="3111252"/>
              <a:ext cx="3216266" cy="1982993"/>
              <a:chOff x="2827705" y="3111252"/>
              <a:chExt cx="3216266" cy="1982993"/>
            </a:xfrm>
          </p:grpSpPr>
          <p:grpSp>
            <p:nvGrpSpPr>
              <p:cNvPr id="81" name="Grupo 80">
                <a:extLst>
                  <a:ext uri="{FF2B5EF4-FFF2-40B4-BE49-F238E27FC236}">
                    <a16:creationId xmlns:a16="http://schemas.microsoft.com/office/drawing/2014/main" id="{B8E18993-C7C9-4B58-0DD8-4F0D68991C8C}"/>
                  </a:ext>
                </a:extLst>
              </p:cNvPr>
              <p:cNvGrpSpPr/>
              <p:nvPr/>
            </p:nvGrpSpPr>
            <p:grpSpPr>
              <a:xfrm>
                <a:off x="2827705" y="3111252"/>
                <a:ext cx="3216266" cy="1963483"/>
                <a:chOff x="7593779" y="1110832"/>
                <a:chExt cx="3216266" cy="1780012"/>
              </a:xfrm>
            </p:grpSpPr>
            <p:sp>
              <p:nvSpPr>
                <p:cNvPr id="82" name="Rectángulo 81">
                  <a:extLst>
                    <a:ext uri="{FF2B5EF4-FFF2-40B4-BE49-F238E27FC236}">
                      <a16:creationId xmlns:a16="http://schemas.microsoft.com/office/drawing/2014/main" id="{B8AB0D0E-7507-8403-B504-83922F682EE1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808386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83" name="Grupo 82">
                  <a:extLst>
                    <a:ext uri="{FF2B5EF4-FFF2-40B4-BE49-F238E27FC236}">
                      <a16:creationId xmlns:a16="http://schemas.microsoft.com/office/drawing/2014/main" id="{909B6A21-4317-9767-3182-9419EBBB1D8C}"/>
                    </a:ext>
                  </a:extLst>
                </p:cNvPr>
                <p:cNvGrpSpPr/>
                <p:nvPr/>
              </p:nvGrpSpPr>
              <p:grpSpPr>
                <a:xfrm>
                  <a:off x="7593779" y="1166870"/>
                  <a:ext cx="2748715" cy="1491072"/>
                  <a:chOff x="3029358" y="1173570"/>
                  <a:chExt cx="2748715" cy="1491072"/>
                </a:xfrm>
              </p:grpSpPr>
              <p:sp>
                <p:nvSpPr>
                  <p:cNvPr id="85" name="CuadroTexto 84">
                    <a:extLst>
                      <a:ext uri="{FF2B5EF4-FFF2-40B4-BE49-F238E27FC236}">
                        <a16:creationId xmlns:a16="http://schemas.microsoft.com/office/drawing/2014/main" id="{5CE41198-C242-3C21-8948-41EF0D5FE9B1}"/>
                      </a:ext>
                    </a:extLst>
                  </p:cNvPr>
                  <p:cNvSpPr txBox="1"/>
                  <p:nvPr/>
                </p:nvSpPr>
                <p:spPr>
                  <a:xfrm>
                    <a:off x="3634807" y="1173570"/>
                    <a:ext cx="2143266" cy="30691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Segmento Familia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87" name="CuadroTexto 86">
                    <a:extLst>
                      <a:ext uri="{FF2B5EF4-FFF2-40B4-BE49-F238E27FC236}">
                        <a16:creationId xmlns:a16="http://schemas.microsoft.com/office/drawing/2014/main" id="{61054F47-B9FD-6368-7ACF-1E05C33BF135}"/>
                      </a:ext>
                    </a:extLst>
                  </p:cNvPr>
                  <p:cNvSpPr txBox="1"/>
                  <p:nvPr/>
                </p:nvSpPr>
                <p:spPr>
                  <a:xfrm>
                    <a:off x="3029358" y="1995000"/>
                    <a:ext cx="1923771" cy="66964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 6</a:t>
                    </a:r>
                    <a:r>
                      <a:rPr lang="es-CO" sz="18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%</a:t>
                    </a:r>
                  </a:p>
                  <a:p>
                    <a:r>
                      <a:rPr lang="es-CO" sz="1200" b="1" dirty="0">
                        <a:solidFill>
                          <a:schemeClr val="bg1"/>
                        </a:solidFill>
                      </a:rPr>
                      <a:t>      Monoparental</a:t>
                    </a:r>
                  </a:p>
                  <a:p>
                    <a:r>
                      <a:rPr lang="es-CO" sz="1200" b="1" dirty="0">
                        <a:solidFill>
                          <a:schemeClr val="bg1"/>
                        </a:solidFill>
                      </a:rPr>
                      <a:t>      Ampliada</a:t>
                    </a:r>
                  </a:p>
                </p:txBody>
              </p:sp>
            </p:grpSp>
            <p:sp>
              <p:nvSpPr>
                <p:cNvPr id="84" name="CuadroTexto 83">
                  <a:extLst>
                    <a:ext uri="{FF2B5EF4-FFF2-40B4-BE49-F238E27FC236}">
                      <a16:creationId xmlns:a16="http://schemas.microsoft.com/office/drawing/2014/main" id="{5CE7BCA2-B968-C3BC-7D66-1C7638457AAF}"/>
                    </a:ext>
                  </a:extLst>
                </p:cNvPr>
                <p:cNvSpPr txBox="1"/>
                <p:nvPr/>
              </p:nvSpPr>
              <p:spPr>
                <a:xfrm>
                  <a:off x="9185077" y="1973757"/>
                  <a:ext cx="1624968" cy="5022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        12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 Nuclear Integrada</a:t>
                  </a:r>
                </a:p>
              </p:txBody>
            </p:sp>
          </p:grpSp>
          <p:sp>
            <p:nvSpPr>
              <p:cNvPr id="89" name="CuadroTexto 88">
                <a:extLst>
                  <a:ext uri="{FF2B5EF4-FFF2-40B4-BE49-F238E27FC236}">
                    <a16:creationId xmlns:a16="http://schemas.microsoft.com/office/drawing/2014/main" id="{262CF1B8-28F0-F4FD-8D48-360FCBB86529}"/>
                  </a:ext>
                </a:extLst>
              </p:cNvPr>
              <p:cNvSpPr txBox="1"/>
              <p:nvPr/>
            </p:nvSpPr>
            <p:spPr>
              <a:xfrm>
                <a:off x="4771770" y="3534141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35%</a:t>
                </a:r>
                <a:r>
                  <a:rPr lang="es-CO" sz="1200" b="1" dirty="0">
                    <a:solidFill>
                      <a:schemeClr val="bg1"/>
                    </a:solidFill>
                  </a:rPr>
                  <a:t> Monoparental</a:t>
                </a:r>
              </a:p>
            </p:txBody>
          </p:sp>
          <p:sp>
            <p:nvSpPr>
              <p:cNvPr id="90" name="CuadroTexto 89">
                <a:extLst>
                  <a:ext uri="{FF2B5EF4-FFF2-40B4-BE49-F238E27FC236}">
                    <a16:creationId xmlns:a16="http://schemas.microsoft.com/office/drawing/2014/main" id="{4BDA6B64-AE59-48E9-99DE-9A0E2C98704B}"/>
                  </a:ext>
                </a:extLst>
              </p:cNvPr>
              <p:cNvSpPr txBox="1"/>
              <p:nvPr/>
            </p:nvSpPr>
            <p:spPr>
              <a:xfrm>
                <a:off x="3737744" y="4540247"/>
                <a:ext cx="1546807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4</a:t>
                </a:r>
                <a:r>
                  <a:rPr lang="es-CO" sz="1800" b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>
                    <a:solidFill>
                      <a:schemeClr val="bg1"/>
                    </a:solidFill>
                  </a:rPr>
                  <a:t>  Pareja Conyugal</a:t>
                </a:r>
              </a:p>
            </p:txBody>
          </p:sp>
          <p:pic>
            <p:nvPicPr>
              <p:cNvPr id="92" name="Imagen 91">
                <a:extLst>
                  <a:ext uri="{FF2B5EF4-FFF2-40B4-BE49-F238E27FC236}">
                    <a16:creationId xmlns:a16="http://schemas.microsoft.com/office/drawing/2014/main" id="{CCC485E7-3DD0-0E78-84A8-9361CD252B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artisticGlowDiffused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075298" y="3571709"/>
                <a:ext cx="754362" cy="754362"/>
              </a:xfrm>
              <a:prstGeom prst="rect">
                <a:avLst/>
              </a:prstGeom>
            </p:spPr>
          </p:pic>
        </p:grp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4F5ED03C-054E-5B22-162D-6ECDEA94E41F}"/>
              </a:ext>
            </a:extLst>
          </p:cNvPr>
          <p:cNvGrpSpPr/>
          <p:nvPr/>
        </p:nvGrpSpPr>
        <p:grpSpPr>
          <a:xfrm>
            <a:off x="90873" y="847081"/>
            <a:ext cx="3094159" cy="1780012"/>
            <a:chOff x="681423" y="1183963"/>
            <a:chExt cx="3094159" cy="1780012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A18245FC-66CC-14EA-EE4C-4FF09F7235E2}"/>
                </a:ext>
              </a:extLst>
            </p:cNvPr>
            <p:cNvSpPr txBox="1"/>
            <p:nvPr/>
          </p:nvSpPr>
          <p:spPr>
            <a:xfrm>
              <a:off x="942955" y="1217834"/>
              <a:ext cx="2376943" cy="16927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s-CO" sz="2000" b="1" dirty="0">
                <a:solidFill>
                  <a:srgbClr val="FFC000"/>
                </a:solidFill>
              </a:endParaRP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Afiliado     </a:t>
              </a:r>
              <a:r>
                <a:rPr lang="es-CO" sz="2800" b="1" dirty="0">
                  <a:solidFill>
                    <a:srgbClr val="FFC000"/>
                  </a:solidFill>
                </a:rPr>
                <a:t>   </a:t>
              </a:r>
              <a:r>
                <a:rPr lang="es-CO" sz="2800" b="1" dirty="0">
                  <a:solidFill>
                    <a:schemeClr val="bg1"/>
                  </a:solidFill>
                </a:rPr>
                <a:t>63%</a:t>
              </a: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No Afilado   </a:t>
              </a:r>
              <a:r>
                <a:rPr lang="es-CO" sz="2800" b="1" dirty="0">
                  <a:solidFill>
                    <a:schemeClr val="bg1"/>
                  </a:solidFill>
                </a:rPr>
                <a:t>37%</a:t>
              </a:r>
            </a:p>
            <a:p>
              <a:endParaRPr lang="es-ES" sz="28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05" name="Rectángulo 104">
              <a:extLst>
                <a:ext uri="{FF2B5EF4-FFF2-40B4-BE49-F238E27FC236}">
                  <a16:creationId xmlns:a16="http://schemas.microsoft.com/office/drawing/2014/main" id="{B50876DF-3478-A501-5BEC-3D3A9CCD40F9}"/>
                </a:ext>
              </a:extLst>
            </p:cNvPr>
            <p:cNvSpPr/>
            <p:nvPr/>
          </p:nvSpPr>
          <p:spPr>
            <a:xfrm>
              <a:off x="681423" y="1183963"/>
              <a:ext cx="3094159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20" name="Grupo 119">
            <a:extLst>
              <a:ext uri="{FF2B5EF4-FFF2-40B4-BE49-F238E27FC236}">
                <a16:creationId xmlns:a16="http://schemas.microsoft.com/office/drawing/2014/main" id="{FC8A43C1-59FA-8860-E7D7-489989B10EA1}"/>
              </a:ext>
            </a:extLst>
          </p:cNvPr>
          <p:cNvGrpSpPr/>
          <p:nvPr/>
        </p:nvGrpSpPr>
        <p:grpSpPr>
          <a:xfrm>
            <a:off x="7777183" y="2775745"/>
            <a:ext cx="2623981" cy="1933541"/>
            <a:chOff x="9059295" y="3127128"/>
            <a:chExt cx="2623981" cy="1933541"/>
          </a:xfrm>
        </p:grpSpPr>
        <p:grpSp>
          <p:nvGrpSpPr>
            <p:cNvPr id="106" name="Grupo 105">
              <a:extLst>
                <a:ext uri="{FF2B5EF4-FFF2-40B4-BE49-F238E27FC236}">
                  <a16:creationId xmlns:a16="http://schemas.microsoft.com/office/drawing/2014/main" id="{A2AFB228-5758-F691-5C49-C2D238276B14}"/>
                </a:ext>
              </a:extLst>
            </p:cNvPr>
            <p:cNvGrpSpPr/>
            <p:nvPr/>
          </p:nvGrpSpPr>
          <p:grpSpPr>
            <a:xfrm>
              <a:off x="9080988" y="3127128"/>
              <a:ext cx="2601495" cy="1933541"/>
              <a:chOff x="7590765" y="1110832"/>
              <a:chExt cx="2601495" cy="1780012"/>
            </a:xfrm>
          </p:grpSpPr>
          <p:sp>
            <p:nvSpPr>
              <p:cNvPr id="107" name="Rectángulo 106">
                <a:extLst>
                  <a:ext uri="{FF2B5EF4-FFF2-40B4-BE49-F238E27FC236}">
                    <a16:creationId xmlns:a16="http://schemas.microsoft.com/office/drawing/2014/main" id="{E77AC1A1-2CC3-D5DE-5539-85F51DF09ED6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108" name="Grupo 107">
                <a:extLst>
                  <a:ext uri="{FF2B5EF4-FFF2-40B4-BE49-F238E27FC236}">
                    <a16:creationId xmlns:a16="http://schemas.microsoft.com/office/drawing/2014/main" id="{6A3CF9A2-27F3-B5A6-49DB-8E08619342D4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2191150" cy="1678227"/>
                <a:chOff x="3026344" y="1212927"/>
                <a:chExt cx="2191150" cy="1678227"/>
              </a:xfrm>
            </p:grpSpPr>
            <p:sp>
              <p:nvSpPr>
                <p:cNvPr id="110" name="CuadroTexto 109">
                  <a:extLst>
                    <a:ext uri="{FF2B5EF4-FFF2-40B4-BE49-F238E27FC236}">
                      <a16:creationId xmlns:a16="http://schemas.microsoft.com/office/drawing/2014/main" id="{E37FC050-B64C-6F14-83D6-1A4FCF540842}"/>
                    </a:ext>
                  </a:extLst>
                </p:cNvPr>
                <p:cNvSpPr txBox="1"/>
                <p:nvPr/>
              </p:nvSpPr>
              <p:spPr>
                <a:xfrm>
                  <a:off x="3811633" y="1212927"/>
                  <a:ext cx="140586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 dirty="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Estrato</a:t>
                  </a:r>
                  <a:endParaRPr lang="es-ES" sz="1600" dirty="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11" name="CuadroTexto 110">
                  <a:extLst>
                    <a:ext uri="{FF2B5EF4-FFF2-40B4-BE49-F238E27FC236}">
                      <a16:creationId xmlns:a16="http://schemas.microsoft.com/office/drawing/2014/main" id="{E8E54045-21B9-9E5A-53CD-6FD3B8CB3FCA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18%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  <p:sp>
            <p:nvSpPr>
              <p:cNvPr id="109" name="CuadroTexto 108">
                <a:extLst>
                  <a:ext uri="{FF2B5EF4-FFF2-40B4-BE49-F238E27FC236}">
                    <a16:creationId xmlns:a16="http://schemas.microsoft.com/office/drawing/2014/main" id="{EFCD844E-A7E6-4C83-89D6-1A7CA5837915}"/>
                  </a:ext>
                </a:extLst>
              </p:cNvPr>
              <p:cNvSpPr txBox="1"/>
              <p:nvPr/>
            </p:nvSpPr>
            <p:spPr>
              <a:xfrm>
                <a:off x="9019351" y="2317778"/>
                <a:ext cx="1172909" cy="566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Cuatro</a:t>
                </a:r>
              </a:p>
            </p:txBody>
          </p:sp>
        </p:grpSp>
        <p:sp>
          <p:nvSpPr>
            <p:cNvPr id="112" name="CuadroTexto 111">
              <a:extLst>
                <a:ext uri="{FF2B5EF4-FFF2-40B4-BE49-F238E27FC236}">
                  <a16:creationId xmlns:a16="http://schemas.microsoft.com/office/drawing/2014/main" id="{A48B02D4-B7E1-8AB1-B0FF-B5F9868B15CE}"/>
                </a:ext>
              </a:extLst>
            </p:cNvPr>
            <p:cNvSpPr txBox="1"/>
            <p:nvPr/>
          </p:nvSpPr>
          <p:spPr>
            <a:xfrm>
              <a:off x="9059295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2%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Uno</a:t>
              </a:r>
            </a:p>
          </p:txBody>
        </p:sp>
        <p:sp>
          <p:nvSpPr>
            <p:cNvPr id="113" name="CuadroTexto 112">
              <a:extLst>
                <a:ext uri="{FF2B5EF4-FFF2-40B4-BE49-F238E27FC236}">
                  <a16:creationId xmlns:a16="http://schemas.microsoft.com/office/drawing/2014/main" id="{11E001D0-1D60-6CD6-DDCB-72CB6697C7BD}"/>
                </a:ext>
              </a:extLst>
            </p:cNvPr>
            <p:cNvSpPr txBox="1"/>
            <p:nvPr/>
          </p:nvSpPr>
          <p:spPr>
            <a:xfrm>
              <a:off x="10510367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13%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Dos</a:t>
              </a:r>
            </a:p>
          </p:txBody>
        </p:sp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82469631-A50A-C46A-0E7F-9685D7E61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artisticPencilGrayscale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043317" y="3855923"/>
              <a:ext cx="655939" cy="655939"/>
            </a:xfrm>
            <a:prstGeom prst="rect">
              <a:avLst/>
            </a:prstGeom>
          </p:spPr>
        </p:pic>
      </p:grp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57DE4B3A-FEB2-405F-D410-63E064496239}"/>
              </a:ext>
            </a:extLst>
          </p:cNvPr>
          <p:cNvSpPr txBox="1"/>
          <p:nvPr/>
        </p:nvSpPr>
        <p:spPr>
          <a:xfrm>
            <a:off x="5289967" y="3228845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      44%</a:t>
            </a:r>
          </a:p>
          <a:p>
            <a:r>
              <a:rPr lang="es-CO" sz="1400" b="1">
                <a:solidFill>
                  <a:schemeClr val="bg1"/>
                </a:solidFill>
              </a:rPr>
              <a:t>         Cero</a:t>
            </a:r>
          </a:p>
        </p:txBody>
      </p:sp>
      <p:grpSp>
        <p:nvGrpSpPr>
          <p:cNvPr id="123" name="Grupo 122">
            <a:extLst>
              <a:ext uri="{FF2B5EF4-FFF2-40B4-BE49-F238E27FC236}">
                <a16:creationId xmlns:a16="http://schemas.microsoft.com/office/drawing/2014/main" id="{45903C5A-2B8B-4042-D20B-6E6E76DBEFA9}"/>
              </a:ext>
            </a:extLst>
          </p:cNvPr>
          <p:cNvGrpSpPr/>
          <p:nvPr/>
        </p:nvGrpSpPr>
        <p:grpSpPr>
          <a:xfrm>
            <a:off x="5340592" y="2790246"/>
            <a:ext cx="2602288" cy="1946644"/>
            <a:chOff x="5931142" y="3127128"/>
            <a:chExt cx="2602288" cy="1946644"/>
          </a:xfrm>
        </p:grpSpPr>
        <p:grpSp>
          <p:nvGrpSpPr>
            <p:cNvPr id="93" name="Grupo 92">
              <a:extLst>
                <a:ext uri="{FF2B5EF4-FFF2-40B4-BE49-F238E27FC236}">
                  <a16:creationId xmlns:a16="http://schemas.microsoft.com/office/drawing/2014/main" id="{C2368F00-EB9E-CAAB-2978-35E7136F0AE0}"/>
                </a:ext>
              </a:extLst>
            </p:cNvPr>
            <p:cNvGrpSpPr/>
            <p:nvPr/>
          </p:nvGrpSpPr>
          <p:grpSpPr>
            <a:xfrm>
              <a:off x="5931142" y="3127128"/>
              <a:ext cx="2601495" cy="1946644"/>
              <a:chOff x="7590765" y="1110832"/>
              <a:chExt cx="2601495" cy="1792074"/>
            </a:xfrm>
          </p:grpSpPr>
          <p:sp>
            <p:nvSpPr>
              <p:cNvPr id="94" name="Rectángulo 93">
                <a:extLst>
                  <a:ext uri="{FF2B5EF4-FFF2-40B4-BE49-F238E27FC236}">
                    <a16:creationId xmlns:a16="http://schemas.microsoft.com/office/drawing/2014/main" id="{6C1E0D4F-D5A6-4C1B-9769-C27FE6530436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95" name="Grupo 94">
                <a:extLst>
                  <a:ext uri="{FF2B5EF4-FFF2-40B4-BE49-F238E27FC236}">
                    <a16:creationId xmlns:a16="http://schemas.microsoft.com/office/drawing/2014/main" id="{C75085CD-AF51-B030-D5C3-BDAF94A05558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1922369" cy="1696679"/>
                <a:chOff x="3026344" y="1212927"/>
                <a:chExt cx="1922369" cy="1696679"/>
              </a:xfrm>
            </p:grpSpPr>
            <p:sp>
              <p:nvSpPr>
                <p:cNvPr id="97" name="CuadroTexto 96">
                  <a:extLst>
                    <a:ext uri="{FF2B5EF4-FFF2-40B4-BE49-F238E27FC236}">
                      <a16:creationId xmlns:a16="http://schemas.microsoft.com/office/drawing/2014/main" id="{8A19E2EB-BE5B-0CF9-79C5-FDBA4B75E500}"/>
                    </a:ext>
                  </a:extLst>
                </p:cNvPr>
                <p:cNvSpPr txBox="1"/>
                <p:nvPr/>
              </p:nvSpPr>
              <p:spPr>
                <a:xfrm>
                  <a:off x="4021092" y="1212927"/>
                  <a:ext cx="92762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PAC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98" name="CuadroTexto 97">
                  <a:extLst>
                    <a:ext uri="{FF2B5EF4-FFF2-40B4-BE49-F238E27FC236}">
                      <a16:creationId xmlns:a16="http://schemas.microsoft.com/office/drawing/2014/main" id="{3842FE22-D174-6D88-AB61-F15DCCD32795}"/>
                    </a:ext>
                  </a:extLst>
                </p:cNvPr>
                <p:cNvSpPr txBox="1"/>
                <p:nvPr/>
              </p:nvSpPr>
              <p:spPr>
                <a:xfrm>
                  <a:off x="3026344" y="2294053"/>
                  <a:ext cx="1172909" cy="6155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9%</a:t>
                  </a:r>
                </a:p>
                <a:p>
                  <a:r>
                    <a:rPr lang="es-CO" sz="1400" b="1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  <p:sp>
            <p:nvSpPr>
              <p:cNvPr id="96" name="CuadroTexto 95">
                <a:extLst>
                  <a:ext uri="{FF2B5EF4-FFF2-40B4-BE49-F238E27FC236}">
                    <a16:creationId xmlns:a16="http://schemas.microsoft.com/office/drawing/2014/main" id="{86C41D90-C07A-46DE-D2E8-51E5C4119D31}"/>
                  </a:ext>
                </a:extLst>
              </p:cNvPr>
              <p:cNvSpPr txBox="1"/>
              <p:nvPr/>
            </p:nvSpPr>
            <p:spPr>
              <a:xfrm>
                <a:off x="9019351" y="2317778"/>
                <a:ext cx="1172909" cy="566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Cuatro</a:t>
                </a:r>
              </a:p>
            </p:txBody>
          </p:sp>
        </p:grpSp>
        <p:grpSp>
          <p:nvGrpSpPr>
            <p:cNvPr id="121" name="Grupo 120">
              <a:extLst>
                <a:ext uri="{FF2B5EF4-FFF2-40B4-BE49-F238E27FC236}">
                  <a16:creationId xmlns:a16="http://schemas.microsoft.com/office/drawing/2014/main" id="{BB289727-AA06-7BEE-6023-270ECE7E6F43}"/>
                </a:ext>
              </a:extLst>
            </p:cNvPr>
            <p:cNvGrpSpPr/>
            <p:nvPr/>
          </p:nvGrpSpPr>
          <p:grpSpPr>
            <a:xfrm>
              <a:off x="6649678" y="3565727"/>
              <a:ext cx="1883752" cy="1414028"/>
              <a:chOff x="6649678" y="3565727"/>
              <a:chExt cx="1883752" cy="1414028"/>
            </a:xfrm>
          </p:grpSpPr>
          <p:sp>
            <p:nvSpPr>
              <p:cNvPr id="99" name="CuadroTexto 98">
                <a:extLst>
                  <a:ext uri="{FF2B5EF4-FFF2-40B4-BE49-F238E27FC236}">
                    <a16:creationId xmlns:a16="http://schemas.microsoft.com/office/drawing/2014/main" id="{A47DAF5B-7508-BEA8-8F2E-188041A1D112}"/>
                  </a:ext>
                </a:extLst>
              </p:cNvPr>
              <p:cNvSpPr txBox="1"/>
              <p:nvPr/>
            </p:nvSpPr>
            <p:spPr>
              <a:xfrm>
                <a:off x="6649678" y="358240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27%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Uno</a:t>
                </a:r>
              </a:p>
            </p:txBody>
          </p:sp>
          <p:sp>
            <p:nvSpPr>
              <p:cNvPr id="101" name="CuadroTexto 100">
                <a:extLst>
                  <a:ext uri="{FF2B5EF4-FFF2-40B4-BE49-F238E27FC236}">
                    <a16:creationId xmlns:a16="http://schemas.microsoft.com/office/drawing/2014/main" id="{B8A3AED6-70EE-4039-869A-3350E1ACA622}"/>
                  </a:ext>
                </a:extLst>
              </p:cNvPr>
              <p:cNvSpPr txBox="1"/>
              <p:nvPr/>
            </p:nvSpPr>
            <p:spPr>
              <a:xfrm>
                <a:off x="7360521" y="3565727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18%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Dos</a:t>
                </a:r>
              </a:p>
            </p:txBody>
          </p:sp>
          <p:pic>
            <p:nvPicPr>
              <p:cNvPr id="118" name="Imagen 117">
                <a:extLst>
                  <a:ext uri="{FF2B5EF4-FFF2-40B4-BE49-F238E27FC236}">
                    <a16:creationId xmlns:a16="http://schemas.microsoft.com/office/drawing/2014/main" id="{FFAE2268-1EEA-291F-35CD-C84B4B1635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artisticPaintStrokes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886925" y="4205951"/>
                <a:ext cx="773804" cy="773804"/>
              </a:xfrm>
              <a:prstGeom prst="rect">
                <a:avLst/>
              </a:prstGeom>
            </p:spPr>
          </p:pic>
        </p:grpSp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0AFCE3AE-29CA-BD65-5973-92758D9477DE}"/>
              </a:ext>
            </a:extLst>
          </p:cNvPr>
          <p:cNvGrpSpPr/>
          <p:nvPr/>
        </p:nvGrpSpPr>
        <p:grpSpPr>
          <a:xfrm>
            <a:off x="8022470" y="853892"/>
            <a:ext cx="2195988" cy="1780012"/>
            <a:chOff x="7814360" y="1110832"/>
            <a:chExt cx="2195988" cy="1780012"/>
          </a:xfrm>
        </p:grpSpPr>
        <p:grpSp>
          <p:nvGrpSpPr>
            <p:cNvPr id="66" name="Grupo 65">
              <a:extLst>
                <a:ext uri="{FF2B5EF4-FFF2-40B4-BE49-F238E27FC236}">
                  <a16:creationId xmlns:a16="http://schemas.microsoft.com/office/drawing/2014/main" id="{AC2C1FA2-FF43-141C-9858-B51B25BA6085}"/>
                </a:ext>
              </a:extLst>
            </p:cNvPr>
            <p:cNvGrpSpPr/>
            <p:nvPr/>
          </p:nvGrpSpPr>
          <p:grpSpPr>
            <a:xfrm>
              <a:off x="7814360" y="1110832"/>
              <a:ext cx="2195988" cy="1780012"/>
              <a:chOff x="7814360" y="1110832"/>
              <a:chExt cx="2195988" cy="1780012"/>
            </a:xfrm>
          </p:grpSpPr>
          <p:sp>
            <p:nvSpPr>
              <p:cNvPr id="60" name="Rectángulo 59">
                <a:extLst>
                  <a:ext uri="{FF2B5EF4-FFF2-40B4-BE49-F238E27FC236}">
                    <a16:creationId xmlns:a16="http://schemas.microsoft.com/office/drawing/2014/main" id="{50FE8E27-FB20-936E-A1D4-89A0C63AA334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61" name="Grupo 60">
                <a:extLst>
                  <a:ext uri="{FF2B5EF4-FFF2-40B4-BE49-F238E27FC236}">
                    <a16:creationId xmlns:a16="http://schemas.microsoft.com/office/drawing/2014/main" id="{EBA5A95D-541A-BFDC-0F14-15126B4F9DB8}"/>
                  </a:ext>
                </a:extLst>
              </p:cNvPr>
              <p:cNvGrpSpPr/>
              <p:nvPr/>
            </p:nvGrpSpPr>
            <p:grpSpPr>
              <a:xfrm>
                <a:off x="7814361" y="1223137"/>
                <a:ext cx="2083693" cy="1630468"/>
                <a:chOff x="3249940" y="1229837"/>
                <a:chExt cx="2083693" cy="1630468"/>
              </a:xfrm>
            </p:grpSpPr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2266DCDF-7F57-3103-CBB7-EB413976D68A}"/>
                    </a:ext>
                  </a:extLst>
                </p:cNvPr>
                <p:cNvSpPr txBox="1"/>
                <p:nvPr/>
              </p:nvSpPr>
              <p:spPr>
                <a:xfrm>
                  <a:off x="3552927" y="1229837"/>
                  <a:ext cx="1780706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Rango Edad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C1E7A60A-85F5-4907-4680-E1E2A2214BA1}"/>
                    </a:ext>
                  </a:extLst>
                </p:cNvPr>
                <p:cNvSpPr txBox="1"/>
                <p:nvPr/>
              </p:nvSpPr>
              <p:spPr>
                <a:xfrm>
                  <a:off x="3249940" y="2306307"/>
                  <a:ext cx="1172909" cy="5539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50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20 a 35 años</a:t>
                  </a:r>
                </a:p>
              </p:txBody>
            </p:sp>
          </p:grpSp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157943A0-079F-08E4-3EED-34E5423228FD}"/>
                  </a:ext>
                </a:extLst>
              </p:cNvPr>
              <p:cNvSpPr txBox="1"/>
              <p:nvPr/>
            </p:nvSpPr>
            <p:spPr>
              <a:xfrm>
                <a:off x="8837439" y="2289285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29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36 a 45 años</a:t>
                </a:r>
              </a:p>
            </p:txBody>
          </p:sp>
        </p:grpSp>
        <p:pic>
          <p:nvPicPr>
            <p:cNvPr id="128" name="Imagen 127">
              <a:extLst>
                <a:ext uri="{FF2B5EF4-FFF2-40B4-BE49-F238E27FC236}">
                  <a16:creationId xmlns:a16="http://schemas.microsoft.com/office/drawing/2014/main" id="{70EF087A-00C4-AFC0-6F06-CF1B8F8DD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17644" y="1602912"/>
              <a:ext cx="655473" cy="655473"/>
            </a:xfrm>
            <a:prstGeom prst="rect">
              <a:avLst/>
            </a:prstGeom>
          </p:spPr>
        </p:pic>
      </p:grpSp>
      <p:grpSp>
        <p:nvGrpSpPr>
          <p:cNvPr id="189" name="Grupo 188">
            <a:extLst>
              <a:ext uri="{FF2B5EF4-FFF2-40B4-BE49-F238E27FC236}">
                <a16:creationId xmlns:a16="http://schemas.microsoft.com/office/drawing/2014/main" id="{6D519929-BA4A-AFB8-502B-4FD200FBD647}"/>
              </a:ext>
            </a:extLst>
          </p:cNvPr>
          <p:cNvGrpSpPr/>
          <p:nvPr/>
        </p:nvGrpSpPr>
        <p:grpSpPr>
          <a:xfrm>
            <a:off x="-114768" y="4837223"/>
            <a:ext cx="3758502" cy="1933541"/>
            <a:chOff x="435340" y="4837223"/>
            <a:chExt cx="4854517" cy="1933541"/>
          </a:xfrm>
        </p:grpSpPr>
        <p:grpSp>
          <p:nvGrpSpPr>
            <p:cNvPr id="138" name="Grupo 137">
              <a:extLst>
                <a:ext uri="{FF2B5EF4-FFF2-40B4-BE49-F238E27FC236}">
                  <a16:creationId xmlns:a16="http://schemas.microsoft.com/office/drawing/2014/main" id="{CAD4ADA5-798E-A44C-DF7D-0BFAA36FBC3C}"/>
                </a:ext>
              </a:extLst>
            </p:cNvPr>
            <p:cNvGrpSpPr/>
            <p:nvPr/>
          </p:nvGrpSpPr>
          <p:grpSpPr>
            <a:xfrm>
              <a:off x="435340" y="4837223"/>
              <a:ext cx="4854517" cy="1933541"/>
              <a:chOff x="9135236" y="3127128"/>
              <a:chExt cx="3830051" cy="1933541"/>
            </a:xfrm>
          </p:grpSpPr>
          <p:grpSp>
            <p:nvGrpSpPr>
              <p:cNvPr id="139" name="Grupo 138">
                <a:extLst>
                  <a:ext uri="{FF2B5EF4-FFF2-40B4-BE49-F238E27FC236}">
                    <a16:creationId xmlns:a16="http://schemas.microsoft.com/office/drawing/2014/main" id="{C4C6E7B9-168E-84BA-D6F1-462375E0D75C}"/>
                  </a:ext>
                </a:extLst>
              </p:cNvPr>
              <p:cNvGrpSpPr/>
              <p:nvPr/>
            </p:nvGrpSpPr>
            <p:grpSpPr>
              <a:xfrm>
                <a:off x="9229918" y="3127128"/>
                <a:ext cx="3735369" cy="1933541"/>
                <a:chOff x="7739695" y="1110832"/>
                <a:chExt cx="3735369" cy="1780012"/>
              </a:xfrm>
            </p:grpSpPr>
            <p:sp>
              <p:nvSpPr>
                <p:cNvPr id="143" name="Rectángulo 142">
                  <a:extLst>
                    <a:ext uri="{FF2B5EF4-FFF2-40B4-BE49-F238E27FC236}">
                      <a16:creationId xmlns:a16="http://schemas.microsoft.com/office/drawing/2014/main" id="{A77C13C7-B221-3354-F976-84469EB0CE74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3246650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44" name="Grupo 143">
                  <a:extLst>
                    <a:ext uri="{FF2B5EF4-FFF2-40B4-BE49-F238E27FC236}">
                      <a16:creationId xmlns:a16="http://schemas.microsoft.com/office/drawing/2014/main" id="{4837BCD8-7865-027A-A439-7855445D0DED}"/>
                    </a:ext>
                  </a:extLst>
                </p:cNvPr>
                <p:cNvGrpSpPr/>
                <p:nvPr/>
              </p:nvGrpSpPr>
              <p:grpSpPr>
                <a:xfrm>
                  <a:off x="7739695" y="1236316"/>
                  <a:ext cx="3735369" cy="1532075"/>
                  <a:chOff x="3175274" y="1243016"/>
                  <a:chExt cx="3735369" cy="1532075"/>
                </a:xfrm>
              </p:grpSpPr>
              <p:sp>
                <p:nvSpPr>
                  <p:cNvPr id="146" name="CuadroTexto 145">
                    <a:extLst>
                      <a:ext uri="{FF2B5EF4-FFF2-40B4-BE49-F238E27FC236}">
                        <a16:creationId xmlns:a16="http://schemas.microsoft.com/office/drawing/2014/main" id="{6536515F-6A00-21B6-10BC-B9A77E16AC13}"/>
                      </a:ext>
                    </a:extLst>
                  </p:cNvPr>
                  <p:cNvSpPr txBox="1"/>
                  <p:nvPr/>
                </p:nvSpPr>
                <p:spPr>
                  <a:xfrm>
                    <a:off x="3854322" y="1243016"/>
                    <a:ext cx="3056321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Segmento Empresas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47" name="CuadroTexto 146">
                    <a:extLst>
                      <a:ext uri="{FF2B5EF4-FFF2-40B4-BE49-F238E27FC236}">
                        <a16:creationId xmlns:a16="http://schemas.microsoft.com/office/drawing/2014/main" id="{926C50AE-457B-3353-55ED-3CF8438449A8}"/>
                      </a:ext>
                    </a:extLst>
                  </p:cNvPr>
                  <p:cNvSpPr txBox="1"/>
                  <p:nvPr/>
                </p:nvSpPr>
                <p:spPr>
                  <a:xfrm>
                    <a:off x="3175274" y="2208415"/>
                    <a:ext cx="1173399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21%</a:t>
                    </a:r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            Medianas</a:t>
                    </a:r>
                  </a:p>
                </p:txBody>
              </p:sp>
            </p:grpSp>
            <p:sp>
              <p:nvSpPr>
                <p:cNvPr id="145" name="CuadroTexto 144">
                  <a:extLst>
                    <a:ext uri="{FF2B5EF4-FFF2-40B4-BE49-F238E27FC236}">
                      <a16:creationId xmlns:a16="http://schemas.microsoft.com/office/drawing/2014/main" id="{48677492-ECFA-1126-C0F2-EDB31455EC21}"/>
                    </a:ext>
                  </a:extLst>
                </p:cNvPr>
                <p:cNvSpPr txBox="1"/>
                <p:nvPr/>
              </p:nvSpPr>
              <p:spPr>
                <a:xfrm>
                  <a:off x="9864249" y="1523867"/>
                  <a:ext cx="1172909" cy="76501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20%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Grandes</a:t>
                  </a:r>
                </a:p>
              </p:txBody>
            </p:sp>
          </p:grpSp>
          <p:sp>
            <p:nvSpPr>
              <p:cNvPr id="140" name="CuadroTexto 139">
                <a:extLst>
                  <a:ext uri="{FF2B5EF4-FFF2-40B4-BE49-F238E27FC236}">
                    <a16:creationId xmlns:a16="http://schemas.microsoft.com/office/drawing/2014/main" id="{7F0B5AC6-0F59-2ED6-48CA-B4A39ABD2F56}"/>
                  </a:ext>
                </a:extLst>
              </p:cNvPr>
              <p:cNvSpPr txBox="1"/>
              <p:nvPr/>
            </p:nvSpPr>
            <p:spPr>
              <a:xfrm>
                <a:off x="9135236" y="3565727"/>
                <a:ext cx="145027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25%</a:t>
                </a:r>
              </a:p>
              <a:p>
                <a:r>
                  <a:rPr lang="es-CO" sz="1400" b="1">
                    <a:solidFill>
                      <a:schemeClr val="bg1"/>
                    </a:solidFill>
                  </a:rPr>
                  <a:t>       Emp Top</a:t>
                </a:r>
              </a:p>
            </p:txBody>
          </p:sp>
          <p:sp>
            <p:nvSpPr>
              <p:cNvPr id="141" name="CuadroTexto 140">
                <a:extLst>
                  <a:ext uri="{FF2B5EF4-FFF2-40B4-BE49-F238E27FC236}">
                    <a16:creationId xmlns:a16="http://schemas.microsoft.com/office/drawing/2014/main" id="{AC5C2689-2295-C658-A2B9-D73A47BFF574}"/>
                  </a:ext>
                </a:extLst>
              </p:cNvPr>
              <p:cNvSpPr txBox="1"/>
              <p:nvPr/>
            </p:nvSpPr>
            <p:spPr>
              <a:xfrm>
                <a:off x="10055645" y="3580594"/>
                <a:ext cx="1905211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29%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    Micro 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Transaccional</a:t>
                </a:r>
              </a:p>
            </p:txBody>
          </p:sp>
        </p:grpSp>
        <p:pic>
          <p:nvPicPr>
            <p:cNvPr id="149" name="Imagen 148">
              <a:extLst>
                <a:ext uri="{FF2B5EF4-FFF2-40B4-BE49-F238E27FC236}">
                  <a16:creationId xmlns:a16="http://schemas.microsoft.com/office/drawing/2014/main" id="{E47D356A-6F2E-A7C9-70FE-3131E8E958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315662" y="6011691"/>
              <a:ext cx="677562" cy="677562"/>
            </a:xfrm>
            <a:prstGeom prst="rect">
              <a:avLst/>
            </a:prstGeom>
          </p:spPr>
        </p:pic>
      </p:grp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73BE2621-0C7E-C688-D20C-BD2D568AC05F}"/>
              </a:ext>
            </a:extLst>
          </p:cNvPr>
          <p:cNvSpPr txBox="1"/>
          <p:nvPr/>
        </p:nvSpPr>
        <p:spPr>
          <a:xfrm>
            <a:off x="2053655" y="5976448"/>
            <a:ext cx="128594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6%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Estándar</a:t>
            </a:r>
          </a:p>
        </p:txBody>
      </p:sp>
      <p:grpSp>
        <p:nvGrpSpPr>
          <p:cNvPr id="151" name="Grupo 150">
            <a:extLst>
              <a:ext uri="{FF2B5EF4-FFF2-40B4-BE49-F238E27FC236}">
                <a16:creationId xmlns:a16="http://schemas.microsoft.com/office/drawing/2014/main" id="{B8CA257E-B761-9F1B-D236-3A6BE3C8FBAA}"/>
              </a:ext>
            </a:extLst>
          </p:cNvPr>
          <p:cNvGrpSpPr/>
          <p:nvPr/>
        </p:nvGrpSpPr>
        <p:grpSpPr>
          <a:xfrm>
            <a:off x="3041036" y="4852302"/>
            <a:ext cx="2658660" cy="1933541"/>
            <a:chOff x="9024616" y="3127128"/>
            <a:chExt cx="2658660" cy="1933541"/>
          </a:xfrm>
        </p:grpSpPr>
        <p:grpSp>
          <p:nvGrpSpPr>
            <p:cNvPr id="152" name="Grupo 151">
              <a:extLst>
                <a:ext uri="{FF2B5EF4-FFF2-40B4-BE49-F238E27FC236}">
                  <a16:creationId xmlns:a16="http://schemas.microsoft.com/office/drawing/2014/main" id="{45FCE54F-DC5B-013C-DA53-3F966A72DE93}"/>
                </a:ext>
              </a:extLst>
            </p:cNvPr>
            <p:cNvGrpSpPr/>
            <p:nvPr/>
          </p:nvGrpSpPr>
          <p:grpSpPr>
            <a:xfrm>
              <a:off x="9024616" y="3127128"/>
              <a:ext cx="2475954" cy="1933541"/>
              <a:chOff x="7534393" y="1110832"/>
              <a:chExt cx="2475954" cy="1780012"/>
            </a:xfrm>
          </p:grpSpPr>
          <p:sp>
            <p:nvSpPr>
              <p:cNvPr id="157" name="Rectángulo 156">
                <a:extLst>
                  <a:ext uri="{FF2B5EF4-FFF2-40B4-BE49-F238E27FC236}">
                    <a16:creationId xmlns:a16="http://schemas.microsoft.com/office/drawing/2014/main" id="{DC69ADAC-01B8-1AFE-F4B3-029AD9F264EE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158" name="Grupo 157">
                <a:extLst>
                  <a:ext uri="{FF2B5EF4-FFF2-40B4-BE49-F238E27FC236}">
                    <a16:creationId xmlns:a16="http://schemas.microsoft.com/office/drawing/2014/main" id="{215075F6-FA1D-0DDE-8D3B-DA9CE46CF934}"/>
                  </a:ext>
                </a:extLst>
              </p:cNvPr>
              <p:cNvGrpSpPr/>
              <p:nvPr/>
            </p:nvGrpSpPr>
            <p:grpSpPr>
              <a:xfrm>
                <a:off x="7534393" y="1206227"/>
                <a:ext cx="2388623" cy="1388251"/>
                <a:chOff x="2969972" y="1212927"/>
                <a:chExt cx="2388623" cy="1388251"/>
              </a:xfrm>
            </p:grpSpPr>
            <p:sp>
              <p:nvSpPr>
                <p:cNvPr id="160" name="CuadroTexto 159">
                  <a:extLst>
                    <a:ext uri="{FF2B5EF4-FFF2-40B4-BE49-F238E27FC236}">
                      <a16:creationId xmlns:a16="http://schemas.microsoft.com/office/drawing/2014/main" id="{C1408120-FF4B-96EC-CFC7-2475AB0B2599}"/>
                    </a:ext>
                  </a:extLst>
                </p:cNvPr>
                <p:cNvSpPr txBox="1"/>
                <p:nvPr/>
              </p:nvSpPr>
              <p:spPr>
                <a:xfrm>
                  <a:off x="3408991" y="1212927"/>
                  <a:ext cx="1949604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 dirty="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Departamento</a:t>
                  </a:r>
                  <a:endParaRPr lang="es-ES" sz="1600" dirty="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61" name="CuadroTexto 160">
                  <a:extLst>
                    <a:ext uri="{FF2B5EF4-FFF2-40B4-BE49-F238E27FC236}">
                      <a16:creationId xmlns:a16="http://schemas.microsoft.com/office/drawing/2014/main" id="{EC4F7CD3-AD86-537B-6E7F-54DEA995456D}"/>
                    </a:ext>
                  </a:extLst>
                </p:cNvPr>
                <p:cNvSpPr txBox="1"/>
                <p:nvPr/>
              </p:nvSpPr>
              <p:spPr>
                <a:xfrm>
                  <a:off x="2969972" y="2034502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5%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Chía</a:t>
                  </a:r>
                </a:p>
              </p:txBody>
            </p:sp>
          </p:grpSp>
        </p:grpSp>
        <p:sp>
          <p:nvSpPr>
            <p:cNvPr id="154" name="CuadroTexto 153">
              <a:extLst>
                <a:ext uri="{FF2B5EF4-FFF2-40B4-BE49-F238E27FC236}">
                  <a16:creationId xmlns:a16="http://schemas.microsoft.com/office/drawing/2014/main" id="{CF77E50B-2371-4BEC-3F54-8FBB1686D621}"/>
                </a:ext>
              </a:extLst>
            </p:cNvPr>
            <p:cNvSpPr txBox="1"/>
            <p:nvPr/>
          </p:nvSpPr>
          <p:spPr>
            <a:xfrm>
              <a:off x="9059295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45%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Bogotá</a:t>
              </a:r>
            </a:p>
          </p:txBody>
        </p:sp>
        <p:sp>
          <p:nvSpPr>
            <p:cNvPr id="155" name="CuadroTexto 154">
              <a:extLst>
                <a:ext uri="{FF2B5EF4-FFF2-40B4-BE49-F238E27FC236}">
                  <a16:creationId xmlns:a16="http://schemas.microsoft.com/office/drawing/2014/main" id="{0B538152-F5AD-8A2C-FECA-154D3C13B883}"/>
                </a:ext>
              </a:extLst>
            </p:cNvPr>
            <p:cNvSpPr txBox="1"/>
            <p:nvPr/>
          </p:nvSpPr>
          <p:spPr>
            <a:xfrm>
              <a:off x="10161519" y="3565504"/>
              <a:ext cx="1521757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5%</a:t>
              </a:r>
              <a:r>
                <a:rPr lang="es-CO" sz="1400" b="1" dirty="0">
                  <a:solidFill>
                    <a:schemeClr val="bg1"/>
                  </a:solidFill>
                </a:rPr>
                <a:t>       Tocancipá</a:t>
              </a:r>
            </a:p>
          </p:txBody>
        </p:sp>
      </p:grpSp>
      <p:grpSp>
        <p:nvGrpSpPr>
          <p:cNvPr id="201" name="Grupo 200">
            <a:extLst>
              <a:ext uri="{FF2B5EF4-FFF2-40B4-BE49-F238E27FC236}">
                <a16:creationId xmlns:a16="http://schemas.microsoft.com/office/drawing/2014/main" id="{AE93E744-0E2B-AA53-CDA3-1AB7AEEC30C4}"/>
              </a:ext>
            </a:extLst>
          </p:cNvPr>
          <p:cNvGrpSpPr/>
          <p:nvPr/>
        </p:nvGrpSpPr>
        <p:grpSpPr>
          <a:xfrm>
            <a:off x="5407406" y="4842106"/>
            <a:ext cx="2693579" cy="1985915"/>
            <a:chOff x="5483606" y="4842106"/>
            <a:chExt cx="2693579" cy="1985915"/>
          </a:xfrm>
        </p:grpSpPr>
        <p:grpSp>
          <p:nvGrpSpPr>
            <p:cNvPr id="164" name="Grupo 163">
              <a:extLst>
                <a:ext uri="{FF2B5EF4-FFF2-40B4-BE49-F238E27FC236}">
                  <a16:creationId xmlns:a16="http://schemas.microsoft.com/office/drawing/2014/main" id="{0CDC6DDF-ABA7-E6B6-5F35-491CB057B398}"/>
                </a:ext>
              </a:extLst>
            </p:cNvPr>
            <p:cNvGrpSpPr/>
            <p:nvPr/>
          </p:nvGrpSpPr>
          <p:grpSpPr>
            <a:xfrm>
              <a:off x="5483606" y="4842106"/>
              <a:ext cx="2693579" cy="1957609"/>
              <a:chOff x="9049330" y="3127128"/>
              <a:chExt cx="2693579" cy="1957609"/>
            </a:xfrm>
          </p:grpSpPr>
          <p:grpSp>
            <p:nvGrpSpPr>
              <p:cNvPr id="165" name="Grupo 164">
                <a:extLst>
                  <a:ext uri="{FF2B5EF4-FFF2-40B4-BE49-F238E27FC236}">
                    <a16:creationId xmlns:a16="http://schemas.microsoft.com/office/drawing/2014/main" id="{44AAF7B4-E236-3E7E-0559-527BA19E949E}"/>
                  </a:ext>
                </a:extLst>
              </p:cNvPr>
              <p:cNvGrpSpPr/>
              <p:nvPr/>
            </p:nvGrpSpPr>
            <p:grpSpPr>
              <a:xfrm>
                <a:off x="9049330" y="3127128"/>
                <a:ext cx="2655911" cy="1957609"/>
                <a:chOff x="7559107" y="1110832"/>
                <a:chExt cx="2655911" cy="1802169"/>
              </a:xfrm>
            </p:grpSpPr>
            <p:sp>
              <p:nvSpPr>
                <p:cNvPr id="168" name="Rectángulo 167">
                  <a:extLst>
                    <a:ext uri="{FF2B5EF4-FFF2-40B4-BE49-F238E27FC236}">
                      <a16:creationId xmlns:a16="http://schemas.microsoft.com/office/drawing/2014/main" id="{759FDEF7-CEA5-976E-98C2-B254B5E22CF3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195987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70" name="Grupo 169">
                  <a:extLst>
                    <a:ext uri="{FF2B5EF4-FFF2-40B4-BE49-F238E27FC236}">
                      <a16:creationId xmlns:a16="http://schemas.microsoft.com/office/drawing/2014/main" id="{E59FD345-EF8E-F9BA-9754-1E7A144C638B}"/>
                    </a:ext>
                  </a:extLst>
                </p:cNvPr>
                <p:cNvGrpSpPr/>
                <p:nvPr/>
              </p:nvGrpSpPr>
              <p:grpSpPr>
                <a:xfrm>
                  <a:off x="7559107" y="1207829"/>
                  <a:ext cx="2655911" cy="1705172"/>
                  <a:chOff x="2994686" y="1214529"/>
                  <a:chExt cx="2655911" cy="1705172"/>
                </a:xfrm>
              </p:grpSpPr>
              <p:sp>
                <p:nvSpPr>
                  <p:cNvPr id="171" name="CuadroTexto 170">
                    <a:extLst>
                      <a:ext uri="{FF2B5EF4-FFF2-40B4-BE49-F238E27FC236}">
                        <a16:creationId xmlns:a16="http://schemas.microsoft.com/office/drawing/2014/main" id="{20C9F7B2-7F0E-4447-2F72-B070498CD2E1}"/>
                      </a:ext>
                    </a:extLst>
                  </p:cNvPr>
                  <p:cNvSpPr txBox="1"/>
                  <p:nvPr/>
                </p:nvSpPr>
                <p:spPr>
                  <a:xfrm>
                    <a:off x="3700993" y="1214529"/>
                    <a:ext cx="1949604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 dirty="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Localidad</a:t>
                    </a:r>
                    <a:endParaRPr lang="es-ES" sz="1600" dirty="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72" name="CuadroTexto 171">
                    <a:extLst>
                      <a:ext uri="{FF2B5EF4-FFF2-40B4-BE49-F238E27FC236}">
                        <a16:creationId xmlns:a16="http://schemas.microsoft.com/office/drawing/2014/main" id="{1C00BC8E-96BD-A6B7-7BBA-D758804DF211}"/>
                      </a:ext>
                    </a:extLst>
                  </p:cNvPr>
                  <p:cNvSpPr txBox="1"/>
                  <p:nvPr/>
                </p:nvSpPr>
                <p:spPr>
                  <a:xfrm>
                    <a:off x="2994686" y="2353025"/>
                    <a:ext cx="1323041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5%</a:t>
                    </a: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    Engativá</a:t>
                    </a:r>
                  </a:p>
                </p:txBody>
              </p:sp>
            </p:grpSp>
          </p:grpSp>
          <p:sp>
            <p:nvSpPr>
              <p:cNvPr id="166" name="CuadroTexto 165">
                <a:extLst>
                  <a:ext uri="{FF2B5EF4-FFF2-40B4-BE49-F238E27FC236}">
                    <a16:creationId xmlns:a16="http://schemas.microsoft.com/office/drawing/2014/main" id="{32E4FFB0-BFAE-BEC2-3BD3-327E2178C616}"/>
                  </a:ext>
                </a:extLst>
              </p:cNvPr>
              <p:cNvSpPr txBox="1"/>
              <p:nvPr/>
            </p:nvSpPr>
            <p:spPr>
              <a:xfrm>
                <a:off x="9059295" y="3565727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8%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Suba</a:t>
                </a:r>
              </a:p>
            </p:txBody>
          </p:sp>
          <p:sp>
            <p:nvSpPr>
              <p:cNvPr id="167" name="CuadroTexto 166">
                <a:extLst>
                  <a:ext uri="{FF2B5EF4-FFF2-40B4-BE49-F238E27FC236}">
                    <a16:creationId xmlns:a16="http://schemas.microsoft.com/office/drawing/2014/main" id="{69647BE9-B211-F0B2-D0E6-7E34A941FAE0}"/>
                  </a:ext>
                </a:extLst>
              </p:cNvPr>
              <p:cNvSpPr txBox="1"/>
              <p:nvPr/>
            </p:nvSpPr>
            <p:spPr>
              <a:xfrm>
                <a:off x="10498522" y="3549824"/>
                <a:ext cx="1244387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6%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Usaquén</a:t>
                </a:r>
              </a:p>
            </p:txBody>
          </p:sp>
        </p:grpSp>
        <p:sp>
          <p:nvSpPr>
            <p:cNvPr id="185" name="CuadroTexto 184">
              <a:extLst>
                <a:ext uri="{FF2B5EF4-FFF2-40B4-BE49-F238E27FC236}">
                  <a16:creationId xmlns:a16="http://schemas.microsoft.com/office/drawing/2014/main" id="{ACF323B0-DAF2-F6BF-CC54-6D5B713DEB3A}"/>
                </a:ext>
              </a:extLst>
            </p:cNvPr>
            <p:cNvSpPr txBox="1"/>
            <p:nvPr/>
          </p:nvSpPr>
          <p:spPr>
            <a:xfrm>
              <a:off x="6625166" y="6212468"/>
              <a:ext cx="1323041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58%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 Sin </a:t>
              </a:r>
              <a:r>
                <a:rPr lang="es-CO" sz="1400" b="1" dirty="0" err="1">
                  <a:solidFill>
                    <a:schemeClr val="bg1"/>
                  </a:solidFill>
                </a:rPr>
                <a:t>Infor</a:t>
              </a:r>
              <a:endParaRPr lang="es-CO" sz="1400" b="1" dirty="0">
                <a:solidFill>
                  <a:schemeClr val="bg1"/>
                </a:solidFill>
              </a:endParaRPr>
            </a:p>
          </p:txBody>
        </p:sp>
        <p:pic>
          <p:nvPicPr>
            <p:cNvPr id="187" name="Imagen 186">
              <a:extLst>
                <a:ext uri="{FF2B5EF4-FFF2-40B4-BE49-F238E27FC236}">
                  <a16:creationId xmlns:a16="http://schemas.microsoft.com/office/drawing/2014/main" id="{C3AD2976-ADD4-64EB-7DCD-58027C6989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401571" y="5793688"/>
              <a:ext cx="1266970" cy="620378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grpSp>
        <p:nvGrpSpPr>
          <p:cNvPr id="202" name="Grupo 201">
            <a:extLst>
              <a:ext uri="{FF2B5EF4-FFF2-40B4-BE49-F238E27FC236}">
                <a16:creationId xmlns:a16="http://schemas.microsoft.com/office/drawing/2014/main" id="{044E6C2B-0D92-635C-62FA-D798C28F8EED}"/>
              </a:ext>
            </a:extLst>
          </p:cNvPr>
          <p:cNvGrpSpPr/>
          <p:nvPr/>
        </p:nvGrpSpPr>
        <p:grpSpPr>
          <a:xfrm>
            <a:off x="7722748" y="4834201"/>
            <a:ext cx="2672997" cy="1957609"/>
            <a:chOff x="8275198" y="4834201"/>
            <a:chExt cx="2805101" cy="1957609"/>
          </a:xfrm>
        </p:grpSpPr>
        <p:grpSp>
          <p:nvGrpSpPr>
            <p:cNvPr id="190" name="Grupo 189">
              <a:extLst>
                <a:ext uri="{FF2B5EF4-FFF2-40B4-BE49-F238E27FC236}">
                  <a16:creationId xmlns:a16="http://schemas.microsoft.com/office/drawing/2014/main" id="{78B1EEE5-F079-451C-0DAC-BCCC18685F3D}"/>
                </a:ext>
              </a:extLst>
            </p:cNvPr>
            <p:cNvGrpSpPr/>
            <p:nvPr/>
          </p:nvGrpSpPr>
          <p:grpSpPr>
            <a:xfrm>
              <a:off x="8275198" y="4834201"/>
              <a:ext cx="2805101" cy="1957609"/>
              <a:chOff x="9049330" y="3127128"/>
              <a:chExt cx="2805101" cy="1957609"/>
            </a:xfrm>
          </p:grpSpPr>
          <p:grpSp>
            <p:nvGrpSpPr>
              <p:cNvPr id="191" name="Grupo 190">
                <a:extLst>
                  <a:ext uri="{FF2B5EF4-FFF2-40B4-BE49-F238E27FC236}">
                    <a16:creationId xmlns:a16="http://schemas.microsoft.com/office/drawing/2014/main" id="{EDED3968-1172-BF2D-38C1-5549BF6041B5}"/>
                  </a:ext>
                </a:extLst>
              </p:cNvPr>
              <p:cNvGrpSpPr/>
              <p:nvPr/>
            </p:nvGrpSpPr>
            <p:grpSpPr>
              <a:xfrm>
                <a:off x="9049330" y="3127128"/>
                <a:ext cx="2805101" cy="1957609"/>
                <a:chOff x="7559107" y="1110832"/>
                <a:chExt cx="2805101" cy="1802169"/>
              </a:xfrm>
            </p:grpSpPr>
            <p:sp>
              <p:nvSpPr>
                <p:cNvPr id="194" name="Rectángulo 193">
                  <a:extLst>
                    <a:ext uri="{FF2B5EF4-FFF2-40B4-BE49-F238E27FC236}">
                      <a16:creationId xmlns:a16="http://schemas.microsoft.com/office/drawing/2014/main" id="{EBBE0F2C-085A-6DBA-857C-35D9C6100B75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368574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95" name="Grupo 194">
                  <a:extLst>
                    <a:ext uri="{FF2B5EF4-FFF2-40B4-BE49-F238E27FC236}">
                      <a16:creationId xmlns:a16="http://schemas.microsoft.com/office/drawing/2014/main" id="{1FE03C34-AAFB-CDCE-EEAA-9F22324A26CD}"/>
                    </a:ext>
                  </a:extLst>
                </p:cNvPr>
                <p:cNvGrpSpPr/>
                <p:nvPr/>
              </p:nvGrpSpPr>
              <p:grpSpPr>
                <a:xfrm>
                  <a:off x="7559107" y="1207828"/>
                  <a:ext cx="2805101" cy="1705173"/>
                  <a:chOff x="2994686" y="1214528"/>
                  <a:chExt cx="2805101" cy="1705173"/>
                </a:xfrm>
              </p:grpSpPr>
              <p:sp>
                <p:nvSpPr>
                  <p:cNvPr id="197" name="CuadroTexto 196">
                    <a:extLst>
                      <a:ext uri="{FF2B5EF4-FFF2-40B4-BE49-F238E27FC236}">
                        <a16:creationId xmlns:a16="http://schemas.microsoft.com/office/drawing/2014/main" id="{96BACBC0-5E1E-B6C1-AB8D-F7C69EE8683B}"/>
                      </a:ext>
                    </a:extLst>
                  </p:cNvPr>
                  <p:cNvSpPr txBox="1"/>
                  <p:nvPr/>
                </p:nvSpPr>
                <p:spPr>
                  <a:xfrm>
                    <a:off x="3225997" y="1214528"/>
                    <a:ext cx="2573790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Entidad Financieras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98" name="CuadroTexto 197">
                    <a:extLst>
                      <a:ext uri="{FF2B5EF4-FFF2-40B4-BE49-F238E27FC236}">
                        <a16:creationId xmlns:a16="http://schemas.microsoft.com/office/drawing/2014/main" id="{A3D52DA7-2432-18A4-760F-328FAB912173}"/>
                      </a:ext>
                    </a:extLst>
                  </p:cNvPr>
                  <p:cNvSpPr txBox="1"/>
                  <p:nvPr/>
                </p:nvSpPr>
                <p:spPr>
                  <a:xfrm>
                    <a:off x="2994686" y="2353025"/>
                    <a:ext cx="1323041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10%</a:t>
                    </a: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       FNA</a:t>
                    </a:r>
                  </a:p>
                </p:txBody>
              </p:sp>
            </p:grpSp>
          </p:grpSp>
          <p:sp>
            <p:nvSpPr>
              <p:cNvPr id="192" name="CuadroTexto 191">
                <a:extLst>
                  <a:ext uri="{FF2B5EF4-FFF2-40B4-BE49-F238E27FC236}">
                    <a16:creationId xmlns:a16="http://schemas.microsoft.com/office/drawing/2014/main" id="{7D88E4A4-9067-0B50-3A33-B8D4BA52C862}"/>
                  </a:ext>
                </a:extLst>
              </p:cNvPr>
              <p:cNvSpPr txBox="1"/>
              <p:nvPr/>
            </p:nvSpPr>
            <p:spPr>
              <a:xfrm>
                <a:off x="9267841" y="3565727"/>
                <a:ext cx="1337256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61%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Colsubsidio</a:t>
                </a:r>
              </a:p>
            </p:txBody>
          </p:sp>
          <p:sp>
            <p:nvSpPr>
              <p:cNvPr id="193" name="CuadroTexto 192">
                <a:extLst>
                  <a:ext uri="{FF2B5EF4-FFF2-40B4-BE49-F238E27FC236}">
                    <a16:creationId xmlns:a16="http://schemas.microsoft.com/office/drawing/2014/main" id="{D8CCB7DB-DFA7-1245-3811-4AE474497B71}"/>
                  </a:ext>
                </a:extLst>
              </p:cNvPr>
              <p:cNvSpPr txBox="1"/>
              <p:nvPr/>
            </p:nvSpPr>
            <p:spPr>
              <a:xfrm>
                <a:off x="10498522" y="3549824"/>
                <a:ext cx="1244387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10%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Davivienda</a:t>
                </a:r>
              </a:p>
            </p:txBody>
          </p:sp>
        </p:grpSp>
        <p:sp>
          <p:nvSpPr>
            <p:cNvPr id="199" name="CuadroTexto 198">
              <a:extLst>
                <a:ext uri="{FF2B5EF4-FFF2-40B4-BE49-F238E27FC236}">
                  <a16:creationId xmlns:a16="http://schemas.microsoft.com/office/drawing/2014/main" id="{F3908389-ED21-8404-431E-D1A61180D2F4}"/>
                </a:ext>
              </a:extLst>
            </p:cNvPr>
            <p:cNvSpPr txBox="1"/>
            <p:nvPr/>
          </p:nvSpPr>
          <p:spPr>
            <a:xfrm>
              <a:off x="9366872" y="6140046"/>
              <a:ext cx="1323041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19%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   Otros</a:t>
              </a:r>
            </a:p>
          </p:txBody>
        </p:sp>
      </p:grpSp>
      <p:sp>
        <p:nvSpPr>
          <p:cNvPr id="200" name="CuadroTexto 199">
            <a:extLst>
              <a:ext uri="{FF2B5EF4-FFF2-40B4-BE49-F238E27FC236}">
                <a16:creationId xmlns:a16="http://schemas.microsoft.com/office/drawing/2014/main" id="{EE6F6F27-7DAF-2576-CE53-3495C33404BD}"/>
              </a:ext>
            </a:extLst>
          </p:cNvPr>
          <p:cNvSpPr txBox="1"/>
          <p:nvPr/>
        </p:nvSpPr>
        <p:spPr>
          <a:xfrm>
            <a:off x="4140736" y="5856787"/>
            <a:ext cx="11729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2%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</a:t>
            </a:r>
            <a:r>
              <a:rPr lang="es-CO" sz="1400" b="1" dirty="0" err="1">
                <a:solidFill>
                  <a:schemeClr val="bg1"/>
                </a:solidFill>
              </a:rPr>
              <a:t>Gachancipa</a:t>
            </a:r>
            <a:endParaRPr lang="es-CO" sz="1400" b="1" dirty="0">
              <a:solidFill>
                <a:schemeClr val="bg1"/>
              </a:solidFill>
            </a:endParaRPr>
          </a:p>
        </p:txBody>
      </p:sp>
      <p:pic>
        <p:nvPicPr>
          <p:cNvPr id="205" name="Imagen 204">
            <a:extLst>
              <a:ext uri="{FF2B5EF4-FFF2-40B4-BE49-F238E27FC236}">
                <a16:creationId xmlns:a16="http://schemas.microsoft.com/office/drawing/2014/main" id="{FBF3ECAE-DA5D-9114-8001-F3900513D468}"/>
              </a:ext>
            </a:extLst>
          </p:cNvPr>
          <p:cNvPicPr>
            <a:picLocks noChangeAspect="1"/>
          </p:cNvPicPr>
          <p:nvPr/>
        </p:nvPicPr>
        <p:blipFill>
          <a:blip r:embed="rId22">
            <a:duotone>
              <a:prstClr val="black"/>
              <a:schemeClr val="tx1">
                <a:lumMod val="75000"/>
                <a:lumOff val="2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4538" y="5846263"/>
            <a:ext cx="673981" cy="673981"/>
          </a:xfrm>
          <a:prstGeom prst="rect">
            <a:avLst/>
          </a:prstGeom>
        </p:spPr>
      </p:pic>
      <p:grpSp>
        <p:nvGrpSpPr>
          <p:cNvPr id="208" name="Grupo 207">
            <a:extLst>
              <a:ext uri="{FF2B5EF4-FFF2-40B4-BE49-F238E27FC236}">
                <a16:creationId xmlns:a16="http://schemas.microsoft.com/office/drawing/2014/main" id="{6B802214-A447-ACF2-5F3E-AA00409FB272}"/>
              </a:ext>
            </a:extLst>
          </p:cNvPr>
          <p:cNvGrpSpPr/>
          <p:nvPr/>
        </p:nvGrpSpPr>
        <p:grpSpPr>
          <a:xfrm>
            <a:off x="10245555" y="853892"/>
            <a:ext cx="1956550" cy="5540381"/>
            <a:chOff x="7793864" y="1110832"/>
            <a:chExt cx="1816602" cy="1780012"/>
          </a:xfrm>
        </p:grpSpPr>
        <p:sp>
          <p:nvSpPr>
            <p:cNvPr id="212" name="Rectángulo 211">
              <a:extLst>
                <a:ext uri="{FF2B5EF4-FFF2-40B4-BE49-F238E27FC236}">
                  <a16:creationId xmlns:a16="http://schemas.microsoft.com/office/drawing/2014/main" id="{99655747-1E12-3F78-7F03-B8803BE5D199}"/>
                </a:ext>
              </a:extLst>
            </p:cNvPr>
            <p:cNvSpPr/>
            <p:nvPr/>
          </p:nvSpPr>
          <p:spPr>
            <a:xfrm>
              <a:off x="7814360" y="1110832"/>
              <a:ext cx="1666611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5" name="CuadroTexto 214">
              <a:extLst>
                <a:ext uri="{FF2B5EF4-FFF2-40B4-BE49-F238E27FC236}">
                  <a16:creationId xmlns:a16="http://schemas.microsoft.com/office/drawing/2014/main" id="{D507DAA0-EDB5-D5A8-97C8-F5DF6BA07930}"/>
                </a:ext>
              </a:extLst>
            </p:cNvPr>
            <p:cNvSpPr txBox="1"/>
            <p:nvPr/>
          </p:nvSpPr>
          <p:spPr>
            <a:xfrm>
              <a:off x="7793864" y="1161252"/>
              <a:ext cx="1816602" cy="1141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1600">
                  <a:solidFill>
                    <a:srgbClr val="FFC000"/>
                  </a:solidFill>
                  <a:latin typeface="KG Red Hands" panose="02000505000000020004" pitchFamily="2" charset="0"/>
                </a:rPr>
                <a:t>Top Empresas</a:t>
              </a:r>
              <a:endParaRPr lang="es-ES" sz="1600">
                <a:solidFill>
                  <a:srgbClr val="FFC000"/>
                </a:solidFill>
              </a:endParaRPr>
            </a:p>
          </p:txBody>
        </p:sp>
        <p:sp>
          <p:nvSpPr>
            <p:cNvPr id="214" name="CuadroTexto 213">
              <a:extLst>
                <a:ext uri="{FF2B5EF4-FFF2-40B4-BE49-F238E27FC236}">
                  <a16:creationId xmlns:a16="http://schemas.microsoft.com/office/drawing/2014/main" id="{1A29A5AD-F0F2-A20E-4EA4-E535B14E5BE5}"/>
                </a:ext>
              </a:extLst>
            </p:cNvPr>
            <p:cNvSpPr txBox="1"/>
            <p:nvPr/>
          </p:nvSpPr>
          <p:spPr>
            <a:xfrm>
              <a:off x="7830402" y="1354030"/>
              <a:ext cx="1689689" cy="301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500" b="1" dirty="0">
                  <a:solidFill>
                    <a:schemeClr val="bg1"/>
                  </a:solidFill>
                </a:rPr>
                <a:t>TEXTILES DE TOCANCIPA S.A. 	11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COLSUBSIDIO	10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ALPINA	7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TELEPERFORMANCE	6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CLUB GUAYMARAL	5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SECURITAS COLOMBIA S A	5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CLINICA DE MARLY	4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ADECCO COLOMBIA S A	4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G DE CUNDINAMARCA 	3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NUTRYR S A	3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DUGOTEX S A	3</a:t>
              </a: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18E2D2CD-68AB-71A7-2F7D-20BF8033036E}"/>
              </a:ext>
            </a:extLst>
          </p:cNvPr>
          <p:cNvSpPr txBox="1"/>
          <p:nvPr/>
        </p:nvSpPr>
        <p:spPr>
          <a:xfrm>
            <a:off x="10330342" y="6461181"/>
            <a:ext cx="14292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100" dirty="0">
                <a:solidFill>
                  <a:srgbClr val="FFC000"/>
                </a:solidFill>
                <a:latin typeface="KG Red Hands" panose="02000505000000020004" pitchFamily="2" charset="0"/>
              </a:rPr>
              <a:t>*Corte 15/01/2026</a:t>
            </a:r>
            <a:endParaRPr lang="es-ES" sz="11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9293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D3C14-8164-0141-7FA9-721496C78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EF6BD995-D1BE-9E86-31EB-ECCA1E4D72E5}"/>
              </a:ext>
            </a:extLst>
          </p:cNvPr>
          <p:cNvCxnSpPr>
            <a:cxnSpLocks/>
          </p:cNvCxnSpPr>
          <p:nvPr/>
        </p:nvCxnSpPr>
        <p:spPr>
          <a:xfrm flipH="1">
            <a:off x="0" y="645614"/>
            <a:ext cx="10809007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uadroTexto 85">
            <a:extLst>
              <a:ext uri="{FF2B5EF4-FFF2-40B4-BE49-F238E27FC236}">
                <a16:creationId xmlns:a16="http://schemas.microsoft.com/office/drawing/2014/main" id="{8FBF08A6-6CA7-098F-805A-C5378DA5F1F3}"/>
              </a:ext>
            </a:extLst>
          </p:cNvPr>
          <p:cNvSpPr txBox="1"/>
          <p:nvPr/>
        </p:nvSpPr>
        <p:spPr>
          <a:xfrm>
            <a:off x="-128399" y="120715"/>
            <a:ext cx="95771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>
                <a:solidFill>
                  <a:schemeClr val="bg1"/>
                </a:solidFill>
                <a:latin typeface="KG Red Hands" panose="02000505000000020004" pitchFamily="2" charset="0"/>
              </a:rPr>
              <a:t>      Bosques de Turpial</a:t>
            </a:r>
            <a:endParaRPr lang="es-ES" sz="240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1A671005-FD6D-DE9D-8B98-FC44B69EA0D8}"/>
              </a:ext>
              <a:ext uri="{147F2762-F138-4A5C-976F-8EAC2B608ADB}">
                <a16:predDERef xmlns:a16="http://schemas.microsoft.com/office/drawing/2014/main" pred="{95DEFF95-1524-40DB-8538-DE0C2D5BEC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3398838"/>
            <a:ext cx="555625" cy="49371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D749B7B-B4E9-65FE-2C27-9DFB5E44F2AB}"/>
              </a:ext>
              <a:ext uri="{147F2762-F138-4A5C-976F-8EAC2B608ADB}">
                <a16:predDERef xmlns:a16="http://schemas.microsoft.com/office/drawing/2014/main" pred="{95FFDEC5-E647-4E60-9FB8-32349ACC1E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087813"/>
            <a:ext cx="555625" cy="46196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306D26FC-3DD2-440E-46FA-D6562CE38525}"/>
              </a:ext>
              <a:ext uri="{147F2762-F138-4A5C-976F-8EAC2B608ADB}">
                <a16:predDERef xmlns:a16="http://schemas.microsoft.com/office/drawing/2014/main" pred="{D53D0C4A-FE71-44C0-97B3-1EA296D3DCE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814888"/>
            <a:ext cx="555625" cy="41116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31531390-F8C8-2F8F-ED04-EBA962A33EF4}"/>
              </a:ext>
              <a:ext uri="{147F2762-F138-4A5C-976F-8EAC2B608ADB}">
                <a16:predDERef xmlns:a16="http://schemas.microsoft.com/office/drawing/2014/main" pred="{7008BA42-7365-4AD1-B913-F26820CE47E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1775" y="5427663"/>
            <a:ext cx="465138" cy="433387"/>
          </a:xfrm>
          <a:prstGeom prst="rect">
            <a:avLst/>
          </a:prstGeom>
        </p:spPr>
      </p:pic>
      <p:grpSp>
        <p:nvGrpSpPr>
          <p:cNvPr id="135" name="Grupo 134">
            <a:extLst>
              <a:ext uri="{FF2B5EF4-FFF2-40B4-BE49-F238E27FC236}">
                <a16:creationId xmlns:a16="http://schemas.microsoft.com/office/drawing/2014/main" id="{058E9D8D-80DC-4C63-0FB1-B15A4E2C01F6}"/>
              </a:ext>
            </a:extLst>
          </p:cNvPr>
          <p:cNvGrpSpPr/>
          <p:nvPr/>
        </p:nvGrpSpPr>
        <p:grpSpPr>
          <a:xfrm>
            <a:off x="5564187" y="853892"/>
            <a:ext cx="2195988" cy="1780012"/>
            <a:chOff x="5353656" y="1110832"/>
            <a:chExt cx="2195988" cy="1780012"/>
          </a:xfrm>
        </p:grpSpPr>
        <p:sp>
          <p:nvSpPr>
            <p:cNvPr id="58" name="Rectángulo 57">
              <a:extLst>
                <a:ext uri="{FF2B5EF4-FFF2-40B4-BE49-F238E27FC236}">
                  <a16:creationId xmlns:a16="http://schemas.microsoft.com/office/drawing/2014/main" id="{791527A4-A260-8072-EF4C-89828308F0D5}"/>
                </a:ext>
              </a:extLst>
            </p:cNvPr>
            <p:cNvSpPr/>
            <p:nvPr/>
          </p:nvSpPr>
          <p:spPr>
            <a:xfrm>
              <a:off x="5353656" y="1110832"/>
              <a:ext cx="2195987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43" name="Grupo 42">
              <a:extLst>
                <a:ext uri="{FF2B5EF4-FFF2-40B4-BE49-F238E27FC236}">
                  <a16:creationId xmlns:a16="http://schemas.microsoft.com/office/drawing/2014/main" id="{CB035E26-20F7-C88B-7B3F-1A81E808E208}"/>
                </a:ext>
              </a:extLst>
            </p:cNvPr>
            <p:cNvGrpSpPr/>
            <p:nvPr/>
          </p:nvGrpSpPr>
          <p:grpSpPr>
            <a:xfrm>
              <a:off x="5353657" y="1223137"/>
              <a:ext cx="2083693" cy="1630468"/>
              <a:chOff x="3249940" y="1229837"/>
              <a:chExt cx="2083693" cy="1630468"/>
            </a:xfrm>
          </p:grpSpPr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370BF768-BEE0-FA1B-9637-4F2DA1B730D5}"/>
                  </a:ext>
                </a:extLst>
              </p:cNvPr>
              <p:cNvSpPr txBox="1"/>
              <p:nvPr/>
            </p:nvSpPr>
            <p:spPr>
              <a:xfrm>
                <a:off x="3552927" y="1229837"/>
                <a:ext cx="178070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Rango Salario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C38EE4D1-A343-8F48-3A31-995205FF7EFE}"/>
                  </a:ext>
                </a:extLst>
              </p:cNvPr>
              <p:cNvSpPr txBox="1"/>
              <p:nvPr/>
            </p:nvSpPr>
            <p:spPr>
              <a:xfrm>
                <a:off x="3249940" y="2306307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82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Hasta 2 </a:t>
                </a:r>
                <a:r>
                  <a:rPr lang="es-CO" sz="1200" b="1" dirty="0" err="1">
                    <a:solidFill>
                      <a:schemeClr val="bg1"/>
                    </a:solidFill>
                  </a:rPr>
                  <a:t>smlv</a:t>
                </a:r>
                <a:endParaRPr lang="es-CO" sz="12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53" name="Imagen 52">
              <a:extLst>
                <a:ext uri="{FF2B5EF4-FFF2-40B4-BE49-F238E27FC236}">
                  <a16:creationId xmlns:a16="http://schemas.microsoft.com/office/drawing/2014/main" id="{FAD7CE99-BF7F-4130-87BB-6B3F6593189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12042" y="1623254"/>
              <a:ext cx="641350" cy="641350"/>
            </a:xfrm>
            <a:prstGeom prst="rect">
              <a:avLst/>
            </a:prstGeom>
          </p:spPr>
        </p:pic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BE3EB927-7272-233D-B51D-78EDF6F2076D}"/>
                </a:ext>
              </a:extLst>
            </p:cNvPr>
            <p:cNvSpPr txBox="1"/>
            <p:nvPr/>
          </p:nvSpPr>
          <p:spPr>
            <a:xfrm>
              <a:off x="6376735" y="2289285"/>
              <a:ext cx="1172909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18</a:t>
              </a:r>
              <a:r>
                <a:rPr lang="es-CO" sz="18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Mas de 2 </a:t>
              </a:r>
              <a:r>
                <a:rPr lang="es-CO" sz="1200" b="1" dirty="0" err="1">
                  <a:solidFill>
                    <a:schemeClr val="bg1"/>
                  </a:solidFill>
                </a:rPr>
                <a:t>smlv</a:t>
              </a:r>
              <a:endParaRPr lang="es-CO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7AD264A7-574D-B652-7CDA-BBCBE7C14154}"/>
              </a:ext>
            </a:extLst>
          </p:cNvPr>
          <p:cNvGrpSpPr/>
          <p:nvPr/>
        </p:nvGrpSpPr>
        <p:grpSpPr>
          <a:xfrm>
            <a:off x="3320687" y="874756"/>
            <a:ext cx="1941094" cy="1759148"/>
            <a:chOff x="3224463" y="1110832"/>
            <a:chExt cx="1941094" cy="1759148"/>
          </a:xfrm>
        </p:grpSpPr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E6208A3B-3B93-19E4-BBAB-1EAEAC58410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36596" y="1677993"/>
              <a:ext cx="721895" cy="721895"/>
            </a:xfrm>
            <a:prstGeom prst="rect">
              <a:avLst/>
            </a:prstGeom>
          </p:spPr>
        </p:pic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88C77E4B-7301-8122-E907-3C47E56259A7}"/>
                </a:ext>
              </a:extLst>
            </p:cNvPr>
            <p:cNvGrpSpPr/>
            <p:nvPr/>
          </p:nvGrpSpPr>
          <p:grpSpPr>
            <a:xfrm>
              <a:off x="3420553" y="1223137"/>
              <a:ext cx="1609350" cy="1516670"/>
              <a:chOff x="3420553" y="1223137"/>
              <a:chExt cx="1609350" cy="1516670"/>
            </a:xfrm>
          </p:grpSpPr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599D9B0E-DA01-A7D8-8EBB-A3107D4A0A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74608" y="1613811"/>
                <a:ext cx="723600" cy="723600"/>
              </a:xfrm>
              <a:prstGeom prst="rect">
                <a:avLst/>
              </a:prstGeom>
            </p:spPr>
          </p:pic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2854CE54-ADFF-247E-073A-073778C24633}"/>
                  </a:ext>
                </a:extLst>
              </p:cNvPr>
              <p:cNvSpPr txBox="1"/>
              <p:nvPr/>
            </p:nvSpPr>
            <p:spPr>
              <a:xfrm>
                <a:off x="3685253" y="1223137"/>
                <a:ext cx="1098946" cy="345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Género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E9406894-2A70-3A44-0CEF-7FE13DCFE10C}"/>
                  </a:ext>
                </a:extLst>
              </p:cNvPr>
              <p:cNvSpPr txBox="1"/>
              <p:nvPr/>
            </p:nvSpPr>
            <p:spPr>
              <a:xfrm>
                <a:off x="3420553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45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6CE524C0-156B-4EDD-AC3D-97B477E54417}"/>
                  </a:ext>
                </a:extLst>
              </p:cNvPr>
              <p:cNvSpPr txBox="1"/>
              <p:nvPr/>
            </p:nvSpPr>
            <p:spPr>
              <a:xfrm>
                <a:off x="4308008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55%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</p:grp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CCA6BA2A-C84A-6C07-0F3B-306BDBCB415E}"/>
                </a:ext>
              </a:extLst>
            </p:cNvPr>
            <p:cNvSpPr/>
            <p:nvPr/>
          </p:nvSpPr>
          <p:spPr>
            <a:xfrm>
              <a:off x="3224463" y="1110832"/>
              <a:ext cx="1941094" cy="175914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78" name="CuadroTexto 77">
            <a:extLst>
              <a:ext uri="{FF2B5EF4-FFF2-40B4-BE49-F238E27FC236}">
                <a16:creationId xmlns:a16="http://schemas.microsoft.com/office/drawing/2014/main" id="{F18EB159-9A51-9BC9-FB98-78A78A3D6E0A}"/>
              </a:ext>
            </a:extLst>
          </p:cNvPr>
          <p:cNvSpPr txBox="1"/>
          <p:nvPr/>
        </p:nvSpPr>
        <p:spPr>
          <a:xfrm>
            <a:off x="1376075" y="3222417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41%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Joven</a:t>
            </a:r>
          </a:p>
        </p:txBody>
      </p: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CE7681C6-C15A-0AF1-17F3-D339E11B3350}"/>
              </a:ext>
            </a:extLst>
          </p:cNvPr>
          <p:cNvGrpSpPr/>
          <p:nvPr/>
        </p:nvGrpSpPr>
        <p:grpSpPr>
          <a:xfrm>
            <a:off x="-155207" y="2771278"/>
            <a:ext cx="2688149" cy="1998661"/>
            <a:chOff x="435343" y="3108160"/>
            <a:chExt cx="2688149" cy="1998661"/>
          </a:xfrm>
        </p:grpSpPr>
        <p:grpSp>
          <p:nvGrpSpPr>
            <p:cNvPr id="69" name="Grupo 68">
              <a:extLst>
                <a:ext uri="{FF2B5EF4-FFF2-40B4-BE49-F238E27FC236}">
                  <a16:creationId xmlns:a16="http://schemas.microsoft.com/office/drawing/2014/main" id="{6CB35FE5-93C5-764F-1DE0-4333EF5BA71F}"/>
                </a:ext>
              </a:extLst>
            </p:cNvPr>
            <p:cNvGrpSpPr/>
            <p:nvPr/>
          </p:nvGrpSpPr>
          <p:grpSpPr>
            <a:xfrm>
              <a:off x="457829" y="3108160"/>
              <a:ext cx="2665663" cy="1998661"/>
              <a:chOff x="7590765" y="1110832"/>
              <a:chExt cx="2665663" cy="1822499"/>
            </a:xfrm>
          </p:grpSpPr>
          <p:sp>
            <p:nvSpPr>
              <p:cNvPr id="70" name="Rectángulo 69">
                <a:extLst>
                  <a:ext uri="{FF2B5EF4-FFF2-40B4-BE49-F238E27FC236}">
                    <a16:creationId xmlns:a16="http://schemas.microsoft.com/office/drawing/2014/main" id="{00262668-7041-0A9E-AA64-1E41E26CC6B9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71" name="Grupo 70">
                <a:extLst>
                  <a:ext uri="{FF2B5EF4-FFF2-40B4-BE49-F238E27FC236}">
                    <a16:creationId xmlns:a16="http://schemas.microsoft.com/office/drawing/2014/main" id="{59EEA17B-B06A-1BE9-3C2A-8AC5406ECEFD}"/>
                  </a:ext>
                </a:extLst>
              </p:cNvPr>
              <p:cNvGrpSpPr/>
              <p:nvPr/>
            </p:nvGrpSpPr>
            <p:grpSpPr>
              <a:xfrm>
                <a:off x="7590765" y="1223137"/>
                <a:ext cx="2024519" cy="1655939"/>
                <a:chOff x="3026344" y="1229837"/>
                <a:chExt cx="2024519" cy="1655939"/>
              </a:xfrm>
            </p:grpSpPr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AEEA1610-35B1-A867-EF10-094A63CD89C6}"/>
                    </a:ext>
                  </a:extLst>
                </p:cNvPr>
                <p:cNvSpPr txBox="1"/>
                <p:nvPr/>
              </p:nvSpPr>
              <p:spPr>
                <a:xfrm>
                  <a:off x="3645002" y="1229837"/>
                  <a:ext cx="1405861" cy="3087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Segmento 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17E21B9C-D502-3D99-BAE0-DC23AC38ADD2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12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29%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Básico</a:t>
                  </a:r>
                </a:p>
              </p:txBody>
            </p:sp>
          </p:grpSp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68250EF0-F8A1-3CD9-5C55-7F8A5517A784}"/>
                  </a:ext>
                </a:extLst>
              </p:cNvPr>
              <p:cNvSpPr txBox="1"/>
              <p:nvPr/>
            </p:nvSpPr>
            <p:spPr>
              <a:xfrm>
                <a:off x="9083519" y="231777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0%</a:t>
                </a:r>
              </a:p>
              <a:p>
                <a:r>
                  <a:rPr lang="es-CO" sz="1400" b="1">
                    <a:solidFill>
                      <a:schemeClr val="bg1"/>
                    </a:solidFill>
                  </a:rPr>
                  <a:t>       Alto</a:t>
                </a:r>
              </a:p>
            </p:txBody>
          </p:sp>
        </p:grpSp>
        <p:sp>
          <p:nvSpPr>
            <p:cNvPr id="77" name="CuadroTexto 76">
              <a:extLst>
                <a:ext uri="{FF2B5EF4-FFF2-40B4-BE49-F238E27FC236}">
                  <a16:creationId xmlns:a16="http://schemas.microsoft.com/office/drawing/2014/main" id="{992E8D0F-A700-4057-64D2-3C3C60640829}"/>
                </a:ext>
              </a:extLst>
            </p:cNvPr>
            <p:cNvSpPr txBox="1"/>
            <p:nvPr/>
          </p:nvSpPr>
          <p:spPr>
            <a:xfrm>
              <a:off x="435343" y="3559299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30%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Medio</a:t>
              </a:r>
            </a:p>
          </p:txBody>
        </p:sp>
        <p:pic>
          <p:nvPicPr>
            <p:cNvPr id="80" name="Imagen 79">
              <a:extLst>
                <a:ext uri="{FF2B5EF4-FFF2-40B4-BE49-F238E27FC236}">
                  <a16:creationId xmlns:a16="http://schemas.microsoft.com/office/drawing/2014/main" id="{9A2A3A5C-2206-43DA-F6CB-F160E51F14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LineDrawing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90862" y="3871141"/>
              <a:ext cx="680857" cy="680857"/>
            </a:xfrm>
            <a:prstGeom prst="rect">
              <a:avLst/>
            </a:prstGeom>
          </p:spPr>
        </p:pic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E8EED942-A2E8-C1D2-71A0-5F720B0DAA20}"/>
              </a:ext>
            </a:extLst>
          </p:cNvPr>
          <p:cNvGrpSpPr/>
          <p:nvPr/>
        </p:nvGrpSpPr>
        <p:grpSpPr>
          <a:xfrm>
            <a:off x="2169335" y="2774370"/>
            <a:ext cx="3284086" cy="1963483"/>
            <a:chOff x="2759885" y="3111252"/>
            <a:chExt cx="3284086" cy="1963483"/>
          </a:xfrm>
        </p:grpSpPr>
        <p:sp>
          <p:nvSpPr>
            <p:cNvPr id="88" name="CuadroTexto 87">
              <a:extLst>
                <a:ext uri="{FF2B5EF4-FFF2-40B4-BE49-F238E27FC236}">
                  <a16:creationId xmlns:a16="http://schemas.microsoft.com/office/drawing/2014/main" id="{831D84E2-E1DF-FFEA-28BF-8CE87C4851EC}"/>
                </a:ext>
              </a:extLst>
            </p:cNvPr>
            <p:cNvSpPr txBox="1"/>
            <p:nvPr/>
          </p:nvSpPr>
          <p:spPr>
            <a:xfrm>
              <a:off x="2759885" y="3531697"/>
              <a:ext cx="154680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   54%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             Sin Grupo</a:t>
              </a:r>
            </a:p>
          </p:txBody>
        </p:sp>
        <p:grpSp>
          <p:nvGrpSpPr>
            <p:cNvPr id="124" name="Grupo 123">
              <a:extLst>
                <a:ext uri="{FF2B5EF4-FFF2-40B4-BE49-F238E27FC236}">
                  <a16:creationId xmlns:a16="http://schemas.microsoft.com/office/drawing/2014/main" id="{9E6B3671-B4B2-9A77-3619-B6EF389D48AE}"/>
                </a:ext>
              </a:extLst>
            </p:cNvPr>
            <p:cNvGrpSpPr/>
            <p:nvPr/>
          </p:nvGrpSpPr>
          <p:grpSpPr>
            <a:xfrm>
              <a:off x="2827705" y="3111252"/>
              <a:ext cx="3216266" cy="1963483"/>
              <a:chOff x="2827705" y="3111252"/>
              <a:chExt cx="3216266" cy="1963483"/>
            </a:xfrm>
          </p:grpSpPr>
          <p:grpSp>
            <p:nvGrpSpPr>
              <p:cNvPr id="81" name="Grupo 80">
                <a:extLst>
                  <a:ext uri="{FF2B5EF4-FFF2-40B4-BE49-F238E27FC236}">
                    <a16:creationId xmlns:a16="http://schemas.microsoft.com/office/drawing/2014/main" id="{1C7A9019-AE0C-A6E8-3FDB-942D186D8B84}"/>
                  </a:ext>
                </a:extLst>
              </p:cNvPr>
              <p:cNvGrpSpPr/>
              <p:nvPr/>
            </p:nvGrpSpPr>
            <p:grpSpPr>
              <a:xfrm>
                <a:off x="2827705" y="3111252"/>
                <a:ext cx="3216266" cy="1963483"/>
                <a:chOff x="7593779" y="1110832"/>
                <a:chExt cx="3216266" cy="1780012"/>
              </a:xfrm>
            </p:grpSpPr>
            <p:sp>
              <p:nvSpPr>
                <p:cNvPr id="82" name="Rectángulo 81">
                  <a:extLst>
                    <a:ext uri="{FF2B5EF4-FFF2-40B4-BE49-F238E27FC236}">
                      <a16:creationId xmlns:a16="http://schemas.microsoft.com/office/drawing/2014/main" id="{7546214C-F413-1DB1-5581-B17A37A16C56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808386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83" name="Grupo 82">
                  <a:extLst>
                    <a:ext uri="{FF2B5EF4-FFF2-40B4-BE49-F238E27FC236}">
                      <a16:creationId xmlns:a16="http://schemas.microsoft.com/office/drawing/2014/main" id="{BD96D0A7-156C-B425-F615-C64084667CD1}"/>
                    </a:ext>
                  </a:extLst>
                </p:cNvPr>
                <p:cNvGrpSpPr/>
                <p:nvPr/>
              </p:nvGrpSpPr>
              <p:grpSpPr>
                <a:xfrm>
                  <a:off x="7593779" y="1166870"/>
                  <a:ext cx="2748715" cy="1628029"/>
                  <a:chOff x="3029358" y="1173570"/>
                  <a:chExt cx="2748715" cy="1628029"/>
                </a:xfrm>
              </p:grpSpPr>
              <p:sp>
                <p:nvSpPr>
                  <p:cNvPr id="85" name="CuadroTexto 84">
                    <a:extLst>
                      <a:ext uri="{FF2B5EF4-FFF2-40B4-BE49-F238E27FC236}">
                        <a16:creationId xmlns:a16="http://schemas.microsoft.com/office/drawing/2014/main" id="{E9B42CBE-0B6D-49B2-627B-CBA966D1C6C5}"/>
                      </a:ext>
                    </a:extLst>
                  </p:cNvPr>
                  <p:cNvSpPr txBox="1"/>
                  <p:nvPr/>
                </p:nvSpPr>
                <p:spPr>
                  <a:xfrm>
                    <a:off x="3634807" y="1173570"/>
                    <a:ext cx="2143266" cy="30691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Segmento Familia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87" name="CuadroTexto 86">
                    <a:extLst>
                      <a:ext uri="{FF2B5EF4-FFF2-40B4-BE49-F238E27FC236}">
                        <a16:creationId xmlns:a16="http://schemas.microsoft.com/office/drawing/2014/main" id="{C3605CBD-BC52-8B2E-EBB1-2D5D002E8FF9}"/>
                      </a:ext>
                    </a:extLst>
                  </p:cNvPr>
                  <p:cNvSpPr txBox="1"/>
                  <p:nvPr/>
                </p:nvSpPr>
                <p:spPr>
                  <a:xfrm>
                    <a:off x="3029358" y="2131957"/>
                    <a:ext cx="1923771" cy="66964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 5</a:t>
                    </a:r>
                    <a:r>
                      <a:rPr lang="es-CO" sz="18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%</a:t>
                    </a:r>
                  </a:p>
                  <a:p>
                    <a:r>
                      <a:rPr lang="es-CO" sz="1200" b="1" dirty="0">
                        <a:solidFill>
                          <a:schemeClr val="bg1"/>
                        </a:solidFill>
                      </a:rPr>
                      <a:t>      Monoparental</a:t>
                    </a:r>
                  </a:p>
                  <a:p>
                    <a:r>
                      <a:rPr lang="es-CO" sz="1200" b="1" dirty="0">
                        <a:solidFill>
                          <a:schemeClr val="bg1"/>
                        </a:solidFill>
                      </a:rPr>
                      <a:t>      Ampliada</a:t>
                    </a:r>
                  </a:p>
                </p:txBody>
              </p:sp>
            </p:grpSp>
            <p:sp>
              <p:nvSpPr>
                <p:cNvPr id="84" name="CuadroTexto 83">
                  <a:extLst>
                    <a:ext uri="{FF2B5EF4-FFF2-40B4-BE49-F238E27FC236}">
                      <a16:creationId xmlns:a16="http://schemas.microsoft.com/office/drawing/2014/main" id="{73A7A016-AE52-5DD8-9F7B-1FF16BDB2692}"/>
                    </a:ext>
                  </a:extLst>
                </p:cNvPr>
                <p:cNvSpPr txBox="1"/>
                <p:nvPr/>
              </p:nvSpPr>
              <p:spPr>
                <a:xfrm>
                  <a:off x="9185077" y="2110714"/>
                  <a:ext cx="1624968" cy="5022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        7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 Nuclear Integrada</a:t>
                  </a:r>
                </a:p>
              </p:txBody>
            </p:sp>
          </p:grpSp>
          <p:sp>
            <p:nvSpPr>
              <p:cNvPr id="89" name="CuadroTexto 88">
                <a:extLst>
                  <a:ext uri="{FF2B5EF4-FFF2-40B4-BE49-F238E27FC236}">
                    <a16:creationId xmlns:a16="http://schemas.microsoft.com/office/drawing/2014/main" id="{E90F40F1-3D37-DDBC-5C94-C58D705452E6}"/>
                  </a:ext>
                </a:extLst>
              </p:cNvPr>
              <p:cNvSpPr txBox="1"/>
              <p:nvPr/>
            </p:nvSpPr>
            <p:spPr>
              <a:xfrm>
                <a:off x="4771770" y="3534141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33%</a:t>
                </a:r>
                <a:r>
                  <a:rPr lang="es-CO" sz="1200" b="1" dirty="0">
                    <a:solidFill>
                      <a:schemeClr val="bg1"/>
                    </a:solidFill>
                  </a:rPr>
                  <a:t> Monoparental</a:t>
                </a:r>
              </a:p>
            </p:txBody>
          </p:sp>
          <p:pic>
            <p:nvPicPr>
              <p:cNvPr id="92" name="Imagen 91">
                <a:extLst>
                  <a:ext uri="{FF2B5EF4-FFF2-40B4-BE49-F238E27FC236}">
                    <a16:creationId xmlns:a16="http://schemas.microsoft.com/office/drawing/2014/main" id="{C37165E2-B7F5-3207-4A2C-5B92DC03A9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artisticGlowDiffused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075298" y="3683026"/>
                <a:ext cx="754362" cy="754362"/>
              </a:xfrm>
              <a:prstGeom prst="rect">
                <a:avLst/>
              </a:prstGeom>
            </p:spPr>
          </p:pic>
        </p:grp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881FE4DA-4A7F-6895-FEA3-E6746BBB7C70}"/>
              </a:ext>
            </a:extLst>
          </p:cNvPr>
          <p:cNvGrpSpPr/>
          <p:nvPr/>
        </p:nvGrpSpPr>
        <p:grpSpPr>
          <a:xfrm>
            <a:off x="90873" y="847081"/>
            <a:ext cx="3094159" cy="1780012"/>
            <a:chOff x="681423" y="1183963"/>
            <a:chExt cx="3094159" cy="1780012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4F947193-7B49-FDB2-5103-016A066D254D}"/>
                </a:ext>
              </a:extLst>
            </p:cNvPr>
            <p:cNvSpPr txBox="1"/>
            <p:nvPr/>
          </p:nvSpPr>
          <p:spPr>
            <a:xfrm>
              <a:off x="942955" y="1217834"/>
              <a:ext cx="2376943" cy="16927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s-CO" sz="2000" b="1" dirty="0">
                <a:solidFill>
                  <a:srgbClr val="FFC000"/>
                </a:solidFill>
              </a:endParaRP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Afiliado     </a:t>
              </a:r>
              <a:r>
                <a:rPr lang="es-CO" sz="2800" b="1" dirty="0">
                  <a:solidFill>
                    <a:srgbClr val="FFC000"/>
                  </a:solidFill>
                </a:rPr>
                <a:t>   </a:t>
              </a:r>
              <a:r>
                <a:rPr lang="es-CO" sz="2800" b="1" dirty="0">
                  <a:solidFill>
                    <a:schemeClr val="bg1"/>
                  </a:solidFill>
                </a:rPr>
                <a:t>64%</a:t>
              </a: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No Afilado   </a:t>
              </a:r>
              <a:r>
                <a:rPr lang="es-CO" sz="2800" b="1" dirty="0">
                  <a:solidFill>
                    <a:schemeClr val="bg1"/>
                  </a:solidFill>
                </a:rPr>
                <a:t>36%</a:t>
              </a:r>
            </a:p>
            <a:p>
              <a:endParaRPr lang="es-ES" sz="28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05" name="Rectángulo 104">
              <a:extLst>
                <a:ext uri="{FF2B5EF4-FFF2-40B4-BE49-F238E27FC236}">
                  <a16:creationId xmlns:a16="http://schemas.microsoft.com/office/drawing/2014/main" id="{B5EBFC02-11AE-6CF1-88B2-E30A4B23768F}"/>
                </a:ext>
              </a:extLst>
            </p:cNvPr>
            <p:cNvSpPr/>
            <p:nvPr/>
          </p:nvSpPr>
          <p:spPr>
            <a:xfrm>
              <a:off x="681423" y="1183963"/>
              <a:ext cx="3094159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20" name="Grupo 119">
            <a:extLst>
              <a:ext uri="{FF2B5EF4-FFF2-40B4-BE49-F238E27FC236}">
                <a16:creationId xmlns:a16="http://schemas.microsoft.com/office/drawing/2014/main" id="{DACA7876-9647-5927-D18D-3CE8BDB9B93C}"/>
              </a:ext>
            </a:extLst>
          </p:cNvPr>
          <p:cNvGrpSpPr/>
          <p:nvPr/>
        </p:nvGrpSpPr>
        <p:grpSpPr>
          <a:xfrm>
            <a:off x="7777183" y="2775745"/>
            <a:ext cx="2623981" cy="1933541"/>
            <a:chOff x="9059295" y="3127128"/>
            <a:chExt cx="2623981" cy="1933541"/>
          </a:xfrm>
        </p:grpSpPr>
        <p:grpSp>
          <p:nvGrpSpPr>
            <p:cNvPr id="106" name="Grupo 105">
              <a:extLst>
                <a:ext uri="{FF2B5EF4-FFF2-40B4-BE49-F238E27FC236}">
                  <a16:creationId xmlns:a16="http://schemas.microsoft.com/office/drawing/2014/main" id="{01F80E7F-45C1-2C1C-1796-C606C12C41FD}"/>
                </a:ext>
              </a:extLst>
            </p:cNvPr>
            <p:cNvGrpSpPr/>
            <p:nvPr/>
          </p:nvGrpSpPr>
          <p:grpSpPr>
            <a:xfrm>
              <a:off x="9080988" y="3127128"/>
              <a:ext cx="2601495" cy="1933541"/>
              <a:chOff x="7590765" y="1110832"/>
              <a:chExt cx="2601495" cy="1780012"/>
            </a:xfrm>
          </p:grpSpPr>
          <p:sp>
            <p:nvSpPr>
              <p:cNvPr id="107" name="Rectángulo 106">
                <a:extLst>
                  <a:ext uri="{FF2B5EF4-FFF2-40B4-BE49-F238E27FC236}">
                    <a16:creationId xmlns:a16="http://schemas.microsoft.com/office/drawing/2014/main" id="{777E6794-F0E5-3CA0-8BD3-FA1893BF2BDA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108" name="Grupo 107">
                <a:extLst>
                  <a:ext uri="{FF2B5EF4-FFF2-40B4-BE49-F238E27FC236}">
                    <a16:creationId xmlns:a16="http://schemas.microsoft.com/office/drawing/2014/main" id="{22201838-222F-796E-CC6A-9E5FB95A76F9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2191150" cy="1678227"/>
                <a:chOff x="3026344" y="1212927"/>
                <a:chExt cx="2191150" cy="1678227"/>
              </a:xfrm>
            </p:grpSpPr>
            <p:sp>
              <p:nvSpPr>
                <p:cNvPr id="110" name="CuadroTexto 109">
                  <a:extLst>
                    <a:ext uri="{FF2B5EF4-FFF2-40B4-BE49-F238E27FC236}">
                      <a16:creationId xmlns:a16="http://schemas.microsoft.com/office/drawing/2014/main" id="{9E1AC7DA-E76A-C2F9-6843-C20BE6149749}"/>
                    </a:ext>
                  </a:extLst>
                </p:cNvPr>
                <p:cNvSpPr txBox="1"/>
                <p:nvPr/>
              </p:nvSpPr>
              <p:spPr>
                <a:xfrm>
                  <a:off x="3811633" y="1212927"/>
                  <a:ext cx="140586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Estrato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11" name="CuadroTexto 110">
                  <a:extLst>
                    <a:ext uri="{FF2B5EF4-FFF2-40B4-BE49-F238E27FC236}">
                      <a16:creationId xmlns:a16="http://schemas.microsoft.com/office/drawing/2014/main" id="{3CCD7274-8BBA-FCC4-7806-DC76692AD131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13%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  <p:sp>
            <p:nvSpPr>
              <p:cNvPr id="109" name="CuadroTexto 108">
                <a:extLst>
                  <a:ext uri="{FF2B5EF4-FFF2-40B4-BE49-F238E27FC236}">
                    <a16:creationId xmlns:a16="http://schemas.microsoft.com/office/drawing/2014/main" id="{A1D29235-CDEC-3507-A89C-3440E50336C1}"/>
                  </a:ext>
                </a:extLst>
              </p:cNvPr>
              <p:cNvSpPr txBox="1"/>
              <p:nvPr/>
            </p:nvSpPr>
            <p:spPr>
              <a:xfrm>
                <a:off x="9019351" y="2317778"/>
                <a:ext cx="1172909" cy="566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4%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Cuatro</a:t>
                </a:r>
              </a:p>
            </p:txBody>
          </p:sp>
        </p:grpSp>
        <p:sp>
          <p:nvSpPr>
            <p:cNvPr id="112" name="CuadroTexto 111">
              <a:extLst>
                <a:ext uri="{FF2B5EF4-FFF2-40B4-BE49-F238E27FC236}">
                  <a16:creationId xmlns:a16="http://schemas.microsoft.com/office/drawing/2014/main" id="{A2A08E7A-E905-33F8-E7BB-8E8645B80C2B}"/>
                </a:ext>
              </a:extLst>
            </p:cNvPr>
            <p:cNvSpPr txBox="1"/>
            <p:nvPr/>
          </p:nvSpPr>
          <p:spPr>
            <a:xfrm>
              <a:off x="9059295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4%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Uno</a:t>
              </a:r>
            </a:p>
          </p:txBody>
        </p:sp>
        <p:sp>
          <p:nvSpPr>
            <p:cNvPr id="113" name="CuadroTexto 112">
              <a:extLst>
                <a:ext uri="{FF2B5EF4-FFF2-40B4-BE49-F238E27FC236}">
                  <a16:creationId xmlns:a16="http://schemas.microsoft.com/office/drawing/2014/main" id="{CB5EABEA-0258-821F-B97E-3D56E95FCDEC}"/>
                </a:ext>
              </a:extLst>
            </p:cNvPr>
            <p:cNvSpPr txBox="1"/>
            <p:nvPr/>
          </p:nvSpPr>
          <p:spPr>
            <a:xfrm>
              <a:off x="10510367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13%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Dos</a:t>
              </a:r>
            </a:p>
          </p:txBody>
        </p:sp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681EA76A-F3A5-AA25-4317-E5B0E97641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artisticPencilGrayscale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043317" y="3855923"/>
              <a:ext cx="655939" cy="655939"/>
            </a:xfrm>
            <a:prstGeom prst="rect">
              <a:avLst/>
            </a:prstGeom>
          </p:spPr>
        </p:pic>
      </p:grp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94E6BAA5-CA02-8950-091C-8E2C54E37FF8}"/>
              </a:ext>
            </a:extLst>
          </p:cNvPr>
          <p:cNvSpPr txBox="1"/>
          <p:nvPr/>
        </p:nvSpPr>
        <p:spPr>
          <a:xfrm>
            <a:off x="5289967" y="3228845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54%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 Cero</a:t>
            </a:r>
          </a:p>
        </p:txBody>
      </p:sp>
      <p:grpSp>
        <p:nvGrpSpPr>
          <p:cNvPr id="123" name="Grupo 122">
            <a:extLst>
              <a:ext uri="{FF2B5EF4-FFF2-40B4-BE49-F238E27FC236}">
                <a16:creationId xmlns:a16="http://schemas.microsoft.com/office/drawing/2014/main" id="{C8C14F52-EA60-8262-7633-B9F4CF6FE052}"/>
              </a:ext>
            </a:extLst>
          </p:cNvPr>
          <p:cNvGrpSpPr/>
          <p:nvPr/>
        </p:nvGrpSpPr>
        <p:grpSpPr>
          <a:xfrm>
            <a:off x="5340592" y="2790246"/>
            <a:ext cx="2602288" cy="1933541"/>
            <a:chOff x="5931142" y="3127128"/>
            <a:chExt cx="2602288" cy="1933541"/>
          </a:xfrm>
        </p:grpSpPr>
        <p:grpSp>
          <p:nvGrpSpPr>
            <p:cNvPr id="93" name="Grupo 92">
              <a:extLst>
                <a:ext uri="{FF2B5EF4-FFF2-40B4-BE49-F238E27FC236}">
                  <a16:creationId xmlns:a16="http://schemas.microsoft.com/office/drawing/2014/main" id="{CB3792E8-0147-C760-09A9-6AE11D45ED44}"/>
                </a:ext>
              </a:extLst>
            </p:cNvPr>
            <p:cNvGrpSpPr/>
            <p:nvPr/>
          </p:nvGrpSpPr>
          <p:grpSpPr>
            <a:xfrm>
              <a:off x="5931142" y="3127128"/>
              <a:ext cx="2601495" cy="1933541"/>
              <a:chOff x="7590765" y="1110832"/>
              <a:chExt cx="2601495" cy="1780012"/>
            </a:xfrm>
          </p:grpSpPr>
          <p:sp>
            <p:nvSpPr>
              <p:cNvPr id="94" name="Rectángulo 93">
                <a:extLst>
                  <a:ext uri="{FF2B5EF4-FFF2-40B4-BE49-F238E27FC236}">
                    <a16:creationId xmlns:a16="http://schemas.microsoft.com/office/drawing/2014/main" id="{B00278F6-3C9E-ACC7-6D66-20BA6B217C8B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95" name="Grupo 94">
                <a:extLst>
                  <a:ext uri="{FF2B5EF4-FFF2-40B4-BE49-F238E27FC236}">
                    <a16:creationId xmlns:a16="http://schemas.microsoft.com/office/drawing/2014/main" id="{ECAF5A20-064C-3DBC-0952-9794E6AB701C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1922369" cy="1647802"/>
                <a:chOff x="3026344" y="1212927"/>
                <a:chExt cx="1922369" cy="1647802"/>
              </a:xfrm>
            </p:grpSpPr>
            <p:sp>
              <p:nvSpPr>
                <p:cNvPr id="97" name="CuadroTexto 96">
                  <a:extLst>
                    <a:ext uri="{FF2B5EF4-FFF2-40B4-BE49-F238E27FC236}">
                      <a16:creationId xmlns:a16="http://schemas.microsoft.com/office/drawing/2014/main" id="{C44580E2-F774-A41F-66FE-ED8118C8E8C6}"/>
                    </a:ext>
                  </a:extLst>
                </p:cNvPr>
                <p:cNvSpPr txBox="1"/>
                <p:nvPr/>
              </p:nvSpPr>
              <p:spPr>
                <a:xfrm>
                  <a:off x="4021092" y="1212927"/>
                  <a:ext cx="92762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PAC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98" name="CuadroTexto 97">
                  <a:extLst>
                    <a:ext uri="{FF2B5EF4-FFF2-40B4-BE49-F238E27FC236}">
                      <a16:creationId xmlns:a16="http://schemas.microsoft.com/office/drawing/2014/main" id="{10FFCBFE-D695-7930-D709-24805CE94CBE}"/>
                    </a:ext>
                  </a:extLst>
                </p:cNvPr>
                <p:cNvSpPr txBox="1"/>
                <p:nvPr/>
              </p:nvSpPr>
              <p:spPr>
                <a:xfrm>
                  <a:off x="3026344" y="2294053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1%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  <p:sp>
            <p:nvSpPr>
              <p:cNvPr id="96" name="CuadroTexto 95">
                <a:extLst>
                  <a:ext uri="{FF2B5EF4-FFF2-40B4-BE49-F238E27FC236}">
                    <a16:creationId xmlns:a16="http://schemas.microsoft.com/office/drawing/2014/main" id="{14F9AEE4-26F3-10BD-48DD-AE7B614AB99E}"/>
                  </a:ext>
                </a:extLst>
              </p:cNvPr>
              <p:cNvSpPr txBox="1"/>
              <p:nvPr/>
            </p:nvSpPr>
            <p:spPr>
              <a:xfrm>
                <a:off x="9019351" y="2317778"/>
                <a:ext cx="1172909" cy="566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1%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Cuatro</a:t>
                </a:r>
              </a:p>
            </p:txBody>
          </p:sp>
        </p:grpSp>
        <p:grpSp>
          <p:nvGrpSpPr>
            <p:cNvPr id="121" name="Grupo 120">
              <a:extLst>
                <a:ext uri="{FF2B5EF4-FFF2-40B4-BE49-F238E27FC236}">
                  <a16:creationId xmlns:a16="http://schemas.microsoft.com/office/drawing/2014/main" id="{FB037689-AC48-F26F-1A0F-A48D6D2C998C}"/>
                </a:ext>
              </a:extLst>
            </p:cNvPr>
            <p:cNvGrpSpPr/>
            <p:nvPr/>
          </p:nvGrpSpPr>
          <p:grpSpPr>
            <a:xfrm>
              <a:off x="6649678" y="3565727"/>
              <a:ext cx="1883752" cy="1414028"/>
              <a:chOff x="6649678" y="3565727"/>
              <a:chExt cx="1883752" cy="1414028"/>
            </a:xfrm>
          </p:grpSpPr>
          <p:sp>
            <p:nvSpPr>
              <p:cNvPr id="99" name="CuadroTexto 98">
                <a:extLst>
                  <a:ext uri="{FF2B5EF4-FFF2-40B4-BE49-F238E27FC236}">
                    <a16:creationId xmlns:a16="http://schemas.microsoft.com/office/drawing/2014/main" id="{2DC287AE-4DF6-6900-DE05-316300889E2C}"/>
                  </a:ext>
                </a:extLst>
              </p:cNvPr>
              <p:cNvSpPr txBox="1"/>
              <p:nvPr/>
            </p:nvSpPr>
            <p:spPr>
              <a:xfrm>
                <a:off x="6649678" y="358240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32%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Uno</a:t>
                </a:r>
              </a:p>
            </p:txBody>
          </p:sp>
          <p:sp>
            <p:nvSpPr>
              <p:cNvPr id="101" name="CuadroTexto 100">
                <a:extLst>
                  <a:ext uri="{FF2B5EF4-FFF2-40B4-BE49-F238E27FC236}">
                    <a16:creationId xmlns:a16="http://schemas.microsoft.com/office/drawing/2014/main" id="{74CE258A-1839-6B20-2B3F-B9E756C84DFC}"/>
                  </a:ext>
                </a:extLst>
              </p:cNvPr>
              <p:cNvSpPr txBox="1"/>
              <p:nvPr/>
            </p:nvSpPr>
            <p:spPr>
              <a:xfrm>
                <a:off x="7360521" y="3565727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11%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Dos</a:t>
                </a:r>
              </a:p>
            </p:txBody>
          </p:sp>
          <p:pic>
            <p:nvPicPr>
              <p:cNvPr id="118" name="Imagen 117">
                <a:extLst>
                  <a:ext uri="{FF2B5EF4-FFF2-40B4-BE49-F238E27FC236}">
                    <a16:creationId xmlns:a16="http://schemas.microsoft.com/office/drawing/2014/main" id="{8E4D77FB-F10E-C321-8F25-270818CF68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artisticPaintStrokes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886925" y="4205951"/>
                <a:ext cx="773804" cy="773804"/>
              </a:xfrm>
              <a:prstGeom prst="rect">
                <a:avLst/>
              </a:prstGeom>
            </p:spPr>
          </p:pic>
        </p:grpSp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FF6B39E9-0172-CF3A-27A9-444CF266C292}"/>
              </a:ext>
            </a:extLst>
          </p:cNvPr>
          <p:cNvGrpSpPr/>
          <p:nvPr/>
        </p:nvGrpSpPr>
        <p:grpSpPr>
          <a:xfrm>
            <a:off x="8022470" y="853892"/>
            <a:ext cx="2195988" cy="1780012"/>
            <a:chOff x="7814360" y="1110832"/>
            <a:chExt cx="2195988" cy="1780012"/>
          </a:xfrm>
        </p:grpSpPr>
        <p:grpSp>
          <p:nvGrpSpPr>
            <p:cNvPr id="66" name="Grupo 65">
              <a:extLst>
                <a:ext uri="{FF2B5EF4-FFF2-40B4-BE49-F238E27FC236}">
                  <a16:creationId xmlns:a16="http://schemas.microsoft.com/office/drawing/2014/main" id="{62AD86E4-31E5-6593-3DF4-F96E3D50A68C}"/>
                </a:ext>
              </a:extLst>
            </p:cNvPr>
            <p:cNvGrpSpPr/>
            <p:nvPr/>
          </p:nvGrpSpPr>
          <p:grpSpPr>
            <a:xfrm>
              <a:off x="7814360" y="1110832"/>
              <a:ext cx="2195988" cy="1780012"/>
              <a:chOff x="7814360" y="1110832"/>
              <a:chExt cx="2195988" cy="1780012"/>
            </a:xfrm>
          </p:grpSpPr>
          <p:sp>
            <p:nvSpPr>
              <p:cNvPr id="60" name="Rectángulo 59">
                <a:extLst>
                  <a:ext uri="{FF2B5EF4-FFF2-40B4-BE49-F238E27FC236}">
                    <a16:creationId xmlns:a16="http://schemas.microsoft.com/office/drawing/2014/main" id="{B43D3279-A988-6EA4-FD67-289F0899758F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61" name="Grupo 60">
                <a:extLst>
                  <a:ext uri="{FF2B5EF4-FFF2-40B4-BE49-F238E27FC236}">
                    <a16:creationId xmlns:a16="http://schemas.microsoft.com/office/drawing/2014/main" id="{7B2F61E5-EDAE-4898-0F4F-B694028DF9DE}"/>
                  </a:ext>
                </a:extLst>
              </p:cNvPr>
              <p:cNvGrpSpPr/>
              <p:nvPr/>
            </p:nvGrpSpPr>
            <p:grpSpPr>
              <a:xfrm>
                <a:off x="7814361" y="1223137"/>
                <a:ext cx="2083693" cy="1630468"/>
                <a:chOff x="3249940" y="1229837"/>
                <a:chExt cx="2083693" cy="1630468"/>
              </a:xfrm>
            </p:grpSpPr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556BD9C9-E28C-929B-966A-536EDD126DAE}"/>
                    </a:ext>
                  </a:extLst>
                </p:cNvPr>
                <p:cNvSpPr txBox="1"/>
                <p:nvPr/>
              </p:nvSpPr>
              <p:spPr>
                <a:xfrm>
                  <a:off x="3552927" y="1229837"/>
                  <a:ext cx="1780706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Rango Edad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F9C27129-B544-1893-2BDD-DDACEE8D5506}"/>
                    </a:ext>
                  </a:extLst>
                </p:cNvPr>
                <p:cNvSpPr txBox="1"/>
                <p:nvPr/>
              </p:nvSpPr>
              <p:spPr>
                <a:xfrm>
                  <a:off x="3249940" y="2306307"/>
                  <a:ext cx="1172909" cy="5539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70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20 a 35 años</a:t>
                  </a:r>
                </a:p>
              </p:txBody>
            </p:sp>
          </p:grpSp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57A40983-E536-30D7-D6C9-B9C15B5C9F62}"/>
                  </a:ext>
                </a:extLst>
              </p:cNvPr>
              <p:cNvSpPr txBox="1"/>
              <p:nvPr/>
            </p:nvSpPr>
            <p:spPr>
              <a:xfrm>
                <a:off x="8837439" y="2289285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13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36 a 45 años</a:t>
                </a:r>
              </a:p>
            </p:txBody>
          </p:sp>
        </p:grpSp>
        <p:pic>
          <p:nvPicPr>
            <p:cNvPr id="128" name="Imagen 127">
              <a:extLst>
                <a:ext uri="{FF2B5EF4-FFF2-40B4-BE49-F238E27FC236}">
                  <a16:creationId xmlns:a16="http://schemas.microsoft.com/office/drawing/2014/main" id="{ABD5A4A0-E58C-C9D0-C35D-588C1BE14D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17644" y="1602912"/>
              <a:ext cx="655473" cy="655473"/>
            </a:xfrm>
            <a:prstGeom prst="rect">
              <a:avLst/>
            </a:prstGeom>
          </p:spPr>
        </p:pic>
      </p:grpSp>
      <p:grpSp>
        <p:nvGrpSpPr>
          <p:cNvPr id="189" name="Grupo 188">
            <a:extLst>
              <a:ext uri="{FF2B5EF4-FFF2-40B4-BE49-F238E27FC236}">
                <a16:creationId xmlns:a16="http://schemas.microsoft.com/office/drawing/2014/main" id="{C8BA19AB-88BE-F620-ADE4-10767796B962}"/>
              </a:ext>
            </a:extLst>
          </p:cNvPr>
          <p:cNvGrpSpPr/>
          <p:nvPr/>
        </p:nvGrpSpPr>
        <p:grpSpPr>
          <a:xfrm>
            <a:off x="-114768" y="4837223"/>
            <a:ext cx="3758502" cy="1933541"/>
            <a:chOff x="435340" y="4837223"/>
            <a:chExt cx="4854517" cy="1933541"/>
          </a:xfrm>
        </p:grpSpPr>
        <p:grpSp>
          <p:nvGrpSpPr>
            <p:cNvPr id="138" name="Grupo 137">
              <a:extLst>
                <a:ext uri="{FF2B5EF4-FFF2-40B4-BE49-F238E27FC236}">
                  <a16:creationId xmlns:a16="http://schemas.microsoft.com/office/drawing/2014/main" id="{3A011AAD-8297-100E-EEE1-C268DBACD3BB}"/>
                </a:ext>
              </a:extLst>
            </p:cNvPr>
            <p:cNvGrpSpPr/>
            <p:nvPr/>
          </p:nvGrpSpPr>
          <p:grpSpPr>
            <a:xfrm>
              <a:off x="435340" y="4837223"/>
              <a:ext cx="4854517" cy="1933541"/>
              <a:chOff x="9135236" y="3127128"/>
              <a:chExt cx="3830051" cy="1933541"/>
            </a:xfrm>
          </p:grpSpPr>
          <p:grpSp>
            <p:nvGrpSpPr>
              <p:cNvPr id="139" name="Grupo 138">
                <a:extLst>
                  <a:ext uri="{FF2B5EF4-FFF2-40B4-BE49-F238E27FC236}">
                    <a16:creationId xmlns:a16="http://schemas.microsoft.com/office/drawing/2014/main" id="{11BB03F6-A62F-F043-E570-C7FE90591932}"/>
                  </a:ext>
                </a:extLst>
              </p:cNvPr>
              <p:cNvGrpSpPr/>
              <p:nvPr/>
            </p:nvGrpSpPr>
            <p:grpSpPr>
              <a:xfrm>
                <a:off x="9229918" y="3127128"/>
                <a:ext cx="3735369" cy="1933541"/>
                <a:chOff x="7739695" y="1110832"/>
                <a:chExt cx="3735369" cy="1780012"/>
              </a:xfrm>
            </p:grpSpPr>
            <p:sp>
              <p:nvSpPr>
                <p:cNvPr id="143" name="Rectángulo 142">
                  <a:extLst>
                    <a:ext uri="{FF2B5EF4-FFF2-40B4-BE49-F238E27FC236}">
                      <a16:creationId xmlns:a16="http://schemas.microsoft.com/office/drawing/2014/main" id="{00604BFD-EF83-3997-AE44-7ED5F8C3600A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3246650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44" name="Grupo 143">
                  <a:extLst>
                    <a:ext uri="{FF2B5EF4-FFF2-40B4-BE49-F238E27FC236}">
                      <a16:creationId xmlns:a16="http://schemas.microsoft.com/office/drawing/2014/main" id="{65D6A1BB-0065-E5BE-EB7F-448F31EB1948}"/>
                    </a:ext>
                  </a:extLst>
                </p:cNvPr>
                <p:cNvGrpSpPr/>
                <p:nvPr/>
              </p:nvGrpSpPr>
              <p:grpSpPr>
                <a:xfrm>
                  <a:off x="7739695" y="1236316"/>
                  <a:ext cx="3735369" cy="1532075"/>
                  <a:chOff x="3175274" y="1243016"/>
                  <a:chExt cx="3735369" cy="1532075"/>
                </a:xfrm>
              </p:grpSpPr>
              <p:sp>
                <p:nvSpPr>
                  <p:cNvPr id="146" name="CuadroTexto 145">
                    <a:extLst>
                      <a:ext uri="{FF2B5EF4-FFF2-40B4-BE49-F238E27FC236}">
                        <a16:creationId xmlns:a16="http://schemas.microsoft.com/office/drawing/2014/main" id="{E4B3781B-90E5-BF33-6237-01A1BE982D3C}"/>
                      </a:ext>
                    </a:extLst>
                  </p:cNvPr>
                  <p:cNvSpPr txBox="1"/>
                  <p:nvPr/>
                </p:nvSpPr>
                <p:spPr>
                  <a:xfrm>
                    <a:off x="3854322" y="1243016"/>
                    <a:ext cx="3056321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Segmento Empresas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47" name="CuadroTexto 146">
                    <a:extLst>
                      <a:ext uri="{FF2B5EF4-FFF2-40B4-BE49-F238E27FC236}">
                        <a16:creationId xmlns:a16="http://schemas.microsoft.com/office/drawing/2014/main" id="{35F9E27C-00C9-430E-B230-58331A8127B3}"/>
                      </a:ext>
                    </a:extLst>
                  </p:cNvPr>
                  <p:cNvSpPr txBox="1"/>
                  <p:nvPr/>
                </p:nvSpPr>
                <p:spPr>
                  <a:xfrm>
                    <a:off x="3175274" y="2208415"/>
                    <a:ext cx="1945898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21%</a:t>
                    </a:r>
                    <a:endParaRPr lang="es-CO" sz="1400" b="1" dirty="0">
                      <a:solidFill>
                        <a:schemeClr val="bg1"/>
                      </a:solidFill>
                    </a:endParaRP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Medianas</a:t>
                    </a:r>
                  </a:p>
                </p:txBody>
              </p:sp>
            </p:grpSp>
            <p:sp>
              <p:nvSpPr>
                <p:cNvPr id="145" name="CuadroTexto 144">
                  <a:extLst>
                    <a:ext uri="{FF2B5EF4-FFF2-40B4-BE49-F238E27FC236}">
                      <a16:creationId xmlns:a16="http://schemas.microsoft.com/office/drawing/2014/main" id="{1001FEE4-F191-3AA7-7E6B-379726D0C7E3}"/>
                    </a:ext>
                  </a:extLst>
                </p:cNvPr>
                <p:cNvSpPr txBox="1"/>
                <p:nvPr/>
              </p:nvSpPr>
              <p:spPr>
                <a:xfrm>
                  <a:off x="9864249" y="1523867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18%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Grandes</a:t>
                  </a:r>
                </a:p>
              </p:txBody>
            </p:sp>
          </p:grpSp>
          <p:sp>
            <p:nvSpPr>
              <p:cNvPr id="140" name="CuadroTexto 139">
                <a:extLst>
                  <a:ext uri="{FF2B5EF4-FFF2-40B4-BE49-F238E27FC236}">
                    <a16:creationId xmlns:a16="http://schemas.microsoft.com/office/drawing/2014/main" id="{F9F3C458-9773-EDA5-DB66-C88B1875EE96}"/>
                  </a:ext>
                </a:extLst>
              </p:cNvPr>
              <p:cNvSpPr txBox="1"/>
              <p:nvPr/>
            </p:nvSpPr>
            <p:spPr>
              <a:xfrm>
                <a:off x="9135236" y="3565727"/>
                <a:ext cx="145027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17%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</a:t>
                </a:r>
                <a:r>
                  <a:rPr lang="es-CO" sz="1400" b="1" dirty="0" err="1">
                    <a:solidFill>
                      <a:schemeClr val="bg1"/>
                    </a:solidFill>
                  </a:rPr>
                  <a:t>Emp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Top</a:t>
                </a:r>
              </a:p>
            </p:txBody>
          </p:sp>
          <p:sp>
            <p:nvSpPr>
              <p:cNvPr id="141" name="CuadroTexto 140">
                <a:extLst>
                  <a:ext uri="{FF2B5EF4-FFF2-40B4-BE49-F238E27FC236}">
                    <a16:creationId xmlns:a16="http://schemas.microsoft.com/office/drawing/2014/main" id="{B923B27A-084E-CFBB-BFE1-7EBA7C52E691}"/>
                  </a:ext>
                </a:extLst>
              </p:cNvPr>
              <p:cNvSpPr txBox="1"/>
              <p:nvPr/>
            </p:nvSpPr>
            <p:spPr>
              <a:xfrm>
                <a:off x="10055645" y="3580594"/>
                <a:ext cx="152651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39%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    Micro    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Transaccional</a:t>
                </a:r>
              </a:p>
            </p:txBody>
          </p:sp>
        </p:grpSp>
        <p:pic>
          <p:nvPicPr>
            <p:cNvPr id="149" name="Imagen 148">
              <a:extLst>
                <a:ext uri="{FF2B5EF4-FFF2-40B4-BE49-F238E27FC236}">
                  <a16:creationId xmlns:a16="http://schemas.microsoft.com/office/drawing/2014/main" id="{AAF4E488-7302-F348-B219-23CA5A7EF2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325932" y="6027593"/>
              <a:ext cx="677562" cy="677562"/>
            </a:xfrm>
            <a:prstGeom prst="rect">
              <a:avLst/>
            </a:prstGeom>
          </p:spPr>
        </p:pic>
      </p:grp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2FDC862F-72B2-9B29-D9BE-3AAFF55C29AD}"/>
              </a:ext>
            </a:extLst>
          </p:cNvPr>
          <p:cNvSpPr txBox="1"/>
          <p:nvPr/>
        </p:nvSpPr>
        <p:spPr>
          <a:xfrm>
            <a:off x="2093411" y="5976448"/>
            <a:ext cx="128594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3%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Estándar</a:t>
            </a:r>
          </a:p>
        </p:txBody>
      </p:sp>
      <p:grpSp>
        <p:nvGrpSpPr>
          <p:cNvPr id="151" name="Grupo 150">
            <a:extLst>
              <a:ext uri="{FF2B5EF4-FFF2-40B4-BE49-F238E27FC236}">
                <a16:creationId xmlns:a16="http://schemas.microsoft.com/office/drawing/2014/main" id="{312F85DB-092D-0D16-6ED1-50D5E1D7F4E0}"/>
              </a:ext>
            </a:extLst>
          </p:cNvPr>
          <p:cNvGrpSpPr/>
          <p:nvPr/>
        </p:nvGrpSpPr>
        <p:grpSpPr>
          <a:xfrm>
            <a:off x="3041036" y="4852302"/>
            <a:ext cx="2475954" cy="1933541"/>
            <a:chOff x="9024616" y="3127128"/>
            <a:chExt cx="2475954" cy="1933541"/>
          </a:xfrm>
        </p:grpSpPr>
        <p:grpSp>
          <p:nvGrpSpPr>
            <p:cNvPr id="152" name="Grupo 151">
              <a:extLst>
                <a:ext uri="{FF2B5EF4-FFF2-40B4-BE49-F238E27FC236}">
                  <a16:creationId xmlns:a16="http://schemas.microsoft.com/office/drawing/2014/main" id="{A8B09177-1FF8-DF53-055C-15575CAC867F}"/>
                </a:ext>
              </a:extLst>
            </p:cNvPr>
            <p:cNvGrpSpPr/>
            <p:nvPr/>
          </p:nvGrpSpPr>
          <p:grpSpPr>
            <a:xfrm>
              <a:off x="9024616" y="3127128"/>
              <a:ext cx="2475954" cy="1933541"/>
              <a:chOff x="7534393" y="1110832"/>
              <a:chExt cx="2475954" cy="1780012"/>
            </a:xfrm>
          </p:grpSpPr>
          <p:sp>
            <p:nvSpPr>
              <p:cNvPr id="157" name="Rectángulo 156">
                <a:extLst>
                  <a:ext uri="{FF2B5EF4-FFF2-40B4-BE49-F238E27FC236}">
                    <a16:creationId xmlns:a16="http://schemas.microsoft.com/office/drawing/2014/main" id="{EBDA4C6B-D5F4-1794-1191-A56B811EB1F6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158" name="Grupo 157">
                <a:extLst>
                  <a:ext uri="{FF2B5EF4-FFF2-40B4-BE49-F238E27FC236}">
                    <a16:creationId xmlns:a16="http://schemas.microsoft.com/office/drawing/2014/main" id="{EC407D5A-E9C4-F7CE-B99B-D7FCCF233978}"/>
                  </a:ext>
                </a:extLst>
              </p:cNvPr>
              <p:cNvGrpSpPr/>
              <p:nvPr/>
            </p:nvGrpSpPr>
            <p:grpSpPr>
              <a:xfrm>
                <a:off x="7534393" y="1206227"/>
                <a:ext cx="2388623" cy="1388251"/>
                <a:chOff x="2969972" y="1212927"/>
                <a:chExt cx="2388623" cy="1388251"/>
              </a:xfrm>
            </p:grpSpPr>
            <p:sp>
              <p:nvSpPr>
                <p:cNvPr id="160" name="CuadroTexto 159">
                  <a:extLst>
                    <a:ext uri="{FF2B5EF4-FFF2-40B4-BE49-F238E27FC236}">
                      <a16:creationId xmlns:a16="http://schemas.microsoft.com/office/drawing/2014/main" id="{A940333C-CACD-A6DB-7EB2-23C6CAE329EF}"/>
                    </a:ext>
                  </a:extLst>
                </p:cNvPr>
                <p:cNvSpPr txBox="1"/>
                <p:nvPr/>
              </p:nvSpPr>
              <p:spPr>
                <a:xfrm>
                  <a:off x="3408991" y="1212927"/>
                  <a:ext cx="1949604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 dirty="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Departamento</a:t>
                  </a:r>
                  <a:endParaRPr lang="es-ES" sz="1600" dirty="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61" name="CuadroTexto 160">
                  <a:extLst>
                    <a:ext uri="{FF2B5EF4-FFF2-40B4-BE49-F238E27FC236}">
                      <a16:creationId xmlns:a16="http://schemas.microsoft.com/office/drawing/2014/main" id="{3CADC368-A480-EB47-EA79-5E7B74E00BFF}"/>
                    </a:ext>
                  </a:extLst>
                </p:cNvPr>
                <p:cNvSpPr txBox="1"/>
                <p:nvPr/>
              </p:nvSpPr>
              <p:spPr>
                <a:xfrm>
                  <a:off x="2969972" y="2034502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1%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Cota</a:t>
                  </a:r>
                </a:p>
              </p:txBody>
            </p:sp>
          </p:grpSp>
        </p:grpSp>
        <p:sp>
          <p:nvSpPr>
            <p:cNvPr id="154" name="CuadroTexto 153">
              <a:extLst>
                <a:ext uri="{FF2B5EF4-FFF2-40B4-BE49-F238E27FC236}">
                  <a16:creationId xmlns:a16="http://schemas.microsoft.com/office/drawing/2014/main" id="{6D01744C-B907-5A10-F4D1-05BFBD8FAED8}"/>
                </a:ext>
              </a:extLst>
            </p:cNvPr>
            <p:cNvSpPr txBox="1"/>
            <p:nvPr/>
          </p:nvSpPr>
          <p:spPr>
            <a:xfrm>
              <a:off x="9059295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45%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Bogotá</a:t>
              </a:r>
            </a:p>
          </p:txBody>
        </p:sp>
        <p:sp>
          <p:nvSpPr>
            <p:cNvPr id="155" name="CuadroTexto 154">
              <a:extLst>
                <a:ext uri="{FF2B5EF4-FFF2-40B4-BE49-F238E27FC236}">
                  <a16:creationId xmlns:a16="http://schemas.microsoft.com/office/drawing/2014/main" id="{23FFB07D-C6DF-EFDD-F527-91387775BA40}"/>
                </a:ext>
              </a:extLst>
            </p:cNvPr>
            <p:cNvSpPr txBox="1"/>
            <p:nvPr/>
          </p:nvSpPr>
          <p:spPr>
            <a:xfrm>
              <a:off x="10219600" y="3565504"/>
              <a:ext cx="1160334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1%</a:t>
              </a:r>
              <a:r>
                <a:rPr lang="es-CO" sz="1400" b="1" dirty="0">
                  <a:solidFill>
                    <a:schemeClr val="bg1"/>
                  </a:solidFill>
                </a:rPr>
                <a:t>                     </a:t>
              </a:r>
              <a:r>
                <a:rPr lang="es-CO" sz="1400" b="1" dirty="0" err="1">
                  <a:solidFill>
                    <a:schemeClr val="bg1"/>
                  </a:solidFill>
                </a:rPr>
                <a:t>Chia</a:t>
              </a:r>
              <a:r>
                <a:rPr lang="es-CO" sz="1400" b="1" dirty="0">
                  <a:solidFill>
                    <a:schemeClr val="bg1"/>
                  </a:solidFill>
                </a:rPr>
                <a:t> </a:t>
              </a:r>
            </a:p>
          </p:txBody>
        </p:sp>
      </p:grpSp>
      <p:grpSp>
        <p:nvGrpSpPr>
          <p:cNvPr id="201" name="Grupo 200">
            <a:extLst>
              <a:ext uri="{FF2B5EF4-FFF2-40B4-BE49-F238E27FC236}">
                <a16:creationId xmlns:a16="http://schemas.microsoft.com/office/drawing/2014/main" id="{23EA9DC8-84DC-92BD-3546-DB8E012A961B}"/>
              </a:ext>
            </a:extLst>
          </p:cNvPr>
          <p:cNvGrpSpPr/>
          <p:nvPr/>
        </p:nvGrpSpPr>
        <p:grpSpPr>
          <a:xfrm>
            <a:off x="5407406" y="4842106"/>
            <a:ext cx="2693579" cy="1985915"/>
            <a:chOff x="5483606" y="4842106"/>
            <a:chExt cx="2693579" cy="1985915"/>
          </a:xfrm>
        </p:grpSpPr>
        <p:grpSp>
          <p:nvGrpSpPr>
            <p:cNvPr id="164" name="Grupo 163">
              <a:extLst>
                <a:ext uri="{FF2B5EF4-FFF2-40B4-BE49-F238E27FC236}">
                  <a16:creationId xmlns:a16="http://schemas.microsoft.com/office/drawing/2014/main" id="{E36C7FF1-D9D0-D6C6-745B-713388631249}"/>
                </a:ext>
              </a:extLst>
            </p:cNvPr>
            <p:cNvGrpSpPr/>
            <p:nvPr/>
          </p:nvGrpSpPr>
          <p:grpSpPr>
            <a:xfrm>
              <a:off x="5483606" y="4842106"/>
              <a:ext cx="2693579" cy="1957609"/>
              <a:chOff x="9049330" y="3127128"/>
              <a:chExt cx="2693579" cy="1957609"/>
            </a:xfrm>
          </p:grpSpPr>
          <p:grpSp>
            <p:nvGrpSpPr>
              <p:cNvPr id="165" name="Grupo 164">
                <a:extLst>
                  <a:ext uri="{FF2B5EF4-FFF2-40B4-BE49-F238E27FC236}">
                    <a16:creationId xmlns:a16="http://schemas.microsoft.com/office/drawing/2014/main" id="{C26F6972-3863-7FEE-EBB5-970C30ED7F78}"/>
                  </a:ext>
                </a:extLst>
              </p:cNvPr>
              <p:cNvGrpSpPr/>
              <p:nvPr/>
            </p:nvGrpSpPr>
            <p:grpSpPr>
              <a:xfrm>
                <a:off x="9049330" y="3127128"/>
                <a:ext cx="2655911" cy="1957609"/>
                <a:chOff x="7559107" y="1110832"/>
                <a:chExt cx="2655911" cy="1802169"/>
              </a:xfrm>
            </p:grpSpPr>
            <p:sp>
              <p:nvSpPr>
                <p:cNvPr id="168" name="Rectángulo 167">
                  <a:extLst>
                    <a:ext uri="{FF2B5EF4-FFF2-40B4-BE49-F238E27FC236}">
                      <a16:creationId xmlns:a16="http://schemas.microsoft.com/office/drawing/2014/main" id="{23A3540B-2DE5-4C3A-4349-C58F19CDD9E1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195987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70" name="Grupo 169">
                  <a:extLst>
                    <a:ext uri="{FF2B5EF4-FFF2-40B4-BE49-F238E27FC236}">
                      <a16:creationId xmlns:a16="http://schemas.microsoft.com/office/drawing/2014/main" id="{D6904607-08F1-2676-2E9E-AAA3D0C76467}"/>
                    </a:ext>
                  </a:extLst>
                </p:cNvPr>
                <p:cNvGrpSpPr/>
                <p:nvPr/>
              </p:nvGrpSpPr>
              <p:grpSpPr>
                <a:xfrm>
                  <a:off x="7559107" y="1207829"/>
                  <a:ext cx="2655911" cy="1705172"/>
                  <a:chOff x="2994686" y="1214529"/>
                  <a:chExt cx="2655911" cy="1705172"/>
                </a:xfrm>
              </p:grpSpPr>
              <p:sp>
                <p:nvSpPr>
                  <p:cNvPr id="171" name="CuadroTexto 170">
                    <a:extLst>
                      <a:ext uri="{FF2B5EF4-FFF2-40B4-BE49-F238E27FC236}">
                        <a16:creationId xmlns:a16="http://schemas.microsoft.com/office/drawing/2014/main" id="{35DC0879-EE1C-8899-E525-FED28B21A698}"/>
                      </a:ext>
                    </a:extLst>
                  </p:cNvPr>
                  <p:cNvSpPr txBox="1"/>
                  <p:nvPr/>
                </p:nvSpPr>
                <p:spPr>
                  <a:xfrm>
                    <a:off x="3700993" y="1214529"/>
                    <a:ext cx="1949604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Localidad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72" name="CuadroTexto 171">
                    <a:extLst>
                      <a:ext uri="{FF2B5EF4-FFF2-40B4-BE49-F238E27FC236}">
                        <a16:creationId xmlns:a16="http://schemas.microsoft.com/office/drawing/2014/main" id="{3E13A33F-326E-B316-CF6F-752372D4CEFB}"/>
                      </a:ext>
                    </a:extLst>
                  </p:cNvPr>
                  <p:cNvSpPr txBox="1"/>
                  <p:nvPr/>
                </p:nvSpPr>
                <p:spPr>
                  <a:xfrm>
                    <a:off x="2994686" y="2353025"/>
                    <a:ext cx="1323041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5%</a:t>
                    </a: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    Engativá</a:t>
                    </a:r>
                  </a:p>
                </p:txBody>
              </p:sp>
            </p:grpSp>
          </p:grpSp>
          <p:sp>
            <p:nvSpPr>
              <p:cNvPr id="166" name="CuadroTexto 165">
                <a:extLst>
                  <a:ext uri="{FF2B5EF4-FFF2-40B4-BE49-F238E27FC236}">
                    <a16:creationId xmlns:a16="http://schemas.microsoft.com/office/drawing/2014/main" id="{4E8559AB-8941-A353-F80D-8B6C108EFDA6}"/>
                  </a:ext>
                </a:extLst>
              </p:cNvPr>
              <p:cNvSpPr txBox="1"/>
              <p:nvPr/>
            </p:nvSpPr>
            <p:spPr>
              <a:xfrm>
                <a:off x="9059295" y="3565727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12%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Suba</a:t>
                </a:r>
              </a:p>
            </p:txBody>
          </p:sp>
          <p:sp>
            <p:nvSpPr>
              <p:cNvPr id="167" name="CuadroTexto 166">
                <a:extLst>
                  <a:ext uri="{FF2B5EF4-FFF2-40B4-BE49-F238E27FC236}">
                    <a16:creationId xmlns:a16="http://schemas.microsoft.com/office/drawing/2014/main" id="{74433A44-7020-B2BA-D1C8-49266F64F019}"/>
                  </a:ext>
                </a:extLst>
              </p:cNvPr>
              <p:cNvSpPr txBox="1"/>
              <p:nvPr/>
            </p:nvSpPr>
            <p:spPr>
              <a:xfrm>
                <a:off x="10498522" y="3549824"/>
                <a:ext cx="1244387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7%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Usaquén</a:t>
                </a:r>
              </a:p>
            </p:txBody>
          </p:sp>
        </p:grpSp>
        <p:sp>
          <p:nvSpPr>
            <p:cNvPr id="185" name="CuadroTexto 184">
              <a:extLst>
                <a:ext uri="{FF2B5EF4-FFF2-40B4-BE49-F238E27FC236}">
                  <a16:creationId xmlns:a16="http://schemas.microsoft.com/office/drawing/2014/main" id="{FC140C79-D84E-36D2-1163-9EC0928180D3}"/>
                </a:ext>
              </a:extLst>
            </p:cNvPr>
            <p:cNvSpPr txBox="1"/>
            <p:nvPr/>
          </p:nvSpPr>
          <p:spPr>
            <a:xfrm>
              <a:off x="6625166" y="6212468"/>
              <a:ext cx="1323041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61%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 Sin </a:t>
              </a:r>
              <a:r>
                <a:rPr lang="es-CO" sz="1400" b="1" dirty="0" err="1">
                  <a:solidFill>
                    <a:schemeClr val="bg1"/>
                  </a:solidFill>
                </a:rPr>
                <a:t>Infor</a:t>
              </a:r>
              <a:endParaRPr lang="es-CO" sz="1400" b="1" dirty="0">
                <a:solidFill>
                  <a:schemeClr val="bg1"/>
                </a:solidFill>
              </a:endParaRPr>
            </a:p>
          </p:txBody>
        </p:sp>
        <p:pic>
          <p:nvPicPr>
            <p:cNvPr id="187" name="Imagen 186">
              <a:extLst>
                <a:ext uri="{FF2B5EF4-FFF2-40B4-BE49-F238E27FC236}">
                  <a16:creationId xmlns:a16="http://schemas.microsoft.com/office/drawing/2014/main" id="{16E5073C-E788-4415-A13F-880FF8401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401571" y="5793688"/>
              <a:ext cx="1266970" cy="620378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grpSp>
        <p:nvGrpSpPr>
          <p:cNvPr id="202" name="Grupo 201">
            <a:extLst>
              <a:ext uri="{FF2B5EF4-FFF2-40B4-BE49-F238E27FC236}">
                <a16:creationId xmlns:a16="http://schemas.microsoft.com/office/drawing/2014/main" id="{8BAF2BF8-FCCE-2EF6-AA67-B069954F6FD6}"/>
              </a:ext>
            </a:extLst>
          </p:cNvPr>
          <p:cNvGrpSpPr/>
          <p:nvPr/>
        </p:nvGrpSpPr>
        <p:grpSpPr>
          <a:xfrm>
            <a:off x="7528734" y="4834201"/>
            <a:ext cx="2867011" cy="1957609"/>
            <a:chOff x="8071595" y="4834201"/>
            <a:chExt cx="3008704" cy="1957609"/>
          </a:xfrm>
        </p:grpSpPr>
        <p:grpSp>
          <p:nvGrpSpPr>
            <p:cNvPr id="190" name="Grupo 189">
              <a:extLst>
                <a:ext uri="{FF2B5EF4-FFF2-40B4-BE49-F238E27FC236}">
                  <a16:creationId xmlns:a16="http://schemas.microsoft.com/office/drawing/2014/main" id="{D52276AD-77F2-F6DC-6B38-3AD065D1B111}"/>
                </a:ext>
              </a:extLst>
            </p:cNvPr>
            <p:cNvGrpSpPr/>
            <p:nvPr/>
          </p:nvGrpSpPr>
          <p:grpSpPr>
            <a:xfrm>
              <a:off x="8071595" y="4834201"/>
              <a:ext cx="3008704" cy="1957609"/>
              <a:chOff x="8845727" y="3127128"/>
              <a:chExt cx="3008704" cy="1957609"/>
            </a:xfrm>
          </p:grpSpPr>
          <p:grpSp>
            <p:nvGrpSpPr>
              <p:cNvPr id="191" name="Grupo 190">
                <a:extLst>
                  <a:ext uri="{FF2B5EF4-FFF2-40B4-BE49-F238E27FC236}">
                    <a16:creationId xmlns:a16="http://schemas.microsoft.com/office/drawing/2014/main" id="{70974D89-C4DD-BECE-E888-EC0CC6B04321}"/>
                  </a:ext>
                </a:extLst>
              </p:cNvPr>
              <p:cNvGrpSpPr/>
              <p:nvPr/>
            </p:nvGrpSpPr>
            <p:grpSpPr>
              <a:xfrm>
                <a:off x="8845727" y="3127128"/>
                <a:ext cx="3008704" cy="1957609"/>
                <a:chOff x="7355504" y="1110832"/>
                <a:chExt cx="3008704" cy="1802169"/>
              </a:xfrm>
            </p:grpSpPr>
            <p:sp>
              <p:nvSpPr>
                <p:cNvPr id="194" name="Rectángulo 193">
                  <a:extLst>
                    <a:ext uri="{FF2B5EF4-FFF2-40B4-BE49-F238E27FC236}">
                      <a16:creationId xmlns:a16="http://schemas.microsoft.com/office/drawing/2014/main" id="{BF4AC36A-FF9E-67E4-B932-2176A529074D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368574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95" name="Grupo 194">
                  <a:extLst>
                    <a:ext uri="{FF2B5EF4-FFF2-40B4-BE49-F238E27FC236}">
                      <a16:creationId xmlns:a16="http://schemas.microsoft.com/office/drawing/2014/main" id="{004185D2-584F-98C0-B0FE-EFFF7913AA1F}"/>
                    </a:ext>
                  </a:extLst>
                </p:cNvPr>
                <p:cNvGrpSpPr/>
                <p:nvPr/>
              </p:nvGrpSpPr>
              <p:grpSpPr>
                <a:xfrm>
                  <a:off x="7355504" y="1207828"/>
                  <a:ext cx="3008704" cy="1705173"/>
                  <a:chOff x="2791083" y="1214528"/>
                  <a:chExt cx="3008704" cy="1705173"/>
                </a:xfrm>
              </p:grpSpPr>
              <p:sp>
                <p:nvSpPr>
                  <p:cNvPr id="197" name="CuadroTexto 196">
                    <a:extLst>
                      <a:ext uri="{FF2B5EF4-FFF2-40B4-BE49-F238E27FC236}">
                        <a16:creationId xmlns:a16="http://schemas.microsoft.com/office/drawing/2014/main" id="{DE4D73D5-1078-D595-4455-3AA22C70154F}"/>
                      </a:ext>
                    </a:extLst>
                  </p:cNvPr>
                  <p:cNvSpPr txBox="1"/>
                  <p:nvPr/>
                </p:nvSpPr>
                <p:spPr>
                  <a:xfrm>
                    <a:off x="3225997" y="1214528"/>
                    <a:ext cx="2573790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Entidad Financieras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98" name="CuadroTexto 197">
                    <a:extLst>
                      <a:ext uri="{FF2B5EF4-FFF2-40B4-BE49-F238E27FC236}">
                        <a16:creationId xmlns:a16="http://schemas.microsoft.com/office/drawing/2014/main" id="{2C4F2313-EA9B-10BD-AB83-EDA551501517}"/>
                      </a:ext>
                    </a:extLst>
                  </p:cNvPr>
                  <p:cNvSpPr txBox="1"/>
                  <p:nvPr/>
                </p:nvSpPr>
                <p:spPr>
                  <a:xfrm>
                    <a:off x="2791083" y="2353025"/>
                    <a:ext cx="2440539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4%</a:t>
                    </a: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       La Hipotecaria</a:t>
                    </a:r>
                  </a:p>
                </p:txBody>
              </p:sp>
            </p:grpSp>
          </p:grpSp>
          <p:sp>
            <p:nvSpPr>
              <p:cNvPr id="192" name="CuadroTexto 191">
                <a:extLst>
                  <a:ext uri="{FF2B5EF4-FFF2-40B4-BE49-F238E27FC236}">
                    <a16:creationId xmlns:a16="http://schemas.microsoft.com/office/drawing/2014/main" id="{739C4512-2B80-9171-96F5-8AE3CA5CDA5E}"/>
                  </a:ext>
                </a:extLst>
              </p:cNvPr>
              <p:cNvSpPr txBox="1"/>
              <p:nvPr/>
            </p:nvSpPr>
            <p:spPr>
              <a:xfrm>
                <a:off x="9267841" y="3565727"/>
                <a:ext cx="1337256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82%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Colsubsidio</a:t>
                </a:r>
              </a:p>
            </p:txBody>
          </p:sp>
          <p:sp>
            <p:nvSpPr>
              <p:cNvPr id="193" name="CuadroTexto 192">
                <a:extLst>
                  <a:ext uri="{FF2B5EF4-FFF2-40B4-BE49-F238E27FC236}">
                    <a16:creationId xmlns:a16="http://schemas.microsoft.com/office/drawing/2014/main" id="{5A48D893-2CF7-B9D7-FB23-504CC25FA369}"/>
                  </a:ext>
                </a:extLst>
              </p:cNvPr>
              <p:cNvSpPr txBox="1"/>
              <p:nvPr/>
            </p:nvSpPr>
            <p:spPr>
              <a:xfrm>
                <a:off x="10498522" y="3549824"/>
                <a:ext cx="1244387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8%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Davivienda</a:t>
                </a:r>
              </a:p>
            </p:txBody>
          </p:sp>
        </p:grpSp>
        <p:sp>
          <p:nvSpPr>
            <p:cNvPr id="199" name="CuadroTexto 198">
              <a:extLst>
                <a:ext uri="{FF2B5EF4-FFF2-40B4-BE49-F238E27FC236}">
                  <a16:creationId xmlns:a16="http://schemas.microsoft.com/office/drawing/2014/main" id="{00379A85-E6CE-6FF1-0297-59FBB79ACFF1}"/>
                </a:ext>
              </a:extLst>
            </p:cNvPr>
            <p:cNvSpPr txBox="1"/>
            <p:nvPr/>
          </p:nvSpPr>
          <p:spPr>
            <a:xfrm>
              <a:off x="9366872" y="6140046"/>
              <a:ext cx="1323041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   7%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     Otros</a:t>
              </a:r>
            </a:p>
          </p:txBody>
        </p:sp>
      </p:grpSp>
      <p:sp>
        <p:nvSpPr>
          <p:cNvPr id="200" name="CuadroTexto 199">
            <a:extLst>
              <a:ext uri="{FF2B5EF4-FFF2-40B4-BE49-F238E27FC236}">
                <a16:creationId xmlns:a16="http://schemas.microsoft.com/office/drawing/2014/main" id="{83C629EC-9EA2-54AE-A474-FED6081A7958}"/>
              </a:ext>
            </a:extLst>
          </p:cNvPr>
          <p:cNvSpPr txBox="1"/>
          <p:nvPr/>
        </p:nvSpPr>
        <p:spPr>
          <a:xfrm>
            <a:off x="4140736" y="5856787"/>
            <a:ext cx="137625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1%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</a:t>
            </a:r>
            <a:r>
              <a:rPr lang="es-CO" sz="1400" b="1" dirty="0" err="1">
                <a:solidFill>
                  <a:schemeClr val="bg1"/>
                </a:solidFill>
              </a:rPr>
              <a:t>Choconta</a:t>
            </a:r>
            <a:endParaRPr lang="es-CO" sz="1400" b="1" dirty="0">
              <a:solidFill>
                <a:schemeClr val="bg1"/>
              </a:solidFill>
            </a:endParaRPr>
          </a:p>
        </p:txBody>
      </p:sp>
      <p:pic>
        <p:nvPicPr>
          <p:cNvPr id="205" name="Imagen 204">
            <a:extLst>
              <a:ext uri="{FF2B5EF4-FFF2-40B4-BE49-F238E27FC236}">
                <a16:creationId xmlns:a16="http://schemas.microsoft.com/office/drawing/2014/main" id="{7B08F47E-5AE8-8545-6CD3-B913DD442318}"/>
              </a:ext>
            </a:extLst>
          </p:cNvPr>
          <p:cNvPicPr>
            <a:picLocks noChangeAspect="1"/>
          </p:cNvPicPr>
          <p:nvPr/>
        </p:nvPicPr>
        <p:blipFill>
          <a:blip r:embed="rId22">
            <a:duotone>
              <a:prstClr val="black"/>
              <a:schemeClr val="tx1">
                <a:lumMod val="75000"/>
                <a:lumOff val="2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4538" y="5846263"/>
            <a:ext cx="673981" cy="673981"/>
          </a:xfrm>
          <a:prstGeom prst="rect">
            <a:avLst/>
          </a:prstGeom>
        </p:spPr>
      </p:pic>
      <p:grpSp>
        <p:nvGrpSpPr>
          <p:cNvPr id="208" name="Grupo 207">
            <a:extLst>
              <a:ext uri="{FF2B5EF4-FFF2-40B4-BE49-F238E27FC236}">
                <a16:creationId xmlns:a16="http://schemas.microsoft.com/office/drawing/2014/main" id="{D2B7DF2E-BADB-2663-CCC1-4E3C686E2407}"/>
              </a:ext>
            </a:extLst>
          </p:cNvPr>
          <p:cNvGrpSpPr/>
          <p:nvPr/>
        </p:nvGrpSpPr>
        <p:grpSpPr>
          <a:xfrm>
            <a:off x="10245555" y="853892"/>
            <a:ext cx="1956550" cy="5540381"/>
            <a:chOff x="7793864" y="1110832"/>
            <a:chExt cx="1816602" cy="1780012"/>
          </a:xfrm>
        </p:grpSpPr>
        <p:sp>
          <p:nvSpPr>
            <p:cNvPr id="212" name="Rectángulo 211">
              <a:extLst>
                <a:ext uri="{FF2B5EF4-FFF2-40B4-BE49-F238E27FC236}">
                  <a16:creationId xmlns:a16="http://schemas.microsoft.com/office/drawing/2014/main" id="{B701B90D-F2B8-198C-A8D7-565345323FBA}"/>
                </a:ext>
              </a:extLst>
            </p:cNvPr>
            <p:cNvSpPr/>
            <p:nvPr/>
          </p:nvSpPr>
          <p:spPr>
            <a:xfrm>
              <a:off x="7814360" y="1110832"/>
              <a:ext cx="1666611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5" name="CuadroTexto 214">
              <a:extLst>
                <a:ext uri="{FF2B5EF4-FFF2-40B4-BE49-F238E27FC236}">
                  <a16:creationId xmlns:a16="http://schemas.microsoft.com/office/drawing/2014/main" id="{734BD7B9-AFB2-473E-C839-E34879901A5C}"/>
                </a:ext>
              </a:extLst>
            </p:cNvPr>
            <p:cNvSpPr txBox="1"/>
            <p:nvPr/>
          </p:nvSpPr>
          <p:spPr>
            <a:xfrm>
              <a:off x="7793864" y="1161252"/>
              <a:ext cx="1816602" cy="1141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1600">
                  <a:solidFill>
                    <a:srgbClr val="FFC000"/>
                  </a:solidFill>
                  <a:latin typeface="KG Red Hands" panose="02000505000000020004" pitchFamily="2" charset="0"/>
                </a:rPr>
                <a:t>Top Empresas</a:t>
              </a:r>
              <a:endParaRPr lang="es-ES" sz="1600">
                <a:solidFill>
                  <a:srgbClr val="FFC000"/>
                </a:solidFill>
              </a:endParaRPr>
            </a:p>
          </p:txBody>
        </p:sp>
        <p:sp>
          <p:nvSpPr>
            <p:cNvPr id="214" name="CuadroTexto 213">
              <a:extLst>
                <a:ext uri="{FF2B5EF4-FFF2-40B4-BE49-F238E27FC236}">
                  <a16:creationId xmlns:a16="http://schemas.microsoft.com/office/drawing/2014/main" id="{C451A78C-534C-FC8E-EF89-14D40406EBA6}"/>
                </a:ext>
              </a:extLst>
            </p:cNvPr>
            <p:cNvSpPr txBox="1"/>
            <p:nvPr/>
          </p:nvSpPr>
          <p:spPr>
            <a:xfrm>
              <a:off x="7830402" y="1354030"/>
              <a:ext cx="1689688" cy="3263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500" b="1" dirty="0">
                  <a:solidFill>
                    <a:schemeClr val="bg1"/>
                  </a:solidFill>
                </a:rPr>
                <a:t>COLSUBSIDIO	3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SONORA MX SAS	2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CONSORCIO EXPRESS S A S	2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COLSANITAS S.A.S	2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G EMPRESARIAL EN LINEA SA	2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VETERINARIA ESPECIALIZADA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OCUPAR TEMPORALES S A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JIRO S A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CEMEX COLOMBIA S A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SEG TECNICA COLOMBIANA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CANPACK COLOMBIA S.A.S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	                               </a:t>
              </a: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9E2CD5B2-2EAB-E7F9-FDEE-CBC6856EAE8A}"/>
              </a:ext>
            </a:extLst>
          </p:cNvPr>
          <p:cNvSpPr txBox="1"/>
          <p:nvPr/>
        </p:nvSpPr>
        <p:spPr>
          <a:xfrm>
            <a:off x="10330342" y="6461181"/>
            <a:ext cx="14292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100" dirty="0">
                <a:solidFill>
                  <a:srgbClr val="FFC000"/>
                </a:solidFill>
                <a:latin typeface="KG Red Hands" panose="02000505000000020004" pitchFamily="2" charset="0"/>
              </a:rPr>
              <a:t>*Corte 15/01/2026</a:t>
            </a:r>
            <a:endParaRPr lang="es-ES" sz="11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7579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93764-6B07-F59E-3FC9-77B45ACD5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09926997-85BF-41D3-0CE6-9A4435948FA7}"/>
              </a:ext>
            </a:extLst>
          </p:cNvPr>
          <p:cNvCxnSpPr>
            <a:cxnSpLocks/>
          </p:cNvCxnSpPr>
          <p:nvPr/>
        </p:nvCxnSpPr>
        <p:spPr>
          <a:xfrm flipH="1">
            <a:off x="0" y="645614"/>
            <a:ext cx="10809007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uadroTexto 85">
            <a:extLst>
              <a:ext uri="{FF2B5EF4-FFF2-40B4-BE49-F238E27FC236}">
                <a16:creationId xmlns:a16="http://schemas.microsoft.com/office/drawing/2014/main" id="{998DC1B1-7730-B6D7-BC57-232CAD652259}"/>
              </a:ext>
            </a:extLst>
          </p:cNvPr>
          <p:cNvSpPr txBox="1"/>
          <p:nvPr/>
        </p:nvSpPr>
        <p:spPr>
          <a:xfrm>
            <a:off x="-128399" y="120715"/>
            <a:ext cx="95771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>
                <a:solidFill>
                  <a:schemeClr val="bg1"/>
                </a:solidFill>
                <a:latin typeface="KG Red Hands" panose="02000505000000020004" pitchFamily="2" charset="0"/>
              </a:rPr>
              <a:t>      La Macarena</a:t>
            </a:r>
            <a:endParaRPr lang="es-ES" sz="240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56747FA-A4E1-3A48-6E15-D365411C3A73}"/>
              </a:ext>
              <a:ext uri="{147F2762-F138-4A5C-976F-8EAC2B608ADB}">
                <a16:predDERef xmlns:a16="http://schemas.microsoft.com/office/drawing/2014/main" pred="{95DEFF95-1524-40DB-8538-DE0C2D5BEC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3398838"/>
            <a:ext cx="555625" cy="49371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BD7AAC8C-4A80-0215-C63B-D38FE1084710}"/>
              </a:ext>
              <a:ext uri="{147F2762-F138-4A5C-976F-8EAC2B608ADB}">
                <a16:predDERef xmlns:a16="http://schemas.microsoft.com/office/drawing/2014/main" pred="{95FFDEC5-E647-4E60-9FB8-32349ACC1E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087813"/>
            <a:ext cx="555625" cy="46196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BD4E0329-5873-7146-461F-009BFB397D83}"/>
              </a:ext>
              <a:ext uri="{147F2762-F138-4A5C-976F-8EAC2B608ADB}">
                <a16:predDERef xmlns:a16="http://schemas.microsoft.com/office/drawing/2014/main" pred="{D53D0C4A-FE71-44C0-97B3-1EA296D3DCE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814888"/>
            <a:ext cx="555625" cy="41116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B5B92944-128C-3BA2-7508-A3079AA6EA1C}"/>
              </a:ext>
              <a:ext uri="{147F2762-F138-4A5C-976F-8EAC2B608ADB}">
                <a16:predDERef xmlns:a16="http://schemas.microsoft.com/office/drawing/2014/main" pred="{7008BA42-7365-4AD1-B913-F26820CE47E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1775" y="5427663"/>
            <a:ext cx="465138" cy="433387"/>
          </a:xfrm>
          <a:prstGeom prst="rect">
            <a:avLst/>
          </a:prstGeom>
        </p:spPr>
      </p:pic>
      <p:grpSp>
        <p:nvGrpSpPr>
          <p:cNvPr id="135" name="Grupo 134">
            <a:extLst>
              <a:ext uri="{FF2B5EF4-FFF2-40B4-BE49-F238E27FC236}">
                <a16:creationId xmlns:a16="http://schemas.microsoft.com/office/drawing/2014/main" id="{E05DAE1A-5BD2-E09E-18BA-11368301F1AC}"/>
              </a:ext>
            </a:extLst>
          </p:cNvPr>
          <p:cNvGrpSpPr/>
          <p:nvPr/>
        </p:nvGrpSpPr>
        <p:grpSpPr>
          <a:xfrm>
            <a:off x="5564187" y="853892"/>
            <a:ext cx="2195988" cy="1780012"/>
            <a:chOff x="5353656" y="1110832"/>
            <a:chExt cx="2195988" cy="1780012"/>
          </a:xfrm>
        </p:grpSpPr>
        <p:sp>
          <p:nvSpPr>
            <p:cNvPr id="58" name="Rectángulo 57">
              <a:extLst>
                <a:ext uri="{FF2B5EF4-FFF2-40B4-BE49-F238E27FC236}">
                  <a16:creationId xmlns:a16="http://schemas.microsoft.com/office/drawing/2014/main" id="{CE0599E4-BF16-F99D-EF88-19A20DEAFC79}"/>
                </a:ext>
              </a:extLst>
            </p:cNvPr>
            <p:cNvSpPr/>
            <p:nvPr/>
          </p:nvSpPr>
          <p:spPr>
            <a:xfrm>
              <a:off x="5353656" y="1110832"/>
              <a:ext cx="2195987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43" name="Grupo 42">
              <a:extLst>
                <a:ext uri="{FF2B5EF4-FFF2-40B4-BE49-F238E27FC236}">
                  <a16:creationId xmlns:a16="http://schemas.microsoft.com/office/drawing/2014/main" id="{56918BC7-0AB4-9133-C595-E44769C834B8}"/>
                </a:ext>
              </a:extLst>
            </p:cNvPr>
            <p:cNvGrpSpPr/>
            <p:nvPr/>
          </p:nvGrpSpPr>
          <p:grpSpPr>
            <a:xfrm>
              <a:off x="5353657" y="1223137"/>
              <a:ext cx="2083693" cy="1630468"/>
              <a:chOff x="3249940" y="1229837"/>
              <a:chExt cx="2083693" cy="1630468"/>
            </a:xfrm>
          </p:grpSpPr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1EC3C4C2-136A-F4B8-0DCC-FA2EFBA4B6E3}"/>
                  </a:ext>
                </a:extLst>
              </p:cNvPr>
              <p:cNvSpPr txBox="1"/>
              <p:nvPr/>
            </p:nvSpPr>
            <p:spPr>
              <a:xfrm>
                <a:off x="3552927" y="1229837"/>
                <a:ext cx="178070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Rango Salario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D1A9BA70-72AF-54CB-09F7-E01B730C5D38}"/>
                  </a:ext>
                </a:extLst>
              </p:cNvPr>
              <p:cNvSpPr txBox="1"/>
              <p:nvPr/>
            </p:nvSpPr>
            <p:spPr>
              <a:xfrm>
                <a:off x="3249940" y="2306307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91</a:t>
                </a:r>
                <a:r>
                  <a:rPr lang="es-CO" sz="1800" b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>
                    <a:solidFill>
                      <a:schemeClr val="bg1"/>
                    </a:solidFill>
                  </a:rPr>
                  <a:t>Hasta 2 smlv</a:t>
                </a:r>
              </a:p>
            </p:txBody>
          </p:sp>
        </p:grpSp>
        <p:pic>
          <p:nvPicPr>
            <p:cNvPr id="53" name="Imagen 52">
              <a:extLst>
                <a:ext uri="{FF2B5EF4-FFF2-40B4-BE49-F238E27FC236}">
                  <a16:creationId xmlns:a16="http://schemas.microsoft.com/office/drawing/2014/main" id="{40BCEFA7-0F0D-FB20-42F1-C8B4316875F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12042" y="1623254"/>
              <a:ext cx="641350" cy="641350"/>
            </a:xfrm>
            <a:prstGeom prst="rect">
              <a:avLst/>
            </a:prstGeom>
          </p:spPr>
        </p:pic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4E71FCB7-D2A6-3628-2825-5162AA970926}"/>
                </a:ext>
              </a:extLst>
            </p:cNvPr>
            <p:cNvSpPr txBox="1"/>
            <p:nvPr/>
          </p:nvSpPr>
          <p:spPr>
            <a:xfrm>
              <a:off x="6376735" y="2289285"/>
              <a:ext cx="1172909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9</a:t>
              </a:r>
              <a:r>
                <a:rPr lang="es-CO" sz="1800" b="1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%</a:t>
              </a:r>
            </a:p>
            <a:p>
              <a:r>
                <a:rPr lang="es-CO" sz="1200" b="1">
                  <a:solidFill>
                    <a:schemeClr val="bg1"/>
                  </a:solidFill>
                </a:rPr>
                <a:t>Mas de 2 smlv</a:t>
              </a:r>
            </a:p>
          </p:txBody>
        </p:sp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E4C1EC6D-CB2B-077F-BB61-E446FC562606}"/>
              </a:ext>
            </a:extLst>
          </p:cNvPr>
          <p:cNvGrpSpPr/>
          <p:nvPr/>
        </p:nvGrpSpPr>
        <p:grpSpPr>
          <a:xfrm>
            <a:off x="3320687" y="874756"/>
            <a:ext cx="1941094" cy="1759148"/>
            <a:chOff x="3224463" y="1110832"/>
            <a:chExt cx="1941094" cy="1759148"/>
          </a:xfrm>
        </p:grpSpPr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49BA13D4-D48B-9CD4-DA59-B37554DABBD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36596" y="1677993"/>
              <a:ext cx="721895" cy="721895"/>
            </a:xfrm>
            <a:prstGeom prst="rect">
              <a:avLst/>
            </a:prstGeom>
          </p:spPr>
        </p:pic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A94C73D4-123C-51D2-47DB-07941471A4FA}"/>
                </a:ext>
              </a:extLst>
            </p:cNvPr>
            <p:cNvGrpSpPr/>
            <p:nvPr/>
          </p:nvGrpSpPr>
          <p:grpSpPr>
            <a:xfrm>
              <a:off x="3420553" y="1223137"/>
              <a:ext cx="1609350" cy="1516670"/>
              <a:chOff x="3420553" y="1223137"/>
              <a:chExt cx="1609350" cy="1516670"/>
            </a:xfrm>
          </p:grpSpPr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901207CE-C5AC-7075-C038-1123F40229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74608" y="1613811"/>
                <a:ext cx="723600" cy="723600"/>
              </a:xfrm>
              <a:prstGeom prst="rect">
                <a:avLst/>
              </a:prstGeom>
            </p:spPr>
          </p:pic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71D7CCF9-F16E-F29A-81CD-DA958BB4DAB9}"/>
                  </a:ext>
                </a:extLst>
              </p:cNvPr>
              <p:cNvSpPr txBox="1"/>
              <p:nvPr/>
            </p:nvSpPr>
            <p:spPr>
              <a:xfrm>
                <a:off x="3685253" y="1223137"/>
                <a:ext cx="1098946" cy="345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Género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6697972E-2E7B-5B80-0939-4169AD617F4E}"/>
                  </a:ext>
                </a:extLst>
              </p:cNvPr>
              <p:cNvSpPr txBox="1"/>
              <p:nvPr/>
            </p:nvSpPr>
            <p:spPr>
              <a:xfrm>
                <a:off x="3420553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49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B19DC980-6838-DF0B-3938-65AAD33EDC57}"/>
                  </a:ext>
                </a:extLst>
              </p:cNvPr>
              <p:cNvSpPr txBox="1"/>
              <p:nvPr/>
            </p:nvSpPr>
            <p:spPr>
              <a:xfrm>
                <a:off x="4308008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51%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</p:grp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0F6D5672-5693-51EC-3837-FBE2E114EE83}"/>
                </a:ext>
              </a:extLst>
            </p:cNvPr>
            <p:cNvSpPr/>
            <p:nvPr/>
          </p:nvSpPr>
          <p:spPr>
            <a:xfrm>
              <a:off x="3224463" y="1110832"/>
              <a:ext cx="1941094" cy="175914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78" name="CuadroTexto 77">
            <a:extLst>
              <a:ext uri="{FF2B5EF4-FFF2-40B4-BE49-F238E27FC236}">
                <a16:creationId xmlns:a16="http://schemas.microsoft.com/office/drawing/2014/main" id="{A64E7D79-0050-D2AF-17D9-20AD549D1EB7}"/>
              </a:ext>
            </a:extLst>
          </p:cNvPr>
          <p:cNvSpPr txBox="1"/>
          <p:nvPr/>
        </p:nvSpPr>
        <p:spPr>
          <a:xfrm>
            <a:off x="1376075" y="3222417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27%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Joven</a:t>
            </a:r>
          </a:p>
        </p:txBody>
      </p: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B4F4E6CF-A0DD-79C1-2BB4-1232606449E8}"/>
              </a:ext>
            </a:extLst>
          </p:cNvPr>
          <p:cNvGrpSpPr/>
          <p:nvPr/>
        </p:nvGrpSpPr>
        <p:grpSpPr>
          <a:xfrm>
            <a:off x="-155207" y="2771278"/>
            <a:ext cx="2688149" cy="1998661"/>
            <a:chOff x="435343" y="3108160"/>
            <a:chExt cx="2688149" cy="1998661"/>
          </a:xfrm>
        </p:grpSpPr>
        <p:grpSp>
          <p:nvGrpSpPr>
            <p:cNvPr id="69" name="Grupo 68">
              <a:extLst>
                <a:ext uri="{FF2B5EF4-FFF2-40B4-BE49-F238E27FC236}">
                  <a16:creationId xmlns:a16="http://schemas.microsoft.com/office/drawing/2014/main" id="{85B5B6E3-5B73-D922-8721-C7A4627223C7}"/>
                </a:ext>
              </a:extLst>
            </p:cNvPr>
            <p:cNvGrpSpPr/>
            <p:nvPr/>
          </p:nvGrpSpPr>
          <p:grpSpPr>
            <a:xfrm>
              <a:off x="457829" y="3108160"/>
              <a:ext cx="2665663" cy="1998661"/>
              <a:chOff x="7590765" y="1110832"/>
              <a:chExt cx="2665663" cy="1822499"/>
            </a:xfrm>
          </p:grpSpPr>
          <p:sp>
            <p:nvSpPr>
              <p:cNvPr id="70" name="Rectángulo 69">
                <a:extLst>
                  <a:ext uri="{FF2B5EF4-FFF2-40B4-BE49-F238E27FC236}">
                    <a16:creationId xmlns:a16="http://schemas.microsoft.com/office/drawing/2014/main" id="{994057F6-8362-AB07-36E8-3E42E6F05B2D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71" name="Grupo 70">
                <a:extLst>
                  <a:ext uri="{FF2B5EF4-FFF2-40B4-BE49-F238E27FC236}">
                    <a16:creationId xmlns:a16="http://schemas.microsoft.com/office/drawing/2014/main" id="{1DF7381A-A428-1492-7DCA-DEC59FF2D400}"/>
                  </a:ext>
                </a:extLst>
              </p:cNvPr>
              <p:cNvGrpSpPr/>
              <p:nvPr/>
            </p:nvGrpSpPr>
            <p:grpSpPr>
              <a:xfrm>
                <a:off x="7590765" y="1223137"/>
                <a:ext cx="2024519" cy="1655939"/>
                <a:chOff x="3026344" y="1229837"/>
                <a:chExt cx="2024519" cy="1655939"/>
              </a:xfrm>
            </p:grpSpPr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05B030C3-5075-309A-4BD3-67D151E7CFDE}"/>
                    </a:ext>
                  </a:extLst>
                </p:cNvPr>
                <p:cNvSpPr txBox="1"/>
                <p:nvPr/>
              </p:nvSpPr>
              <p:spPr>
                <a:xfrm>
                  <a:off x="3645002" y="1229837"/>
                  <a:ext cx="1405861" cy="3087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Segmento 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CF280AEE-513F-5E33-9ACF-AFAD077C8628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12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44%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Básico</a:t>
                  </a:r>
                </a:p>
              </p:txBody>
            </p:sp>
          </p:grpSp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E7597707-6C80-DE01-E10C-C30781BE33BE}"/>
                  </a:ext>
                </a:extLst>
              </p:cNvPr>
              <p:cNvSpPr txBox="1"/>
              <p:nvPr/>
            </p:nvSpPr>
            <p:spPr>
              <a:xfrm>
                <a:off x="9083519" y="231777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0%</a:t>
                </a:r>
              </a:p>
              <a:p>
                <a:r>
                  <a:rPr lang="es-CO" sz="1400" b="1">
                    <a:solidFill>
                      <a:schemeClr val="bg1"/>
                    </a:solidFill>
                  </a:rPr>
                  <a:t>       Alto</a:t>
                </a:r>
              </a:p>
            </p:txBody>
          </p:sp>
        </p:grpSp>
        <p:sp>
          <p:nvSpPr>
            <p:cNvPr id="77" name="CuadroTexto 76">
              <a:extLst>
                <a:ext uri="{FF2B5EF4-FFF2-40B4-BE49-F238E27FC236}">
                  <a16:creationId xmlns:a16="http://schemas.microsoft.com/office/drawing/2014/main" id="{39A9E1C1-4F24-16BE-A6B2-2E9B331A017B}"/>
                </a:ext>
              </a:extLst>
            </p:cNvPr>
            <p:cNvSpPr txBox="1"/>
            <p:nvPr/>
          </p:nvSpPr>
          <p:spPr>
            <a:xfrm>
              <a:off x="435343" y="3559299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29%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Medio</a:t>
              </a:r>
            </a:p>
          </p:txBody>
        </p:sp>
        <p:pic>
          <p:nvPicPr>
            <p:cNvPr id="80" name="Imagen 79">
              <a:extLst>
                <a:ext uri="{FF2B5EF4-FFF2-40B4-BE49-F238E27FC236}">
                  <a16:creationId xmlns:a16="http://schemas.microsoft.com/office/drawing/2014/main" id="{281E21B5-2555-4B64-B3D0-575D95C31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LineDrawing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90862" y="3871141"/>
              <a:ext cx="680857" cy="680857"/>
            </a:xfrm>
            <a:prstGeom prst="rect">
              <a:avLst/>
            </a:prstGeom>
          </p:spPr>
        </p:pic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3A6B95E1-1C0D-51D9-1B22-24FFB3050AC0}"/>
              </a:ext>
            </a:extLst>
          </p:cNvPr>
          <p:cNvGrpSpPr/>
          <p:nvPr/>
        </p:nvGrpSpPr>
        <p:grpSpPr>
          <a:xfrm>
            <a:off x="2169335" y="2774370"/>
            <a:ext cx="3284086" cy="1963483"/>
            <a:chOff x="2759885" y="3111252"/>
            <a:chExt cx="3284086" cy="1963483"/>
          </a:xfrm>
        </p:grpSpPr>
        <p:sp>
          <p:nvSpPr>
            <p:cNvPr id="88" name="CuadroTexto 87">
              <a:extLst>
                <a:ext uri="{FF2B5EF4-FFF2-40B4-BE49-F238E27FC236}">
                  <a16:creationId xmlns:a16="http://schemas.microsoft.com/office/drawing/2014/main" id="{F32D4A77-0F7B-828B-84B9-2525B542BAA4}"/>
                </a:ext>
              </a:extLst>
            </p:cNvPr>
            <p:cNvSpPr txBox="1"/>
            <p:nvPr/>
          </p:nvSpPr>
          <p:spPr>
            <a:xfrm>
              <a:off x="2759885" y="3531697"/>
              <a:ext cx="154680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   50%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             Sin Grupo</a:t>
              </a:r>
            </a:p>
          </p:txBody>
        </p:sp>
        <p:grpSp>
          <p:nvGrpSpPr>
            <p:cNvPr id="124" name="Grupo 123">
              <a:extLst>
                <a:ext uri="{FF2B5EF4-FFF2-40B4-BE49-F238E27FC236}">
                  <a16:creationId xmlns:a16="http://schemas.microsoft.com/office/drawing/2014/main" id="{E2332116-DF4E-9688-ED7B-67A5ADC8C171}"/>
                </a:ext>
              </a:extLst>
            </p:cNvPr>
            <p:cNvGrpSpPr/>
            <p:nvPr/>
          </p:nvGrpSpPr>
          <p:grpSpPr>
            <a:xfrm>
              <a:off x="2827705" y="3111252"/>
              <a:ext cx="3216266" cy="1963483"/>
              <a:chOff x="2827705" y="3111252"/>
              <a:chExt cx="3216266" cy="1963483"/>
            </a:xfrm>
          </p:grpSpPr>
          <p:grpSp>
            <p:nvGrpSpPr>
              <p:cNvPr id="81" name="Grupo 80">
                <a:extLst>
                  <a:ext uri="{FF2B5EF4-FFF2-40B4-BE49-F238E27FC236}">
                    <a16:creationId xmlns:a16="http://schemas.microsoft.com/office/drawing/2014/main" id="{32D40758-CCA0-BBC2-7793-101DEA7536DC}"/>
                  </a:ext>
                </a:extLst>
              </p:cNvPr>
              <p:cNvGrpSpPr/>
              <p:nvPr/>
            </p:nvGrpSpPr>
            <p:grpSpPr>
              <a:xfrm>
                <a:off x="2827705" y="3111252"/>
                <a:ext cx="3216266" cy="1963483"/>
                <a:chOff x="7593779" y="1110832"/>
                <a:chExt cx="3216266" cy="1780012"/>
              </a:xfrm>
            </p:grpSpPr>
            <p:sp>
              <p:nvSpPr>
                <p:cNvPr id="82" name="Rectángulo 81">
                  <a:extLst>
                    <a:ext uri="{FF2B5EF4-FFF2-40B4-BE49-F238E27FC236}">
                      <a16:creationId xmlns:a16="http://schemas.microsoft.com/office/drawing/2014/main" id="{789EEB4C-C02B-7C6F-0E01-5E49F7CC4181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808386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83" name="Grupo 82">
                  <a:extLst>
                    <a:ext uri="{FF2B5EF4-FFF2-40B4-BE49-F238E27FC236}">
                      <a16:creationId xmlns:a16="http://schemas.microsoft.com/office/drawing/2014/main" id="{08D983B6-9D0D-604C-AEC2-9BCBBF1CCC8F}"/>
                    </a:ext>
                  </a:extLst>
                </p:cNvPr>
                <p:cNvGrpSpPr/>
                <p:nvPr/>
              </p:nvGrpSpPr>
              <p:grpSpPr>
                <a:xfrm>
                  <a:off x="7593779" y="1166870"/>
                  <a:ext cx="2748715" cy="1440614"/>
                  <a:chOff x="3029358" y="1173570"/>
                  <a:chExt cx="2748715" cy="1440614"/>
                </a:xfrm>
              </p:grpSpPr>
              <p:sp>
                <p:nvSpPr>
                  <p:cNvPr id="85" name="CuadroTexto 84">
                    <a:extLst>
                      <a:ext uri="{FF2B5EF4-FFF2-40B4-BE49-F238E27FC236}">
                        <a16:creationId xmlns:a16="http://schemas.microsoft.com/office/drawing/2014/main" id="{D22E8648-A7F6-71D2-2B53-2893C93A558F}"/>
                      </a:ext>
                    </a:extLst>
                  </p:cNvPr>
                  <p:cNvSpPr txBox="1"/>
                  <p:nvPr/>
                </p:nvSpPr>
                <p:spPr>
                  <a:xfrm>
                    <a:off x="3634807" y="1173570"/>
                    <a:ext cx="2143266" cy="30691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Segmento Familia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87" name="CuadroTexto 86">
                    <a:extLst>
                      <a:ext uri="{FF2B5EF4-FFF2-40B4-BE49-F238E27FC236}">
                        <a16:creationId xmlns:a16="http://schemas.microsoft.com/office/drawing/2014/main" id="{B40CCCE9-C72A-4ECA-974D-49D6E50BB07B}"/>
                      </a:ext>
                    </a:extLst>
                  </p:cNvPr>
                  <p:cNvSpPr txBox="1"/>
                  <p:nvPr/>
                </p:nvSpPr>
                <p:spPr>
                  <a:xfrm>
                    <a:off x="3029358" y="1944542"/>
                    <a:ext cx="1923771" cy="66964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 7</a:t>
                    </a:r>
                    <a:r>
                      <a:rPr lang="es-CO" sz="1800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%</a:t>
                    </a:r>
                  </a:p>
                  <a:p>
                    <a:r>
                      <a:rPr lang="es-CO" sz="1200" b="1">
                        <a:solidFill>
                          <a:schemeClr val="bg1"/>
                        </a:solidFill>
                      </a:rPr>
                      <a:t>      Monoparental</a:t>
                    </a:r>
                  </a:p>
                  <a:p>
                    <a:r>
                      <a:rPr lang="es-CO" sz="1200" b="1">
                        <a:solidFill>
                          <a:schemeClr val="bg1"/>
                        </a:solidFill>
                      </a:rPr>
                      <a:t>      Ampliada</a:t>
                    </a:r>
                  </a:p>
                </p:txBody>
              </p:sp>
            </p:grpSp>
            <p:sp>
              <p:nvSpPr>
                <p:cNvPr id="84" name="CuadroTexto 83">
                  <a:extLst>
                    <a:ext uri="{FF2B5EF4-FFF2-40B4-BE49-F238E27FC236}">
                      <a16:creationId xmlns:a16="http://schemas.microsoft.com/office/drawing/2014/main" id="{FEFDF3DA-D015-943D-A20A-20C9B1ADAEA7}"/>
                    </a:ext>
                  </a:extLst>
                </p:cNvPr>
                <p:cNvSpPr txBox="1"/>
                <p:nvPr/>
              </p:nvSpPr>
              <p:spPr>
                <a:xfrm>
                  <a:off x="9185077" y="2002589"/>
                  <a:ext cx="1624968" cy="5022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        3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 Nuclear Integrada</a:t>
                  </a:r>
                </a:p>
              </p:txBody>
            </p:sp>
          </p:grpSp>
          <p:sp>
            <p:nvSpPr>
              <p:cNvPr id="89" name="CuadroTexto 88">
                <a:extLst>
                  <a:ext uri="{FF2B5EF4-FFF2-40B4-BE49-F238E27FC236}">
                    <a16:creationId xmlns:a16="http://schemas.microsoft.com/office/drawing/2014/main" id="{955BB3E7-9994-2AD3-E580-6BB5DAC64F17}"/>
                  </a:ext>
                </a:extLst>
              </p:cNvPr>
              <p:cNvSpPr txBox="1"/>
              <p:nvPr/>
            </p:nvSpPr>
            <p:spPr>
              <a:xfrm>
                <a:off x="4771770" y="3534141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38%</a:t>
                </a:r>
                <a:r>
                  <a:rPr lang="es-CO" sz="1200" b="1" dirty="0">
                    <a:solidFill>
                      <a:schemeClr val="bg1"/>
                    </a:solidFill>
                  </a:rPr>
                  <a:t> Monoparental</a:t>
                </a:r>
              </a:p>
            </p:txBody>
          </p:sp>
          <p:pic>
            <p:nvPicPr>
              <p:cNvPr id="92" name="Imagen 91">
                <a:extLst>
                  <a:ext uri="{FF2B5EF4-FFF2-40B4-BE49-F238E27FC236}">
                    <a16:creationId xmlns:a16="http://schemas.microsoft.com/office/drawing/2014/main" id="{6424F0E0-5111-3727-2B80-6B4EE4FC62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artisticGlowDiffused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075298" y="3683026"/>
                <a:ext cx="754362" cy="754362"/>
              </a:xfrm>
              <a:prstGeom prst="rect">
                <a:avLst/>
              </a:prstGeom>
            </p:spPr>
          </p:pic>
        </p:grp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5EFB6422-313E-8571-2CE2-BF568A9A0689}"/>
              </a:ext>
            </a:extLst>
          </p:cNvPr>
          <p:cNvGrpSpPr/>
          <p:nvPr/>
        </p:nvGrpSpPr>
        <p:grpSpPr>
          <a:xfrm>
            <a:off x="90873" y="847081"/>
            <a:ext cx="3094159" cy="1780012"/>
            <a:chOff x="681423" y="1183963"/>
            <a:chExt cx="3094159" cy="1780012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2980FC3A-5D6B-70F9-E895-1F9AE4F4039D}"/>
                </a:ext>
              </a:extLst>
            </p:cNvPr>
            <p:cNvSpPr txBox="1"/>
            <p:nvPr/>
          </p:nvSpPr>
          <p:spPr>
            <a:xfrm>
              <a:off x="942955" y="1217834"/>
              <a:ext cx="2376943" cy="16927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s-CO" sz="2000" b="1" dirty="0">
                <a:solidFill>
                  <a:srgbClr val="FFC000"/>
                </a:solidFill>
              </a:endParaRP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Afiliado     </a:t>
              </a:r>
              <a:r>
                <a:rPr lang="es-CO" sz="2800" b="1" dirty="0">
                  <a:solidFill>
                    <a:srgbClr val="FFC000"/>
                  </a:solidFill>
                </a:rPr>
                <a:t>   </a:t>
              </a:r>
              <a:r>
                <a:rPr lang="es-CO" sz="2800" b="1" dirty="0">
                  <a:solidFill>
                    <a:schemeClr val="bg1"/>
                  </a:solidFill>
                </a:rPr>
                <a:t>56%</a:t>
              </a: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No Afilado   </a:t>
              </a:r>
              <a:r>
                <a:rPr lang="es-CO" sz="2800" b="1" dirty="0">
                  <a:solidFill>
                    <a:schemeClr val="bg1"/>
                  </a:solidFill>
                </a:rPr>
                <a:t>44%</a:t>
              </a:r>
            </a:p>
            <a:p>
              <a:endParaRPr lang="es-ES" sz="28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05" name="Rectángulo 104">
              <a:extLst>
                <a:ext uri="{FF2B5EF4-FFF2-40B4-BE49-F238E27FC236}">
                  <a16:creationId xmlns:a16="http://schemas.microsoft.com/office/drawing/2014/main" id="{2FD5C071-CBA5-BB46-0139-669F1EBC20F8}"/>
                </a:ext>
              </a:extLst>
            </p:cNvPr>
            <p:cNvSpPr/>
            <p:nvPr/>
          </p:nvSpPr>
          <p:spPr>
            <a:xfrm>
              <a:off x="681423" y="1183963"/>
              <a:ext cx="3094159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20" name="Grupo 119">
            <a:extLst>
              <a:ext uri="{FF2B5EF4-FFF2-40B4-BE49-F238E27FC236}">
                <a16:creationId xmlns:a16="http://schemas.microsoft.com/office/drawing/2014/main" id="{F0888C34-7513-8E32-D60B-4A850BFCEAD8}"/>
              </a:ext>
            </a:extLst>
          </p:cNvPr>
          <p:cNvGrpSpPr/>
          <p:nvPr/>
        </p:nvGrpSpPr>
        <p:grpSpPr>
          <a:xfrm>
            <a:off x="7777183" y="2775745"/>
            <a:ext cx="2623981" cy="1933541"/>
            <a:chOff x="9059295" y="3127128"/>
            <a:chExt cx="2623981" cy="1933541"/>
          </a:xfrm>
        </p:grpSpPr>
        <p:grpSp>
          <p:nvGrpSpPr>
            <p:cNvPr id="106" name="Grupo 105">
              <a:extLst>
                <a:ext uri="{FF2B5EF4-FFF2-40B4-BE49-F238E27FC236}">
                  <a16:creationId xmlns:a16="http://schemas.microsoft.com/office/drawing/2014/main" id="{A752DAD9-1348-A75F-A9FD-EB8E910510C3}"/>
                </a:ext>
              </a:extLst>
            </p:cNvPr>
            <p:cNvGrpSpPr/>
            <p:nvPr/>
          </p:nvGrpSpPr>
          <p:grpSpPr>
            <a:xfrm>
              <a:off x="9080988" y="3127128"/>
              <a:ext cx="2601495" cy="1933541"/>
              <a:chOff x="7590765" y="1110832"/>
              <a:chExt cx="2601495" cy="1780012"/>
            </a:xfrm>
          </p:grpSpPr>
          <p:sp>
            <p:nvSpPr>
              <p:cNvPr id="107" name="Rectángulo 106">
                <a:extLst>
                  <a:ext uri="{FF2B5EF4-FFF2-40B4-BE49-F238E27FC236}">
                    <a16:creationId xmlns:a16="http://schemas.microsoft.com/office/drawing/2014/main" id="{01FF0484-788E-94A6-2B0F-961455450BEB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108" name="Grupo 107">
                <a:extLst>
                  <a:ext uri="{FF2B5EF4-FFF2-40B4-BE49-F238E27FC236}">
                    <a16:creationId xmlns:a16="http://schemas.microsoft.com/office/drawing/2014/main" id="{35D624F9-D213-17B7-6724-026EBB2F47F2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2191150" cy="1678227"/>
                <a:chOff x="3026344" y="1212927"/>
                <a:chExt cx="2191150" cy="1678227"/>
              </a:xfrm>
            </p:grpSpPr>
            <p:sp>
              <p:nvSpPr>
                <p:cNvPr id="110" name="CuadroTexto 109">
                  <a:extLst>
                    <a:ext uri="{FF2B5EF4-FFF2-40B4-BE49-F238E27FC236}">
                      <a16:creationId xmlns:a16="http://schemas.microsoft.com/office/drawing/2014/main" id="{38227A41-747A-849D-C76F-37B0C01CA954}"/>
                    </a:ext>
                  </a:extLst>
                </p:cNvPr>
                <p:cNvSpPr txBox="1"/>
                <p:nvPr/>
              </p:nvSpPr>
              <p:spPr>
                <a:xfrm>
                  <a:off x="3811633" y="1212927"/>
                  <a:ext cx="140586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Estrato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11" name="CuadroTexto 110">
                  <a:extLst>
                    <a:ext uri="{FF2B5EF4-FFF2-40B4-BE49-F238E27FC236}">
                      <a16:creationId xmlns:a16="http://schemas.microsoft.com/office/drawing/2014/main" id="{9D76C7DC-AF86-E576-0DAC-AF04D840CD3D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10%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  <p:sp>
            <p:nvSpPr>
              <p:cNvPr id="109" name="CuadroTexto 108">
                <a:extLst>
                  <a:ext uri="{FF2B5EF4-FFF2-40B4-BE49-F238E27FC236}">
                    <a16:creationId xmlns:a16="http://schemas.microsoft.com/office/drawing/2014/main" id="{8CF92466-BD8C-9E86-B114-13319A4F8C66}"/>
                  </a:ext>
                </a:extLst>
              </p:cNvPr>
              <p:cNvSpPr txBox="1"/>
              <p:nvPr/>
            </p:nvSpPr>
            <p:spPr>
              <a:xfrm>
                <a:off x="9019351" y="2317778"/>
                <a:ext cx="1172909" cy="566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1%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Cuatro</a:t>
                </a:r>
              </a:p>
            </p:txBody>
          </p:sp>
        </p:grpSp>
        <p:sp>
          <p:nvSpPr>
            <p:cNvPr id="112" name="CuadroTexto 111">
              <a:extLst>
                <a:ext uri="{FF2B5EF4-FFF2-40B4-BE49-F238E27FC236}">
                  <a16:creationId xmlns:a16="http://schemas.microsoft.com/office/drawing/2014/main" id="{925D2913-094E-292E-9683-7BD2D137141F}"/>
                </a:ext>
              </a:extLst>
            </p:cNvPr>
            <p:cNvSpPr txBox="1"/>
            <p:nvPr/>
          </p:nvSpPr>
          <p:spPr>
            <a:xfrm>
              <a:off x="9059295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3%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Uno</a:t>
              </a:r>
            </a:p>
          </p:txBody>
        </p:sp>
        <p:sp>
          <p:nvSpPr>
            <p:cNvPr id="113" name="CuadroTexto 112">
              <a:extLst>
                <a:ext uri="{FF2B5EF4-FFF2-40B4-BE49-F238E27FC236}">
                  <a16:creationId xmlns:a16="http://schemas.microsoft.com/office/drawing/2014/main" id="{2EB03B67-FCA1-438B-E923-EBEE0D905F17}"/>
                </a:ext>
              </a:extLst>
            </p:cNvPr>
            <p:cNvSpPr txBox="1"/>
            <p:nvPr/>
          </p:nvSpPr>
          <p:spPr>
            <a:xfrm>
              <a:off x="10510367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16%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Dos</a:t>
              </a:r>
            </a:p>
          </p:txBody>
        </p:sp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6ED17B62-4C04-6C79-1C16-9AB613C062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artisticPencilGrayscale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043317" y="3855923"/>
              <a:ext cx="655939" cy="655939"/>
            </a:xfrm>
            <a:prstGeom prst="rect">
              <a:avLst/>
            </a:prstGeom>
          </p:spPr>
        </p:pic>
      </p:grp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C52E5385-9079-4943-0175-3A8D7071E3D7}"/>
              </a:ext>
            </a:extLst>
          </p:cNvPr>
          <p:cNvSpPr txBox="1"/>
          <p:nvPr/>
        </p:nvSpPr>
        <p:spPr>
          <a:xfrm>
            <a:off x="5289967" y="3228845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50%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 Cero</a:t>
            </a:r>
          </a:p>
        </p:txBody>
      </p:sp>
      <p:grpSp>
        <p:nvGrpSpPr>
          <p:cNvPr id="123" name="Grupo 122">
            <a:extLst>
              <a:ext uri="{FF2B5EF4-FFF2-40B4-BE49-F238E27FC236}">
                <a16:creationId xmlns:a16="http://schemas.microsoft.com/office/drawing/2014/main" id="{6DA95EF1-E5F0-7C04-F597-14C56CA6F2C0}"/>
              </a:ext>
            </a:extLst>
          </p:cNvPr>
          <p:cNvGrpSpPr/>
          <p:nvPr/>
        </p:nvGrpSpPr>
        <p:grpSpPr>
          <a:xfrm>
            <a:off x="5340592" y="2790246"/>
            <a:ext cx="2602288" cy="1933541"/>
            <a:chOff x="5931142" y="3127128"/>
            <a:chExt cx="2602288" cy="1933541"/>
          </a:xfrm>
        </p:grpSpPr>
        <p:grpSp>
          <p:nvGrpSpPr>
            <p:cNvPr id="93" name="Grupo 92">
              <a:extLst>
                <a:ext uri="{FF2B5EF4-FFF2-40B4-BE49-F238E27FC236}">
                  <a16:creationId xmlns:a16="http://schemas.microsoft.com/office/drawing/2014/main" id="{D8A2BFFA-4F03-CAFC-E321-82CC2AE6E3C3}"/>
                </a:ext>
              </a:extLst>
            </p:cNvPr>
            <p:cNvGrpSpPr/>
            <p:nvPr/>
          </p:nvGrpSpPr>
          <p:grpSpPr>
            <a:xfrm>
              <a:off x="5931142" y="3127128"/>
              <a:ext cx="2601495" cy="1933541"/>
              <a:chOff x="7590765" y="1110832"/>
              <a:chExt cx="2601495" cy="1780012"/>
            </a:xfrm>
          </p:grpSpPr>
          <p:sp>
            <p:nvSpPr>
              <p:cNvPr id="94" name="Rectángulo 93">
                <a:extLst>
                  <a:ext uri="{FF2B5EF4-FFF2-40B4-BE49-F238E27FC236}">
                    <a16:creationId xmlns:a16="http://schemas.microsoft.com/office/drawing/2014/main" id="{657ACDC6-1C58-564E-CCC1-983739F9A1CE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95" name="Grupo 94">
                <a:extLst>
                  <a:ext uri="{FF2B5EF4-FFF2-40B4-BE49-F238E27FC236}">
                    <a16:creationId xmlns:a16="http://schemas.microsoft.com/office/drawing/2014/main" id="{AE16FF43-6679-6FB8-8D17-C4C3466437F0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1922369" cy="1647802"/>
                <a:chOff x="3026344" y="1212927"/>
                <a:chExt cx="1922369" cy="1647802"/>
              </a:xfrm>
            </p:grpSpPr>
            <p:sp>
              <p:nvSpPr>
                <p:cNvPr id="97" name="CuadroTexto 96">
                  <a:extLst>
                    <a:ext uri="{FF2B5EF4-FFF2-40B4-BE49-F238E27FC236}">
                      <a16:creationId xmlns:a16="http://schemas.microsoft.com/office/drawing/2014/main" id="{6C808570-3CA5-6434-A822-BA705C0478B1}"/>
                    </a:ext>
                  </a:extLst>
                </p:cNvPr>
                <p:cNvSpPr txBox="1"/>
                <p:nvPr/>
              </p:nvSpPr>
              <p:spPr>
                <a:xfrm>
                  <a:off x="4021092" y="1212927"/>
                  <a:ext cx="92762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PAC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98" name="CuadroTexto 97">
                  <a:extLst>
                    <a:ext uri="{FF2B5EF4-FFF2-40B4-BE49-F238E27FC236}">
                      <a16:creationId xmlns:a16="http://schemas.microsoft.com/office/drawing/2014/main" id="{FEF4E774-B40D-107F-9D77-8B7891F917E0}"/>
                    </a:ext>
                  </a:extLst>
                </p:cNvPr>
                <p:cNvSpPr txBox="1"/>
                <p:nvPr/>
              </p:nvSpPr>
              <p:spPr>
                <a:xfrm>
                  <a:off x="3026344" y="2294053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7%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  <p:sp>
            <p:nvSpPr>
              <p:cNvPr id="96" name="CuadroTexto 95">
                <a:extLst>
                  <a:ext uri="{FF2B5EF4-FFF2-40B4-BE49-F238E27FC236}">
                    <a16:creationId xmlns:a16="http://schemas.microsoft.com/office/drawing/2014/main" id="{4029DA0B-3194-ED64-9320-EE3D156A8979}"/>
                  </a:ext>
                </a:extLst>
              </p:cNvPr>
              <p:cNvSpPr txBox="1"/>
              <p:nvPr/>
            </p:nvSpPr>
            <p:spPr>
              <a:xfrm>
                <a:off x="9019351" y="2317778"/>
                <a:ext cx="1172909" cy="566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Cuatro</a:t>
                </a:r>
              </a:p>
            </p:txBody>
          </p:sp>
        </p:grpSp>
        <p:grpSp>
          <p:nvGrpSpPr>
            <p:cNvPr id="121" name="Grupo 120">
              <a:extLst>
                <a:ext uri="{FF2B5EF4-FFF2-40B4-BE49-F238E27FC236}">
                  <a16:creationId xmlns:a16="http://schemas.microsoft.com/office/drawing/2014/main" id="{E60F5659-7975-7923-D3DA-9C1509CB70ED}"/>
                </a:ext>
              </a:extLst>
            </p:cNvPr>
            <p:cNvGrpSpPr/>
            <p:nvPr/>
          </p:nvGrpSpPr>
          <p:grpSpPr>
            <a:xfrm>
              <a:off x="6649678" y="3565727"/>
              <a:ext cx="1883752" cy="1414028"/>
              <a:chOff x="6649678" y="3565727"/>
              <a:chExt cx="1883752" cy="1414028"/>
            </a:xfrm>
          </p:grpSpPr>
          <p:sp>
            <p:nvSpPr>
              <p:cNvPr id="99" name="CuadroTexto 98">
                <a:extLst>
                  <a:ext uri="{FF2B5EF4-FFF2-40B4-BE49-F238E27FC236}">
                    <a16:creationId xmlns:a16="http://schemas.microsoft.com/office/drawing/2014/main" id="{6F915D34-79F8-A867-88C2-BD01892EA80F}"/>
                  </a:ext>
                </a:extLst>
              </p:cNvPr>
              <p:cNvSpPr txBox="1"/>
              <p:nvPr/>
            </p:nvSpPr>
            <p:spPr>
              <a:xfrm>
                <a:off x="6649678" y="358240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30%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Uno</a:t>
                </a:r>
              </a:p>
            </p:txBody>
          </p:sp>
          <p:sp>
            <p:nvSpPr>
              <p:cNvPr id="101" name="CuadroTexto 100">
                <a:extLst>
                  <a:ext uri="{FF2B5EF4-FFF2-40B4-BE49-F238E27FC236}">
                    <a16:creationId xmlns:a16="http://schemas.microsoft.com/office/drawing/2014/main" id="{AF081030-2356-0158-5BF3-2110E07F0381}"/>
                  </a:ext>
                </a:extLst>
              </p:cNvPr>
              <p:cNvSpPr txBox="1"/>
              <p:nvPr/>
            </p:nvSpPr>
            <p:spPr>
              <a:xfrm>
                <a:off x="7360521" y="3565727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12%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Dos</a:t>
                </a:r>
              </a:p>
            </p:txBody>
          </p:sp>
          <p:pic>
            <p:nvPicPr>
              <p:cNvPr id="118" name="Imagen 117">
                <a:extLst>
                  <a:ext uri="{FF2B5EF4-FFF2-40B4-BE49-F238E27FC236}">
                    <a16:creationId xmlns:a16="http://schemas.microsoft.com/office/drawing/2014/main" id="{EF99086A-6F0A-223E-F661-01333AAEDD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artisticPaintStrokes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886925" y="4205951"/>
                <a:ext cx="773804" cy="773804"/>
              </a:xfrm>
              <a:prstGeom prst="rect">
                <a:avLst/>
              </a:prstGeom>
            </p:spPr>
          </p:pic>
        </p:grpSp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CEB0FC35-93E1-4546-1440-51BBFEC7C607}"/>
              </a:ext>
            </a:extLst>
          </p:cNvPr>
          <p:cNvGrpSpPr/>
          <p:nvPr/>
        </p:nvGrpSpPr>
        <p:grpSpPr>
          <a:xfrm>
            <a:off x="8022470" y="853892"/>
            <a:ext cx="2195988" cy="1780012"/>
            <a:chOff x="7814360" y="1110832"/>
            <a:chExt cx="2195988" cy="1780012"/>
          </a:xfrm>
        </p:grpSpPr>
        <p:grpSp>
          <p:nvGrpSpPr>
            <p:cNvPr id="66" name="Grupo 65">
              <a:extLst>
                <a:ext uri="{FF2B5EF4-FFF2-40B4-BE49-F238E27FC236}">
                  <a16:creationId xmlns:a16="http://schemas.microsoft.com/office/drawing/2014/main" id="{9F88C0D8-EDB3-C22C-AFB6-C1D0B8B9AFD3}"/>
                </a:ext>
              </a:extLst>
            </p:cNvPr>
            <p:cNvGrpSpPr/>
            <p:nvPr/>
          </p:nvGrpSpPr>
          <p:grpSpPr>
            <a:xfrm>
              <a:off x="7814360" y="1110832"/>
              <a:ext cx="2195988" cy="1780012"/>
              <a:chOff x="7814360" y="1110832"/>
              <a:chExt cx="2195988" cy="1780012"/>
            </a:xfrm>
          </p:grpSpPr>
          <p:sp>
            <p:nvSpPr>
              <p:cNvPr id="60" name="Rectángulo 59">
                <a:extLst>
                  <a:ext uri="{FF2B5EF4-FFF2-40B4-BE49-F238E27FC236}">
                    <a16:creationId xmlns:a16="http://schemas.microsoft.com/office/drawing/2014/main" id="{A18032C6-7167-C77D-CD9D-411104E01E92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61" name="Grupo 60">
                <a:extLst>
                  <a:ext uri="{FF2B5EF4-FFF2-40B4-BE49-F238E27FC236}">
                    <a16:creationId xmlns:a16="http://schemas.microsoft.com/office/drawing/2014/main" id="{2217729C-066C-2026-596B-F4A7008FCA2F}"/>
                  </a:ext>
                </a:extLst>
              </p:cNvPr>
              <p:cNvGrpSpPr/>
              <p:nvPr/>
            </p:nvGrpSpPr>
            <p:grpSpPr>
              <a:xfrm>
                <a:off x="7814361" y="1223137"/>
                <a:ext cx="2083693" cy="1630468"/>
                <a:chOff x="3249940" y="1229837"/>
                <a:chExt cx="2083693" cy="1630468"/>
              </a:xfrm>
            </p:grpSpPr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39C19CC3-F028-ACC5-F1E9-E4D59A3526CF}"/>
                    </a:ext>
                  </a:extLst>
                </p:cNvPr>
                <p:cNvSpPr txBox="1"/>
                <p:nvPr/>
              </p:nvSpPr>
              <p:spPr>
                <a:xfrm>
                  <a:off x="3552927" y="1229837"/>
                  <a:ext cx="1780706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Rango Edad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FE956CDB-5104-3DA7-E1D6-2C58279A78B6}"/>
                    </a:ext>
                  </a:extLst>
                </p:cNvPr>
                <p:cNvSpPr txBox="1"/>
                <p:nvPr/>
              </p:nvSpPr>
              <p:spPr>
                <a:xfrm>
                  <a:off x="3249940" y="2306307"/>
                  <a:ext cx="1172909" cy="5539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54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20 a 35 años</a:t>
                  </a:r>
                </a:p>
              </p:txBody>
            </p:sp>
          </p:grpSp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F765A277-D02E-054F-34D9-2FD3A36C75F1}"/>
                  </a:ext>
                </a:extLst>
              </p:cNvPr>
              <p:cNvSpPr txBox="1"/>
              <p:nvPr/>
            </p:nvSpPr>
            <p:spPr>
              <a:xfrm>
                <a:off x="8837439" y="2289285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26</a:t>
                </a:r>
                <a:r>
                  <a:rPr lang="es-CO" sz="1800" b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>
                    <a:solidFill>
                      <a:schemeClr val="bg1"/>
                    </a:solidFill>
                  </a:rPr>
                  <a:t>36 a 45 años</a:t>
                </a:r>
              </a:p>
            </p:txBody>
          </p:sp>
        </p:grpSp>
        <p:pic>
          <p:nvPicPr>
            <p:cNvPr id="128" name="Imagen 127">
              <a:extLst>
                <a:ext uri="{FF2B5EF4-FFF2-40B4-BE49-F238E27FC236}">
                  <a16:creationId xmlns:a16="http://schemas.microsoft.com/office/drawing/2014/main" id="{50D03A73-24F0-273E-5C3B-D05DE59268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17644" y="1602912"/>
              <a:ext cx="655473" cy="655473"/>
            </a:xfrm>
            <a:prstGeom prst="rect">
              <a:avLst/>
            </a:prstGeom>
          </p:spPr>
        </p:pic>
      </p:grpSp>
      <p:grpSp>
        <p:nvGrpSpPr>
          <p:cNvPr id="189" name="Grupo 188">
            <a:extLst>
              <a:ext uri="{FF2B5EF4-FFF2-40B4-BE49-F238E27FC236}">
                <a16:creationId xmlns:a16="http://schemas.microsoft.com/office/drawing/2014/main" id="{6373F502-AB56-E40E-B16D-CECE42B7D58B}"/>
              </a:ext>
            </a:extLst>
          </p:cNvPr>
          <p:cNvGrpSpPr/>
          <p:nvPr/>
        </p:nvGrpSpPr>
        <p:grpSpPr>
          <a:xfrm>
            <a:off x="-114768" y="4837223"/>
            <a:ext cx="3758502" cy="1933541"/>
            <a:chOff x="435340" y="4837223"/>
            <a:chExt cx="4854517" cy="1933541"/>
          </a:xfrm>
        </p:grpSpPr>
        <p:grpSp>
          <p:nvGrpSpPr>
            <p:cNvPr id="138" name="Grupo 137">
              <a:extLst>
                <a:ext uri="{FF2B5EF4-FFF2-40B4-BE49-F238E27FC236}">
                  <a16:creationId xmlns:a16="http://schemas.microsoft.com/office/drawing/2014/main" id="{B01C01AA-E7F7-4FB5-4FD7-BEF1ED0A6A29}"/>
                </a:ext>
              </a:extLst>
            </p:cNvPr>
            <p:cNvGrpSpPr/>
            <p:nvPr/>
          </p:nvGrpSpPr>
          <p:grpSpPr>
            <a:xfrm>
              <a:off x="435340" y="4837223"/>
              <a:ext cx="4854517" cy="1933541"/>
              <a:chOff x="9135236" y="3127128"/>
              <a:chExt cx="3830051" cy="1933541"/>
            </a:xfrm>
          </p:grpSpPr>
          <p:grpSp>
            <p:nvGrpSpPr>
              <p:cNvPr id="139" name="Grupo 138">
                <a:extLst>
                  <a:ext uri="{FF2B5EF4-FFF2-40B4-BE49-F238E27FC236}">
                    <a16:creationId xmlns:a16="http://schemas.microsoft.com/office/drawing/2014/main" id="{85C0113F-4C55-78CF-2FF9-B820C757412D}"/>
                  </a:ext>
                </a:extLst>
              </p:cNvPr>
              <p:cNvGrpSpPr/>
              <p:nvPr/>
            </p:nvGrpSpPr>
            <p:grpSpPr>
              <a:xfrm>
                <a:off x="9229918" y="3127128"/>
                <a:ext cx="3735369" cy="1933541"/>
                <a:chOff x="7739695" y="1110832"/>
                <a:chExt cx="3735369" cy="1780012"/>
              </a:xfrm>
            </p:grpSpPr>
            <p:sp>
              <p:nvSpPr>
                <p:cNvPr id="143" name="Rectángulo 142">
                  <a:extLst>
                    <a:ext uri="{FF2B5EF4-FFF2-40B4-BE49-F238E27FC236}">
                      <a16:creationId xmlns:a16="http://schemas.microsoft.com/office/drawing/2014/main" id="{5567C57D-8B13-FB84-3110-9D5BF5A868E5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3246650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44" name="Grupo 143">
                  <a:extLst>
                    <a:ext uri="{FF2B5EF4-FFF2-40B4-BE49-F238E27FC236}">
                      <a16:creationId xmlns:a16="http://schemas.microsoft.com/office/drawing/2014/main" id="{FD955642-AFBD-9A10-9A87-145A5FB2624F}"/>
                    </a:ext>
                  </a:extLst>
                </p:cNvPr>
                <p:cNvGrpSpPr/>
                <p:nvPr/>
              </p:nvGrpSpPr>
              <p:grpSpPr>
                <a:xfrm>
                  <a:off x="7739695" y="1236316"/>
                  <a:ext cx="3735369" cy="1532075"/>
                  <a:chOff x="3175274" y="1243016"/>
                  <a:chExt cx="3735369" cy="1532075"/>
                </a:xfrm>
              </p:grpSpPr>
              <p:sp>
                <p:nvSpPr>
                  <p:cNvPr id="146" name="CuadroTexto 145">
                    <a:extLst>
                      <a:ext uri="{FF2B5EF4-FFF2-40B4-BE49-F238E27FC236}">
                        <a16:creationId xmlns:a16="http://schemas.microsoft.com/office/drawing/2014/main" id="{CA686645-6873-C8A2-5367-FB4CBD560E39}"/>
                      </a:ext>
                    </a:extLst>
                  </p:cNvPr>
                  <p:cNvSpPr txBox="1"/>
                  <p:nvPr/>
                </p:nvSpPr>
                <p:spPr>
                  <a:xfrm>
                    <a:off x="3854322" y="1243016"/>
                    <a:ext cx="3056321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Segmento Empresas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47" name="CuadroTexto 146">
                    <a:extLst>
                      <a:ext uri="{FF2B5EF4-FFF2-40B4-BE49-F238E27FC236}">
                        <a16:creationId xmlns:a16="http://schemas.microsoft.com/office/drawing/2014/main" id="{33A71088-5C6E-81BD-4253-725DC754597A}"/>
                      </a:ext>
                    </a:extLst>
                  </p:cNvPr>
                  <p:cNvSpPr txBox="1"/>
                  <p:nvPr/>
                </p:nvSpPr>
                <p:spPr>
                  <a:xfrm>
                    <a:off x="3175274" y="2208415"/>
                    <a:ext cx="1945898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28%</a:t>
                    </a:r>
                    <a:endParaRPr lang="es-CO" sz="1400" b="1">
                      <a:solidFill>
                        <a:schemeClr val="bg1"/>
                      </a:solidFill>
                    </a:endParaRPr>
                  </a:p>
                  <a:p>
                    <a:r>
                      <a:rPr lang="es-CO" sz="1400" b="1">
                        <a:solidFill>
                          <a:schemeClr val="bg1"/>
                        </a:solidFill>
                      </a:rPr>
                      <a:t>     Medianas</a:t>
                    </a:r>
                  </a:p>
                </p:txBody>
              </p:sp>
            </p:grpSp>
            <p:sp>
              <p:nvSpPr>
                <p:cNvPr id="145" name="CuadroTexto 144">
                  <a:extLst>
                    <a:ext uri="{FF2B5EF4-FFF2-40B4-BE49-F238E27FC236}">
                      <a16:creationId xmlns:a16="http://schemas.microsoft.com/office/drawing/2014/main" id="{123DCBFD-6D02-B992-8D7D-38B6354BDE1D}"/>
                    </a:ext>
                  </a:extLst>
                </p:cNvPr>
                <p:cNvSpPr txBox="1"/>
                <p:nvPr/>
              </p:nvSpPr>
              <p:spPr>
                <a:xfrm>
                  <a:off x="9864249" y="1523867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24%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Grandes</a:t>
                  </a:r>
                </a:p>
              </p:txBody>
            </p:sp>
          </p:grpSp>
          <p:sp>
            <p:nvSpPr>
              <p:cNvPr id="140" name="CuadroTexto 139">
                <a:extLst>
                  <a:ext uri="{FF2B5EF4-FFF2-40B4-BE49-F238E27FC236}">
                    <a16:creationId xmlns:a16="http://schemas.microsoft.com/office/drawing/2014/main" id="{5042AD5B-4DDE-B2B3-32F9-521277ADCF56}"/>
                  </a:ext>
                </a:extLst>
              </p:cNvPr>
              <p:cNvSpPr txBox="1"/>
              <p:nvPr/>
            </p:nvSpPr>
            <p:spPr>
              <a:xfrm>
                <a:off x="9135236" y="3565727"/>
                <a:ext cx="145027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16%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</a:t>
                </a:r>
                <a:r>
                  <a:rPr lang="es-CO" sz="1400" b="1" dirty="0" err="1">
                    <a:solidFill>
                      <a:schemeClr val="bg1"/>
                    </a:solidFill>
                  </a:rPr>
                  <a:t>Emp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Top</a:t>
                </a:r>
              </a:p>
            </p:txBody>
          </p:sp>
          <p:sp>
            <p:nvSpPr>
              <p:cNvPr id="141" name="CuadroTexto 140">
                <a:extLst>
                  <a:ext uri="{FF2B5EF4-FFF2-40B4-BE49-F238E27FC236}">
                    <a16:creationId xmlns:a16="http://schemas.microsoft.com/office/drawing/2014/main" id="{F23E7451-B7E8-CC9E-6561-106DB232B8FF}"/>
                  </a:ext>
                </a:extLst>
              </p:cNvPr>
              <p:cNvSpPr txBox="1"/>
              <p:nvPr/>
            </p:nvSpPr>
            <p:spPr>
              <a:xfrm>
                <a:off x="10055645" y="3580594"/>
                <a:ext cx="152651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25%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    Micro    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Transaccional</a:t>
                </a:r>
              </a:p>
            </p:txBody>
          </p:sp>
        </p:grpSp>
        <p:pic>
          <p:nvPicPr>
            <p:cNvPr id="149" name="Imagen 148">
              <a:extLst>
                <a:ext uri="{FF2B5EF4-FFF2-40B4-BE49-F238E27FC236}">
                  <a16:creationId xmlns:a16="http://schemas.microsoft.com/office/drawing/2014/main" id="{EFA14A41-5EE7-59E6-4757-0983AF6480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325932" y="6027593"/>
              <a:ext cx="677562" cy="677562"/>
            </a:xfrm>
            <a:prstGeom prst="rect">
              <a:avLst/>
            </a:prstGeom>
          </p:spPr>
        </p:pic>
      </p:grp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31239118-C7B9-E07B-FBC8-32A3030681FF}"/>
              </a:ext>
            </a:extLst>
          </p:cNvPr>
          <p:cNvSpPr txBox="1"/>
          <p:nvPr/>
        </p:nvSpPr>
        <p:spPr>
          <a:xfrm>
            <a:off x="2093411" y="5976448"/>
            <a:ext cx="128594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5%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Estándar</a:t>
            </a:r>
          </a:p>
        </p:txBody>
      </p:sp>
      <p:grpSp>
        <p:nvGrpSpPr>
          <p:cNvPr id="151" name="Grupo 150">
            <a:extLst>
              <a:ext uri="{FF2B5EF4-FFF2-40B4-BE49-F238E27FC236}">
                <a16:creationId xmlns:a16="http://schemas.microsoft.com/office/drawing/2014/main" id="{3EAFDA70-9A9F-7A43-EF9F-5BCAFFE2A515}"/>
              </a:ext>
            </a:extLst>
          </p:cNvPr>
          <p:cNvGrpSpPr/>
          <p:nvPr/>
        </p:nvGrpSpPr>
        <p:grpSpPr>
          <a:xfrm>
            <a:off x="3041036" y="4852302"/>
            <a:ext cx="2562052" cy="1933541"/>
            <a:chOff x="9024616" y="3127128"/>
            <a:chExt cx="2562052" cy="1933541"/>
          </a:xfrm>
        </p:grpSpPr>
        <p:grpSp>
          <p:nvGrpSpPr>
            <p:cNvPr id="152" name="Grupo 151">
              <a:extLst>
                <a:ext uri="{FF2B5EF4-FFF2-40B4-BE49-F238E27FC236}">
                  <a16:creationId xmlns:a16="http://schemas.microsoft.com/office/drawing/2014/main" id="{F54E85F3-3562-BBD3-603E-BC7A49BCBBA0}"/>
                </a:ext>
              </a:extLst>
            </p:cNvPr>
            <p:cNvGrpSpPr/>
            <p:nvPr/>
          </p:nvGrpSpPr>
          <p:grpSpPr>
            <a:xfrm>
              <a:off x="9024616" y="3127128"/>
              <a:ext cx="2475954" cy="1933541"/>
              <a:chOff x="7534393" y="1110832"/>
              <a:chExt cx="2475954" cy="1780012"/>
            </a:xfrm>
          </p:grpSpPr>
          <p:sp>
            <p:nvSpPr>
              <p:cNvPr id="157" name="Rectángulo 156">
                <a:extLst>
                  <a:ext uri="{FF2B5EF4-FFF2-40B4-BE49-F238E27FC236}">
                    <a16:creationId xmlns:a16="http://schemas.microsoft.com/office/drawing/2014/main" id="{BF6CA697-CE70-0ABF-1C65-33399287DFEF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158" name="Grupo 157">
                <a:extLst>
                  <a:ext uri="{FF2B5EF4-FFF2-40B4-BE49-F238E27FC236}">
                    <a16:creationId xmlns:a16="http://schemas.microsoft.com/office/drawing/2014/main" id="{D45A2949-8D79-8B96-DA89-7A496FE57C94}"/>
                  </a:ext>
                </a:extLst>
              </p:cNvPr>
              <p:cNvGrpSpPr/>
              <p:nvPr/>
            </p:nvGrpSpPr>
            <p:grpSpPr>
              <a:xfrm>
                <a:off x="7534393" y="1206227"/>
                <a:ext cx="2388623" cy="1388251"/>
                <a:chOff x="2969972" y="1212927"/>
                <a:chExt cx="2388623" cy="1388251"/>
              </a:xfrm>
            </p:grpSpPr>
            <p:sp>
              <p:nvSpPr>
                <p:cNvPr id="160" name="CuadroTexto 159">
                  <a:extLst>
                    <a:ext uri="{FF2B5EF4-FFF2-40B4-BE49-F238E27FC236}">
                      <a16:creationId xmlns:a16="http://schemas.microsoft.com/office/drawing/2014/main" id="{17607E8D-82C6-FC50-3138-159AE4049B7F}"/>
                    </a:ext>
                  </a:extLst>
                </p:cNvPr>
                <p:cNvSpPr txBox="1"/>
                <p:nvPr/>
              </p:nvSpPr>
              <p:spPr>
                <a:xfrm>
                  <a:off x="3408991" y="1212927"/>
                  <a:ext cx="1949604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Departamento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61" name="CuadroTexto 160">
                  <a:extLst>
                    <a:ext uri="{FF2B5EF4-FFF2-40B4-BE49-F238E27FC236}">
                      <a16:creationId xmlns:a16="http://schemas.microsoft.com/office/drawing/2014/main" id="{01EF99BF-31D8-AA95-5FAE-B56978015F77}"/>
                    </a:ext>
                  </a:extLst>
                </p:cNvPr>
                <p:cNvSpPr txBox="1"/>
                <p:nvPr/>
              </p:nvSpPr>
              <p:spPr>
                <a:xfrm>
                  <a:off x="2969972" y="2034502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1%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Funza</a:t>
                  </a:r>
                </a:p>
              </p:txBody>
            </p:sp>
          </p:grpSp>
        </p:grpSp>
        <p:sp>
          <p:nvSpPr>
            <p:cNvPr id="154" name="CuadroTexto 153">
              <a:extLst>
                <a:ext uri="{FF2B5EF4-FFF2-40B4-BE49-F238E27FC236}">
                  <a16:creationId xmlns:a16="http://schemas.microsoft.com/office/drawing/2014/main" id="{FA3A21B6-5ACC-BD19-9ED7-9DC4304EB9E7}"/>
                </a:ext>
              </a:extLst>
            </p:cNvPr>
            <p:cNvSpPr txBox="1"/>
            <p:nvPr/>
          </p:nvSpPr>
          <p:spPr>
            <a:xfrm>
              <a:off x="9059295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42%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Bogotá</a:t>
              </a:r>
            </a:p>
          </p:txBody>
        </p:sp>
        <p:sp>
          <p:nvSpPr>
            <p:cNvPr id="155" name="CuadroTexto 154">
              <a:extLst>
                <a:ext uri="{FF2B5EF4-FFF2-40B4-BE49-F238E27FC236}">
                  <a16:creationId xmlns:a16="http://schemas.microsoft.com/office/drawing/2014/main" id="{90F5F49B-7361-E716-3971-C69BDC7EA8A7}"/>
                </a:ext>
              </a:extLst>
            </p:cNvPr>
            <p:cNvSpPr txBox="1"/>
            <p:nvPr/>
          </p:nvSpPr>
          <p:spPr>
            <a:xfrm>
              <a:off x="10368253" y="3565504"/>
              <a:ext cx="1218415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13%</a:t>
              </a:r>
              <a:r>
                <a:rPr lang="es-CO" sz="1400" b="1" dirty="0">
                  <a:solidFill>
                    <a:schemeClr val="bg1"/>
                  </a:solidFill>
                </a:rPr>
                <a:t>                        Soacha  </a:t>
              </a:r>
            </a:p>
          </p:txBody>
        </p:sp>
      </p:grpSp>
      <p:grpSp>
        <p:nvGrpSpPr>
          <p:cNvPr id="201" name="Grupo 200">
            <a:extLst>
              <a:ext uri="{FF2B5EF4-FFF2-40B4-BE49-F238E27FC236}">
                <a16:creationId xmlns:a16="http://schemas.microsoft.com/office/drawing/2014/main" id="{A9A9F6F5-7781-BCED-2B2A-BB86888B064F}"/>
              </a:ext>
            </a:extLst>
          </p:cNvPr>
          <p:cNvGrpSpPr/>
          <p:nvPr/>
        </p:nvGrpSpPr>
        <p:grpSpPr>
          <a:xfrm>
            <a:off x="5407406" y="4842106"/>
            <a:ext cx="2693579" cy="1985915"/>
            <a:chOff x="5483606" y="4842106"/>
            <a:chExt cx="2693579" cy="1985915"/>
          </a:xfrm>
        </p:grpSpPr>
        <p:grpSp>
          <p:nvGrpSpPr>
            <p:cNvPr id="164" name="Grupo 163">
              <a:extLst>
                <a:ext uri="{FF2B5EF4-FFF2-40B4-BE49-F238E27FC236}">
                  <a16:creationId xmlns:a16="http://schemas.microsoft.com/office/drawing/2014/main" id="{B3FAA92F-3111-44D1-DA68-CF9686E3BCEC}"/>
                </a:ext>
              </a:extLst>
            </p:cNvPr>
            <p:cNvGrpSpPr/>
            <p:nvPr/>
          </p:nvGrpSpPr>
          <p:grpSpPr>
            <a:xfrm>
              <a:off x="5483606" y="4842106"/>
              <a:ext cx="2693579" cy="1957609"/>
              <a:chOff x="9049330" y="3127128"/>
              <a:chExt cx="2693579" cy="1957609"/>
            </a:xfrm>
          </p:grpSpPr>
          <p:grpSp>
            <p:nvGrpSpPr>
              <p:cNvPr id="165" name="Grupo 164">
                <a:extLst>
                  <a:ext uri="{FF2B5EF4-FFF2-40B4-BE49-F238E27FC236}">
                    <a16:creationId xmlns:a16="http://schemas.microsoft.com/office/drawing/2014/main" id="{DA2B7E8D-48F7-36EB-BE5B-9FFA510AEACD}"/>
                  </a:ext>
                </a:extLst>
              </p:cNvPr>
              <p:cNvGrpSpPr/>
              <p:nvPr/>
            </p:nvGrpSpPr>
            <p:grpSpPr>
              <a:xfrm>
                <a:off x="9049330" y="3127128"/>
                <a:ext cx="2655911" cy="1957609"/>
                <a:chOff x="7559107" y="1110832"/>
                <a:chExt cx="2655911" cy="1802169"/>
              </a:xfrm>
            </p:grpSpPr>
            <p:sp>
              <p:nvSpPr>
                <p:cNvPr id="168" name="Rectángulo 167">
                  <a:extLst>
                    <a:ext uri="{FF2B5EF4-FFF2-40B4-BE49-F238E27FC236}">
                      <a16:creationId xmlns:a16="http://schemas.microsoft.com/office/drawing/2014/main" id="{C97C23DF-961D-9584-DB6F-7FE60B8944D5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195987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70" name="Grupo 169">
                  <a:extLst>
                    <a:ext uri="{FF2B5EF4-FFF2-40B4-BE49-F238E27FC236}">
                      <a16:creationId xmlns:a16="http://schemas.microsoft.com/office/drawing/2014/main" id="{CB42207F-7B7F-A2F2-4588-EB2AAB82FA35}"/>
                    </a:ext>
                  </a:extLst>
                </p:cNvPr>
                <p:cNvGrpSpPr/>
                <p:nvPr/>
              </p:nvGrpSpPr>
              <p:grpSpPr>
                <a:xfrm>
                  <a:off x="7559107" y="1207829"/>
                  <a:ext cx="2655911" cy="1705172"/>
                  <a:chOff x="2994686" y="1214529"/>
                  <a:chExt cx="2655911" cy="1705172"/>
                </a:xfrm>
              </p:grpSpPr>
              <p:sp>
                <p:nvSpPr>
                  <p:cNvPr id="171" name="CuadroTexto 170">
                    <a:extLst>
                      <a:ext uri="{FF2B5EF4-FFF2-40B4-BE49-F238E27FC236}">
                        <a16:creationId xmlns:a16="http://schemas.microsoft.com/office/drawing/2014/main" id="{1B6FBA8E-17D7-87EA-EE39-3A31C54F4BE3}"/>
                      </a:ext>
                    </a:extLst>
                  </p:cNvPr>
                  <p:cNvSpPr txBox="1"/>
                  <p:nvPr/>
                </p:nvSpPr>
                <p:spPr>
                  <a:xfrm>
                    <a:off x="3700993" y="1214529"/>
                    <a:ext cx="1949604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Localidad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72" name="CuadroTexto 171">
                    <a:extLst>
                      <a:ext uri="{FF2B5EF4-FFF2-40B4-BE49-F238E27FC236}">
                        <a16:creationId xmlns:a16="http://schemas.microsoft.com/office/drawing/2014/main" id="{99DF6461-9D71-7440-95FA-AE86103182B8}"/>
                      </a:ext>
                    </a:extLst>
                  </p:cNvPr>
                  <p:cNvSpPr txBox="1"/>
                  <p:nvPr/>
                </p:nvSpPr>
                <p:spPr>
                  <a:xfrm>
                    <a:off x="2994686" y="2353025"/>
                    <a:ext cx="1323041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3%</a:t>
                    </a: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    Bosa</a:t>
                    </a:r>
                  </a:p>
                </p:txBody>
              </p:sp>
            </p:grpSp>
          </p:grpSp>
          <p:sp>
            <p:nvSpPr>
              <p:cNvPr id="166" name="CuadroTexto 165">
                <a:extLst>
                  <a:ext uri="{FF2B5EF4-FFF2-40B4-BE49-F238E27FC236}">
                    <a16:creationId xmlns:a16="http://schemas.microsoft.com/office/drawing/2014/main" id="{30D7F336-C03B-5C89-C1AC-B8562FE3C39A}"/>
                  </a:ext>
                </a:extLst>
              </p:cNvPr>
              <p:cNvSpPr txBox="1"/>
              <p:nvPr/>
            </p:nvSpPr>
            <p:spPr>
              <a:xfrm>
                <a:off x="9059295" y="3565727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3%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Kennedy</a:t>
                </a:r>
              </a:p>
            </p:txBody>
          </p:sp>
          <p:sp>
            <p:nvSpPr>
              <p:cNvPr id="167" name="CuadroTexto 166">
                <a:extLst>
                  <a:ext uri="{FF2B5EF4-FFF2-40B4-BE49-F238E27FC236}">
                    <a16:creationId xmlns:a16="http://schemas.microsoft.com/office/drawing/2014/main" id="{F39584D9-99DA-B932-1F41-A1D9871AD1F5}"/>
                  </a:ext>
                </a:extLst>
              </p:cNvPr>
              <p:cNvSpPr txBox="1"/>
              <p:nvPr/>
            </p:nvSpPr>
            <p:spPr>
              <a:xfrm>
                <a:off x="10498522" y="3549824"/>
                <a:ext cx="1244387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3%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Suba</a:t>
                </a:r>
              </a:p>
            </p:txBody>
          </p:sp>
        </p:grpSp>
        <p:sp>
          <p:nvSpPr>
            <p:cNvPr id="185" name="CuadroTexto 184">
              <a:extLst>
                <a:ext uri="{FF2B5EF4-FFF2-40B4-BE49-F238E27FC236}">
                  <a16:creationId xmlns:a16="http://schemas.microsoft.com/office/drawing/2014/main" id="{4D3A1534-762B-C1FA-09A8-8DB8CA7BDB87}"/>
                </a:ext>
              </a:extLst>
            </p:cNvPr>
            <p:cNvSpPr txBox="1"/>
            <p:nvPr/>
          </p:nvSpPr>
          <p:spPr>
            <a:xfrm>
              <a:off x="6625166" y="6212468"/>
              <a:ext cx="1323041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64%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 Sin </a:t>
              </a:r>
              <a:r>
                <a:rPr lang="es-CO" sz="1400" b="1" dirty="0" err="1">
                  <a:solidFill>
                    <a:schemeClr val="bg1"/>
                  </a:solidFill>
                </a:rPr>
                <a:t>Infor</a:t>
              </a:r>
              <a:endParaRPr lang="es-CO" sz="1400" b="1" dirty="0">
                <a:solidFill>
                  <a:schemeClr val="bg1"/>
                </a:solidFill>
              </a:endParaRPr>
            </a:p>
          </p:txBody>
        </p:sp>
        <p:pic>
          <p:nvPicPr>
            <p:cNvPr id="187" name="Imagen 186">
              <a:extLst>
                <a:ext uri="{FF2B5EF4-FFF2-40B4-BE49-F238E27FC236}">
                  <a16:creationId xmlns:a16="http://schemas.microsoft.com/office/drawing/2014/main" id="{836FA966-3D0A-E796-0DA9-34CDEF58B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401571" y="5793688"/>
              <a:ext cx="1266970" cy="620378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grpSp>
        <p:nvGrpSpPr>
          <p:cNvPr id="202" name="Grupo 201">
            <a:extLst>
              <a:ext uri="{FF2B5EF4-FFF2-40B4-BE49-F238E27FC236}">
                <a16:creationId xmlns:a16="http://schemas.microsoft.com/office/drawing/2014/main" id="{505F7B7F-67CD-65C1-6FE4-14830CE12C3C}"/>
              </a:ext>
            </a:extLst>
          </p:cNvPr>
          <p:cNvGrpSpPr/>
          <p:nvPr/>
        </p:nvGrpSpPr>
        <p:grpSpPr>
          <a:xfrm>
            <a:off x="7528734" y="4834201"/>
            <a:ext cx="2867011" cy="1957609"/>
            <a:chOff x="8071595" y="4834201"/>
            <a:chExt cx="3008704" cy="1957609"/>
          </a:xfrm>
        </p:grpSpPr>
        <p:grpSp>
          <p:nvGrpSpPr>
            <p:cNvPr id="190" name="Grupo 189">
              <a:extLst>
                <a:ext uri="{FF2B5EF4-FFF2-40B4-BE49-F238E27FC236}">
                  <a16:creationId xmlns:a16="http://schemas.microsoft.com/office/drawing/2014/main" id="{21CD0EE9-96F6-DE90-3A6C-14237C102C0F}"/>
                </a:ext>
              </a:extLst>
            </p:cNvPr>
            <p:cNvGrpSpPr/>
            <p:nvPr/>
          </p:nvGrpSpPr>
          <p:grpSpPr>
            <a:xfrm>
              <a:off x="8071595" y="4834201"/>
              <a:ext cx="3008704" cy="1957609"/>
              <a:chOff x="8845727" y="3127128"/>
              <a:chExt cx="3008704" cy="1957609"/>
            </a:xfrm>
          </p:grpSpPr>
          <p:grpSp>
            <p:nvGrpSpPr>
              <p:cNvPr id="191" name="Grupo 190">
                <a:extLst>
                  <a:ext uri="{FF2B5EF4-FFF2-40B4-BE49-F238E27FC236}">
                    <a16:creationId xmlns:a16="http://schemas.microsoft.com/office/drawing/2014/main" id="{E8E08E17-46AA-0277-62AE-C46BBF1345A9}"/>
                  </a:ext>
                </a:extLst>
              </p:cNvPr>
              <p:cNvGrpSpPr/>
              <p:nvPr/>
            </p:nvGrpSpPr>
            <p:grpSpPr>
              <a:xfrm>
                <a:off x="8845727" y="3127128"/>
                <a:ext cx="3008704" cy="1957609"/>
                <a:chOff x="7355504" y="1110832"/>
                <a:chExt cx="3008704" cy="1802169"/>
              </a:xfrm>
            </p:grpSpPr>
            <p:sp>
              <p:nvSpPr>
                <p:cNvPr id="194" name="Rectángulo 193">
                  <a:extLst>
                    <a:ext uri="{FF2B5EF4-FFF2-40B4-BE49-F238E27FC236}">
                      <a16:creationId xmlns:a16="http://schemas.microsoft.com/office/drawing/2014/main" id="{CC0581E2-E958-06CF-FD92-0D719C878F1B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368574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95" name="Grupo 194">
                  <a:extLst>
                    <a:ext uri="{FF2B5EF4-FFF2-40B4-BE49-F238E27FC236}">
                      <a16:creationId xmlns:a16="http://schemas.microsoft.com/office/drawing/2014/main" id="{96E898E4-04F3-9C57-BCED-C8BB4B26515F}"/>
                    </a:ext>
                  </a:extLst>
                </p:cNvPr>
                <p:cNvGrpSpPr/>
                <p:nvPr/>
              </p:nvGrpSpPr>
              <p:grpSpPr>
                <a:xfrm>
                  <a:off x="7355504" y="1207828"/>
                  <a:ext cx="3008704" cy="1705173"/>
                  <a:chOff x="2791083" y="1214528"/>
                  <a:chExt cx="3008704" cy="1705173"/>
                </a:xfrm>
              </p:grpSpPr>
              <p:sp>
                <p:nvSpPr>
                  <p:cNvPr id="197" name="CuadroTexto 196">
                    <a:extLst>
                      <a:ext uri="{FF2B5EF4-FFF2-40B4-BE49-F238E27FC236}">
                        <a16:creationId xmlns:a16="http://schemas.microsoft.com/office/drawing/2014/main" id="{9B81E56F-F89C-F2D9-224E-D54B43C5C634}"/>
                      </a:ext>
                    </a:extLst>
                  </p:cNvPr>
                  <p:cNvSpPr txBox="1"/>
                  <p:nvPr/>
                </p:nvSpPr>
                <p:spPr>
                  <a:xfrm>
                    <a:off x="3225997" y="1214528"/>
                    <a:ext cx="2573790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Entidad Financieras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98" name="CuadroTexto 197">
                    <a:extLst>
                      <a:ext uri="{FF2B5EF4-FFF2-40B4-BE49-F238E27FC236}">
                        <a16:creationId xmlns:a16="http://schemas.microsoft.com/office/drawing/2014/main" id="{09102A2C-93AE-FE6C-8D70-2DFC1CA36234}"/>
                      </a:ext>
                    </a:extLst>
                  </p:cNvPr>
                  <p:cNvSpPr txBox="1"/>
                  <p:nvPr/>
                </p:nvSpPr>
                <p:spPr>
                  <a:xfrm>
                    <a:off x="2791083" y="2353025"/>
                    <a:ext cx="2440539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9%</a:t>
                    </a: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          FNA</a:t>
                    </a:r>
                  </a:p>
                </p:txBody>
              </p:sp>
            </p:grpSp>
          </p:grpSp>
          <p:sp>
            <p:nvSpPr>
              <p:cNvPr id="192" name="CuadroTexto 191">
                <a:extLst>
                  <a:ext uri="{FF2B5EF4-FFF2-40B4-BE49-F238E27FC236}">
                    <a16:creationId xmlns:a16="http://schemas.microsoft.com/office/drawing/2014/main" id="{B6CF2F6D-9A17-DEBF-B329-829D18DDA22B}"/>
                  </a:ext>
                </a:extLst>
              </p:cNvPr>
              <p:cNvSpPr txBox="1"/>
              <p:nvPr/>
            </p:nvSpPr>
            <p:spPr>
              <a:xfrm>
                <a:off x="9267841" y="3565727"/>
                <a:ext cx="1337256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63%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Colsubsidio</a:t>
                </a:r>
              </a:p>
            </p:txBody>
          </p:sp>
          <p:sp>
            <p:nvSpPr>
              <p:cNvPr id="193" name="CuadroTexto 192">
                <a:extLst>
                  <a:ext uri="{FF2B5EF4-FFF2-40B4-BE49-F238E27FC236}">
                    <a16:creationId xmlns:a16="http://schemas.microsoft.com/office/drawing/2014/main" id="{C63507A8-99A6-07D8-BED4-6C853B049D0B}"/>
                  </a:ext>
                </a:extLst>
              </p:cNvPr>
              <p:cNvSpPr txBox="1"/>
              <p:nvPr/>
            </p:nvSpPr>
            <p:spPr>
              <a:xfrm>
                <a:off x="10498522" y="3549824"/>
                <a:ext cx="1244387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16%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Davivienda</a:t>
                </a:r>
              </a:p>
            </p:txBody>
          </p:sp>
        </p:grpSp>
        <p:sp>
          <p:nvSpPr>
            <p:cNvPr id="199" name="CuadroTexto 198">
              <a:extLst>
                <a:ext uri="{FF2B5EF4-FFF2-40B4-BE49-F238E27FC236}">
                  <a16:creationId xmlns:a16="http://schemas.microsoft.com/office/drawing/2014/main" id="{3AC7E95C-25BF-83BD-7096-4EA2BFFB1A11}"/>
                </a:ext>
              </a:extLst>
            </p:cNvPr>
            <p:cNvSpPr txBox="1"/>
            <p:nvPr/>
          </p:nvSpPr>
          <p:spPr>
            <a:xfrm>
              <a:off x="9366872" y="6140046"/>
              <a:ext cx="1323041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  12%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      Otros</a:t>
              </a:r>
            </a:p>
          </p:txBody>
        </p:sp>
      </p:grpSp>
      <p:sp>
        <p:nvSpPr>
          <p:cNvPr id="200" name="CuadroTexto 199">
            <a:extLst>
              <a:ext uri="{FF2B5EF4-FFF2-40B4-BE49-F238E27FC236}">
                <a16:creationId xmlns:a16="http://schemas.microsoft.com/office/drawing/2014/main" id="{610BC47C-7C27-2FCC-076E-2BCD79919EEF}"/>
              </a:ext>
            </a:extLst>
          </p:cNvPr>
          <p:cNvSpPr txBox="1"/>
          <p:nvPr/>
        </p:nvSpPr>
        <p:spPr>
          <a:xfrm>
            <a:off x="4140736" y="5856787"/>
            <a:ext cx="137625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1%</a:t>
            </a:r>
          </a:p>
          <a:p>
            <a:r>
              <a:rPr lang="es-CO" sz="1400" b="1">
                <a:solidFill>
                  <a:schemeClr val="bg1"/>
                </a:solidFill>
              </a:rPr>
              <a:t>      Fusagasugá</a:t>
            </a:r>
          </a:p>
        </p:txBody>
      </p:sp>
      <p:pic>
        <p:nvPicPr>
          <p:cNvPr id="205" name="Imagen 204">
            <a:extLst>
              <a:ext uri="{FF2B5EF4-FFF2-40B4-BE49-F238E27FC236}">
                <a16:creationId xmlns:a16="http://schemas.microsoft.com/office/drawing/2014/main" id="{6F85EEB3-DE18-5555-94C3-A16AB5EDDC8A}"/>
              </a:ext>
            </a:extLst>
          </p:cNvPr>
          <p:cNvPicPr>
            <a:picLocks noChangeAspect="1"/>
          </p:cNvPicPr>
          <p:nvPr/>
        </p:nvPicPr>
        <p:blipFill>
          <a:blip r:embed="rId22">
            <a:duotone>
              <a:prstClr val="black"/>
              <a:schemeClr val="tx1">
                <a:lumMod val="75000"/>
                <a:lumOff val="2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4538" y="5846263"/>
            <a:ext cx="673981" cy="673981"/>
          </a:xfrm>
          <a:prstGeom prst="rect">
            <a:avLst/>
          </a:prstGeom>
        </p:spPr>
      </p:pic>
      <p:grpSp>
        <p:nvGrpSpPr>
          <p:cNvPr id="208" name="Grupo 207">
            <a:extLst>
              <a:ext uri="{FF2B5EF4-FFF2-40B4-BE49-F238E27FC236}">
                <a16:creationId xmlns:a16="http://schemas.microsoft.com/office/drawing/2014/main" id="{2CC871E3-8F07-472B-61F8-45EB2AD2F2E3}"/>
              </a:ext>
            </a:extLst>
          </p:cNvPr>
          <p:cNvGrpSpPr/>
          <p:nvPr/>
        </p:nvGrpSpPr>
        <p:grpSpPr>
          <a:xfrm>
            <a:off x="10245555" y="853892"/>
            <a:ext cx="1956550" cy="5540381"/>
            <a:chOff x="7793864" y="1110832"/>
            <a:chExt cx="1816602" cy="1780012"/>
          </a:xfrm>
        </p:grpSpPr>
        <p:sp>
          <p:nvSpPr>
            <p:cNvPr id="212" name="Rectángulo 211">
              <a:extLst>
                <a:ext uri="{FF2B5EF4-FFF2-40B4-BE49-F238E27FC236}">
                  <a16:creationId xmlns:a16="http://schemas.microsoft.com/office/drawing/2014/main" id="{DB35E463-A1F9-09FD-32A9-C73706DDBCFA}"/>
                </a:ext>
              </a:extLst>
            </p:cNvPr>
            <p:cNvSpPr/>
            <p:nvPr/>
          </p:nvSpPr>
          <p:spPr>
            <a:xfrm>
              <a:off x="7814360" y="1110832"/>
              <a:ext cx="1666611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5" name="CuadroTexto 214">
              <a:extLst>
                <a:ext uri="{FF2B5EF4-FFF2-40B4-BE49-F238E27FC236}">
                  <a16:creationId xmlns:a16="http://schemas.microsoft.com/office/drawing/2014/main" id="{15AE5517-6A0D-9FFA-0373-AB2FD3C452FC}"/>
                </a:ext>
              </a:extLst>
            </p:cNvPr>
            <p:cNvSpPr txBox="1"/>
            <p:nvPr/>
          </p:nvSpPr>
          <p:spPr>
            <a:xfrm>
              <a:off x="7793864" y="1161252"/>
              <a:ext cx="1816602" cy="1141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1600">
                  <a:solidFill>
                    <a:srgbClr val="FFC000"/>
                  </a:solidFill>
                  <a:latin typeface="KG Red Hands" panose="02000505000000020004" pitchFamily="2" charset="0"/>
                </a:rPr>
                <a:t>Top Empresas</a:t>
              </a:r>
              <a:endParaRPr lang="es-ES" sz="1600">
                <a:solidFill>
                  <a:srgbClr val="FFC000"/>
                </a:solidFill>
              </a:endParaRPr>
            </a:p>
          </p:txBody>
        </p:sp>
        <p:sp>
          <p:nvSpPr>
            <p:cNvPr id="214" name="CuadroTexto 213">
              <a:extLst>
                <a:ext uri="{FF2B5EF4-FFF2-40B4-BE49-F238E27FC236}">
                  <a16:creationId xmlns:a16="http://schemas.microsoft.com/office/drawing/2014/main" id="{8D35DF53-AB82-2EAB-4253-3FABF2CB4C5C}"/>
                </a:ext>
              </a:extLst>
            </p:cNvPr>
            <p:cNvSpPr txBox="1"/>
            <p:nvPr/>
          </p:nvSpPr>
          <p:spPr>
            <a:xfrm>
              <a:off x="7830402" y="1354030"/>
              <a:ext cx="1689688" cy="3263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500" b="1" dirty="0">
                  <a:solidFill>
                    <a:schemeClr val="bg1"/>
                  </a:solidFill>
                </a:rPr>
                <a:t>COLSUBSIDIO	10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TELEPERFORMANCE	9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CONSORCIO EXPRESS S A S	7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SECURITAS COLOMBIA S A	5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JERONIMO MARTINS COLOMBI	4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MARIO ALBERTO HUERTAS	3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ALFAGRES S.A.	3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BANCO DE BOGOTA	3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COLOMBIANA DE COMERCIO	3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BANCO DE OCCIDENTE S A	3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VISE LTDA	3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	                               </a:t>
              </a: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D2FCFB1D-EF52-E40C-2EC8-E3102B759394}"/>
              </a:ext>
            </a:extLst>
          </p:cNvPr>
          <p:cNvSpPr txBox="1"/>
          <p:nvPr/>
        </p:nvSpPr>
        <p:spPr>
          <a:xfrm>
            <a:off x="3147194" y="4203365"/>
            <a:ext cx="154680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2</a:t>
            </a:r>
            <a:r>
              <a:rPr lang="es-CO" sz="1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%</a:t>
            </a:r>
          </a:p>
          <a:p>
            <a:r>
              <a:rPr lang="es-CO" sz="1200" b="1" dirty="0">
                <a:solidFill>
                  <a:schemeClr val="bg1"/>
                </a:solidFill>
              </a:rPr>
              <a:t>  Pareja Conyugal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CBB1A8F-51C6-F0F7-AA34-51138E8D26FE}"/>
              </a:ext>
            </a:extLst>
          </p:cNvPr>
          <p:cNvSpPr txBox="1"/>
          <p:nvPr/>
        </p:nvSpPr>
        <p:spPr>
          <a:xfrm>
            <a:off x="10330342" y="6461181"/>
            <a:ext cx="14292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100" dirty="0">
                <a:solidFill>
                  <a:srgbClr val="FFC000"/>
                </a:solidFill>
                <a:latin typeface="KG Red Hands" panose="02000505000000020004" pitchFamily="2" charset="0"/>
              </a:rPr>
              <a:t>*Corte 15/01/2026</a:t>
            </a:r>
            <a:endParaRPr lang="es-ES" sz="11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568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7CA62-4ABA-77D6-52FF-EF7824DDE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E5AB3BAE-5339-7C89-8A8E-EA91C922C1C3}"/>
              </a:ext>
            </a:extLst>
          </p:cNvPr>
          <p:cNvCxnSpPr>
            <a:cxnSpLocks/>
          </p:cNvCxnSpPr>
          <p:nvPr/>
        </p:nvCxnSpPr>
        <p:spPr>
          <a:xfrm flipH="1">
            <a:off x="0" y="645614"/>
            <a:ext cx="10809007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uadroTexto 85">
            <a:extLst>
              <a:ext uri="{FF2B5EF4-FFF2-40B4-BE49-F238E27FC236}">
                <a16:creationId xmlns:a16="http://schemas.microsoft.com/office/drawing/2014/main" id="{82160C56-FB94-800D-014A-74792B1EDFA0}"/>
              </a:ext>
            </a:extLst>
          </p:cNvPr>
          <p:cNvSpPr txBox="1"/>
          <p:nvPr/>
        </p:nvSpPr>
        <p:spPr>
          <a:xfrm>
            <a:off x="-128399" y="120715"/>
            <a:ext cx="95771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>
                <a:solidFill>
                  <a:schemeClr val="bg1"/>
                </a:solidFill>
                <a:latin typeface="KG Red Hands" panose="02000505000000020004" pitchFamily="2" charset="0"/>
              </a:rPr>
              <a:t>      Monguí</a:t>
            </a:r>
            <a:endParaRPr lang="es-ES" sz="240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2FA9A97-FA6E-A2D4-AAEC-6463B12F5738}"/>
              </a:ext>
              <a:ext uri="{147F2762-F138-4A5C-976F-8EAC2B608ADB}">
                <a16:predDERef xmlns:a16="http://schemas.microsoft.com/office/drawing/2014/main" pred="{95DEFF95-1524-40DB-8538-DE0C2D5BEC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3398838"/>
            <a:ext cx="555625" cy="49371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11DFBAB-A5E3-8143-3817-0C7A7B4A26F6}"/>
              </a:ext>
              <a:ext uri="{147F2762-F138-4A5C-976F-8EAC2B608ADB}">
                <a16:predDERef xmlns:a16="http://schemas.microsoft.com/office/drawing/2014/main" pred="{95FFDEC5-E647-4E60-9FB8-32349ACC1E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087813"/>
            <a:ext cx="555625" cy="46196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B1F23287-B818-5228-13C5-F12228775B9F}"/>
              </a:ext>
              <a:ext uri="{147F2762-F138-4A5C-976F-8EAC2B608ADB}">
                <a16:predDERef xmlns:a16="http://schemas.microsoft.com/office/drawing/2014/main" pred="{D53D0C4A-FE71-44C0-97B3-1EA296D3DCE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814888"/>
            <a:ext cx="555625" cy="41116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B02D284E-4633-5E25-235E-9A369DA83AE2}"/>
              </a:ext>
              <a:ext uri="{147F2762-F138-4A5C-976F-8EAC2B608ADB}">
                <a16:predDERef xmlns:a16="http://schemas.microsoft.com/office/drawing/2014/main" pred="{7008BA42-7365-4AD1-B913-F26820CE47E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1775" y="5427663"/>
            <a:ext cx="465138" cy="433387"/>
          </a:xfrm>
          <a:prstGeom prst="rect">
            <a:avLst/>
          </a:prstGeom>
        </p:spPr>
      </p:pic>
      <p:grpSp>
        <p:nvGrpSpPr>
          <p:cNvPr id="135" name="Grupo 134">
            <a:extLst>
              <a:ext uri="{FF2B5EF4-FFF2-40B4-BE49-F238E27FC236}">
                <a16:creationId xmlns:a16="http://schemas.microsoft.com/office/drawing/2014/main" id="{F942D3C7-B25E-6DF7-5A14-39E5E1767B5E}"/>
              </a:ext>
            </a:extLst>
          </p:cNvPr>
          <p:cNvGrpSpPr/>
          <p:nvPr/>
        </p:nvGrpSpPr>
        <p:grpSpPr>
          <a:xfrm>
            <a:off x="5564187" y="853892"/>
            <a:ext cx="2195988" cy="1780012"/>
            <a:chOff x="5353656" y="1110832"/>
            <a:chExt cx="2195988" cy="1780012"/>
          </a:xfrm>
        </p:grpSpPr>
        <p:sp>
          <p:nvSpPr>
            <p:cNvPr id="58" name="Rectángulo 57">
              <a:extLst>
                <a:ext uri="{FF2B5EF4-FFF2-40B4-BE49-F238E27FC236}">
                  <a16:creationId xmlns:a16="http://schemas.microsoft.com/office/drawing/2014/main" id="{209A55FF-B56D-E200-76AA-3455EFDE4E5D}"/>
                </a:ext>
              </a:extLst>
            </p:cNvPr>
            <p:cNvSpPr/>
            <p:nvPr/>
          </p:nvSpPr>
          <p:spPr>
            <a:xfrm>
              <a:off x="5353656" y="1110832"/>
              <a:ext cx="2195987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43" name="Grupo 42">
              <a:extLst>
                <a:ext uri="{FF2B5EF4-FFF2-40B4-BE49-F238E27FC236}">
                  <a16:creationId xmlns:a16="http://schemas.microsoft.com/office/drawing/2014/main" id="{108D8406-2152-B491-435A-9D5384AEC788}"/>
                </a:ext>
              </a:extLst>
            </p:cNvPr>
            <p:cNvGrpSpPr/>
            <p:nvPr/>
          </p:nvGrpSpPr>
          <p:grpSpPr>
            <a:xfrm>
              <a:off x="5353657" y="1223137"/>
              <a:ext cx="2083693" cy="1630468"/>
              <a:chOff x="3249940" y="1229837"/>
              <a:chExt cx="2083693" cy="1630468"/>
            </a:xfrm>
          </p:grpSpPr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A521B9A3-BC44-54A0-EBD6-FB5373D76B7B}"/>
                  </a:ext>
                </a:extLst>
              </p:cNvPr>
              <p:cNvSpPr txBox="1"/>
              <p:nvPr/>
            </p:nvSpPr>
            <p:spPr>
              <a:xfrm>
                <a:off x="3552927" y="1229837"/>
                <a:ext cx="178070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Rango Salario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84015386-5E6B-D1C7-672D-76A0C0983E51}"/>
                  </a:ext>
                </a:extLst>
              </p:cNvPr>
              <p:cNvSpPr txBox="1"/>
              <p:nvPr/>
            </p:nvSpPr>
            <p:spPr>
              <a:xfrm>
                <a:off x="3249940" y="2306307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87</a:t>
                </a:r>
                <a:r>
                  <a:rPr lang="es-CO" sz="1800" b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>
                    <a:solidFill>
                      <a:schemeClr val="bg1"/>
                    </a:solidFill>
                  </a:rPr>
                  <a:t>Hasta 2 smlv</a:t>
                </a:r>
              </a:p>
            </p:txBody>
          </p:sp>
        </p:grpSp>
        <p:pic>
          <p:nvPicPr>
            <p:cNvPr id="53" name="Imagen 52">
              <a:extLst>
                <a:ext uri="{FF2B5EF4-FFF2-40B4-BE49-F238E27FC236}">
                  <a16:creationId xmlns:a16="http://schemas.microsoft.com/office/drawing/2014/main" id="{FB087B10-F445-BF33-78B2-2B9089A8FB6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12042" y="1623254"/>
              <a:ext cx="641350" cy="641350"/>
            </a:xfrm>
            <a:prstGeom prst="rect">
              <a:avLst/>
            </a:prstGeom>
          </p:spPr>
        </p:pic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59CCFA26-E0F3-F855-E77F-4FD8D9B2D771}"/>
                </a:ext>
              </a:extLst>
            </p:cNvPr>
            <p:cNvSpPr txBox="1"/>
            <p:nvPr/>
          </p:nvSpPr>
          <p:spPr>
            <a:xfrm>
              <a:off x="6376735" y="2289285"/>
              <a:ext cx="1172909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13</a:t>
              </a:r>
              <a:r>
                <a:rPr lang="es-CO" sz="1800" b="1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%</a:t>
              </a:r>
            </a:p>
            <a:p>
              <a:r>
                <a:rPr lang="es-CO" sz="1200" b="1">
                  <a:solidFill>
                    <a:schemeClr val="bg1"/>
                  </a:solidFill>
                </a:rPr>
                <a:t>Mas de 2 smlv</a:t>
              </a:r>
            </a:p>
          </p:txBody>
        </p:sp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80EF6043-27D7-39A1-5241-25EC35A7B0AF}"/>
              </a:ext>
            </a:extLst>
          </p:cNvPr>
          <p:cNvGrpSpPr/>
          <p:nvPr/>
        </p:nvGrpSpPr>
        <p:grpSpPr>
          <a:xfrm>
            <a:off x="3320687" y="874756"/>
            <a:ext cx="1941094" cy="1759148"/>
            <a:chOff x="3224463" y="1110832"/>
            <a:chExt cx="1941094" cy="1759148"/>
          </a:xfrm>
        </p:grpSpPr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D986003B-3F9B-929B-39B2-FC91BE744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36596" y="1677993"/>
              <a:ext cx="721895" cy="721895"/>
            </a:xfrm>
            <a:prstGeom prst="rect">
              <a:avLst/>
            </a:prstGeom>
          </p:spPr>
        </p:pic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B1667CD4-ABEC-49C7-BC36-6A187E90F858}"/>
                </a:ext>
              </a:extLst>
            </p:cNvPr>
            <p:cNvGrpSpPr/>
            <p:nvPr/>
          </p:nvGrpSpPr>
          <p:grpSpPr>
            <a:xfrm>
              <a:off x="3420553" y="1223137"/>
              <a:ext cx="1609350" cy="1516670"/>
              <a:chOff x="3420553" y="1223137"/>
              <a:chExt cx="1609350" cy="1516670"/>
            </a:xfrm>
          </p:grpSpPr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1C39BB99-8724-4426-4E82-9387777284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74608" y="1613811"/>
                <a:ext cx="723600" cy="723600"/>
              </a:xfrm>
              <a:prstGeom prst="rect">
                <a:avLst/>
              </a:prstGeom>
            </p:spPr>
          </p:pic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A91B592B-AD1F-F054-C2FB-8D6DDBE13B10}"/>
                  </a:ext>
                </a:extLst>
              </p:cNvPr>
              <p:cNvSpPr txBox="1"/>
              <p:nvPr/>
            </p:nvSpPr>
            <p:spPr>
              <a:xfrm>
                <a:off x="3685253" y="1223137"/>
                <a:ext cx="1098946" cy="345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Género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23866DD8-9832-270B-5881-270780F58122}"/>
                  </a:ext>
                </a:extLst>
              </p:cNvPr>
              <p:cNvSpPr txBox="1"/>
              <p:nvPr/>
            </p:nvSpPr>
            <p:spPr>
              <a:xfrm>
                <a:off x="3420553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53%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F032BD56-CDF2-9423-CB3E-7B2AE742FE94}"/>
                  </a:ext>
                </a:extLst>
              </p:cNvPr>
              <p:cNvSpPr txBox="1"/>
              <p:nvPr/>
            </p:nvSpPr>
            <p:spPr>
              <a:xfrm>
                <a:off x="4308008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47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</p:grp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D43C4303-F2C9-942A-EBD1-105CA5A09C7F}"/>
                </a:ext>
              </a:extLst>
            </p:cNvPr>
            <p:cNvSpPr/>
            <p:nvPr/>
          </p:nvSpPr>
          <p:spPr>
            <a:xfrm>
              <a:off x="3224463" y="1110832"/>
              <a:ext cx="1941094" cy="175914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78" name="CuadroTexto 77">
            <a:extLst>
              <a:ext uri="{FF2B5EF4-FFF2-40B4-BE49-F238E27FC236}">
                <a16:creationId xmlns:a16="http://schemas.microsoft.com/office/drawing/2014/main" id="{2CECF270-49AF-555D-961F-BF75E11DFA30}"/>
              </a:ext>
            </a:extLst>
          </p:cNvPr>
          <p:cNvSpPr txBox="1"/>
          <p:nvPr/>
        </p:nvSpPr>
        <p:spPr>
          <a:xfrm>
            <a:off x="1376075" y="3222417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22%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Joven</a:t>
            </a:r>
          </a:p>
        </p:txBody>
      </p: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049187C8-13D6-C956-9E64-0C4880CDE97E}"/>
              </a:ext>
            </a:extLst>
          </p:cNvPr>
          <p:cNvGrpSpPr/>
          <p:nvPr/>
        </p:nvGrpSpPr>
        <p:grpSpPr>
          <a:xfrm>
            <a:off x="-155207" y="2771278"/>
            <a:ext cx="2688149" cy="1998661"/>
            <a:chOff x="435343" y="3108160"/>
            <a:chExt cx="2688149" cy="1998661"/>
          </a:xfrm>
        </p:grpSpPr>
        <p:grpSp>
          <p:nvGrpSpPr>
            <p:cNvPr id="69" name="Grupo 68">
              <a:extLst>
                <a:ext uri="{FF2B5EF4-FFF2-40B4-BE49-F238E27FC236}">
                  <a16:creationId xmlns:a16="http://schemas.microsoft.com/office/drawing/2014/main" id="{00E545CA-B565-0600-ABDD-13E17326E386}"/>
                </a:ext>
              </a:extLst>
            </p:cNvPr>
            <p:cNvGrpSpPr/>
            <p:nvPr/>
          </p:nvGrpSpPr>
          <p:grpSpPr>
            <a:xfrm>
              <a:off x="457829" y="3108160"/>
              <a:ext cx="2665663" cy="1998661"/>
              <a:chOff x="7590765" y="1110832"/>
              <a:chExt cx="2665663" cy="1822499"/>
            </a:xfrm>
          </p:grpSpPr>
          <p:sp>
            <p:nvSpPr>
              <p:cNvPr id="70" name="Rectángulo 69">
                <a:extLst>
                  <a:ext uri="{FF2B5EF4-FFF2-40B4-BE49-F238E27FC236}">
                    <a16:creationId xmlns:a16="http://schemas.microsoft.com/office/drawing/2014/main" id="{516CB8E2-EC3F-A134-2B88-746EF8A7708D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71" name="Grupo 70">
                <a:extLst>
                  <a:ext uri="{FF2B5EF4-FFF2-40B4-BE49-F238E27FC236}">
                    <a16:creationId xmlns:a16="http://schemas.microsoft.com/office/drawing/2014/main" id="{CDA8EE4D-36ED-3C8D-7136-D5A352320002}"/>
                  </a:ext>
                </a:extLst>
              </p:cNvPr>
              <p:cNvGrpSpPr/>
              <p:nvPr/>
            </p:nvGrpSpPr>
            <p:grpSpPr>
              <a:xfrm>
                <a:off x="7590765" y="1223137"/>
                <a:ext cx="2024519" cy="1655939"/>
                <a:chOff x="3026344" y="1229837"/>
                <a:chExt cx="2024519" cy="1655939"/>
              </a:xfrm>
            </p:grpSpPr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9E026B7E-3A71-382C-1B21-99F775FAAD58}"/>
                    </a:ext>
                  </a:extLst>
                </p:cNvPr>
                <p:cNvSpPr txBox="1"/>
                <p:nvPr/>
              </p:nvSpPr>
              <p:spPr>
                <a:xfrm>
                  <a:off x="3645002" y="1229837"/>
                  <a:ext cx="1405861" cy="3087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Segmento 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48DBC00A-5331-923F-B2D0-0D740A97D51F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12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39%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Básico</a:t>
                  </a:r>
                </a:p>
              </p:txBody>
            </p:sp>
          </p:grpSp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6DB4084C-8942-B7BF-4E63-B61D4B7F587C}"/>
                  </a:ext>
                </a:extLst>
              </p:cNvPr>
              <p:cNvSpPr txBox="1"/>
              <p:nvPr/>
            </p:nvSpPr>
            <p:spPr>
              <a:xfrm>
                <a:off x="9083519" y="231777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0%</a:t>
                </a:r>
              </a:p>
              <a:p>
                <a:r>
                  <a:rPr lang="es-CO" sz="1400" b="1">
                    <a:solidFill>
                      <a:schemeClr val="bg1"/>
                    </a:solidFill>
                  </a:rPr>
                  <a:t>       Alto</a:t>
                </a:r>
              </a:p>
            </p:txBody>
          </p:sp>
        </p:grpSp>
        <p:sp>
          <p:nvSpPr>
            <p:cNvPr id="77" name="CuadroTexto 76">
              <a:extLst>
                <a:ext uri="{FF2B5EF4-FFF2-40B4-BE49-F238E27FC236}">
                  <a16:creationId xmlns:a16="http://schemas.microsoft.com/office/drawing/2014/main" id="{78A30140-692F-3342-7F0A-D128F1AAD9B8}"/>
                </a:ext>
              </a:extLst>
            </p:cNvPr>
            <p:cNvSpPr txBox="1"/>
            <p:nvPr/>
          </p:nvSpPr>
          <p:spPr>
            <a:xfrm>
              <a:off x="435343" y="3559299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39%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Medio</a:t>
              </a:r>
            </a:p>
          </p:txBody>
        </p:sp>
        <p:pic>
          <p:nvPicPr>
            <p:cNvPr id="80" name="Imagen 79">
              <a:extLst>
                <a:ext uri="{FF2B5EF4-FFF2-40B4-BE49-F238E27FC236}">
                  <a16:creationId xmlns:a16="http://schemas.microsoft.com/office/drawing/2014/main" id="{B69BD07F-291E-3AE4-83D1-FE9376DCD1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LineDrawing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90862" y="3871141"/>
              <a:ext cx="680857" cy="680857"/>
            </a:xfrm>
            <a:prstGeom prst="rect">
              <a:avLst/>
            </a:prstGeom>
          </p:spPr>
        </p:pic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79B09E99-83A5-2769-56D4-4AFB34E7939D}"/>
              </a:ext>
            </a:extLst>
          </p:cNvPr>
          <p:cNvGrpSpPr/>
          <p:nvPr/>
        </p:nvGrpSpPr>
        <p:grpSpPr>
          <a:xfrm>
            <a:off x="2169335" y="2774370"/>
            <a:ext cx="3284086" cy="1963483"/>
            <a:chOff x="2759885" y="3111252"/>
            <a:chExt cx="3284086" cy="1963483"/>
          </a:xfrm>
        </p:grpSpPr>
        <p:sp>
          <p:nvSpPr>
            <p:cNvPr id="88" name="CuadroTexto 87">
              <a:extLst>
                <a:ext uri="{FF2B5EF4-FFF2-40B4-BE49-F238E27FC236}">
                  <a16:creationId xmlns:a16="http://schemas.microsoft.com/office/drawing/2014/main" id="{D2346D29-F935-8045-D442-5E3AE94430DD}"/>
                </a:ext>
              </a:extLst>
            </p:cNvPr>
            <p:cNvSpPr txBox="1"/>
            <p:nvPr/>
          </p:nvSpPr>
          <p:spPr>
            <a:xfrm>
              <a:off x="2759885" y="3531697"/>
              <a:ext cx="154680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   40%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             Sin Grupo</a:t>
              </a:r>
            </a:p>
          </p:txBody>
        </p:sp>
        <p:grpSp>
          <p:nvGrpSpPr>
            <p:cNvPr id="124" name="Grupo 123">
              <a:extLst>
                <a:ext uri="{FF2B5EF4-FFF2-40B4-BE49-F238E27FC236}">
                  <a16:creationId xmlns:a16="http://schemas.microsoft.com/office/drawing/2014/main" id="{27CE814A-F810-91C4-7D13-297D769560C3}"/>
                </a:ext>
              </a:extLst>
            </p:cNvPr>
            <p:cNvGrpSpPr/>
            <p:nvPr/>
          </p:nvGrpSpPr>
          <p:grpSpPr>
            <a:xfrm>
              <a:off x="2827705" y="3111252"/>
              <a:ext cx="3216266" cy="1963483"/>
              <a:chOff x="2827705" y="3111252"/>
              <a:chExt cx="3216266" cy="1963483"/>
            </a:xfrm>
          </p:grpSpPr>
          <p:grpSp>
            <p:nvGrpSpPr>
              <p:cNvPr id="81" name="Grupo 80">
                <a:extLst>
                  <a:ext uri="{FF2B5EF4-FFF2-40B4-BE49-F238E27FC236}">
                    <a16:creationId xmlns:a16="http://schemas.microsoft.com/office/drawing/2014/main" id="{8E9DE177-0215-0682-281B-74CAA9C0EC87}"/>
                  </a:ext>
                </a:extLst>
              </p:cNvPr>
              <p:cNvGrpSpPr/>
              <p:nvPr/>
            </p:nvGrpSpPr>
            <p:grpSpPr>
              <a:xfrm>
                <a:off x="2827705" y="3111252"/>
                <a:ext cx="3216266" cy="1963483"/>
                <a:chOff x="7593779" y="1110832"/>
                <a:chExt cx="3216266" cy="1780012"/>
              </a:xfrm>
            </p:grpSpPr>
            <p:sp>
              <p:nvSpPr>
                <p:cNvPr id="82" name="Rectángulo 81">
                  <a:extLst>
                    <a:ext uri="{FF2B5EF4-FFF2-40B4-BE49-F238E27FC236}">
                      <a16:creationId xmlns:a16="http://schemas.microsoft.com/office/drawing/2014/main" id="{5CA0D08A-A4A3-208C-A1B4-D100B5F57626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808386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83" name="Grupo 82">
                  <a:extLst>
                    <a:ext uri="{FF2B5EF4-FFF2-40B4-BE49-F238E27FC236}">
                      <a16:creationId xmlns:a16="http://schemas.microsoft.com/office/drawing/2014/main" id="{5F082DCF-2700-3126-C5CF-2C2BD3FE6E96}"/>
                    </a:ext>
                  </a:extLst>
                </p:cNvPr>
                <p:cNvGrpSpPr/>
                <p:nvPr/>
              </p:nvGrpSpPr>
              <p:grpSpPr>
                <a:xfrm>
                  <a:off x="7593779" y="1166870"/>
                  <a:ext cx="2748715" cy="1440614"/>
                  <a:chOff x="3029358" y="1173570"/>
                  <a:chExt cx="2748715" cy="1440614"/>
                </a:xfrm>
              </p:grpSpPr>
              <p:sp>
                <p:nvSpPr>
                  <p:cNvPr id="85" name="CuadroTexto 84">
                    <a:extLst>
                      <a:ext uri="{FF2B5EF4-FFF2-40B4-BE49-F238E27FC236}">
                        <a16:creationId xmlns:a16="http://schemas.microsoft.com/office/drawing/2014/main" id="{C35F3210-0278-EF23-28DC-500E91032DFC}"/>
                      </a:ext>
                    </a:extLst>
                  </p:cNvPr>
                  <p:cNvSpPr txBox="1"/>
                  <p:nvPr/>
                </p:nvSpPr>
                <p:spPr>
                  <a:xfrm>
                    <a:off x="3634807" y="1173570"/>
                    <a:ext cx="2143266" cy="30691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Segmento Familia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87" name="CuadroTexto 86">
                    <a:extLst>
                      <a:ext uri="{FF2B5EF4-FFF2-40B4-BE49-F238E27FC236}">
                        <a16:creationId xmlns:a16="http://schemas.microsoft.com/office/drawing/2014/main" id="{B98D835B-6082-5FFB-AC1A-5B920AFF85F7}"/>
                      </a:ext>
                    </a:extLst>
                  </p:cNvPr>
                  <p:cNvSpPr txBox="1"/>
                  <p:nvPr/>
                </p:nvSpPr>
                <p:spPr>
                  <a:xfrm>
                    <a:off x="3029358" y="1944542"/>
                    <a:ext cx="1923771" cy="66964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 2</a:t>
                    </a:r>
                    <a:r>
                      <a:rPr lang="es-CO" sz="18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%</a:t>
                    </a:r>
                  </a:p>
                  <a:p>
                    <a:r>
                      <a:rPr lang="es-CO" sz="1200" b="1" dirty="0">
                        <a:solidFill>
                          <a:schemeClr val="bg1"/>
                        </a:solidFill>
                      </a:rPr>
                      <a:t>      Monoparental</a:t>
                    </a:r>
                  </a:p>
                  <a:p>
                    <a:r>
                      <a:rPr lang="es-CO" sz="1200" b="1" dirty="0">
                        <a:solidFill>
                          <a:schemeClr val="bg1"/>
                        </a:solidFill>
                      </a:rPr>
                      <a:t>      Ampliada</a:t>
                    </a:r>
                  </a:p>
                </p:txBody>
              </p:sp>
            </p:grpSp>
            <p:sp>
              <p:nvSpPr>
                <p:cNvPr id="84" name="CuadroTexto 83">
                  <a:extLst>
                    <a:ext uri="{FF2B5EF4-FFF2-40B4-BE49-F238E27FC236}">
                      <a16:creationId xmlns:a16="http://schemas.microsoft.com/office/drawing/2014/main" id="{A3BA7056-F3AF-A830-2415-C751BA8B2C67}"/>
                    </a:ext>
                  </a:extLst>
                </p:cNvPr>
                <p:cNvSpPr txBox="1"/>
                <p:nvPr/>
              </p:nvSpPr>
              <p:spPr>
                <a:xfrm>
                  <a:off x="9185077" y="2002589"/>
                  <a:ext cx="1624968" cy="5022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        7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 Nuclear Integrada</a:t>
                  </a:r>
                </a:p>
              </p:txBody>
            </p:sp>
          </p:grpSp>
          <p:sp>
            <p:nvSpPr>
              <p:cNvPr id="89" name="CuadroTexto 88">
                <a:extLst>
                  <a:ext uri="{FF2B5EF4-FFF2-40B4-BE49-F238E27FC236}">
                    <a16:creationId xmlns:a16="http://schemas.microsoft.com/office/drawing/2014/main" id="{524D9BA0-5099-52DC-9D77-471DDEE7FF15}"/>
                  </a:ext>
                </a:extLst>
              </p:cNvPr>
              <p:cNvSpPr txBox="1"/>
              <p:nvPr/>
            </p:nvSpPr>
            <p:spPr>
              <a:xfrm>
                <a:off x="4771770" y="3534141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46%</a:t>
                </a:r>
                <a:r>
                  <a:rPr lang="es-CO" sz="1200" b="1" dirty="0">
                    <a:solidFill>
                      <a:schemeClr val="bg1"/>
                    </a:solidFill>
                  </a:rPr>
                  <a:t> Monoparental</a:t>
                </a:r>
              </a:p>
            </p:txBody>
          </p:sp>
          <p:pic>
            <p:nvPicPr>
              <p:cNvPr id="92" name="Imagen 91">
                <a:extLst>
                  <a:ext uri="{FF2B5EF4-FFF2-40B4-BE49-F238E27FC236}">
                    <a16:creationId xmlns:a16="http://schemas.microsoft.com/office/drawing/2014/main" id="{9B434E87-D27E-3C44-C2FD-94284C3DB9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artisticGlowDiffused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075298" y="3683026"/>
                <a:ext cx="754362" cy="754362"/>
              </a:xfrm>
              <a:prstGeom prst="rect">
                <a:avLst/>
              </a:prstGeom>
            </p:spPr>
          </p:pic>
        </p:grp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035E6EEC-2623-32AA-C42B-4772E1A0AD77}"/>
              </a:ext>
            </a:extLst>
          </p:cNvPr>
          <p:cNvGrpSpPr/>
          <p:nvPr/>
        </p:nvGrpSpPr>
        <p:grpSpPr>
          <a:xfrm>
            <a:off x="90873" y="847081"/>
            <a:ext cx="3094159" cy="1780012"/>
            <a:chOff x="681423" y="1183963"/>
            <a:chExt cx="3094159" cy="1780012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6B36A4D6-BE29-9BDB-6381-A97A3892BE3C}"/>
                </a:ext>
              </a:extLst>
            </p:cNvPr>
            <p:cNvSpPr txBox="1"/>
            <p:nvPr/>
          </p:nvSpPr>
          <p:spPr>
            <a:xfrm>
              <a:off x="942955" y="1217834"/>
              <a:ext cx="2376943" cy="16927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s-CO" sz="2000" b="1" dirty="0">
                <a:solidFill>
                  <a:srgbClr val="FFC000"/>
                </a:solidFill>
              </a:endParaRP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Afiliado     </a:t>
              </a:r>
              <a:r>
                <a:rPr lang="es-CO" sz="2800" b="1" dirty="0">
                  <a:solidFill>
                    <a:srgbClr val="FFC000"/>
                  </a:solidFill>
                </a:rPr>
                <a:t>   </a:t>
              </a:r>
              <a:r>
                <a:rPr lang="es-CO" sz="2800" b="1" dirty="0">
                  <a:solidFill>
                    <a:schemeClr val="bg1"/>
                  </a:solidFill>
                </a:rPr>
                <a:t>66%</a:t>
              </a: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No Afilado   </a:t>
              </a:r>
              <a:r>
                <a:rPr lang="es-CO" sz="2800" b="1" dirty="0">
                  <a:solidFill>
                    <a:schemeClr val="bg1"/>
                  </a:solidFill>
                </a:rPr>
                <a:t>34%</a:t>
              </a:r>
            </a:p>
            <a:p>
              <a:endParaRPr lang="es-ES" sz="28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05" name="Rectángulo 104">
              <a:extLst>
                <a:ext uri="{FF2B5EF4-FFF2-40B4-BE49-F238E27FC236}">
                  <a16:creationId xmlns:a16="http://schemas.microsoft.com/office/drawing/2014/main" id="{129D8AEB-8F95-0366-114F-A284A88C2B84}"/>
                </a:ext>
              </a:extLst>
            </p:cNvPr>
            <p:cNvSpPr/>
            <p:nvPr/>
          </p:nvSpPr>
          <p:spPr>
            <a:xfrm>
              <a:off x="681423" y="1183963"/>
              <a:ext cx="3094159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20" name="Grupo 119">
            <a:extLst>
              <a:ext uri="{FF2B5EF4-FFF2-40B4-BE49-F238E27FC236}">
                <a16:creationId xmlns:a16="http://schemas.microsoft.com/office/drawing/2014/main" id="{6F3D70EA-A062-5C11-71A8-E00FAF750CF1}"/>
              </a:ext>
            </a:extLst>
          </p:cNvPr>
          <p:cNvGrpSpPr/>
          <p:nvPr/>
        </p:nvGrpSpPr>
        <p:grpSpPr>
          <a:xfrm>
            <a:off x="7777183" y="2775745"/>
            <a:ext cx="2623981" cy="1933541"/>
            <a:chOff x="9059295" y="3127128"/>
            <a:chExt cx="2623981" cy="1933541"/>
          </a:xfrm>
        </p:grpSpPr>
        <p:grpSp>
          <p:nvGrpSpPr>
            <p:cNvPr id="106" name="Grupo 105">
              <a:extLst>
                <a:ext uri="{FF2B5EF4-FFF2-40B4-BE49-F238E27FC236}">
                  <a16:creationId xmlns:a16="http://schemas.microsoft.com/office/drawing/2014/main" id="{EEB52769-0D81-C8DC-F074-BE58DE48B555}"/>
                </a:ext>
              </a:extLst>
            </p:cNvPr>
            <p:cNvGrpSpPr/>
            <p:nvPr/>
          </p:nvGrpSpPr>
          <p:grpSpPr>
            <a:xfrm>
              <a:off x="9080988" y="3127128"/>
              <a:ext cx="2601495" cy="1933541"/>
              <a:chOff x="7590765" y="1110832"/>
              <a:chExt cx="2601495" cy="1780012"/>
            </a:xfrm>
          </p:grpSpPr>
          <p:sp>
            <p:nvSpPr>
              <p:cNvPr id="107" name="Rectángulo 106">
                <a:extLst>
                  <a:ext uri="{FF2B5EF4-FFF2-40B4-BE49-F238E27FC236}">
                    <a16:creationId xmlns:a16="http://schemas.microsoft.com/office/drawing/2014/main" id="{F9434C6A-5B58-DF97-BA57-252F69164678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108" name="Grupo 107">
                <a:extLst>
                  <a:ext uri="{FF2B5EF4-FFF2-40B4-BE49-F238E27FC236}">
                    <a16:creationId xmlns:a16="http://schemas.microsoft.com/office/drawing/2014/main" id="{D8760F3E-DF79-5C07-AC81-09F9AB00B77D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2191150" cy="1678227"/>
                <a:chOff x="3026344" y="1212927"/>
                <a:chExt cx="2191150" cy="1678227"/>
              </a:xfrm>
            </p:grpSpPr>
            <p:sp>
              <p:nvSpPr>
                <p:cNvPr id="110" name="CuadroTexto 109">
                  <a:extLst>
                    <a:ext uri="{FF2B5EF4-FFF2-40B4-BE49-F238E27FC236}">
                      <a16:creationId xmlns:a16="http://schemas.microsoft.com/office/drawing/2014/main" id="{4FD54228-9290-1C16-E855-F8D151090454}"/>
                    </a:ext>
                  </a:extLst>
                </p:cNvPr>
                <p:cNvSpPr txBox="1"/>
                <p:nvPr/>
              </p:nvSpPr>
              <p:spPr>
                <a:xfrm>
                  <a:off x="3811633" y="1212927"/>
                  <a:ext cx="140586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Estrato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11" name="CuadroTexto 110">
                  <a:extLst>
                    <a:ext uri="{FF2B5EF4-FFF2-40B4-BE49-F238E27FC236}">
                      <a16:creationId xmlns:a16="http://schemas.microsoft.com/office/drawing/2014/main" id="{BA1BC2F2-40B8-3808-EEFD-876931A43449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11%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  <p:sp>
            <p:nvSpPr>
              <p:cNvPr id="109" name="CuadroTexto 108">
                <a:extLst>
                  <a:ext uri="{FF2B5EF4-FFF2-40B4-BE49-F238E27FC236}">
                    <a16:creationId xmlns:a16="http://schemas.microsoft.com/office/drawing/2014/main" id="{329FC0E7-7398-DDB4-6C12-069C92D82B70}"/>
                  </a:ext>
                </a:extLst>
              </p:cNvPr>
              <p:cNvSpPr txBox="1"/>
              <p:nvPr/>
            </p:nvSpPr>
            <p:spPr>
              <a:xfrm>
                <a:off x="9019351" y="2317778"/>
                <a:ext cx="1172909" cy="566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Cuatro</a:t>
                </a:r>
              </a:p>
            </p:txBody>
          </p:sp>
        </p:grpSp>
        <p:sp>
          <p:nvSpPr>
            <p:cNvPr id="112" name="CuadroTexto 111">
              <a:extLst>
                <a:ext uri="{FF2B5EF4-FFF2-40B4-BE49-F238E27FC236}">
                  <a16:creationId xmlns:a16="http://schemas.microsoft.com/office/drawing/2014/main" id="{10E906EE-5892-7D93-057E-C035C6E575F0}"/>
                </a:ext>
              </a:extLst>
            </p:cNvPr>
            <p:cNvSpPr txBox="1"/>
            <p:nvPr/>
          </p:nvSpPr>
          <p:spPr>
            <a:xfrm>
              <a:off x="9059295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5%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Uno</a:t>
              </a:r>
            </a:p>
          </p:txBody>
        </p:sp>
        <p:sp>
          <p:nvSpPr>
            <p:cNvPr id="113" name="CuadroTexto 112">
              <a:extLst>
                <a:ext uri="{FF2B5EF4-FFF2-40B4-BE49-F238E27FC236}">
                  <a16:creationId xmlns:a16="http://schemas.microsoft.com/office/drawing/2014/main" id="{AD7E48E2-3F07-E2A5-0ACF-0993FEFC406B}"/>
                </a:ext>
              </a:extLst>
            </p:cNvPr>
            <p:cNvSpPr txBox="1"/>
            <p:nvPr/>
          </p:nvSpPr>
          <p:spPr>
            <a:xfrm>
              <a:off x="10510367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14%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Dos</a:t>
              </a:r>
            </a:p>
          </p:txBody>
        </p:sp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70CCC909-A8D9-6DED-81D6-CBAEC632CA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artisticPencilGrayscale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043317" y="3855923"/>
              <a:ext cx="655939" cy="655939"/>
            </a:xfrm>
            <a:prstGeom prst="rect">
              <a:avLst/>
            </a:prstGeom>
          </p:spPr>
        </p:pic>
      </p:grp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160D6BC2-0B98-D664-8A86-CFDD3A0538B5}"/>
              </a:ext>
            </a:extLst>
          </p:cNvPr>
          <p:cNvSpPr txBox="1"/>
          <p:nvPr/>
        </p:nvSpPr>
        <p:spPr>
          <a:xfrm>
            <a:off x="5289967" y="3228845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40%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 Cero</a:t>
            </a:r>
          </a:p>
        </p:txBody>
      </p:sp>
      <p:grpSp>
        <p:nvGrpSpPr>
          <p:cNvPr id="123" name="Grupo 122">
            <a:extLst>
              <a:ext uri="{FF2B5EF4-FFF2-40B4-BE49-F238E27FC236}">
                <a16:creationId xmlns:a16="http://schemas.microsoft.com/office/drawing/2014/main" id="{C0F5B2B1-067D-7AA0-A13F-D628FB067427}"/>
              </a:ext>
            </a:extLst>
          </p:cNvPr>
          <p:cNvGrpSpPr/>
          <p:nvPr/>
        </p:nvGrpSpPr>
        <p:grpSpPr>
          <a:xfrm>
            <a:off x="5340592" y="2790246"/>
            <a:ext cx="2602288" cy="1933541"/>
            <a:chOff x="5931142" y="3127128"/>
            <a:chExt cx="2602288" cy="1933541"/>
          </a:xfrm>
        </p:grpSpPr>
        <p:grpSp>
          <p:nvGrpSpPr>
            <p:cNvPr id="93" name="Grupo 92">
              <a:extLst>
                <a:ext uri="{FF2B5EF4-FFF2-40B4-BE49-F238E27FC236}">
                  <a16:creationId xmlns:a16="http://schemas.microsoft.com/office/drawing/2014/main" id="{44E586C6-554E-35D6-7B98-62789AAC61F8}"/>
                </a:ext>
              </a:extLst>
            </p:cNvPr>
            <p:cNvGrpSpPr/>
            <p:nvPr/>
          </p:nvGrpSpPr>
          <p:grpSpPr>
            <a:xfrm>
              <a:off x="5931142" y="3127128"/>
              <a:ext cx="2601495" cy="1933541"/>
              <a:chOff x="7590765" y="1110832"/>
              <a:chExt cx="2601495" cy="1780012"/>
            </a:xfrm>
          </p:grpSpPr>
          <p:sp>
            <p:nvSpPr>
              <p:cNvPr id="94" name="Rectángulo 93">
                <a:extLst>
                  <a:ext uri="{FF2B5EF4-FFF2-40B4-BE49-F238E27FC236}">
                    <a16:creationId xmlns:a16="http://schemas.microsoft.com/office/drawing/2014/main" id="{247A00F2-E718-5C79-F47A-71C9F7D85FF8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95" name="Grupo 94">
                <a:extLst>
                  <a:ext uri="{FF2B5EF4-FFF2-40B4-BE49-F238E27FC236}">
                    <a16:creationId xmlns:a16="http://schemas.microsoft.com/office/drawing/2014/main" id="{ADF642E7-77C6-6B8B-2F5E-4F2456A78DEA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1922369" cy="1647802"/>
                <a:chOff x="3026344" y="1212927"/>
                <a:chExt cx="1922369" cy="1647802"/>
              </a:xfrm>
            </p:grpSpPr>
            <p:sp>
              <p:nvSpPr>
                <p:cNvPr id="97" name="CuadroTexto 96">
                  <a:extLst>
                    <a:ext uri="{FF2B5EF4-FFF2-40B4-BE49-F238E27FC236}">
                      <a16:creationId xmlns:a16="http://schemas.microsoft.com/office/drawing/2014/main" id="{FF12EF73-2231-69F5-03DD-57A859566540}"/>
                    </a:ext>
                  </a:extLst>
                </p:cNvPr>
                <p:cNvSpPr txBox="1"/>
                <p:nvPr/>
              </p:nvSpPr>
              <p:spPr>
                <a:xfrm>
                  <a:off x="4021092" y="1212927"/>
                  <a:ext cx="92762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PAC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98" name="CuadroTexto 97">
                  <a:extLst>
                    <a:ext uri="{FF2B5EF4-FFF2-40B4-BE49-F238E27FC236}">
                      <a16:creationId xmlns:a16="http://schemas.microsoft.com/office/drawing/2014/main" id="{B4E8065D-E828-1136-9079-A727FA0E227A}"/>
                    </a:ext>
                  </a:extLst>
                </p:cNvPr>
                <p:cNvSpPr txBox="1"/>
                <p:nvPr/>
              </p:nvSpPr>
              <p:spPr>
                <a:xfrm>
                  <a:off x="3026344" y="2294053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7%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  <p:sp>
            <p:nvSpPr>
              <p:cNvPr id="96" name="CuadroTexto 95">
                <a:extLst>
                  <a:ext uri="{FF2B5EF4-FFF2-40B4-BE49-F238E27FC236}">
                    <a16:creationId xmlns:a16="http://schemas.microsoft.com/office/drawing/2014/main" id="{21B44365-F3A9-B08E-B026-04A725FF2E66}"/>
                  </a:ext>
                </a:extLst>
              </p:cNvPr>
              <p:cNvSpPr txBox="1"/>
              <p:nvPr/>
            </p:nvSpPr>
            <p:spPr>
              <a:xfrm>
                <a:off x="9019351" y="2317778"/>
                <a:ext cx="1172909" cy="566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Cuatro</a:t>
                </a:r>
              </a:p>
            </p:txBody>
          </p:sp>
        </p:grpSp>
        <p:grpSp>
          <p:nvGrpSpPr>
            <p:cNvPr id="121" name="Grupo 120">
              <a:extLst>
                <a:ext uri="{FF2B5EF4-FFF2-40B4-BE49-F238E27FC236}">
                  <a16:creationId xmlns:a16="http://schemas.microsoft.com/office/drawing/2014/main" id="{4E3AFB10-7E75-B591-7C9B-FA0F1AF92F0D}"/>
                </a:ext>
              </a:extLst>
            </p:cNvPr>
            <p:cNvGrpSpPr/>
            <p:nvPr/>
          </p:nvGrpSpPr>
          <p:grpSpPr>
            <a:xfrm>
              <a:off x="6649678" y="3565727"/>
              <a:ext cx="1883752" cy="1414028"/>
              <a:chOff x="6649678" y="3565727"/>
              <a:chExt cx="1883752" cy="1414028"/>
            </a:xfrm>
          </p:grpSpPr>
          <p:sp>
            <p:nvSpPr>
              <p:cNvPr id="99" name="CuadroTexto 98">
                <a:extLst>
                  <a:ext uri="{FF2B5EF4-FFF2-40B4-BE49-F238E27FC236}">
                    <a16:creationId xmlns:a16="http://schemas.microsoft.com/office/drawing/2014/main" id="{15300ADD-A996-FA02-FA51-57C7C3186CD5}"/>
                  </a:ext>
                </a:extLst>
              </p:cNvPr>
              <p:cNvSpPr txBox="1"/>
              <p:nvPr/>
            </p:nvSpPr>
            <p:spPr>
              <a:xfrm>
                <a:off x="6649678" y="358240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28%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Uno</a:t>
                </a:r>
              </a:p>
            </p:txBody>
          </p:sp>
          <p:sp>
            <p:nvSpPr>
              <p:cNvPr id="101" name="CuadroTexto 100">
                <a:extLst>
                  <a:ext uri="{FF2B5EF4-FFF2-40B4-BE49-F238E27FC236}">
                    <a16:creationId xmlns:a16="http://schemas.microsoft.com/office/drawing/2014/main" id="{FD6AD90B-0D9A-2993-03E0-52BF564706BB}"/>
                  </a:ext>
                </a:extLst>
              </p:cNvPr>
              <p:cNvSpPr txBox="1"/>
              <p:nvPr/>
            </p:nvSpPr>
            <p:spPr>
              <a:xfrm>
                <a:off x="7360521" y="3565727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22%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Dos</a:t>
                </a:r>
              </a:p>
            </p:txBody>
          </p:sp>
          <p:pic>
            <p:nvPicPr>
              <p:cNvPr id="118" name="Imagen 117">
                <a:extLst>
                  <a:ext uri="{FF2B5EF4-FFF2-40B4-BE49-F238E27FC236}">
                    <a16:creationId xmlns:a16="http://schemas.microsoft.com/office/drawing/2014/main" id="{78F94D25-8159-55EF-2D2D-FFB07F9F37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artisticPaintStrokes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886925" y="4205951"/>
                <a:ext cx="773804" cy="773804"/>
              </a:xfrm>
              <a:prstGeom prst="rect">
                <a:avLst/>
              </a:prstGeom>
            </p:spPr>
          </p:pic>
        </p:grpSp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1187A209-AF94-882B-B489-36059A504EE6}"/>
              </a:ext>
            </a:extLst>
          </p:cNvPr>
          <p:cNvGrpSpPr/>
          <p:nvPr/>
        </p:nvGrpSpPr>
        <p:grpSpPr>
          <a:xfrm>
            <a:off x="8022470" y="853892"/>
            <a:ext cx="2195988" cy="1780012"/>
            <a:chOff x="7814360" y="1110832"/>
            <a:chExt cx="2195988" cy="1780012"/>
          </a:xfrm>
        </p:grpSpPr>
        <p:grpSp>
          <p:nvGrpSpPr>
            <p:cNvPr id="66" name="Grupo 65">
              <a:extLst>
                <a:ext uri="{FF2B5EF4-FFF2-40B4-BE49-F238E27FC236}">
                  <a16:creationId xmlns:a16="http://schemas.microsoft.com/office/drawing/2014/main" id="{AFC981E5-D140-5A53-FDE7-02343ED023EE}"/>
                </a:ext>
              </a:extLst>
            </p:cNvPr>
            <p:cNvGrpSpPr/>
            <p:nvPr/>
          </p:nvGrpSpPr>
          <p:grpSpPr>
            <a:xfrm>
              <a:off x="7814360" y="1110832"/>
              <a:ext cx="2195988" cy="1780012"/>
              <a:chOff x="7814360" y="1110832"/>
              <a:chExt cx="2195988" cy="1780012"/>
            </a:xfrm>
          </p:grpSpPr>
          <p:sp>
            <p:nvSpPr>
              <p:cNvPr id="60" name="Rectángulo 59">
                <a:extLst>
                  <a:ext uri="{FF2B5EF4-FFF2-40B4-BE49-F238E27FC236}">
                    <a16:creationId xmlns:a16="http://schemas.microsoft.com/office/drawing/2014/main" id="{CB666037-CF2F-0927-D3E6-756637942C6E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61" name="Grupo 60">
                <a:extLst>
                  <a:ext uri="{FF2B5EF4-FFF2-40B4-BE49-F238E27FC236}">
                    <a16:creationId xmlns:a16="http://schemas.microsoft.com/office/drawing/2014/main" id="{DAC88D98-664D-A116-31CF-1B286331016A}"/>
                  </a:ext>
                </a:extLst>
              </p:cNvPr>
              <p:cNvGrpSpPr/>
              <p:nvPr/>
            </p:nvGrpSpPr>
            <p:grpSpPr>
              <a:xfrm>
                <a:off x="7814361" y="1223137"/>
                <a:ext cx="2083693" cy="1630468"/>
                <a:chOff x="3249940" y="1229837"/>
                <a:chExt cx="2083693" cy="1630468"/>
              </a:xfrm>
            </p:grpSpPr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2F4AAC0E-64C5-0763-CE0E-5ACB2102D522}"/>
                    </a:ext>
                  </a:extLst>
                </p:cNvPr>
                <p:cNvSpPr txBox="1"/>
                <p:nvPr/>
              </p:nvSpPr>
              <p:spPr>
                <a:xfrm>
                  <a:off x="3552927" y="1229837"/>
                  <a:ext cx="1780706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Rango Edad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918628AD-3165-A5AA-BF9A-7BA1CDE9F7B1}"/>
                    </a:ext>
                  </a:extLst>
                </p:cNvPr>
                <p:cNvSpPr txBox="1"/>
                <p:nvPr/>
              </p:nvSpPr>
              <p:spPr>
                <a:xfrm>
                  <a:off x="3249940" y="2306307"/>
                  <a:ext cx="1172909" cy="5539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56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20 a 35 años</a:t>
                  </a:r>
                </a:p>
              </p:txBody>
            </p:sp>
          </p:grpSp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6F74E1CE-91EB-D1C5-B801-1F32147155FC}"/>
                  </a:ext>
                </a:extLst>
              </p:cNvPr>
              <p:cNvSpPr txBox="1"/>
              <p:nvPr/>
            </p:nvSpPr>
            <p:spPr>
              <a:xfrm>
                <a:off x="8837439" y="2289285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26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36 a 45 años</a:t>
                </a:r>
              </a:p>
            </p:txBody>
          </p:sp>
        </p:grpSp>
        <p:pic>
          <p:nvPicPr>
            <p:cNvPr id="128" name="Imagen 127">
              <a:extLst>
                <a:ext uri="{FF2B5EF4-FFF2-40B4-BE49-F238E27FC236}">
                  <a16:creationId xmlns:a16="http://schemas.microsoft.com/office/drawing/2014/main" id="{F15AB157-2DE0-D59F-530E-217A18C327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17644" y="1602912"/>
              <a:ext cx="655473" cy="655473"/>
            </a:xfrm>
            <a:prstGeom prst="rect">
              <a:avLst/>
            </a:prstGeom>
          </p:spPr>
        </p:pic>
      </p:grpSp>
      <p:grpSp>
        <p:nvGrpSpPr>
          <p:cNvPr id="189" name="Grupo 188">
            <a:extLst>
              <a:ext uri="{FF2B5EF4-FFF2-40B4-BE49-F238E27FC236}">
                <a16:creationId xmlns:a16="http://schemas.microsoft.com/office/drawing/2014/main" id="{FF0F47CC-9088-8957-9870-4DCBDD04C406}"/>
              </a:ext>
            </a:extLst>
          </p:cNvPr>
          <p:cNvGrpSpPr/>
          <p:nvPr/>
        </p:nvGrpSpPr>
        <p:grpSpPr>
          <a:xfrm>
            <a:off x="-114768" y="4837223"/>
            <a:ext cx="3758502" cy="1933541"/>
            <a:chOff x="435340" y="4837223"/>
            <a:chExt cx="4854517" cy="1933541"/>
          </a:xfrm>
        </p:grpSpPr>
        <p:grpSp>
          <p:nvGrpSpPr>
            <p:cNvPr id="138" name="Grupo 137">
              <a:extLst>
                <a:ext uri="{FF2B5EF4-FFF2-40B4-BE49-F238E27FC236}">
                  <a16:creationId xmlns:a16="http://schemas.microsoft.com/office/drawing/2014/main" id="{2F1765E3-28C2-EEC4-DD25-0961826627B7}"/>
                </a:ext>
              </a:extLst>
            </p:cNvPr>
            <p:cNvGrpSpPr/>
            <p:nvPr/>
          </p:nvGrpSpPr>
          <p:grpSpPr>
            <a:xfrm>
              <a:off x="435340" y="4837223"/>
              <a:ext cx="4854517" cy="1933541"/>
              <a:chOff x="9135236" y="3127128"/>
              <a:chExt cx="3830051" cy="1933541"/>
            </a:xfrm>
          </p:grpSpPr>
          <p:grpSp>
            <p:nvGrpSpPr>
              <p:cNvPr id="139" name="Grupo 138">
                <a:extLst>
                  <a:ext uri="{FF2B5EF4-FFF2-40B4-BE49-F238E27FC236}">
                    <a16:creationId xmlns:a16="http://schemas.microsoft.com/office/drawing/2014/main" id="{102F2DB0-5D16-1364-442B-31BFAC445AA3}"/>
                  </a:ext>
                </a:extLst>
              </p:cNvPr>
              <p:cNvGrpSpPr/>
              <p:nvPr/>
            </p:nvGrpSpPr>
            <p:grpSpPr>
              <a:xfrm>
                <a:off x="9229918" y="3127128"/>
                <a:ext cx="3735369" cy="1933541"/>
                <a:chOff x="7739695" y="1110832"/>
                <a:chExt cx="3735369" cy="1780012"/>
              </a:xfrm>
            </p:grpSpPr>
            <p:sp>
              <p:nvSpPr>
                <p:cNvPr id="143" name="Rectángulo 142">
                  <a:extLst>
                    <a:ext uri="{FF2B5EF4-FFF2-40B4-BE49-F238E27FC236}">
                      <a16:creationId xmlns:a16="http://schemas.microsoft.com/office/drawing/2014/main" id="{F0087310-B8AD-6682-7211-710FBABA4F06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3246650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44" name="Grupo 143">
                  <a:extLst>
                    <a:ext uri="{FF2B5EF4-FFF2-40B4-BE49-F238E27FC236}">
                      <a16:creationId xmlns:a16="http://schemas.microsoft.com/office/drawing/2014/main" id="{888FB189-3A32-D4C8-C1E7-0FEB3D14154A}"/>
                    </a:ext>
                  </a:extLst>
                </p:cNvPr>
                <p:cNvGrpSpPr/>
                <p:nvPr/>
              </p:nvGrpSpPr>
              <p:grpSpPr>
                <a:xfrm>
                  <a:off x="7739695" y="1236316"/>
                  <a:ext cx="3735369" cy="1532075"/>
                  <a:chOff x="3175274" y="1243016"/>
                  <a:chExt cx="3735369" cy="1532075"/>
                </a:xfrm>
              </p:grpSpPr>
              <p:sp>
                <p:nvSpPr>
                  <p:cNvPr id="146" name="CuadroTexto 145">
                    <a:extLst>
                      <a:ext uri="{FF2B5EF4-FFF2-40B4-BE49-F238E27FC236}">
                        <a16:creationId xmlns:a16="http://schemas.microsoft.com/office/drawing/2014/main" id="{C6C60A9B-DE96-01D3-6D63-1F669E84469D}"/>
                      </a:ext>
                    </a:extLst>
                  </p:cNvPr>
                  <p:cNvSpPr txBox="1"/>
                  <p:nvPr/>
                </p:nvSpPr>
                <p:spPr>
                  <a:xfrm>
                    <a:off x="3854322" y="1243016"/>
                    <a:ext cx="3056321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Segmento Empresas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47" name="CuadroTexto 146">
                    <a:extLst>
                      <a:ext uri="{FF2B5EF4-FFF2-40B4-BE49-F238E27FC236}">
                        <a16:creationId xmlns:a16="http://schemas.microsoft.com/office/drawing/2014/main" id="{0421FA16-0EEC-8F70-53E5-5F49629EF816}"/>
                      </a:ext>
                    </a:extLst>
                  </p:cNvPr>
                  <p:cNvSpPr txBox="1"/>
                  <p:nvPr/>
                </p:nvSpPr>
                <p:spPr>
                  <a:xfrm>
                    <a:off x="3175274" y="2208415"/>
                    <a:ext cx="1945898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29%</a:t>
                    </a:r>
                    <a:endParaRPr lang="es-CO" sz="1400" b="1" dirty="0">
                      <a:solidFill>
                        <a:schemeClr val="bg1"/>
                      </a:solidFill>
                    </a:endParaRP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Medianas</a:t>
                    </a:r>
                  </a:p>
                </p:txBody>
              </p:sp>
            </p:grpSp>
            <p:sp>
              <p:nvSpPr>
                <p:cNvPr id="145" name="CuadroTexto 144">
                  <a:extLst>
                    <a:ext uri="{FF2B5EF4-FFF2-40B4-BE49-F238E27FC236}">
                      <a16:creationId xmlns:a16="http://schemas.microsoft.com/office/drawing/2014/main" id="{CC60EE11-1646-5F3C-9F0F-2D5535515673}"/>
                    </a:ext>
                  </a:extLst>
                </p:cNvPr>
                <p:cNvSpPr txBox="1"/>
                <p:nvPr/>
              </p:nvSpPr>
              <p:spPr>
                <a:xfrm>
                  <a:off x="9864249" y="1523867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20%</a:t>
                  </a:r>
                </a:p>
                <a:p>
                  <a:r>
                    <a:rPr lang="es-CO" sz="1400" b="1">
                      <a:solidFill>
                        <a:schemeClr val="bg1"/>
                      </a:solidFill>
                    </a:rPr>
                    <a:t>       Grandes</a:t>
                  </a:r>
                </a:p>
              </p:txBody>
            </p:sp>
          </p:grpSp>
          <p:sp>
            <p:nvSpPr>
              <p:cNvPr id="140" name="CuadroTexto 139">
                <a:extLst>
                  <a:ext uri="{FF2B5EF4-FFF2-40B4-BE49-F238E27FC236}">
                    <a16:creationId xmlns:a16="http://schemas.microsoft.com/office/drawing/2014/main" id="{7937AAB1-8EF2-854A-D88E-A05094AA2324}"/>
                  </a:ext>
                </a:extLst>
              </p:cNvPr>
              <p:cNvSpPr txBox="1"/>
              <p:nvPr/>
            </p:nvSpPr>
            <p:spPr>
              <a:xfrm>
                <a:off x="9135236" y="3565727"/>
                <a:ext cx="145027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15%</a:t>
                </a:r>
              </a:p>
              <a:p>
                <a:r>
                  <a:rPr lang="es-CO" sz="1400" b="1">
                    <a:solidFill>
                      <a:schemeClr val="bg1"/>
                    </a:solidFill>
                  </a:rPr>
                  <a:t>       Emp Top</a:t>
                </a:r>
              </a:p>
            </p:txBody>
          </p:sp>
          <p:sp>
            <p:nvSpPr>
              <p:cNvPr id="141" name="CuadroTexto 140">
                <a:extLst>
                  <a:ext uri="{FF2B5EF4-FFF2-40B4-BE49-F238E27FC236}">
                    <a16:creationId xmlns:a16="http://schemas.microsoft.com/office/drawing/2014/main" id="{B76ED8FD-C147-561C-0180-AB4453BB706B}"/>
                  </a:ext>
                </a:extLst>
              </p:cNvPr>
              <p:cNvSpPr txBox="1"/>
              <p:nvPr/>
            </p:nvSpPr>
            <p:spPr>
              <a:xfrm>
                <a:off x="10055645" y="3580594"/>
                <a:ext cx="152651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32%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    Micro    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Transaccional</a:t>
                </a:r>
              </a:p>
            </p:txBody>
          </p:sp>
        </p:grpSp>
        <p:pic>
          <p:nvPicPr>
            <p:cNvPr id="149" name="Imagen 148">
              <a:extLst>
                <a:ext uri="{FF2B5EF4-FFF2-40B4-BE49-F238E27FC236}">
                  <a16:creationId xmlns:a16="http://schemas.microsoft.com/office/drawing/2014/main" id="{0FF6CC56-3C4A-181B-DDFA-A802D5D429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325932" y="6027593"/>
              <a:ext cx="677562" cy="677562"/>
            </a:xfrm>
            <a:prstGeom prst="rect">
              <a:avLst/>
            </a:prstGeom>
          </p:spPr>
        </p:pic>
      </p:grp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29796FAA-2FD5-DFCB-625B-8E70370AC912}"/>
              </a:ext>
            </a:extLst>
          </p:cNvPr>
          <p:cNvSpPr txBox="1"/>
          <p:nvPr/>
        </p:nvSpPr>
        <p:spPr>
          <a:xfrm>
            <a:off x="2093411" y="5976448"/>
            <a:ext cx="128594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4%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Estándar</a:t>
            </a:r>
          </a:p>
        </p:txBody>
      </p:sp>
      <p:grpSp>
        <p:nvGrpSpPr>
          <p:cNvPr id="151" name="Grupo 150">
            <a:extLst>
              <a:ext uri="{FF2B5EF4-FFF2-40B4-BE49-F238E27FC236}">
                <a16:creationId xmlns:a16="http://schemas.microsoft.com/office/drawing/2014/main" id="{296A62EA-C02B-4390-3135-CE37E0ADA028}"/>
              </a:ext>
            </a:extLst>
          </p:cNvPr>
          <p:cNvGrpSpPr/>
          <p:nvPr/>
        </p:nvGrpSpPr>
        <p:grpSpPr>
          <a:xfrm>
            <a:off x="3041036" y="4852302"/>
            <a:ext cx="2562052" cy="1933541"/>
            <a:chOff x="9024616" y="3127128"/>
            <a:chExt cx="2562052" cy="1933541"/>
          </a:xfrm>
        </p:grpSpPr>
        <p:grpSp>
          <p:nvGrpSpPr>
            <p:cNvPr id="152" name="Grupo 151">
              <a:extLst>
                <a:ext uri="{FF2B5EF4-FFF2-40B4-BE49-F238E27FC236}">
                  <a16:creationId xmlns:a16="http://schemas.microsoft.com/office/drawing/2014/main" id="{22441558-1176-ABF0-1B1F-FC28EEFDF59E}"/>
                </a:ext>
              </a:extLst>
            </p:cNvPr>
            <p:cNvGrpSpPr/>
            <p:nvPr/>
          </p:nvGrpSpPr>
          <p:grpSpPr>
            <a:xfrm>
              <a:off x="9024616" y="3127128"/>
              <a:ext cx="2475954" cy="1933541"/>
              <a:chOff x="7534393" y="1110832"/>
              <a:chExt cx="2475954" cy="1780012"/>
            </a:xfrm>
          </p:grpSpPr>
          <p:sp>
            <p:nvSpPr>
              <p:cNvPr id="157" name="Rectángulo 156">
                <a:extLst>
                  <a:ext uri="{FF2B5EF4-FFF2-40B4-BE49-F238E27FC236}">
                    <a16:creationId xmlns:a16="http://schemas.microsoft.com/office/drawing/2014/main" id="{5551EFCD-3939-099C-2C5C-A2AE4AB44DD1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158" name="Grupo 157">
                <a:extLst>
                  <a:ext uri="{FF2B5EF4-FFF2-40B4-BE49-F238E27FC236}">
                    <a16:creationId xmlns:a16="http://schemas.microsoft.com/office/drawing/2014/main" id="{05EA80FB-6918-13B0-48D3-CBCCD3001904}"/>
                  </a:ext>
                </a:extLst>
              </p:cNvPr>
              <p:cNvGrpSpPr/>
              <p:nvPr/>
            </p:nvGrpSpPr>
            <p:grpSpPr>
              <a:xfrm>
                <a:off x="7534393" y="1206227"/>
                <a:ext cx="2388623" cy="1388251"/>
                <a:chOff x="2969972" y="1212927"/>
                <a:chExt cx="2388623" cy="1388251"/>
              </a:xfrm>
            </p:grpSpPr>
            <p:sp>
              <p:nvSpPr>
                <p:cNvPr id="160" name="CuadroTexto 159">
                  <a:extLst>
                    <a:ext uri="{FF2B5EF4-FFF2-40B4-BE49-F238E27FC236}">
                      <a16:creationId xmlns:a16="http://schemas.microsoft.com/office/drawing/2014/main" id="{B1D782AE-3B3E-065F-968C-AEF5E0E2F71A}"/>
                    </a:ext>
                  </a:extLst>
                </p:cNvPr>
                <p:cNvSpPr txBox="1"/>
                <p:nvPr/>
              </p:nvSpPr>
              <p:spPr>
                <a:xfrm>
                  <a:off x="3408991" y="1212927"/>
                  <a:ext cx="1949604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Departamento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61" name="CuadroTexto 160">
                  <a:extLst>
                    <a:ext uri="{FF2B5EF4-FFF2-40B4-BE49-F238E27FC236}">
                      <a16:creationId xmlns:a16="http://schemas.microsoft.com/office/drawing/2014/main" id="{3F95B30C-7E24-960D-1F30-F7BFC72B105F}"/>
                    </a:ext>
                  </a:extLst>
                </p:cNvPr>
                <p:cNvSpPr txBox="1"/>
                <p:nvPr/>
              </p:nvSpPr>
              <p:spPr>
                <a:xfrm>
                  <a:off x="2969972" y="2034502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1%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Sibaté</a:t>
                  </a:r>
                </a:p>
              </p:txBody>
            </p:sp>
          </p:grpSp>
        </p:grpSp>
        <p:sp>
          <p:nvSpPr>
            <p:cNvPr id="154" name="CuadroTexto 153">
              <a:extLst>
                <a:ext uri="{FF2B5EF4-FFF2-40B4-BE49-F238E27FC236}">
                  <a16:creationId xmlns:a16="http://schemas.microsoft.com/office/drawing/2014/main" id="{D4A9306C-C186-E9DD-F53B-E1D07FEC018B}"/>
                </a:ext>
              </a:extLst>
            </p:cNvPr>
            <p:cNvSpPr txBox="1"/>
            <p:nvPr/>
          </p:nvSpPr>
          <p:spPr>
            <a:xfrm>
              <a:off x="9059295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45%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Bogotá</a:t>
              </a:r>
            </a:p>
          </p:txBody>
        </p:sp>
        <p:sp>
          <p:nvSpPr>
            <p:cNvPr id="155" name="CuadroTexto 154">
              <a:extLst>
                <a:ext uri="{FF2B5EF4-FFF2-40B4-BE49-F238E27FC236}">
                  <a16:creationId xmlns:a16="http://schemas.microsoft.com/office/drawing/2014/main" id="{564FA8D2-05CF-F2E6-97FC-4A12F5AB71A7}"/>
                </a:ext>
              </a:extLst>
            </p:cNvPr>
            <p:cNvSpPr txBox="1"/>
            <p:nvPr/>
          </p:nvSpPr>
          <p:spPr>
            <a:xfrm>
              <a:off x="10368253" y="3565504"/>
              <a:ext cx="1218415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7%</a:t>
              </a:r>
              <a:r>
                <a:rPr lang="es-CO" sz="1400" b="1" dirty="0">
                  <a:solidFill>
                    <a:schemeClr val="bg1"/>
                  </a:solidFill>
                </a:rPr>
                <a:t>                        Soacha  </a:t>
              </a:r>
            </a:p>
          </p:txBody>
        </p:sp>
      </p:grpSp>
      <p:grpSp>
        <p:nvGrpSpPr>
          <p:cNvPr id="201" name="Grupo 200">
            <a:extLst>
              <a:ext uri="{FF2B5EF4-FFF2-40B4-BE49-F238E27FC236}">
                <a16:creationId xmlns:a16="http://schemas.microsoft.com/office/drawing/2014/main" id="{FA791029-5A2D-DE7A-0400-797B8828468E}"/>
              </a:ext>
            </a:extLst>
          </p:cNvPr>
          <p:cNvGrpSpPr/>
          <p:nvPr/>
        </p:nvGrpSpPr>
        <p:grpSpPr>
          <a:xfrm>
            <a:off x="5407406" y="4842106"/>
            <a:ext cx="2693579" cy="1985915"/>
            <a:chOff x="5483606" y="4842106"/>
            <a:chExt cx="2693579" cy="1985915"/>
          </a:xfrm>
        </p:grpSpPr>
        <p:grpSp>
          <p:nvGrpSpPr>
            <p:cNvPr id="164" name="Grupo 163">
              <a:extLst>
                <a:ext uri="{FF2B5EF4-FFF2-40B4-BE49-F238E27FC236}">
                  <a16:creationId xmlns:a16="http://schemas.microsoft.com/office/drawing/2014/main" id="{E295FEA1-DC14-9697-76E4-F78322FA039F}"/>
                </a:ext>
              </a:extLst>
            </p:cNvPr>
            <p:cNvGrpSpPr/>
            <p:nvPr/>
          </p:nvGrpSpPr>
          <p:grpSpPr>
            <a:xfrm>
              <a:off x="5483606" y="4842106"/>
              <a:ext cx="2693579" cy="1957609"/>
              <a:chOff x="9049330" y="3127128"/>
              <a:chExt cx="2693579" cy="1957609"/>
            </a:xfrm>
          </p:grpSpPr>
          <p:grpSp>
            <p:nvGrpSpPr>
              <p:cNvPr id="165" name="Grupo 164">
                <a:extLst>
                  <a:ext uri="{FF2B5EF4-FFF2-40B4-BE49-F238E27FC236}">
                    <a16:creationId xmlns:a16="http://schemas.microsoft.com/office/drawing/2014/main" id="{5169F1E7-37AF-DD89-45AC-52DE485DE690}"/>
                  </a:ext>
                </a:extLst>
              </p:cNvPr>
              <p:cNvGrpSpPr/>
              <p:nvPr/>
            </p:nvGrpSpPr>
            <p:grpSpPr>
              <a:xfrm>
                <a:off x="9049330" y="3127128"/>
                <a:ext cx="2655911" cy="1957609"/>
                <a:chOff x="7559107" y="1110832"/>
                <a:chExt cx="2655911" cy="1802169"/>
              </a:xfrm>
            </p:grpSpPr>
            <p:sp>
              <p:nvSpPr>
                <p:cNvPr id="168" name="Rectángulo 167">
                  <a:extLst>
                    <a:ext uri="{FF2B5EF4-FFF2-40B4-BE49-F238E27FC236}">
                      <a16:creationId xmlns:a16="http://schemas.microsoft.com/office/drawing/2014/main" id="{25C4B107-5B44-1CDF-AD9E-8B6736FC0DCD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195987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70" name="Grupo 169">
                  <a:extLst>
                    <a:ext uri="{FF2B5EF4-FFF2-40B4-BE49-F238E27FC236}">
                      <a16:creationId xmlns:a16="http://schemas.microsoft.com/office/drawing/2014/main" id="{FB94FCE9-E12A-3A33-03E6-1F496B5A5ED5}"/>
                    </a:ext>
                  </a:extLst>
                </p:cNvPr>
                <p:cNvGrpSpPr/>
                <p:nvPr/>
              </p:nvGrpSpPr>
              <p:grpSpPr>
                <a:xfrm>
                  <a:off x="7559107" y="1207829"/>
                  <a:ext cx="2655911" cy="1705172"/>
                  <a:chOff x="2994686" y="1214529"/>
                  <a:chExt cx="2655911" cy="1705172"/>
                </a:xfrm>
              </p:grpSpPr>
              <p:sp>
                <p:nvSpPr>
                  <p:cNvPr id="171" name="CuadroTexto 170">
                    <a:extLst>
                      <a:ext uri="{FF2B5EF4-FFF2-40B4-BE49-F238E27FC236}">
                        <a16:creationId xmlns:a16="http://schemas.microsoft.com/office/drawing/2014/main" id="{18092CD8-8D78-E21D-4738-069BF2974C4D}"/>
                      </a:ext>
                    </a:extLst>
                  </p:cNvPr>
                  <p:cNvSpPr txBox="1"/>
                  <p:nvPr/>
                </p:nvSpPr>
                <p:spPr>
                  <a:xfrm>
                    <a:off x="3700993" y="1214529"/>
                    <a:ext cx="1949604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Localidad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72" name="CuadroTexto 171">
                    <a:extLst>
                      <a:ext uri="{FF2B5EF4-FFF2-40B4-BE49-F238E27FC236}">
                        <a16:creationId xmlns:a16="http://schemas.microsoft.com/office/drawing/2014/main" id="{2D880BD1-E29B-5BA6-5048-0C1C04F488E8}"/>
                      </a:ext>
                    </a:extLst>
                  </p:cNvPr>
                  <p:cNvSpPr txBox="1"/>
                  <p:nvPr/>
                </p:nvSpPr>
                <p:spPr>
                  <a:xfrm>
                    <a:off x="2994686" y="2353025"/>
                    <a:ext cx="1323041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3%</a:t>
                    </a: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    C. </a:t>
                    </a:r>
                    <a:r>
                      <a:rPr lang="es-CO" sz="1400" b="1" dirty="0" err="1">
                        <a:solidFill>
                          <a:schemeClr val="bg1"/>
                        </a:solidFill>
                      </a:rPr>
                      <a:t>Bolivar</a:t>
                    </a:r>
                    <a:endParaRPr lang="es-CO" sz="14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</p:grpSp>
          <p:sp>
            <p:nvSpPr>
              <p:cNvPr id="166" name="CuadroTexto 165">
                <a:extLst>
                  <a:ext uri="{FF2B5EF4-FFF2-40B4-BE49-F238E27FC236}">
                    <a16:creationId xmlns:a16="http://schemas.microsoft.com/office/drawing/2014/main" id="{04DC0CFD-0726-BFA9-9CA7-9500953A5E6D}"/>
                  </a:ext>
                </a:extLst>
              </p:cNvPr>
              <p:cNvSpPr txBox="1"/>
              <p:nvPr/>
            </p:nvSpPr>
            <p:spPr>
              <a:xfrm>
                <a:off x="9059295" y="3565727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4%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Kennedy</a:t>
                </a:r>
              </a:p>
            </p:txBody>
          </p:sp>
          <p:sp>
            <p:nvSpPr>
              <p:cNvPr id="167" name="CuadroTexto 166">
                <a:extLst>
                  <a:ext uri="{FF2B5EF4-FFF2-40B4-BE49-F238E27FC236}">
                    <a16:creationId xmlns:a16="http://schemas.microsoft.com/office/drawing/2014/main" id="{EB378C41-1484-29A2-3432-218FDED80249}"/>
                  </a:ext>
                </a:extLst>
              </p:cNvPr>
              <p:cNvSpPr txBox="1"/>
              <p:nvPr/>
            </p:nvSpPr>
            <p:spPr>
              <a:xfrm>
                <a:off x="10498522" y="3549824"/>
                <a:ext cx="1244387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5%</a:t>
                </a:r>
                <a:r>
                  <a:rPr lang="es-CO" sz="1400" b="1">
                    <a:solidFill>
                      <a:schemeClr val="bg1"/>
                    </a:solidFill>
                  </a:rPr>
                  <a:t>             Engativá</a:t>
                </a:r>
              </a:p>
            </p:txBody>
          </p:sp>
        </p:grpSp>
        <p:sp>
          <p:nvSpPr>
            <p:cNvPr id="185" name="CuadroTexto 184">
              <a:extLst>
                <a:ext uri="{FF2B5EF4-FFF2-40B4-BE49-F238E27FC236}">
                  <a16:creationId xmlns:a16="http://schemas.microsoft.com/office/drawing/2014/main" id="{A3B4A59F-73F3-A70E-5595-858A6312F809}"/>
                </a:ext>
              </a:extLst>
            </p:cNvPr>
            <p:cNvSpPr txBox="1"/>
            <p:nvPr/>
          </p:nvSpPr>
          <p:spPr>
            <a:xfrm>
              <a:off x="6625166" y="6212468"/>
              <a:ext cx="1323041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65%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 Sin </a:t>
              </a:r>
              <a:r>
                <a:rPr lang="es-CO" sz="1400" b="1" dirty="0" err="1">
                  <a:solidFill>
                    <a:schemeClr val="bg1"/>
                  </a:solidFill>
                </a:rPr>
                <a:t>Infor</a:t>
              </a:r>
              <a:endParaRPr lang="es-CO" sz="1400" b="1" dirty="0">
                <a:solidFill>
                  <a:schemeClr val="bg1"/>
                </a:solidFill>
              </a:endParaRPr>
            </a:p>
          </p:txBody>
        </p:sp>
        <p:pic>
          <p:nvPicPr>
            <p:cNvPr id="187" name="Imagen 186">
              <a:extLst>
                <a:ext uri="{FF2B5EF4-FFF2-40B4-BE49-F238E27FC236}">
                  <a16:creationId xmlns:a16="http://schemas.microsoft.com/office/drawing/2014/main" id="{64E80211-69C6-1E1A-1AE4-E5EAF9C3B6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401571" y="5793688"/>
              <a:ext cx="1266970" cy="620378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grpSp>
        <p:nvGrpSpPr>
          <p:cNvPr id="202" name="Grupo 201">
            <a:extLst>
              <a:ext uri="{FF2B5EF4-FFF2-40B4-BE49-F238E27FC236}">
                <a16:creationId xmlns:a16="http://schemas.microsoft.com/office/drawing/2014/main" id="{D57190CE-A552-D3B8-8706-D3732FA52C28}"/>
              </a:ext>
            </a:extLst>
          </p:cNvPr>
          <p:cNvGrpSpPr/>
          <p:nvPr/>
        </p:nvGrpSpPr>
        <p:grpSpPr>
          <a:xfrm>
            <a:off x="7528734" y="4834201"/>
            <a:ext cx="2867011" cy="1957609"/>
            <a:chOff x="8071595" y="4834201"/>
            <a:chExt cx="3008704" cy="1957609"/>
          </a:xfrm>
        </p:grpSpPr>
        <p:grpSp>
          <p:nvGrpSpPr>
            <p:cNvPr id="190" name="Grupo 189">
              <a:extLst>
                <a:ext uri="{FF2B5EF4-FFF2-40B4-BE49-F238E27FC236}">
                  <a16:creationId xmlns:a16="http://schemas.microsoft.com/office/drawing/2014/main" id="{20192A57-B776-76C9-8C08-81E36742A181}"/>
                </a:ext>
              </a:extLst>
            </p:cNvPr>
            <p:cNvGrpSpPr/>
            <p:nvPr/>
          </p:nvGrpSpPr>
          <p:grpSpPr>
            <a:xfrm>
              <a:off x="8071595" y="4834201"/>
              <a:ext cx="3008704" cy="1957609"/>
              <a:chOff x="8845727" y="3127128"/>
              <a:chExt cx="3008704" cy="1957609"/>
            </a:xfrm>
          </p:grpSpPr>
          <p:grpSp>
            <p:nvGrpSpPr>
              <p:cNvPr id="191" name="Grupo 190">
                <a:extLst>
                  <a:ext uri="{FF2B5EF4-FFF2-40B4-BE49-F238E27FC236}">
                    <a16:creationId xmlns:a16="http://schemas.microsoft.com/office/drawing/2014/main" id="{B30A16BD-FF27-37DB-F486-310D0AD6C8FD}"/>
                  </a:ext>
                </a:extLst>
              </p:cNvPr>
              <p:cNvGrpSpPr/>
              <p:nvPr/>
            </p:nvGrpSpPr>
            <p:grpSpPr>
              <a:xfrm>
                <a:off x="8845727" y="3127128"/>
                <a:ext cx="3008704" cy="1957609"/>
                <a:chOff x="7355504" y="1110832"/>
                <a:chExt cx="3008704" cy="1802169"/>
              </a:xfrm>
            </p:grpSpPr>
            <p:sp>
              <p:nvSpPr>
                <p:cNvPr id="194" name="Rectángulo 193">
                  <a:extLst>
                    <a:ext uri="{FF2B5EF4-FFF2-40B4-BE49-F238E27FC236}">
                      <a16:creationId xmlns:a16="http://schemas.microsoft.com/office/drawing/2014/main" id="{20BC5C1E-BDDF-B1EF-C2F2-F414006ABF46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368574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95" name="Grupo 194">
                  <a:extLst>
                    <a:ext uri="{FF2B5EF4-FFF2-40B4-BE49-F238E27FC236}">
                      <a16:creationId xmlns:a16="http://schemas.microsoft.com/office/drawing/2014/main" id="{C2A309D4-8F91-E168-9916-653486AAE48E}"/>
                    </a:ext>
                  </a:extLst>
                </p:cNvPr>
                <p:cNvGrpSpPr/>
                <p:nvPr/>
              </p:nvGrpSpPr>
              <p:grpSpPr>
                <a:xfrm>
                  <a:off x="7355504" y="1207828"/>
                  <a:ext cx="3008704" cy="1705173"/>
                  <a:chOff x="2791083" y="1214528"/>
                  <a:chExt cx="3008704" cy="1705173"/>
                </a:xfrm>
              </p:grpSpPr>
              <p:sp>
                <p:nvSpPr>
                  <p:cNvPr id="197" name="CuadroTexto 196">
                    <a:extLst>
                      <a:ext uri="{FF2B5EF4-FFF2-40B4-BE49-F238E27FC236}">
                        <a16:creationId xmlns:a16="http://schemas.microsoft.com/office/drawing/2014/main" id="{668BA8D3-78F1-5A3F-8FBA-C50F2EB1A8FC}"/>
                      </a:ext>
                    </a:extLst>
                  </p:cNvPr>
                  <p:cNvSpPr txBox="1"/>
                  <p:nvPr/>
                </p:nvSpPr>
                <p:spPr>
                  <a:xfrm>
                    <a:off x="3225997" y="1214528"/>
                    <a:ext cx="2573790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Entidad Financieras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98" name="CuadroTexto 197">
                    <a:extLst>
                      <a:ext uri="{FF2B5EF4-FFF2-40B4-BE49-F238E27FC236}">
                        <a16:creationId xmlns:a16="http://schemas.microsoft.com/office/drawing/2014/main" id="{A55D41BE-2583-FC91-E289-947473A72C4F}"/>
                      </a:ext>
                    </a:extLst>
                  </p:cNvPr>
                  <p:cNvSpPr txBox="1"/>
                  <p:nvPr/>
                </p:nvSpPr>
                <p:spPr>
                  <a:xfrm>
                    <a:off x="2791083" y="2353025"/>
                    <a:ext cx="2440539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13%</a:t>
                    </a: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          FNA</a:t>
                    </a:r>
                  </a:p>
                </p:txBody>
              </p:sp>
            </p:grpSp>
          </p:grpSp>
          <p:sp>
            <p:nvSpPr>
              <p:cNvPr id="192" name="CuadroTexto 191">
                <a:extLst>
                  <a:ext uri="{FF2B5EF4-FFF2-40B4-BE49-F238E27FC236}">
                    <a16:creationId xmlns:a16="http://schemas.microsoft.com/office/drawing/2014/main" id="{6BB7C04A-3752-DE6B-3B41-088510859223}"/>
                  </a:ext>
                </a:extLst>
              </p:cNvPr>
              <p:cNvSpPr txBox="1"/>
              <p:nvPr/>
            </p:nvSpPr>
            <p:spPr>
              <a:xfrm>
                <a:off x="9267841" y="3565727"/>
                <a:ext cx="1337256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47%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Colsubsidio</a:t>
                </a:r>
              </a:p>
            </p:txBody>
          </p:sp>
          <p:sp>
            <p:nvSpPr>
              <p:cNvPr id="193" name="CuadroTexto 192">
                <a:extLst>
                  <a:ext uri="{FF2B5EF4-FFF2-40B4-BE49-F238E27FC236}">
                    <a16:creationId xmlns:a16="http://schemas.microsoft.com/office/drawing/2014/main" id="{66B2619A-F5D8-B98E-6766-5578CE2BF17E}"/>
                  </a:ext>
                </a:extLst>
              </p:cNvPr>
              <p:cNvSpPr txBox="1"/>
              <p:nvPr/>
            </p:nvSpPr>
            <p:spPr>
              <a:xfrm>
                <a:off x="10498522" y="3549824"/>
                <a:ext cx="1244387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25%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Davivienda</a:t>
                </a:r>
              </a:p>
            </p:txBody>
          </p:sp>
        </p:grpSp>
        <p:sp>
          <p:nvSpPr>
            <p:cNvPr id="199" name="CuadroTexto 198">
              <a:extLst>
                <a:ext uri="{FF2B5EF4-FFF2-40B4-BE49-F238E27FC236}">
                  <a16:creationId xmlns:a16="http://schemas.microsoft.com/office/drawing/2014/main" id="{BFE4C3DE-038E-FFF8-7FC3-A40E38EE3FF3}"/>
                </a:ext>
              </a:extLst>
            </p:cNvPr>
            <p:cNvSpPr txBox="1"/>
            <p:nvPr/>
          </p:nvSpPr>
          <p:spPr>
            <a:xfrm>
              <a:off x="9366872" y="6140046"/>
              <a:ext cx="1323041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  15%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      Otros</a:t>
              </a:r>
            </a:p>
          </p:txBody>
        </p:sp>
      </p:grpSp>
      <p:sp>
        <p:nvSpPr>
          <p:cNvPr id="200" name="CuadroTexto 199">
            <a:extLst>
              <a:ext uri="{FF2B5EF4-FFF2-40B4-BE49-F238E27FC236}">
                <a16:creationId xmlns:a16="http://schemas.microsoft.com/office/drawing/2014/main" id="{FC629AD9-9722-FF54-6684-33CEBA9B22E4}"/>
              </a:ext>
            </a:extLst>
          </p:cNvPr>
          <p:cNvSpPr txBox="1"/>
          <p:nvPr/>
        </p:nvSpPr>
        <p:spPr>
          <a:xfrm>
            <a:off x="4140736" y="5856787"/>
            <a:ext cx="137625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1%</a:t>
            </a:r>
          </a:p>
          <a:p>
            <a:r>
              <a:rPr lang="es-CO" sz="1400" b="1">
                <a:solidFill>
                  <a:schemeClr val="bg1"/>
                </a:solidFill>
              </a:rPr>
              <a:t>      Fusagasugá</a:t>
            </a:r>
          </a:p>
        </p:txBody>
      </p:sp>
      <p:pic>
        <p:nvPicPr>
          <p:cNvPr id="205" name="Imagen 204">
            <a:extLst>
              <a:ext uri="{FF2B5EF4-FFF2-40B4-BE49-F238E27FC236}">
                <a16:creationId xmlns:a16="http://schemas.microsoft.com/office/drawing/2014/main" id="{0EC8C770-E313-1D9B-9040-FD58D5764234}"/>
              </a:ext>
            </a:extLst>
          </p:cNvPr>
          <p:cNvPicPr>
            <a:picLocks noChangeAspect="1"/>
          </p:cNvPicPr>
          <p:nvPr/>
        </p:nvPicPr>
        <p:blipFill>
          <a:blip r:embed="rId22">
            <a:duotone>
              <a:prstClr val="black"/>
              <a:schemeClr val="tx1">
                <a:lumMod val="75000"/>
                <a:lumOff val="2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4538" y="5846263"/>
            <a:ext cx="673981" cy="673981"/>
          </a:xfrm>
          <a:prstGeom prst="rect">
            <a:avLst/>
          </a:prstGeom>
        </p:spPr>
      </p:pic>
      <p:grpSp>
        <p:nvGrpSpPr>
          <p:cNvPr id="208" name="Grupo 207">
            <a:extLst>
              <a:ext uri="{FF2B5EF4-FFF2-40B4-BE49-F238E27FC236}">
                <a16:creationId xmlns:a16="http://schemas.microsoft.com/office/drawing/2014/main" id="{0D753A7A-344A-1FE6-17DF-A593C63F6507}"/>
              </a:ext>
            </a:extLst>
          </p:cNvPr>
          <p:cNvGrpSpPr/>
          <p:nvPr/>
        </p:nvGrpSpPr>
        <p:grpSpPr>
          <a:xfrm>
            <a:off x="10245555" y="853892"/>
            <a:ext cx="1956550" cy="5540381"/>
            <a:chOff x="7793864" y="1110832"/>
            <a:chExt cx="1816602" cy="1780012"/>
          </a:xfrm>
        </p:grpSpPr>
        <p:sp>
          <p:nvSpPr>
            <p:cNvPr id="212" name="Rectángulo 211">
              <a:extLst>
                <a:ext uri="{FF2B5EF4-FFF2-40B4-BE49-F238E27FC236}">
                  <a16:creationId xmlns:a16="http://schemas.microsoft.com/office/drawing/2014/main" id="{0612E085-2A48-5C86-8628-62E4B099B3DD}"/>
                </a:ext>
              </a:extLst>
            </p:cNvPr>
            <p:cNvSpPr/>
            <p:nvPr/>
          </p:nvSpPr>
          <p:spPr>
            <a:xfrm>
              <a:off x="7814360" y="1110832"/>
              <a:ext cx="1666611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5" name="CuadroTexto 214">
              <a:extLst>
                <a:ext uri="{FF2B5EF4-FFF2-40B4-BE49-F238E27FC236}">
                  <a16:creationId xmlns:a16="http://schemas.microsoft.com/office/drawing/2014/main" id="{799A7ED2-60C3-BC9B-DF17-E2CC535D6D19}"/>
                </a:ext>
              </a:extLst>
            </p:cNvPr>
            <p:cNvSpPr txBox="1"/>
            <p:nvPr/>
          </p:nvSpPr>
          <p:spPr>
            <a:xfrm>
              <a:off x="7793864" y="1161252"/>
              <a:ext cx="1816602" cy="1141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1600">
                  <a:solidFill>
                    <a:srgbClr val="FFC000"/>
                  </a:solidFill>
                  <a:latin typeface="KG Red Hands" panose="02000505000000020004" pitchFamily="2" charset="0"/>
                </a:rPr>
                <a:t>Top Empresas</a:t>
              </a:r>
              <a:endParaRPr lang="es-ES" sz="1600">
                <a:solidFill>
                  <a:srgbClr val="FFC000"/>
                </a:solidFill>
              </a:endParaRPr>
            </a:p>
          </p:txBody>
        </p:sp>
        <p:sp>
          <p:nvSpPr>
            <p:cNvPr id="214" name="CuadroTexto 213">
              <a:extLst>
                <a:ext uri="{FF2B5EF4-FFF2-40B4-BE49-F238E27FC236}">
                  <a16:creationId xmlns:a16="http://schemas.microsoft.com/office/drawing/2014/main" id="{C1684AF1-2215-9B21-F245-A2F095EE2C59}"/>
                </a:ext>
              </a:extLst>
            </p:cNvPr>
            <p:cNvSpPr txBox="1"/>
            <p:nvPr/>
          </p:nvSpPr>
          <p:spPr>
            <a:xfrm>
              <a:off x="7830402" y="1354030"/>
              <a:ext cx="1689688" cy="3263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500" b="1" dirty="0">
                  <a:solidFill>
                    <a:schemeClr val="bg1"/>
                  </a:solidFill>
                </a:rPr>
                <a:t>COLSUBSIDIO	20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TELEPERFORMANCE	16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TRANSPORTE INTEGRADO DE B	8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SECURITAS COLOMBIA S A	6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CONSORCIO EXPRESS S A S	6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PERMODA LTDA	5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ALFAGRES S.A.	4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RECAUDO BOGOTA SAS	3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ATENTO COLOMBIA S A	3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MUEVE FONTIBON SAS	3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C DE TRANSP DE FUSAGASUGA	3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	                               </a:t>
              </a: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730E9929-7281-E88B-4EF1-938B1D4E7643}"/>
              </a:ext>
            </a:extLst>
          </p:cNvPr>
          <p:cNvSpPr txBox="1"/>
          <p:nvPr/>
        </p:nvSpPr>
        <p:spPr>
          <a:xfrm>
            <a:off x="3147194" y="4203365"/>
            <a:ext cx="154680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3</a:t>
            </a:r>
            <a:r>
              <a:rPr lang="es-CO" sz="1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%</a:t>
            </a:r>
          </a:p>
          <a:p>
            <a:r>
              <a:rPr lang="es-CO" sz="1200" b="1" dirty="0">
                <a:solidFill>
                  <a:schemeClr val="bg1"/>
                </a:solidFill>
              </a:rPr>
              <a:t>  Pareja Conyugal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B8A17A6-9C30-E96B-6636-CD373AF9DDB9}"/>
              </a:ext>
            </a:extLst>
          </p:cNvPr>
          <p:cNvSpPr txBox="1"/>
          <p:nvPr/>
        </p:nvSpPr>
        <p:spPr>
          <a:xfrm>
            <a:off x="10330342" y="6461181"/>
            <a:ext cx="14292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100" dirty="0">
                <a:solidFill>
                  <a:srgbClr val="FFC000"/>
                </a:solidFill>
                <a:latin typeface="KG Red Hands" panose="02000505000000020004" pitchFamily="2" charset="0"/>
              </a:rPr>
              <a:t>*Corte 15/01/2026</a:t>
            </a:r>
            <a:endParaRPr lang="es-ES" sz="11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4560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2D11A-F6D7-36FF-4D52-9E58D599E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2EBEBF59-203C-A8E1-EC05-2DFA3FACDB7E}"/>
              </a:ext>
            </a:extLst>
          </p:cNvPr>
          <p:cNvCxnSpPr>
            <a:cxnSpLocks/>
          </p:cNvCxnSpPr>
          <p:nvPr/>
        </p:nvCxnSpPr>
        <p:spPr>
          <a:xfrm flipH="1">
            <a:off x="0" y="645614"/>
            <a:ext cx="10809007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uadroTexto 85">
            <a:extLst>
              <a:ext uri="{FF2B5EF4-FFF2-40B4-BE49-F238E27FC236}">
                <a16:creationId xmlns:a16="http://schemas.microsoft.com/office/drawing/2014/main" id="{A85948EB-2EA4-9C90-7317-D0EFB5F2156E}"/>
              </a:ext>
            </a:extLst>
          </p:cNvPr>
          <p:cNvSpPr txBox="1"/>
          <p:nvPr/>
        </p:nvSpPr>
        <p:spPr>
          <a:xfrm>
            <a:off x="-128399" y="120715"/>
            <a:ext cx="95771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>
                <a:solidFill>
                  <a:schemeClr val="bg1"/>
                </a:solidFill>
                <a:latin typeface="KG Red Hands" panose="02000505000000020004" pitchFamily="2" charset="0"/>
              </a:rPr>
              <a:t>      Pamplona</a:t>
            </a:r>
            <a:endParaRPr lang="es-ES" sz="240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38178045-8F91-BBC9-8CE8-3F354CFC2C2E}"/>
              </a:ext>
              <a:ext uri="{147F2762-F138-4A5C-976F-8EAC2B608ADB}">
                <a16:predDERef xmlns:a16="http://schemas.microsoft.com/office/drawing/2014/main" pred="{95DEFF95-1524-40DB-8538-DE0C2D5BEC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3398838"/>
            <a:ext cx="555625" cy="49371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1C4745F-FF95-F97C-76F8-643BAD06178D}"/>
              </a:ext>
              <a:ext uri="{147F2762-F138-4A5C-976F-8EAC2B608ADB}">
                <a16:predDERef xmlns:a16="http://schemas.microsoft.com/office/drawing/2014/main" pred="{95FFDEC5-E647-4E60-9FB8-32349ACC1E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087813"/>
            <a:ext cx="555625" cy="46196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0828D52B-A5C7-E042-4888-63E3F6B44573}"/>
              </a:ext>
              <a:ext uri="{147F2762-F138-4A5C-976F-8EAC2B608ADB}">
                <a16:predDERef xmlns:a16="http://schemas.microsoft.com/office/drawing/2014/main" pred="{D53D0C4A-FE71-44C0-97B3-1EA296D3DCE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814888"/>
            <a:ext cx="555625" cy="41116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FE2E5CB6-700D-632E-4E4C-C63BC33E5685}"/>
              </a:ext>
              <a:ext uri="{147F2762-F138-4A5C-976F-8EAC2B608ADB}">
                <a16:predDERef xmlns:a16="http://schemas.microsoft.com/office/drawing/2014/main" pred="{7008BA42-7365-4AD1-B913-F26820CE47E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1775" y="5427663"/>
            <a:ext cx="465138" cy="433387"/>
          </a:xfrm>
          <a:prstGeom prst="rect">
            <a:avLst/>
          </a:prstGeom>
        </p:spPr>
      </p:pic>
      <p:grpSp>
        <p:nvGrpSpPr>
          <p:cNvPr id="135" name="Grupo 134">
            <a:extLst>
              <a:ext uri="{FF2B5EF4-FFF2-40B4-BE49-F238E27FC236}">
                <a16:creationId xmlns:a16="http://schemas.microsoft.com/office/drawing/2014/main" id="{EC4D1760-1B36-F02C-7157-E4FF4BC91114}"/>
              </a:ext>
            </a:extLst>
          </p:cNvPr>
          <p:cNvGrpSpPr/>
          <p:nvPr/>
        </p:nvGrpSpPr>
        <p:grpSpPr>
          <a:xfrm>
            <a:off x="5564187" y="853892"/>
            <a:ext cx="2195988" cy="1780012"/>
            <a:chOff x="5353656" y="1110832"/>
            <a:chExt cx="2195988" cy="1780012"/>
          </a:xfrm>
        </p:grpSpPr>
        <p:sp>
          <p:nvSpPr>
            <p:cNvPr id="58" name="Rectángulo 57">
              <a:extLst>
                <a:ext uri="{FF2B5EF4-FFF2-40B4-BE49-F238E27FC236}">
                  <a16:creationId xmlns:a16="http://schemas.microsoft.com/office/drawing/2014/main" id="{4191FFE4-A8A2-7751-D10A-58E95D59F5F9}"/>
                </a:ext>
              </a:extLst>
            </p:cNvPr>
            <p:cNvSpPr/>
            <p:nvPr/>
          </p:nvSpPr>
          <p:spPr>
            <a:xfrm>
              <a:off x="5353656" y="1110832"/>
              <a:ext cx="2195987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43" name="Grupo 42">
              <a:extLst>
                <a:ext uri="{FF2B5EF4-FFF2-40B4-BE49-F238E27FC236}">
                  <a16:creationId xmlns:a16="http://schemas.microsoft.com/office/drawing/2014/main" id="{5712E040-BB21-F018-B3E4-DDAFE1037A0A}"/>
                </a:ext>
              </a:extLst>
            </p:cNvPr>
            <p:cNvGrpSpPr/>
            <p:nvPr/>
          </p:nvGrpSpPr>
          <p:grpSpPr>
            <a:xfrm>
              <a:off x="5353657" y="1223137"/>
              <a:ext cx="2083693" cy="1630468"/>
              <a:chOff x="3249940" y="1229837"/>
              <a:chExt cx="2083693" cy="1630468"/>
            </a:xfrm>
          </p:grpSpPr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43F90518-3DCE-9A80-DCA6-453BED911910}"/>
                  </a:ext>
                </a:extLst>
              </p:cNvPr>
              <p:cNvSpPr txBox="1"/>
              <p:nvPr/>
            </p:nvSpPr>
            <p:spPr>
              <a:xfrm>
                <a:off x="3552927" y="1229837"/>
                <a:ext cx="178070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Rango Salario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E98012C7-7D75-D413-A9B1-3167759E81B8}"/>
                  </a:ext>
                </a:extLst>
              </p:cNvPr>
              <p:cNvSpPr txBox="1"/>
              <p:nvPr/>
            </p:nvSpPr>
            <p:spPr>
              <a:xfrm>
                <a:off x="3249940" y="2306307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87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Hasta 2 </a:t>
                </a:r>
                <a:r>
                  <a:rPr lang="es-CO" sz="1200" b="1" dirty="0" err="1">
                    <a:solidFill>
                      <a:schemeClr val="bg1"/>
                    </a:solidFill>
                  </a:rPr>
                  <a:t>smlv</a:t>
                </a:r>
                <a:endParaRPr lang="es-CO" sz="12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53" name="Imagen 52">
              <a:extLst>
                <a:ext uri="{FF2B5EF4-FFF2-40B4-BE49-F238E27FC236}">
                  <a16:creationId xmlns:a16="http://schemas.microsoft.com/office/drawing/2014/main" id="{3B2B186F-8EA7-0967-ADE1-E046A68D27F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12042" y="1623254"/>
              <a:ext cx="641350" cy="641350"/>
            </a:xfrm>
            <a:prstGeom prst="rect">
              <a:avLst/>
            </a:prstGeom>
          </p:spPr>
        </p:pic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78D69BF8-714C-31A0-91D8-48224CC4B6C0}"/>
                </a:ext>
              </a:extLst>
            </p:cNvPr>
            <p:cNvSpPr txBox="1"/>
            <p:nvPr/>
          </p:nvSpPr>
          <p:spPr>
            <a:xfrm>
              <a:off x="6376735" y="2289285"/>
              <a:ext cx="1172909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13</a:t>
              </a:r>
              <a:r>
                <a:rPr lang="es-CO" sz="18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Mas de 2 </a:t>
              </a:r>
              <a:r>
                <a:rPr lang="es-CO" sz="1200" b="1" dirty="0" err="1">
                  <a:solidFill>
                    <a:schemeClr val="bg1"/>
                  </a:solidFill>
                </a:rPr>
                <a:t>smlv</a:t>
              </a:r>
              <a:endParaRPr lang="es-CO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A4939729-4BAB-4C61-79EE-F739DDAEADE9}"/>
              </a:ext>
            </a:extLst>
          </p:cNvPr>
          <p:cNvGrpSpPr/>
          <p:nvPr/>
        </p:nvGrpSpPr>
        <p:grpSpPr>
          <a:xfrm>
            <a:off x="3320687" y="874756"/>
            <a:ext cx="1941094" cy="1759148"/>
            <a:chOff x="3224463" y="1110832"/>
            <a:chExt cx="1941094" cy="1759148"/>
          </a:xfrm>
        </p:grpSpPr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521720FA-8903-6415-ADFD-5CA5C9131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36596" y="1677993"/>
              <a:ext cx="721895" cy="721895"/>
            </a:xfrm>
            <a:prstGeom prst="rect">
              <a:avLst/>
            </a:prstGeom>
          </p:spPr>
        </p:pic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10B2EC00-541E-A7E3-B6AD-E517C50A052C}"/>
                </a:ext>
              </a:extLst>
            </p:cNvPr>
            <p:cNvGrpSpPr/>
            <p:nvPr/>
          </p:nvGrpSpPr>
          <p:grpSpPr>
            <a:xfrm>
              <a:off x="3420553" y="1223137"/>
              <a:ext cx="1609350" cy="1516670"/>
              <a:chOff x="3420553" y="1223137"/>
              <a:chExt cx="1609350" cy="1516670"/>
            </a:xfrm>
          </p:grpSpPr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CAAB6967-323D-38EF-6C97-AF22D18239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74608" y="1613811"/>
                <a:ext cx="723600" cy="723600"/>
              </a:xfrm>
              <a:prstGeom prst="rect">
                <a:avLst/>
              </a:prstGeom>
            </p:spPr>
          </p:pic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0EA56DC1-5CB5-2E3F-12CF-5324622676A9}"/>
                  </a:ext>
                </a:extLst>
              </p:cNvPr>
              <p:cNvSpPr txBox="1"/>
              <p:nvPr/>
            </p:nvSpPr>
            <p:spPr>
              <a:xfrm>
                <a:off x="3685253" y="1223137"/>
                <a:ext cx="1098946" cy="345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Género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C70F680D-3554-8822-21EF-7FF8482462A5}"/>
                  </a:ext>
                </a:extLst>
              </p:cNvPr>
              <p:cNvSpPr txBox="1"/>
              <p:nvPr/>
            </p:nvSpPr>
            <p:spPr>
              <a:xfrm>
                <a:off x="3420553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52%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9191DB29-F7C4-A21C-1C72-D01524E3B23E}"/>
                  </a:ext>
                </a:extLst>
              </p:cNvPr>
              <p:cNvSpPr txBox="1"/>
              <p:nvPr/>
            </p:nvSpPr>
            <p:spPr>
              <a:xfrm>
                <a:off x="4308008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48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</p:grp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7F064F34-A668-E14F-6580-0F8BC60A3F94}"/>
                </a:ext>
              </a:extLst>
            </p:cNvPr>
            <p:cNvSpPr/>
            <p:nvPr/>
          </p:nvSpPr>
          <p:spPr>
            <a:xfrm>
              <a:off x="3224463" y="1110832"/>
              <a:ext cx="1941094" cy="175914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78" name="CuadroTexto 77">
            <a:extLst>
              <a:ext uri="{FF2B5EF4-FFF2-40B4-BE49-F238E27FC236}">
                <a16:creationId xmlns:a16="http://schemas.microsoft.com/office/drawing/2014/main" id="{79362C96-925A-E391-6779-0F340248A68D}"/>
              </a:ext>
            </a:extLst>
          </p:cNvPr>
          <p:cNvSpPr txBox="1"/>
          <p:nvPr/>
        </p:nvSpPr>
        <p:spPr>
          <a:xfrm>
            <a:off x="1376075" y="3222417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18%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Joven</a:t>
            </a:r>
          </a:p>
        </p:txBody>
      </p: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724257AF-8A31-F526-4348-32D2864304FA}"/>
              </a:ext>
            </a:extLst>
          </p:cNvPr>
          <p:cNvGrpSpPr/>
          <p:nvPr/>
        </p:nvGrpSpPr>
        <p:grpSpPr>
          <a:xfrm>
            <a:off x="-155207" y="2771278"/>
            <a:ext cx="2688149" cy="1998661"/>
            <a:chOff x="435343" y="3108160"/>
            <a:chExt cx="2688149" cy="1998661"/>
          </a:xfrm>
        </p:grpSpPr>
        <p:grpSp>
          <p:nvGrpSpPr>
            <p:cNvPr id="69" name="Grupo 68">
              <a:extLst>
                <a:ext uri="{FF2B5EF4-FFF2-40B4-BE49-F238E27FC236}">
                  <a16:creationId xmlns:a16="http://schemas.microsoft.com/office/drawing/2014/main" id="{FE7EFC6B-7BA8-DB22-44A4-CF79A9A835A3}"/>
                </a:ext>
              </a:extLst>
            </p:cNvPr>
            <p:cNvGrpSpPr/>
            <p:nvPr/>
          </p:nvGrpSpPr>
          <p:grpSpPr>
            <a:xfrm>
              <a:off x="457829" y="3108160"/>
              <a:ext cx="2665663" cy="1998661"/>
              <a:chOff x="7590765" y="1110832"/>
              <a:chExt cx="2665663" cy="1822499"/>
            </a:xfrm>
          </p:grpSpPr>
          <p:sp>
            <p:nvSpPr>
              <p:cNvPr id="70" name="Rectángulo 69">
                <a:extLst>
                  <a:ext uri="{FF2B5EF4-FFF2-40B4-BE49-F238E27FC236}">
                    <a16:creationId xmlns:a16="http://schemas.microsoft.com/office/drawing/2014/main" id="{8B97E729-0A81-4383-7B1D-18486D3B3974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71" name="Grupo 70">
                <a:extLst>
                  <a:ext uri="{FF2B5EF4-FFF2-40B4-BE49-F238E27FC236}">
                    <a16:creationId xmlns:a16="http://schemas.microsoft.com/office/drawing/2014/main" id="{3391E254-B52C-0B17-5EDF-57F3D77BB378}"/>
                  </a:ext>
                </a:extLst>
              </p:cNvPr>
              <p:cNvGrpSpPr/>
              <p:nvPr/>
            </p:nvGrpSpPr>
            <p:grpSpPr>
              <a:xfrm>
                <a:off x="7590765" y="1223137"/>
                <a:ext cx="2024519" cy="1655939"/>
                <a:chOff x="3026344" y="1229837"/>
                <a:chExt cx="2024519" cy="1655939"/>
              </a:xfrm>
            </p:grpSpPr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E8A7A9B7-F79A-3AA6-9DB8-4901EF60E284}"/>
                    </a:ext>
                  </a:extLst>
                </p:cNvPr>
                <p:cNvSpPr txBox="1"/>
                <p:nvPr/>
              </p:nvSpPr>
              <p:spPr>
                <a:xfrm>
                  <a:off x="3645002" y="1229837"/>
                  <a:ext cx="1405861" cy="3087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Segmento 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5B70517C-C133-94CC-AC5D-546D63031B10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12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42%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Básico</a:t>
                  </a:r>
                </a:p>
              </p:txBody>
            </p:sp>
          </p:grpSp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E66957FD-F992-B395-C7E3-E9B59D2117BE}"/>
                  </a:ext>
                </a:extLst>
              </p:cNvPr>
              <p:cNvSpPr txBox="1"/>
              <p:nvPr/>
            </p:nvSpPr>
            <p:spPr>
              <a:xfrm>
                <a:off x="9083519" y="231777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0%</a:t>
                </a:r>
              </a:p>
              <a:p>
                <a:r>
                  <a:rPr lang="es-CO" sz="1400" b="1">
                    <a:solidFill>
                      <a:schemeClr val="bg1"/>
                    </a:solidFill>
                  </a:rPr>
                  <a:t>       Alto</a:t>
                </a:r>
              </a:p>
            </p:txBody>
          </p:sp>
        </p:grpSp>
        <p:sp>
          <p:nvSpPr>
            <p:cNvPr id="77" name="CuadroTexto 76">
              <a:extLst>
                <a:ext uri="{FF2B5EF4-FFF2-40B4-BE49-F238E27FC236}">
                  <a16:creationId xmlns:a16="http://schemas.microsoft.com/office/drawing/2014/main" id="{90A0F1A2-8909-E4A6-AC29-8D4B9381660D}"/>
                </a:ext>
              </a:extLst>
            </p:cNvPr>
            <p:cNvSpPr txBox="1"/>
            <p:nvPr/>
          </p:nvSpPr>
          <p:spPr>
            <a:xfrm>
              <a:off x="435343" y="3559299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40%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Medio</a:t>
              </a:r>
            </a:p>
          </p:txBody>
        </p:sp>
        <p:pic>
          <p:nvPicPr>
            <p:cNvPr id="80" name="Imagen 79">
              <a:extLst>
                <a:ext uri="{FF2B5EF4-FFF2-40B4-BE49-F238E27FC236}">
                  <a16:creationId xmlns:a16="http://schemas.microsoft.com/office/drawing/2014/main" id="{B59E3E1F-D9FC-65FF-2D45-CA457D1A4D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LineDrawing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90862" y="3871141"/>
              <a:ext cx="680857" cy="680857"/>
            </a:xfrm>
            <a:prstGeom prst="rect">
              <a:avLst/>
            </a:prstGeom>
          </p:spPr>
        </p:pic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E65533F6-CE34-64C4-DF22-FA73C491C4D3}"/>
              </a:ext>
            </a:extLst>
          </p:cNvPr>
          <p:cNvGrpSpPr/>
          <p:nvPr/>
        </p:nvGrpSpPr>
        <p:grpSpPr>
          <a:xfrm>
            <a:off x="2169335" y="2774370"/>
            <a:ext cx="3284086" cy="1963483"/>
            <a:chOff x="2759885" y="3111252"/>
            <a:chExt cx="3284086" cy="1963483"/>
          </a:xfrm>
        </p:grpSpPr>
        <p:sp>
          <p:nvSpPr>
            <p:cNvPr id="88" name="CuadroTexto 87">
              <a:extLst>
                <a:ext uri="{FF2B5EF4-FFF2-40B4-BE49-F238E27FC236}">
                  <a16:creationId xmlns:a16="http://schemas.microsoft.com/office/drawing/2014/main" id="{4482D1B8-055F-2957-60F5-1A29F97BCA55}"/>
                </a:ext>
              </a:extLst>
            </p:cNvPr>
            <p:cNvSpPr txBox="1"/>
            <p:nvPr/>
          </p:nvSpPr>
          <p:spPr>
            <a:xfrm>
              <a:off x="2759885" y="3531697"/>
              <a:ext cx="154680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   35%</a:t>
              </a:r>
            </a:p>
            <a:p>
              <a:r>
                <a:rPr lang="es-CO" sz="1200" b="1">
                  <a:solidFill>
                    <a:schemeClr val="bg1"/>
                  </a:solidFill>
                </a:rPr>
                <a:t>             Sin Grupo</a:t>
              </a:r>
            </a:p>
          </p:txBody>
        </p:sp>
        <p:grpSp>
          <p:nvGrpSpPr>
            <p:cNvPr id="124" name="Grupo 123">
              <a:extLst>
                <a:ext uri="{FF2B5EF4-FFF2-40B4-BE49-F238E27FC236}">
                  <a16:creationId xmlns:a16="http://schemas.microsoft.com/office/drawing/2014/main" id="{59DE1096-5DDE-C55C-594E-4A288B85F539}"/>
                </a:ext>
              </a:extLst>
            </p:cNvPr>
            <p:cNvGrpSpPr/>
            <p:nvPr/>
          </p:nvGrpSpPr>
          <p:grpSpPr>
            <a:xfrm>
              <a:off x="2827705" y="3111252"/>
              <a:ext cx="3216266" cy="1963483"/>
              <a:chOff x="2827705" y="3111252"/>
              <a:chExt cx="3216266" cy="1963483"/>
            </a:xfrm>
          </p:grpSpPr>
          <p:grpSp>
            <p:nvGrpSpPr>
              <p:cNvPr id="81" name="Grupo 80">
                <a:extLst>
                  <a:ext uri="{FF2B5EF4-FFF2-40B4-BE49-F238E27FC236}">
                    <a16:creationId xmlns:a16="http://schemas.microsoft.com/office/drawing/2014/main" id="{9EA03888-1378-70EC-FC76-8232ADBBA7AF}"/>
                  </a:ext>
                </a:extLst>
              </p:cNvPr>
              <p:cNvGrpSpPr/>
              <p:nvPr/>
            </p:nvGrpSpPr>
            <p:grpSpPr>
              <a:xfrm>
                <a:off x="2827705" y="3111252"/>
                <a:ext cx="3216266" cy="1963483"/>
                <a:chOff x="7593779" y="1110832"/>
                <a:chExt cx="3216266" cy="1780012"/>
              </a:xfrm>
            </p:grpSpPr>
            <p:sp>
              <p:nvSpPr>
                <p:cNvPr id="82" name="Rectángulo 81">
                  <a:extLst>
                    <a:ext uri="{FF2B5EF4-FFF2-40B4-BE49-F238E27FC236}">
                      <a16:creationId xmlns:a16="http://schemas.microsoft.com/office/drawing/2014/main" id="{AA029B4A-A0F6-3BC6-A217-33632E5A4155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808386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83" name="Grupo 82">
                  <a:extLst>
                    <a:ext uri="{FF2B5EF4-FFF2-40B4-BE49-F238E27FC236}">
                      <a16:creationId xmlns:a16="http://schemas.microsoft.com/office/drawing/2014/main" id="{EE2BC708-D6A5-9F47-3F1E-67DF7D1ACBD0}"/>
                    </a:ext>
                  </a:extLst>
                </p:cNvPr>
                <p:cNvGrpSpPr/>
                <p:nvPr/>
              </p:nvGrpSpPr>
              <p:grpSpPr>
                <a:xfrm>
                  <a:off x="7593779" y="1166870"/>
                  <a:ext cx="2748715" cy="1440614"/>
                  <a:chOff x="3029358" y="1173570"/>
                  <a:chExt cx="2748715" cy="1440614"/>
                </a:xfrm>
              </p:grpSpPr>
              <p:sp>
                <p:nvSpPr>
                  <p:cNvPr id="85" name="CuadroTexto 84">
                    <a:extLst>
                      <a:ext uri="{FF2B5EF4-FFF2-40B4-BE49-F238E27FC236}">
                        <a16:creationId xmlns:a16="http://schemas.microsoft.com/office/drawing/2014/main" id="{4F95E073-F6C1-D3D8-31EF-F6BB0A2E15F3}"/>
                      </a:ext>
                    </a:extLst>
                  </p:cNvPr>
                  <p:cNvSpPr txBox="1"/>
                  <p:nvPr/>
                </p:nvSpPr>
                <p:spPr>
                  <a:xfrm>
                    <a:off x="3634807" y="1173570"/>
                    <a:ext cx="2143266" cy="30691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Segmento Familia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87" name="CuadroTexto 86">
                    <a:extLst>
                      <a:ext uri="{FF2B5EF4-FFF2-40B4-BE49-F238E27FC236}">
                        <a16:creationId xmlns:a16="http://schemas.microsoft.com/office/drawing/2014/main" id="{2177D425-377B-3597-3C0B-F74A8D9F9F45}"/>
                      </a:ext>
                    </a:extLst>
                  </p:cNvPr>
                  <p:cNvSpPr txBox="1"/>
                  <p:nvPr/>
                </p:nvSpPr>
                <p:spPr>
                  <a:xfrm>
                    <a:off x="3029358" y="1944542"/>
                    <a:ext cx="1923771" cy="66964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 2</a:t>
                    </a:r>
                    <a:r>
                      <a:rPr lang="es-CO" sz="18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%</a:t>
                    </a:r>
                  </a:p>
                  <a:p>
                    <a:r>
                      <a:rPr lang="es-CO" sz="1200" b="1" dirty="0">
                        <a:solidFill>
                          <a:schemeClr val="bg1"/>
                        </a:solidFill>
                      </a:rPr>
                      <a:t>      Monoparental</a:t>
                    </a:r>
                  </a:p>
                  <a:p>
                    <a:r>
                      <a:rPr lang="es-CO" sz="1200" b="1" dirty="0">
                        <a:solidFill>
                          <a:schemeClr val="bg1"/>
                        </a:solidFill>
                      </a:rPr>
                      <a:t>      Ampliada</a:t>
                    </a:r>
                  </a:p>
                </p:txBody>
              </p:sp>
            </p:grpSp>
            <p:sp>
              <p:nvSpPr>
                <p:cNvPr id="84" name="CuadroTexto 83">
                  <a:extLst>
                    <a:ext uri="{FF2B5EF4-FFF2-40B4-BE49-F238E27FC236}">
                      <a16:creationId xmlns:a16="http://schemas.microsoft.com/office/drawing/2014/main" id="{90454C78-ADAE-8A1C-476E-2D37AC04C1A6}"/>
                    </a:ext>
                  </a:extLst>
                </p:cNvPr>
                <p:cNvSpPr txBox="1"/>
                <p:nvPr/>
              </p:nvSpPr>
              <p:spPr>
                <a:xfrm>
                  <a:off x="9185077" y="2002589"/>
                  <a:ext cx="1624968" cy="5022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        17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 Nuclear Integrada</a:t>
                  </a:r>
                </a:p>
              </p:txBody>
            </p:sp>
          </p:grpSp>
          <p:sp>
            <p:nvSpPr>
              <p:cNvPr id="89" name="CuadroTexto 88">
                <a:extLst>
                  <a:ext uri="{FF2B5EF4-FFF2-40B4-BE49-F238E27FC236}">
                    <a16:creationId xmlns:a16="http://schemas.microsoft.com/office/drawing/2014/main" id="{C574FCD4-E195-55C9-DCFC-ABC9923A492F}"/>
                  </a:ext>
                </a:extLst>
              </p:cNvPr>
              <p:cNvSpPr txBox="1"/>
              <p:nvPr/>
            </p:nvSpPr>
            <p:spPr>
              <a:xfrm>
                <a:off x="4771770" y="3534141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45%</a:t>
                </a:r>
                <a:r>
                  <a:rPr lang="es-CO" sz="1200" b="1">
                    <a:solidFill>
                      <a:schemeClr val="bg1"/>
                    </a:solidFill>
                  </a:rPr>
                  <a:t> Monoparental</a:t>
                </a:r>
              </a:p>
            </p:txBody>
          </p:sp>
          <p:pic>
            <p:nvPicPr>
              <p:cNvPr id="92" name="Imagen 91">
                <a:extLst>
                  <a:ext uri="{FF2B5EF4-FFF2-40B4-BE49-F238E27FC236}">
                    <a16:creationId xmlns:a16="http://schemas.microsoft.com/office/drawing/2014/main" id="{D2EB80A3-909A-FAC0-44EB-C6FF5C1FF1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artisticGlowDiffused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075298" y="3683026"/>
                <a:ext cx="754362" cy="754362"/>
              </a:xfrm>
              <a:prstGeom prst="rect">
                <a:avLst/>
              </a:prstGeom>
            </p:spPr>
          </p:pic>
        </p:grp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DD29AE64-C811-06AA-34F3-DB79F9C1200F}"/>
              </a:ext>
            </a:extLst>
          </p:cNvPr>
          <p:cNvGrpSpPr/>
          <p:nvPr/>
        </p:nvGrpSpPr>
        <p:grpSpPr>
          <a:xfrm>
            <a:off x="90873" y="847081"/>
            <a:ext cx="3094159" cy="1780012"/>
            <a:chOff x="681423" y="1183963"/>
            <a:chExt cx="3094159" cy="1780012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6CC58034-568F-88D5-DF41-2715B034042F}"/>
                </a:ext>
              </a:extLst>
            </p:cNvPr>
            <p:cNvSpPr txBox="1"/>
            <p:nvPr/>
          </p:nvSpPr>
          <p:spPr>
            <a:xfrm>
              <a:off x="942955" y="1217834"/>
              <a:ext cx="2376943" cy="16927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s-CO" sz="2000" b="1" dirty="0">
                <a:solidFill>
                  <a:srgbClr val="FFC000"/>
                </a:solidFill>
              </a:endParaRP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Afiliado     </a:t>
              </a:r>
              <a:r>
                <a:rPr lang="es-CO" sz="2800" b="1" dirty="0">
                  <a:solidFill>
                    <a:srgbClr val="FFC000"/>
                  </a:solidFill>
                </a:rPr>
                <a:t>   </a:t>
              </a:r>
              <a:r>
                <a:rPr lang="es-CO" sz="2800" b="1" dirty="0">
                  <a:solidFill>
                    <a:schemeClr val="bg1"/>
                  </a:solidFill>
                </a:rPr>
                <a:t>65%</a:t>
              </a: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No Afilado   </a:t>
              </a:r>
              <a:r>
                <a:rPr lang="es-CO" sz="2800" b="1" dirty="0">
                  <a:solidFill>
                    <a:schemeClr val="bg1"/>
                  </a:solidFill>
                </a:rPr>
                <a:t>35%</a:t>
              </a:r>
            </a:p>
            <a:p>
              <a:endParaRPr lang="es-ES" sz="28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05" name="Rectángulo 104">
              <a:extLst>
                <a:ext uri="{FF2B5EF4-FFF2-40B4-BE49-F238E27FC236}">
                  <a16:creationId xmlns:a16="http://schemas.microsoft.com/office/drawing/2014/main" id="{A290DD87-0303-A054-3252-3BBA4A37AE48}"/>
                </a:ext>
              </a:extLst>
            </p:cNvPr>
            <p:cNvSpPr/>
            <p:nvPr/>
          </p:nvSpPr>
          <p:spPr>
            <a:xfrm>
              <a:off x="681423" y="1183963"/>
              <a:ext cx="3094159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20" name="Grupo 119">
            <a:extLst>
              <a:ext uri="{FF2B5EF4-FFF2-40B4-BE49-F238E27FC236}">
                <a16:creationId xmlns:a16="http://schemas.microsoft.com/office/drawing/2014/main" id="{C6D4B09C-C840-43C0-3A2F-F5855E3EB4A6}"/>
              </a:ext>
            </a:extLst>
          </p:cNvPr>
          <p:cNvGrpSpPr/>
          <p:nvPr/>
        </p:nvGrpSpPr>
        <p:grpSpPr>
          <a:xfrm>
            <a:off x="7777183" y="2775745"/>
            <a:ext cx="2623981" cy="1933541"/>
            <a:chOff x="9059295" y="3127128"/>
            <a:chExt cx="2623981" cy="1933541"/>
          </a:xfrm>
        </p:grpSpPr>
        <p:grpSp>
          <p:nvGrpSpPr>
            <p:cNvPr id="106" name="Grupo 105">
              <a:extLst>
                <a:ext uri="{FF2B5EF4-FFF2-40B4-BE49-F238E27FC236}">
                  <a16:creationId xmlns:a16="http://schemas.microsoft.com/office/drawing/2014/main" id="{07DCFBCB-95DB-2831-3B6E-E61ACF45039F}"/>
                </a:ext>
              </a:extLst>
            </p:cNvPr>
            <p:cNvGrpSpPr/>
            <p:nvPr/>
          </p:nvGrpSpPr>
          <p:grpSpPr>
            <a:xfrm>
              <a:off x="9080988" y="3127128"/>
              <a:ext cx="2601495" cy="1933541"/>
              <a:chOff x="7590765" y="1110832"/>
              <a:chExt cx="2601495" cy="1780012"/>
            </a:xfrm>
          </p:grpSpPr>
          <p:sp>
            <p:nvSpPr>
              <p:cNvPr id="107" name="Rectángulo 106">
                <a:extLst>
                  <a:ext uri="{FF2B5EF4-FFF2-40B4-BE49-F238E27FC236}">
                    <a16:creationId xmlns:a16="http://schemas.microsoft.com/office/drawing/2014/main" id="{F3589210-A136-4DC3-67E0-F3971CE61830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108" name="Grupo 107">
                <a:extLst>
                  <a:ext uri="{FF2B5EF4-FFF2-40B4-BE49-F238E27FC236}">
                    <a16:creationId xmlns:a16="http://schemas.microsoft.com/office/drawing/2014/main" id="{0265E78F-1510-E3F9-05CA-69E016EC80E3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2191150" cy="1678227"/>
                <a:chOff x="3026344" y="1212927"/>
                <a:chExt cx="2191150" cy="1678227"/>
              </a:xfrm>
            </p:grpSpPr>
            <p:sp>
              <p:nvSpPr>
                <p:cNvPr id="110" name="CuadroTexto 109">
                  <a:extLst>
                    <a:ext uri="{FF2B5EF4-FFF2-40B4-BE49-F238E27FC236}">
                      <a16:creationId xmlns:a16="http://schemas.microsoft.com/office/drawing/2014/main" id="{6F2FC55D-E311-33FF-BA35-73BB0555D854}"/>
                    </a:ext>
                  </a:extLst>
                </p:cNvPr>
                <p:cNvSpPr txBox="1"/>
                <p:nvPr/>
              </p:nvSpPr>
              <p:spPr>
                <a:xfrm>
                  <a:off x="3811633" y="1212927"/>
                  <a:ext cx="140586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Estrato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11" name="CuadroTexto 110">
                  <a:extLst>
                    <a:ext uri="{FF2B5EF4-FFF2-40B4-BE49-F238E27FC236}">
                      <a16:creationId xmlns:a16="http://schemas.microsoft.com/office/drawing/2014/main" id="{680CF302-BF3B-CC23-3CB7-276227E60401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7%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  <p:sp>
            <p:nvSpPr>
              <p:cNvPr id="109" name="CuadroTexto 108">
                <a:extLst>
                  <a:ext uri="{FF2B5EF4-FFF2-40B4-BE49-F238E27FC236}">
                    <a16:creationId xmlns:a16="http://schemas.microsoft.com/office/drawing/2014/main" id="{02862B88-6CA5-18AF-7DD0-3013E98BFEA5}"/>
                  </a:ext>
                </a:extLst>
              </p:cNvPr>
              <p:cNvSpPr txBox="1"/>
              <p:nvPr/>
            </p:nvSpPr>
            <p:spPr>
              <a:xfrm>
                <a:off x="9019351" y="2317778"/>
                <a:ext cx="1172909" cy="566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0%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Cuatro</a:t>
                </a:r>
              </a:p>
            </p:txBody>
          </p:sp>
        </p:grpSp>
        <p:sp>
          <p:nvSpPr>
            <p:cNvPr id="112" name="CuadroTexto 111">
              <a:extLst>
                <a:ext uri="{FF2B5EF4-FFF2-40B4-BE49-F238E27FC236}">
                  <a16:creationId xmlns:a16="http://schemas.microsoft.com/office/drawing/2014/main" id="{CA01103A-EB3E-BC2A-BB91-6611BCC5A35A}"/>
                </a:ext>
              </a:extLst>
            </p:cNvPr>
            <p:cNvSpPr txBox="1"/>
            <p:nvPr/>
          </p:nvSpPr>
          <p:spPr>
            <a:xfrm>
              <a:off x="9059295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5%</a:t>
              </a:r>
            </a:p>
            <a:p>
              <a:r>
                <a:rPr lang="es-CO" sz="1400" b="1">
                  <a:solidFill>
                    <a:schemeClr val="bg1"/>
                  </a:solidFill>
                </a:rPr>
                <a:t>         Uno</a:t>
              </a:r>
            </a:p>
          </p:txBody>
        </p:sp>
        <p:sp>
          <p:nvSpPr>
            <p:cNvPr id="113" name="CuadroTexto 112">
              <a:extLst>
                <a:ext uri="{FF2B5EF4-FFF2-40B4-BE49-F238E27FC236}">
                  <a16:creationId xmlns:a16="http://schemas.microsoft.com/office/drawing/2014/main" id="{DD1EE2B4-A268-70E3-7420-48FA7CC43176}"/>
                </a:ext>
              </a:extLst>
            </p:cNvPr>
            <p:cNvSpPr txBox="1"/>
            <p:nvPr/>
          </p:nvSpPr>
          <p:spPr>
            <a:xfrm>
              <a:off x="10510367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13%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Dos</a:t>
              </a:r>
            </a:p>
          </p:txBody>
        </p:sp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C5FEB662-56B9-2361-2C31-0B7076D35A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artisticPencilGrayscale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043317" y="3855923"/>
              <a:ext cx="655939" cy="655939"/>
            </a:xfrm>
            <a:prstGeom prst="rect">
              <a:avLst/>
            </a:prstGeom>
          </p:spPr>
        </p:pic>
      </p:grp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809F81D7-8188-2F36-8F99-4C02D663B021}"/>
              </a:ext>
            </a:extLst>
          </p:cNvPr>
          <p:cNvSpPr txBox="1"/>
          <p:nvPr/>
        </p:nvSpPr>
        <p:spPr>
          <a:xfrm>
            <a:off x="5289967" y="3228845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      35%</a:t>
            </a:r>
          </a:p>
          <a:p>
            <a:r>
              <a:rPr lang="es-CO" sz="1400" b="1">
                <a:solidFill>
                  <a:schemeClr val="bg1"/>
                </a:solidFill>
              </a:rPr>
              <a:t>         Cero</a:t>
            </a:r>
          </a:p>
        </p:txBody>
      </p:sp>
      <p:grpSp>
        <p:nvGrpSpPr>
          <p:cNvPr id="123" name="Grupo 122">
            <a:extLst>
              <a:ext uri="{FF2B5EF4-FFF2-40B4-BE49-F238E27FC236}">
                <a16:creationId xmlns:a16="http://schemas.microsoft.com/office/drawing/2014/main" id="{398C6287-9A7B-7D73-FC4A-C23964624900}"/>
              </a:ext>
            </a:extLst>
          </p:cNvPr>
          <p:cNvGrpSpPr/>
          <p:nvPr/>
        </p:nvGrpSpPr>
        <p:grpSpPr>
          <a:xfrm>
            <a:off x="5340592" y="2790246"/>
            <a:ext cx="2602288" cy="1933541"/>
            <a:chOff x="5931142" y="3127128"/>
            <a:chExt cx="2602288" cy="1933541"/>
          </a:xfrm>
        </p:grpSpPr>
        <p:grpSp>
          <p:nvGrpSpPr>
            <p:cNvPr id="93" name="Grupo 92">
              <a:extLst>
                <a:ext uri="{FF2B5EF4-FFF2-40B4-BE49-F238E27FC236}">
                  <a16:creationId xmlns:a16="http://schemas.microsoft.com/office/drawing/2014/main" id="{5DC299A3-B17A-1AD2-4755-167D85614CAE}"/>
                </a:ext>
              </a:extLst>
            </p:cNvPr>
            <p:cNvGrpSpPr/>
            <p:nvPr/>
          </p:nvGrpSpPr>
          <p:grpSpPr>
            <a:xfrm>
              <a:off x="5931142" y="3127128"/>
              <a:ext cx="2601495" cy="1933541"/>
              <a:chOff x="7590765" y="1110832"/>
              <a:chExt cx="2601495" cy="1780012"/>
            </a:xfrm>
          </p:grpSpPr>
          <p:sp>
            <p:nvSpPr>
              <p:cNvPr id="94" name="Rectángulo 93">
                <a:extLst>
                  <a:ext uri="{FF2B5EF4-FFF2-40B4-BE49-F238E27FC236}">
                    <a16:creationId xmlns:a16="http://schemas.microsoft.com/office/drawing/2014/main" id="{9A0E89FE-EC1E-72E3-EFEF-C6FA42681DA5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95" name="Grupo 94">
                <a:extLst>
                  <a:ext uri="{FF2B5EF4-FFF2-40B4-BE49-F238E27FC236}">
                    <a16:creationId xmlns:a16="http://schemas.microsoft.com/office/drawing/2014/main" id="{F4ADBDB0-2A76-6EA0-BDE1-51DFF343932D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1922369" cy="1647802"/>
                <a:chOff x="3026344" y="1212927"/>
                <a:chExt cx="1922369" cy="1647802"/>
              </a:xfrm>
            </p:grpSpPr>
            <p:sp>
              <p:nvSpPr>
                <p:cNvPr id="97" name="CuadroTexto 96">
                  <a:extLst>
                    <a:ext uri="{FF2B5EF4-FFF2-40B4-BE49-F238E27FC236}">
                      <a16:creationId xmlns:a16="http://schemas.microsoft.com/office/drawing/2014/main" id="{BB43D9EB-0CDE-C673-E05D-36F8D660E4AD}"/>
                    </a:ext>
                  </a:extLst>
                </p:cNvPr>
                <p:cNvSpPr txBox="1"/>
                <p:nvPr/>
              </p:nvSpPr>
              <p:spPr>
                <a:xfrm>
                  <a:off x="4021092" y="1212927"/>
                  <a:ext cx="92762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PAC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98" name="CuadroTexto 97">
                  <a:extLst>
                    <a:ext uri="{FF2B5EF4-FFF2-40B4-BE49-F238E27FC236}">
                      <a16:creationId xmlns:a16="http://schemas.microsoft.com/office/drawing/2014/main" id="{72D8FB5A-9CEB-06B8-11C8-87D5C8F0F744}"/>
                    </a:ext>
                  </a:extLst>
                </p:cNvPr>
                <p:cNvSpPr txBox="1"/>
                <p:nvPr/>
              </p:nvSpPr>
              <p:spPr>
                <a:xfrm>
                  <a:off x="3026344" y="2294053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13%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  <p:sp>
            <p:nvSpPr>
              <p:cNvPr id="96" name="CuadroTexto 95">
                <a:extLst>
                  <a:ext uri="{FF2B5EF4-FFF2-40B4-BE49-F238E27FC236}">
                    <a16:creationId xmlns:a16="http://schemas.microsoft.com/office/drawing/2014/main" id="{A54F8DC8-3EBD-2E5C-075F-9FAF7B289AC9}"/>
                  </a:ext>
                </a:extLst>
              </p:cNvPr>
              <p:cNvSpPr txBox="1"/>
              <p:nvPr/>
            </p:nvSpPr>
            <p:spPr>
              <a:xfrm>
                <a:off x="9019351" y="2317778"/>
                <a:ext cx="1172909" cy="566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1%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Cuatro</a:t>
                </a:r>
              </a:p>
            </p:txBody>
          </p:sp>
        </p:grpSp>
        <p:grpSp>
          <p:nvGrpSpPr>
            <p:cNvPr id="121" name="Grupo 120">
              <a:extLst>
                <a:ext uri="{FF2B5EF4-FFF2-40B4-BE49-F238E27FC236}">
                  <a16:creationId xmlns:a16="http://schemas.microsoft.com/office/drawing/2014/main" id="{5F043705-2D67-CAA3-CFA0-5992F8DDE80F}"/>
                </a:ext>
              </a:extLst>
            </p:cNvPr>
            <p:cNvGrpSpPr/>
            <p:nvPr/>
          </p:nvGrpSpPr>
          <p:grpSpPr>
            <a:xfrm>
              <a:off x="6649678" y="3565727"/>
              <a:ext cx="1883752" cy="1414028"/>
              <a:chOff x="6649678" y="3565727"/>
              <a:chExt cx="1883752" cy="1414028"/>
            </a:xfrm>
          </p:grpSpPr>
          <p:sp>
            <p:nvSpPr>
              <p:cNvPr id="99" name="CuadroTexto 98">
                <a:extLst>
                  <a:ext uri="{FF2B5EF4-FFF2-40B4-BE49-F238E27FC236}">
                    <a16:creationId xmlns:a16="http://schemas.microsoft.com/office/drawing/2014/main" id="{18C0C25A-A75C-6128-5599-789426C25E5D}"/>
                  </a:ext>
                </a:extLst>
              </p:cNvPr>
              <p:cNvSpPr txBox="1"/>
              <p:nvPr/>
            </p:nvSpPr>
            <p:spPr>
              <a:xfrm>
                <a:off x="6649678" y="358240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27%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Uno</a:t>
                </a:r>
              </a:p>
            </p:txBody>
          </p:sp>
          <p:sp>
            <p:nvSpPr>
              <p:cNvPr id="101" name="CuadroTexto 100">
                <a:extLst>
                  <a:ext uri="{FF2B5EF4-FFF2-40B4-BE49-F238E27FC236}">
                    <a16:creationId xmlns:a16="http://schemas.microsoft.com/office/drawing/2014/main" id="{EB7A0179-F4FC-20CF-9C81-387DA778AA66}"/>
                  </a:ext>
                </a:extLst>
              </p:cNvPr>
              <p:cNvSpPr txBox="1"/>
              <p:nvPr/>
            </p:nvSpPr>
            <p:spPr>
              <a:xfrm>
                <a:off x="7360521" y="3565727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23%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Dos</a:t>
                </a:r>
              </a:p>
            </p:txBody>
          </p:sp>
          <p:pic>
            <p:nvPicPr>
              <p:cNvPr id="118" name="Imagen 117">
                <a:extLst>
                  <a:ext uri="{FF2B5EF4-FFF2-40B4-BE49-F238E27FC236}">
                    <a16:creationId xmlns:a16="http://schemas.microsoft.com/office/drawing/2014/main" id="{AA28F107-313E-3B4E-6FC8-893FC14924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artisticPaintStrokes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886925" y="4205951"/>
                <a:ext cx="773804" cy="773804"/>
              </a:xfrm>
              <a:prstGeom prst="rect">
                <a:avLst/>
              </a:prstGeom>
            </p:spPr>
          </p:pic>
        </p:grpSp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0DB0F8B0-B792-D249-A75B-5F16727DDB65}"/>
              </a:ext>
            </a:extLst>
          </p:cNvPr>
          <p:cNvGrpSpPr/>
          <p:nvPr/>
        </p:nvGrpSpPr>
        <p:grpSpPr>
          <a:xfrm>
            <a:off x="8022470" y="853892"/>
            <a:ext cx="2195988" cy="1780012"/>
            <a:chOff x="7814360" y="1110832"/>
            <a:chExt cx="2195988" cy="1780012"/>
          </a:xfrm>
        </p:grpSpPr>
        <p:grpSp>
          <p:nvGrpSpPr>
            <p:cNvPr id="66" name="Grupo 65">
              <a:extLst>
                <a:ext uri="{FF2B5EF4-FFF2-40B4-BE49-F238E27FC236}">
                  <a16:creationId xmlns:a16="http://schemas.microsoft.com/office/drawing/2014/main" id="{697493E3-3B17-9A5D-42CD-9350A9A8A60A}"/>
                </a:ext>
              </a:extLst>
            </p:cNvPr>
            <p:cNvGrpSpPr/>
            <p:nvPr/>
          </p:nvGrpSpPr>
          <p:grpSpPr>
            <a:xfrm>
              <a:off x="7814360" y="1110832"/>
              <a:ext cx="2195988" cy="1780012"/>
              <a:chOff x="7814360" y="1110832"/>
              <a:chExt cx="2195988" cy="1780012"/>
            </a:xfrm>
          </p:grpSpPr>
          <p:sp>
            <p:nvSpPr>
              <p:cNvPr id="60" name="Rectángulo 59">
                <a:extLst>
                  <a:ext uri="{FF2B5EF4-FFF2-40B4-BE49-F238E27FC236}">
                    <a16:creationId xmlns:a16="http://schemas.microsoft.com/office/drawing/2014/main" id="{C29ADDE9-2D97-4B28-748C-840057F9F957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61" name="Grupo 60">
                <a:extLst>
                  <a:ext uri="{FF2B5EF4-FFF2-40B4-BE49-F238E27FC236}">
                    <a16:creationId xmlns:a16="http://schemas.microsoft.com/office/drawing/2014/main" id="{A7776191-3AE4-4B43-A07B-DC7066908228}"/>
                  </a:ext>
                </a:extLst>
              </p:cNvPr>
              <p:cNvGrpSpPr/>
              <p:nvPr/>
            </p:nvGrpSpPr>
            <p:grpSpPr>
              <a:xfrm>
                <a:off x="7814361" y="1223137"/>
                <a:ext cx="2083693" cy="1630468"/>
                <a:chOff x="3249940" y="1229837"/>
                <a:chExt cx="2083693" cy="1630468"/>
              </a:xfrm>
            </p:grpSpPr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692F4CEB-487D-5417-188C-747E74F6A6F1}"/>
                    </a:ext>
                  </a:extLst>
                </p:cNvPr>
                <p:cNvSpPr txBox="1"/>
                <p:nvPr/>
              </p:nvSpPr>
              <p:spPr>
                <a:xfrm>
                  <a:off x="3552927" y="1229837"/>
                  <a:ext cx="1780706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Rango Edad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D2D18B5F-4BCE-259E-5DAC-E8FB29975488}"/>
                    </a:ext>
                  </a:extLst>
                </p:cNvPr>
                <p:cNvSpPr txBox="1"/>
                <p:nvPr/>
              </p:nvSpPr>
              <p:spPr>
                <a:xfrm>
                  <a:off x="3249940" y="2306307"/>
                  <a:ext cx="1172909" cy="5539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46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20 a 35 años</a:t>
                  </a:r>
                </a:p>
              </p:txBody>
            </p:sp>
          </p:grpSp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98F73C92-EFBF-B695-81A4-DDF3A6A0B774}"/>
                  </a:ext>
                </a:extLst>
              </p:cNvPr>
              <p:cNvSpPr txBox="1"/>
              <p:nvPr/>
            </p:nvSpPr>
            <p:spPr>
              <a:xfrm>
                <a:off x="8837439" y="2289285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30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36 a 45 años</a:t>
                </a:r>
              </a:p>
            </p:txBody>
          </p:sp>
        </p:grpSp>
        <p:pic>
          <p:nvPicPr>
            <p:cNvPr id="128" name="Imagen 127">
              <a:extLst>
                <a:ext uri="{FF2B5EF4-FFF2-40B4-BE49-F238E27FC236}">
                  <a16:creationId xmlns:a16="http://schemas.microsoft.com/office/drawing/2014/main" id="{FC79F25B-3AE5-DCF3-39A4-0DF47A888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17644" y="1602912"/>
              <a:ext cx="655473" cy="655473"/>
            </a:xfrm>
            <a:prstGeom prst="rect">
              <a:avLst/>
            </a:prstGeom>
          </p:spPr>
        </p:pic>
      </p:grpSp>
      <p:grpSp>
        <p:nvGrpSpPr>
          <p:cNvPr id="189" name="Grupo 188">
            <a:extLst>
              <a:ext uri="{FF2B5EF4-FFF2-40B4-BE49-F238E27FC236}">
                <a16:creationId xmlns:a16="http://schemas.microsoft.com/office/drawing/2014/main" id="{3DAD991F-A877-39EC-5D24-1FB2919D3108}"/>
              </a:ext>
            </a:extLst>
          </p:cNvPr>
          <p:cNvGrpSpPr/>
          <p:nvPr/>
        </p:nvGrpSpPr>
        <p:grpSpPr>
          <a:xfrm>
            <a:off x="-114768" y="4837223"/>
            <a:ext cx="3758502" cy="1933541"/>
            <a:chOff x="435340" y="4837223"/>
            <a:chExt cx="4854517" cy="1933541"/>
          </a:xfrm>
        </p:grpSpPr>
        <p:grpSp>
          <p:nvGrpSpPr>
            <p:cNvPr id="138" name="Grupo 137">
              <a:extLst>
                <a:ext uri="{FF2B5EF4-FFF2-40B4-BE49-F238E27FC236}">
                  <a16:creationId xmlns:a16="http://schemas.microsoft.com/office/drawing/2014/main" id="{42657AF5-D15F-E3FB-AEFF-89E516986670}"/>
                </a:ext>
              </a:extLst>
            </p:cNvPr>
            <p:cNvGrpSpPr/>
            <p:nvPr/>
          </p:nvGrpSpPr>
          <p:grpSpPr>
            <a:xfrm>
              <a:off x="435340" y="4837223"/>
              <a:ext cx="4854517" cy="1933541"/>
              <a:chOff x="9135236" y="3127128"/>
              <a:chExt cx="3830051" cy="1933541"/>
            </a:xfrm>
          </p:grpSpPr>
          <p:grpSp>
            <p:nvGrpSpPr>
              <p:cNvPr id="139" name="Grupo 138">
                <a:extLst>
                  <a:ext uri="{FF2B5EF4-FFF2-40B4-BE49-F238E27FC236}">
                    <a16:creationId xmlns:a16="http://schemas.microsoft.com/office/drawing/2014/main" id="{86F9C6A9-338C-3E2A-B78D-8EE9745A97E3}"/>
                  </a:ext>
                </a:extLst>
              </p:cNvPr>
              <p:cNvGrpSpPr/>
              <p:nvPr/>
            </p:nvGrpSpPr>
            <p:grpSpPr>
              <a:xfrm>
                <a:off x="9229918" y="3127128"/>
                <a:ext cx="3735369" cy="1933541"/>
                <a:chOff x="7739695" y="1110832"/>
                <a:chExt cx="3735369" cy="1780012"/>
              </a:xfrm>
            </p:grpSpPr>
            <p:sp>
              <p:nvSpPr>
                <p:cNvPr id="143" name="Rectángulo 142">
                  <a:extLst>
                    <a:ext uri="{FF2B5EF4-FFF2-40B4-BE49-F238E27FC236}">
                      <a16:creationId xmlns:a16="http://schemas.microsoft.com/office/drawing/2014/main" id="{140725E6-5B1F-9766-120C-3670646CDB09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3246650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44" name="Grupo 143">
                  <a:extLst>
                    <a:ext uri="{FF2B5EF4-FFF2-40B4-BE49-F238E27FC236}">
                      <a16:creationId xmlns:a16="http://schemas.microsoft.com/office/drawing/2014/main" id="{F7E3AC2A-6254-2344-4836-88ED654E6191}"/>
                    </a:ext>
                  </a:extLst>
                </p:cNvPr>
                <p:cNvGrpSpPr/>
                <p:nvPr/>
              </p:nvGrpSpPr>
              <p:grpSpPr>
                <a:xfrm>
                  <a:off x="7739695" y="1236316"/>
                  <a:ext cx="3735369" cy="1532075"/>
                  <a:chOff x="3175274" y="1243016"/>
                  <a:chExt cx="3735369" cy="1532075"/>
                </a:xfrm>
              </p:grpSpPr>
              <p:sp>
                <p:nvSpPr>
                  <p:cNvPr id="146" name="CuadroTexto 145">
                    <a:extLst>
                      <a:ext uri="{FF2B5EF4-FFF2-40B4-BE49-F238E27FC236}">
                        <a16:creationId xmlns:a16="http://schemas.microsoft.com/office/drawing/2014/main" id="{AA7E3961-5737-99F3-ACC1-B7BA3720E67A}"/>
                      </a:ext>
                    </a:extLst>
                  </p:cNvPr>
                  <p:cNvSpPr txBox="1"/>
                  <p:nvPr/>
                </p:nvSpPr>
                <p:spPr>
                  <a:xfrm>
                    <a:off x="3854322" y="1243016"/>
                    <a:ext cx="3056321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Segmento Empresas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47" name="CuadroTexto 146">
                    <a:extLst>
                      <a:ext uri="{FF2B5EF4-FFF2-40B4-BE49-F238E27FC236}">
                        <a16:creationId xmlns:a16="http://schemas.microsoft.com/office/drawing/2014/main" id="{FFAA817C-8AFB-CDC6-C094-3C0C8A3D1F8A}"/>
                      </a:ext>
                    </a:extLst>
                  </p:cNvPr>
                  <p:cNvSpPr txBox="1"/>
                  <p:nvPr/>
                </p:nvSpPr>
                <p:spPr>
                  <a:xfrm>
                    <a:off x="3175274" y="2208415"/>
                    <a:ext cx="1945898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27%</a:t>
                    </a:r>
                    <a:endParaRPr lang="es-CO" sz="1400" b="1" dirty="0">
                      <a:solidFill>
                        <a:schemeClr val="bg1"/>
                      </a:solidFill>
                    </a:endParaRP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Medianas</a:t>
                    </a:r>
                  </a:p>
                </p:txBody>
              </p:sp>
            </p:grpSp>
            <p:sp>
              <p:nvSpPr>
                <p:cNvPr id="145" name="CuadroTexto 144">
                  <a:extLst>
                    <a:ext uri="{FF2B5EF4-FFF2-40B4-BE49-F238E27FC236}">
                      <a16:creationId xmlns:a16="http://schemas.microsoft.com/office/drawing/2014/main" id="{3D5C364E-EA9F-750D-1825-0577A5896B14}"/>
                    </a:ext>
                  </a:extLst>
                </p:cNvPr>
                <p:cNvSpPr txBox="1"/>
                <p:nvPr/>
              </p:nvSpPr>
              <p:spPr>
                <a:xfrm>
                  <a:off x="9864249" y="1523867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17%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Grandes</a:t>
                  </a:r>
                </a:p>
              </p:txBody>
            </p:sp>
          </p:grpSp>
          <p:sp>
            <p:nvSpPr>
              <p:cNvPr id="140" name="CuadroTexto 139">
                <a:extLst>
                  <a:ext uri="{FF2B5EF4-FFF2-40B4-BE49-F238E27FC236}">
                    <a16:creationId xmlns:a16="http://schemas.microsoft.com/office/drawing/2014/main" id="{1E212897-79EB-8E00-DFA7-6123E72BE0C2}"/>
                  </a:ext>
                </a:extLst>
              </p:cNvPr>
              <p:cNvSpPr txBox="1"/>
              <p:nvPr/>
            </p:nvSpPr>
            <p:spPr>
              <a:xfrm>
                <a:off x="9135236" y="3565727"/>
                <a:ext cx="145027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7%</a:t>
                </a:r>
              </a:p>
              <a:p>
                <a:r>
                  <a:rPr lang="es-CO" sz="1400" b="1">
                    <a:solidFill>
                      <a:schemeClr val="bg1"/>
                    </a:solidFill>
                  </a:rPr>
                  <a:t>       Emp Top</a:t>
                </a:r>
              </a:p>
            </p:txBody>
          </p:sp>
          <p:sp>
            <p:nvSpPr>
              <p:cNvPr id="141" name="CuadroTexto 140">
                <a:extLst>
                  <a:ext uri="{FF2B5EF4-FFF2-40B4-BE49-F238E27FC236}">
                    <a16:creationId xmlns:a16="http://schemas.microsoft.com/office/drawing/2014/main" id="{B7F0908E-134B-5472-8EDA-F79502AB1D20}"/>
                  </a:ext>
                </a:extLst>
              </p:cNvPr>
              <p:cNvSpPr txBox="1"/>
              <p:nvPr/>
            </p:nvSpPr>
            <p:spPr>
              <a:xfrm>
                <a:off x="10055645" y="3580594"/>
                <a:ext cx="152651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41%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    Micro    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Transaccional</a:t>
                </a:r>
              </a:p>
            </p:txBody>
          </p:sp>
        </p:grpSp>
        <p:pic>
          <p:nvPicPr>
            <p:cNvPr id="149" name="Imagen 148">
              <a:extLst>
                <a:ext uri="{FF2B5EF4-FFF2-40B4-BE49-F238E27FC236}">
                  <a16:creationId xmlns:a16="http://schemas.microsoft.com/office/drawing/2014/main" id="{9D649014-2D6A-BC55-E8FE-D2E4AB11A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325932" y="6027593"/>
              <a:ext cx="677562" cy="677562"/>
            </a:xfrm>
            <a:prstGeom prst="rect">
              <a:avLst/>
            </a:prstGeom>
          </p:spPr>
        </p:pic>
      </p:grp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727D4488-A357-A79C-88C9-4FF001192A89}"/>
              </a:ext>
            </a:extLst>
          </p:cNvPr>
          <p:cNvSpPr txBox="1"/>
          <p:nvPr/>
        </p:nvSpPr>
        <p:spPr>
          <a:xfrm>
            <a:off x="2093411" y="5976448"/>
            <a:ext cx="128594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5%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Estándar</a:t>
            </a:r>
          </a:p>
        </p:txBody>
      </p:sp>
      <p:grpSp>
        <p:nvGrpSpPr>
          <p:cNvPr id="151" name="Grupo 150">
            <a:extLst>
              <a:ext uri="{FF2B5EF4-FFF2-40B4-BE49-F238E27FC236}">
                <a16:creationId xmlns:a16="http://schemas.microsoft.com/office/drawing/2014/main" id="{D7CC921E-A62D-05CF-E57A-E99807B07CFE}"/>
              </a:ext>
            </a:extLst>
          </p:cNvPr>
          <p:cNvGrpSpPr/>
          <p:nvPr/>
        </p:nvGrpSpPr>
        <p:grpSpPr>
          <a:xfrm>
            <a:off x="3041036" y="4852302"/>
            <a:ext cx="2562052" cy="1933541"/>
            <a:chOff x="9024616" y="3127128"/>
            <a:chExt cx="2562052" cy="1933541"/>
          </a:xfrm>
        </p:grpSpPr>
        <p:grpSp>
          <p:nvGrpSpPr>
            <p:cNvPr id="152" name="Grupo 151">
              <a:extLst>
                <a:ext uri="{FF2B5EF4-FFF2-40B4-BE49-F238E27FC236}">
                  <a16:creationId xmlns:a16="http://schemas.microsoft.com/office/drawing/2014/main" id="{49D05A5B-13D1-3B44-8D01-FB6273098775}"/>
                </a:ext>
              </a:extLst>
            </p:cNvPr>
            <p:cNvGrpSpPr/>
            <p:nvPr/>
          </p:nvGrpSpPr>
          <p:grpSpPr>
            <a:xfrm>
              <a:off x="9024616" y="3127128"/>
              <a:ext cx="2475954" cy="1933541"/>
              <a:chOff x="7534393" y="1110832"/>
              <a:chExt cx="2475954" cy="1780012"/>
            </a:xfrm>
          </p:grpSpPr>
          <p:sp>
            <p:nvSpPr>
              <p:cNvPr id="157" name="Rectángulo 156">
                <a:extLst>
                  <a:ext uri="{FF2B5EF4-FFF2-40B4-BE49-F238E27FC236}">
                    <a16:creationId xmlns:a16="http://schemas.microsoft.com/office/drawing/2014/main" id="{2F53EF7B-39A4-7CF9-3962-7A2E4402A4D5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158" name="Grupo 157">
                <a:extLst>
                  <a:ext uri="{FF2B5EF4-FFF2-40B4-BE49-F238E27FC236}">
                    <a16:creationId xmlns:a16="http://schemas.microsoft.com/office/drawing/2014/main" id="{C3D0FE44-CD18-4015-CEF5-0BAD5CDEFC18}"/>
                  </a:ext>
                </a:extLst>
              </p:cNvPr>
              <p:cNvGrpSpPr/>
              <p:nvPr/>
            </p:nvGrpSpPr>
            <p:grpSpPr>
              <a:xfrm>
                <a:off x="7534393" y="1206227"/>
                <a:ext cx="2388623" cy="1388251"/>
                <a:chOff x="2969972" y="1212927"/>
                <a:chExt cx="2388623" cy="1388251"/>
              </a:xfrm>
            </p:grpSpPr>
            <p:sp>
              <p:nvSpPr>
                <p:cNvPr id="160" name="CuadroTexto 159">
                  <a:extLst>
                    <a:ext uri="{FF2B5EF4-FFF2-40B4-BE49-F238E27FC236}">
                      <a16:creationId xmlns:a16="http://schemas.microsoft.com/office/drawing/2014/main" id="{C2610A56-27AD-8683-44E0-A2F922399AF9}"/>
                    </a:ext>
                  </a:extLst>
                </p:cNvPr>
                <p:cNvSpPr txBox="1"/>
                <p:nvPr/>
              </p:nvSpPr>
              <p:spPr>
                <a:xfrm>
                  <a:off x="3408991" y="1212927"/>
                  <a:ext cx="1949604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Departamento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61" name="CuadroTexto 160">
                  <a:extLst>
                    <a:ext uri="{FF2B5EF4-FFF2-40B4-BE49-F238E27FC236}">
                      <a16:creationId xmlns:a16="http://schemas.microsoft.com/office/drawing/2014/main" id="{E029DD72-9650-6F5D-739A-40061D58E4E8}"/>
                    </a:ext>
                  </a:extLst>
                </p:cNvPr>
                <p:cNvSpPr txBox="1"/>
                <p:nvPr/>
              </p:nvSpPr>
              <p:spPr>
                <a:xfrm>
                  <a:off x="2969972" y="2034502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1%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Sibaté</a:t>
                  </a:r>
                </a:p>
              </p:txBody>
            </p:sp>
          </p:grpSp>
        </p:grpSp>
        <p:sp>
          <p:nvSpPr>
            <p:cNvPr id="154" name="CuadroTexto 153">
              <a:extLst>
                <a:ext uri="{FF2B5EF4-FFF2-40B4-BE49-F238E27FC236}">
                  <a16:creationId xmlns:a16="http://schemas.microsoft.com/office/drawing/2014/main" id="{7FBE8E81-4E58-B93C-D18B-0EB0833E6642}"/>
                </a:ext>
              </a:extLst>
            </p:cNvPr>
            <p:cNvSpPr txBox="1"/>
            <p:nvPr/>
          </p:nvSpPr>
          <p:spPr>
            <a:xfrm>
              <a:off x="9059295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37%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Bogotá</a:t>
              </a:r>
            </a:p>
          </p:txBody>
        </p:sp>
        <p:sp>
          <p:nvSpPr>
            <p:cNvPr id="155" name="CuadroTexto 154">
              <a:extLst>
                <a:ext uri="{FF2B5EF4-FFF2-40B4-BE49-F238E27FC236}">
                  <a16:creationId xmlns:a16="http://schemas.microsoft.com/office/drawing/2014/main" id="{662ADE07-DE5A-07F9-CDFF-2165D23B82DD}"/>
                </a:ext>
              </a:extLst>
            </p:cNvPr>
            <p:cNvSpPr txBox="1"/>
            <p:nvPr/>
          </p:nvSpPr>
          <p:spPr>
            <a:xfrm>
              <a:off x="10368253" y="3565504"/>
              <a:ext cx="1218415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13%</a:t>
              </a:r>
              <a:r>
                <a:rPr lang="es-CO" sz="1400" b="1" dirty="0">
                  <a:solidFill>
                    <a:schemeClr val="bg1"/>
                  </a:solidFill>
                </a:rPr>
                <a:t>                        Soacha  </a:t>
              </a:r>
            </a:p>
          </p:txBody>
        </p:sp>
      </p:grpSp>
      <p:grpSp>
        <p:nvGrpSpPr>
          <p:cNvPr id="201" name="Grupo 200">
            <a:extLst>
              <a:ext uri="{FF2B5EF4-FFF2-40B4-BE49-F238E27FC236}">
                <a16:creationId xmlns:a16="http://schemas.microsoft.com/office/drawing/2014/main" id="{F23B7B12-A8F3-6924-03D0-F5C2DF5E54F4}"/>
              </a:ext>
            </a:extLst>
          </p:cNvPr>
          <p:cNvGrpSpPr/>
          <p:nvPr/>
        </p:nvGrpSpPr>
        <p:grpSpPr>
          <a:xfrm>
            <a:off x="5407406" y="4842106"/>
            <a:ext cx="2693579" cy="1985915"/>
            <a:chOff x="5483606" y="4842106"/>
            <a:chExt cx="2693579" cy="1985915"/>
          </a:xfrm>
        </p:grpSpPr>
        <p:grpSp>
          <p:nvGrpSpPr>
            <p:cNvPr id="164" name="Grupo 163">
              <a:extLst>
                <a:ext uri="{FF2B5EF4-FFF2-40B4-BE49-F238E27FC236}">
                  <a16:creationId xmlns:a16="http://schemas.microsoft.com/office/drawing/2014/main" id="{7214D201-7622-EAD4-A82A-C363ACA9235F}"/>
                </a:ext>
              </a:extLst>
            </p:cNvPr>
            <p:cNvGrpSpPr/>
            <p:nvPr/>
          </p:nvGrpSpPr>
          <p:grpSpPr>
            <a:xfrm>
              <a:off x="5483606" y="4842106"/>
              <a:ext cx="2693579" cy="1957609"/>
              <a:chOff x="9049330" y="3127128"/>
              <a:chExt cx="2693579" cy="1957609"/>
            </a:xfrm>
          </p:grpSpPr>
          <p:grpSp>
            <p:nvGrpSpPr>
              <p:cNvPr id="165" name="Grupo 164">
                <a:extLst>
                  <a:ext uri="{FF2B5EF4-FFF2-40B4-BE49-F238E27FC236}">
                    <a16:creationId xmlns:a16="http://schemas.microsoft.com/office/drawing/2014/main" id="{B9A52405-C83F-EA59-B2EE-CE1B3F77C2C7}"/>
                  </a:ext>
                </a:extLst>
              </p:cNvPr>
              <p:cNvGrpSpPr/>
              <p:nvPr/>
            </p:nvGrpSpPr>
            <p:grpSpPr>
              <a:xfrm>
                <a:off x="9049330" y="3127128"/>
                <a:ext cx="2655911" cy="1957609"/>
                <a:chOff x="7559107" y="1110832"/>
                <a:chExt cx="2655911" cy="1802169"/>
              </a:xfrm>
            </p:grpSpPr>
            <p:sp>
              <p:nvSpPr>
                <p:cNvPr id="168" name="Rectángulo 167">
                  <a:extLst>
                    <a:ext uri="{FF2B5EF4-FFF2-40B4-BE49-F238E27FC236}">
                      <a16:creationId xmlns:a16="http://schemas.microsoft.com/office/drawing/2014/main" id="{05246485-8532-F97A-88FC-40C34D058F6D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195987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70" name="Grupo 169">
                  <a:extLst>
                    <a:ext uri="{FF2B5EF4-FFF2-40B4-BE49-F238E27FC236}">
                      <a16:creationId xmlns:a16="http://schemas.microsoft.com/office/drawing/2014/main" id="{6E94ECEB-07E0-7DE8-4D47-5B2B3486F5C0}"/>
                    </a:ext>
                  </a:extLst>
                </p:cNvPr>
                <p:cNvGrpSpPr/>
                <p:nvPr/>
              </p:nvGrpSpPr>
              <p:grpSpPr>
                <a:xfrm>
                  <a:off x="7559107" y="1207829"/>
                  <a:ext cx="2655911" cy="1705172"/>
                  <a:chOff x="2994686" y="1214529"/>
                  <a:chExt cx="2655911" cy="1705172"/>
                </a:xfrm>
              </p:grpSpPr>
              <p:sp>
                <p:nvSpPr>
                  <p:cNvPr id="171" name="CuadroTexto 170">
                    <a:extLst>
                      <a:ext uri="{FF2B5EF4-FFF2-40B4-BE49-F238E27FC236}">
                        <a16:creationId xmlns:a16="http://schemas.microsoft.com/office/drawing/2014/main" id="{8631B9D5-1FEE-C0CC-1FA0-5E3FB4C5CE59}"/>
                      </a:ext>
                    </a:extLst>
                  </p:cNvPr>
                  <p:cNvSpPr txBox="1"/>
                  <p:nvPr/>
                </p:nvSpPr>
                <p:spPr>
                  <a:xfrm>
                    <a:off x="3700993" y="1214529"/>
                    <a:ext cx="1949604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Localidad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72" name="CuadroTexto 171">
                    <a:extLst>
                      <a:ext uri="{FF2B5EF4-FFF2-40B4-BE49-F238E27FC236}">
                        <a16:creationId xmlns:a16="http://schemas.microsoft.com/office/drawing/2014/main" id="{7BF6B0B5-FC0F-0D8D-2DEA-36E407607B0F}"/>
                      </a:ext>
                    </a:extLst>
                  </p:cNvPr>
                  <p:cNvSpPr txBox="1"/>
                  <p:nvPr/>
                </p:nvSpPr>
                <p:spPr>
                  <a:xfrm>
                    <a:off x="2994686" y="2353025"/>
                    <a:ext cx="1323041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3%</a:t>
                    </a: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    C. </a:t>
                    </a:r>
                    <a:r>
                      <a:rPr lang="es-CO" sz="1400" b="1" dirty="0" err="1">
                        <a:solidFill>
                          <a:schemeClr val="bg1"/>
                        </a:solidFill>
                      </a:rPr>
                      <a:t>Bolivar</a:t>
                    </a:r>
                    <a:endParaRPr lang="es-CO" sz="14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</p:grpSp>
          <p:sp>
            <p:nvSpPr>
              <p:cNvPr id="166" name="CuadroTexto 165">
                <a:extLst>
                  <a:ext uri="{FF2B5EF4-FFF2-40B4-BE49-F238E27FC236}">
                    <a16:creationId xmlns:a16="http://schemas.microsoft.com/office/drawing/2014/main" id="{DBC5F728-21F9-A155-F712-02F4C9AB634F}"/>
                  </a:ext>
                </a:extLst>
              </p:cNvPr>
              <p:cNvSpPr txBox="1"/>
              <p:nvPr/>
            </p:nvSpPr>
            <p:spPr>
              <a:xfrm>
                <a:off x="9059295" y="3565727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5%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Bosa</a:t>
                </a:r>
              </a:p>
            </p:txBody>
          </p:sp>
          <p:sp>
            <p:nvSpPr>
              <p:cNvPr id="167" name="CuadroTexto 166">
                <a:extLst>
                  <a:ext uri="{FF2B5EF4-FFF2-40B4-BE49-F238E27FC236}">
                    <a16:creationId xmlns:a16="http://schemas.microsoft.com/office/drawing/2014/main" id="{A609D15C-DF07-5C1E-6AD2-085BF2628F48}"/>
                  </a:ext>
                </a:extLst>
              </p:cNvPr>
              <p:cNvSpPr txBox="1"/>
              <p:nvPr/>
            </p:nvSpPr>
            <p:spPr>
              <a:xfrm>
                <a:off x="10498522" y="3549824"/>
                <a:ext cx="1244387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4%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Comuna1</a:t>
                </a:r>
              </a:p>
            </p:txBody>
          </p:sp>
        </p:grpSp>
        <p:sp>
          <p:nvSpPr>
            <p:cNvPr id="185" name="CuadroTexto 184">
              <a:extLst>
                <a:ext uri="{FF2B5EF4-FFF2-40B4-BE49-F238E27FC236}">
                  <a16:creationId xmlns:a16="http://schemas.microsoft.com/office/drawing/2014/main" id="{9FB47AD5-0A6D-CA7A-55D5-B82AB157B6E2}"/>
                </a:ext>
              </a:extLst>
            </p:cNvPr>
            <p:cNvSpPr txBox="1"/>
            <p:nvPr/>
          </p:nvSpPr>
          <p:spPr>
            <a:xfrm>
              <a:off x="6625166" y="6212468"/>
              <a:ext cx="1323041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70%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 Sin </a:t>
              </a:r>
              <a:r>
                <a:rPr lang="es-CO" sz="1400" b="1" dirty="0" err="1">
                  <a:solidFill>
                    <a:schemeClr val="bg1"/>
                  </a:solidFill>
                </a:rPr>
                <a:t>Infor</a:t>
              </a:r>
              <a:endParaRPr lang="es-CO" sz="1400" b="1" dirty="0">
                <a:solidFill>
                  <a:schemeClr val="bg1"/>
                </a:solidFill>
              </a:endParaRPr>
            </a:p>
          </p:txBody>
        </p:sp>
        <p:pic>
          <p:nvPicPr>
            <p:cNvPr id="187" name="Imagen 186">
              <a:extLst>
                <a:ext uri="{FF2B5EF4-FFF2-40B4-BE49-F238E27FC236}">
                  <a16:creationId xmlns:a16="http://schemas.microsoft.com/office/drawing/2014/main" id="{6DDDF3FF-A543-A21A-0CD2-2D791567A7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401571" y="5793688"/>
              <a:ext cx="1266970" cy="620378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grpSp>
        <p:nvGrpSpPr>
          <p:cNvPr id="202" name="Grupo 201">
            <a:extLst>
              <a:ext uri="{FF2B5EF4-FFF2-40B4-BE49-F238E27FC236}">
                <a16:creationId xmlns:a16="http://schemas.microsoft.com/office/drawing/2014/main" id="{C43C6AD2-68E4-C1F4-4AA3-0A43D3256A38}"/>
              </a:ext>
            </a:extLst>
          </p:cNvPr>
          <p:cNvGrpSpPr/>
          <p:nvPr/>
        </p:nvGrpSpPr>
        <p:grpSpPr>
          <a:xfrm>
            <a:off x="7528734" y="4834201"/>
            <a:ext cx="2867011" cy="1957609"/>
            <a:chOff x="8071595" y="4834201"/>
            <a:chExt cx="3008704" cy="1957609"/>
          </a:xfrm>
        </p:grpSpPr>
        <p:grpSp>
          <p:nvGrpSpPr>
            <p:cNvPr id="190" name="Grupo 189">
              <a:extLst>
                <a:ext uri="{FF2B5EF4-FFF2-40B4-BE49-F238E27FC236}">
                  <a16:creationId xmlns:a16="http://schemas.microsoft.com/office/drawing/2014/main" id="{406274BF-F474-BC28-7573-D6A6ED93293B}"/>
                </a:ext>
              </a:extLst>
            </p:cNvPr>
            <p:cNvGrpSpPr/>
            <p:nvPr/>
          </p:nvGrpSpPr>
          <p:grpSpPr>
            <a:xfrm>
              <a:off x="8071595" y="4834201"/>
              <a:ext cx="3008704" cy="1957609"/>
              <a:chOff x="8845727" y="3127128"/>
              <a:chExt cx="3008704" cy="1957609"/>
            </a:xfrm>
          </p:grpSpPr>
          <p:grpSp>
            <p:nvGrpSpPr>
              <p:cNvPr id="191" name="Grupo 190">
                <a:extLst>
                  <a:ext uri="{FF2B5EF4-FFF2-40B4-BE49-F238E27FC236}">
                    <a16:creationId xmlns:a16="http://schemas.microsoft.com/office/drawing/2014/main" id="{74A086A8-2118-4759-B902-5B54783E4EF8}"/>
                  </a:ext>
                </a:extLst>
              </p:cNvPr>
              <p:cNvGrpSpPr/>
              <p:nvPr/>
            </p:nvGrpSpPr>
            <p:grpSpPr>
              <a:xfrm>
                <a:off x="8845727" y="3127128"/>
                <a:ext cx="3008704" cy="1957609"/>
                <a:chOff x="7355504" y="1110832"/>
                <a:chExt cx="3008704" cy="1802169"/>
              </a:xfrm>
            </p:grpSpPr>
            <p:sp>
              <p:nvSpPr>
                <p:cNvPr id="194" name="Rectángulo 193">
                  <a:extLst>
                    <a:ext uri="{FF2B5EF4-FFF2-40B4-BE49-F238E27FC236}">
                      <a16:creationId xmlns:a16="http://schemas.microsoft.com/office/drawing/2014/main" id="{2B56523B-CE2D-8206-E1AB-C8146F863042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368574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95" name="Grupo 194">
                  <a:extLst>
                    <a:ext uri="{FF2B5EF4-FFF2-40B4-BE49-F238E27FC236}">
                      <a16:creationId xmlns:a16="http://schemas.microsoft.com/office/drawing/2014/main" id="{7C91F43D-50CE-0355-1A68-91F83B51CB5B}"/>
                    </a:ext>
                  </a:extLst>
                </p:cNvPr>
                <p:cNvGrpSpPr/>
                <p:nvPr/>
              </p:nvGrpSpPr>
              <p:grpSpPr>
                <a:xfrm>
                  <a:off x="7355504" y="1207828"/>
                  <a:ext cx="3008704" cy="1705173"/>
                  <a:chOff x="2791083" y="1214528"/>
                  <a:chExt cx="3008704" cy="1705173"/>
                </a:xfrm>
              </p:grpSpPr>
              <p:sp>
                <p:nvSpPr>
                  <p:cNvPr id="197" name="CuadroTexto 196">
                    <a:extLst>
                      <a:ext uri="{FF2B5EF4-FFF2-40B4-BE49-F238E27FC236}">
                        <a16:creationId xmlns:a16="http://schemas.microsoft.com/office/drawing/2014/main" id="{612D3F64-A10F-3428-3FF6-58ABFE4F9165}"/>
                      </a:ext>
                    </a:extLst>
                  </p:cNvPr>
                  <p:cNvSpPr txBox="1"/>
                  <p:nvPr/>
                </p:nvSpPr>
                <p:spPr>
                  <a:xfrm>
                    <a:off x="3225997" y="1214528"/>
                    <a:ext cx="2573790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Entidad Financieras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98" name="CuadroTexto 197">
                    <a:extLst>
                      <a:ext uri="{FF2B5EF4-FFF2-40B4-BE49-F238E27FC236}">
                        <a16:creationId xmlns:a16="http://schemas.microsoft.com/office/drawing/2014/main" id="{BF521BDA-2794-0983-0A17-BE44310D489C}"/>
                      </a:ext>
                    </a:extLst>
                  </p:cNvPr>
                  <p:cNvSpPr txBox="1"/>
                  <p:nvPr/>
                </p:nvSpPr>
                <p:spPr>
                  <a:xfrm>
                    <a:off x="2791083" y="2353025"/>
                    <a:ext cx="2440539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11%</a:t>
                    </a: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      Colpatria</a:t>
                    </a:r>
                  </a:p>
                </p:txBody>
              </p:sp>
            </p:grpSp>
          </p:grpSp>
          <p:sp>
            <p:nvSpPr>
              <p:cNvPr id="192" name="CuadroTexto 191">
                <a:extLst>
                  <a:ext uri="{FF2B5EF4-FFF2-40B4-BE49-F238E27FC236}">
                    <a16:creationId xmlns:a16="http://schemas.microsoft.com/office/drawing/2014/main" id="{E9E7EB7F-AC11-63E0-FD51-0C44C877CC4B}"/>
                  </a:ext>
                </a:extLst>
              </p:cNvPr>
              <p:cNvSpPr txBox="1"/>
              <p:nvPr/>
            </p:nvSpPr>
            <p:spPr>
              <a:xfrm>
                <a:off x="9267841" y="3565727"/>
                <a:ext cx="1337256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22%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Colsubsidio</a:t>
                </a:r>
              </a:p>
            </p:txBody>
          </p:sp>
          <p:sp>
            <p:nvSpPr>
              <p:cNvPr id="193" name="CuadroTexto 192">
                <a:extLst>
                  <a:ext uri="{FF2B5EF4-FFF2-40B4-BE49-F238E27FC236}">
                    <a16:creationId xmlns:a16="http://schemas.microsoft.com/office/drawing/2014/main" id="{3DE2B369-4770-04F3-B434-E3601383CC17}"/>
                  </a:ext>
                </a:extLst>
              </p:cNvPr>
              <p:cNvSpPr txBox="1"/>
              <p:nvPr/>
            </p:nvSpPr>
            <p:spPr>
              <a:xfrm>
                <a:off x="10498522" y="3549824"/>
                <a:ext cx="1244387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36%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Davivienda</a:t>
                </a:r>
              </a:p>
            </p:txBody>
          </p:sp>
        </p:grpSp>
        <p:sp>
          <p:nvSpPr>
            <p:cNvPr id="199" name="CuadroTexto 198">
              <a:extLst>
                <a:ext uri="{FF2B5EF4-FFF2-40B4-BE49-F238E27FC236}">
                  <a16:creationId xmlns:a16="http://schemas.microsoft.com/office/drawing/2014/main" id="{C9E34E3B-EE32-1C79-01D1-84856CA34248}"/>
                </a:ext>
              </a:extLst>
            </p:cNvPr>
            <p:cNvSpPr txBox="1"/>
            <p:nvPr/>
          </p:nvSpPr>
          <p:spPr>
            <a:xfrm>
              <a:off x="9366872" y="6140046"/>
              <a:ext cx="1323041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  31%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      Otros</a:t>
              </a:r>
            </a:p>
          </p:txBody>
        </p:sp>
      </p:grpSp>
      <p:sp>
        <p:nvSpPr>
          <p:cNvPr id="200" name="CuadroTexto 199">
            <a:extLst>
              <a:ext uri="{FF2B5EF4-FFF2-40B4-BE49-F238E27FC236}">
                <a16:creationId xmlns:a16="http://schemas.microsoft.com/office/drawing/2014/main" id="{7DDC9B5B-29DA-8F8B-80B9-37C038373069}"/>
              </a:ext>
            </a:extLst>
          </p:cNvPr>
          <p:cNvSpPr txBox="1"/>
          <p:nvPr/>
        </p:nvSpPr>
        <p:spPr>
          <a:xfrm>
            <a:off x="4140736" y="5856787"/>
            <a:ext cx="137625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1%</a:t>
            </a:r>
          </a:p>
          <a:p>
            <a:r>
              <a:rPr lang="es-CO" sz="1400" b="1">
                <a:solidFill>
                  <a:schemeClr val="bg1"/>
                </a:solidFill>
              </a:rPr>
              <a:t>      Mosquera</a:t>
            </a:r>
          </a:p>
        </p:txBody>
      </p:sp>
      <p:pic>
        <p:nvPicPr>
          <p:cNvPr id="205" name="Imagen 204">
            <a:extLst>
              <a:ext uri="{FF2B5EF4-FFF2-40B4-BE49-F238E27FC236}">
                <a16:creationId xmlns:a16="http://schemas.microsoft.com/office/drawing/2014/main" id="{EFC8E3D1-C1B8-E8D7-2BB0-0B29057E1D24}"/>
              </a:ext>
            </a:extLst>
          </p:cNvPr>
          <p:cNvPicPr>
            <a:picLocks noChangeAspect="1"/>
          </p:cNvPicPr>
          <p:nvPr/>
        </p:nvPicPr>
        <p:blipFill>
          <a:blip r:embed="rId22">
            <a:duotone>
              <a:prstClr val="black"/>
              <a:schemeClr val="tx1">
                <a:lumMod val="75000"/>
                <a:lumOff val="2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4538" y="5846263"/>
            <a:ext cx="673981" cy="673981"/>
          </a:xfrm>
          <a:prstGeom prst="rect">
            <a:avLst/>
          </a:prstGeom>
        </p:spPr>
      </p:pic>
      <p:grpSp>
        <p:nvGrpSpPr>
          <p:cNvPr id="208" name="Grupo 207">
            <a:extLst>
              <a:ext uri="{FF2B5EF4-FFF2-40B4-BE49-F238E27FC236}">
                <a16:creationId xmlns:a16="http://schemas.microsoft.com/office/drawing/2014/main" id="{6D437E0D-A6C6-77B6-9287-8E32C882E840}"/>
              </a:ext>
            </a:extLst>
          </p:cNvPr>
          <p:cNvGrpSpPr/>
          <p:nvPr/>
        </p:nvGrpSpPr>
        <p:grpSpPr>
          <a:xfrm>
            <a:off x="10245555" y="853892"/>
            <a:ext cx="1956550" cy="5540381"/>
            <a:chOff x="7793864" y="1110832"/>
            <a:chExt cx="1816602" cy="1780012"/>
          </a:xfrm>
        </p:grpSpPr>
        <p:sp>
          <p:nvSpPr>
            <p:cNvPr id="212" name="Rectángulo 211">
              <a:extLst>
                <a:ext uri="{FF2B5EF4-FFF2-40B4-BE49-F238E27FC236}">
                  <a16:creationId xmlns:a16="http://schemas.microsoft.com/office/drawing/2014/main" id="{B87BBE3C-159F-C1DF-AE71-7332235BB136}"/>
                </a:ext>
              </a:extLst>
            </p:cNvPr>
            <p:cNvSpPr/>
            <p:nvPr/>
          </p:nvSpPr>
          <p:spPr>
            <a:xfrm>
              <a:off x="7814360" y="1110832"/>
              <a:ext cx="1666611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5" name="CuadroTexto 214">
              <a:extLst>
                <a:ext uri="{FF2B5EF4-FFF2-40B4-BE49-F238E27FC236}">
                  <a16:creationId xmlns:a16="http://schemas.microsoft.com/office/drawing/2014/main" id="{8FC5D2A4-7B4B-C243-0EFF-D763649C69BD}"/>
                </a:ext>
              </a:extLst>
            </p:cNvPr>
            <p:cNvSpPr txBox="1"/>
            <p:nvPr/>
          </p:nvSpPr>
          <p:spPr>
            <a:xfrm>
              <a:off x="7793864" y="1161252"/>
              <a:ext cx="1816602" cy="1141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1600">
                  <a:solidFill>
                    <a:srgbClr val="FFC000"/>
                  </a:solidFill>
                  <a:latin typeface="KG Red Hands" panose="02000505000000020004" pitchFamily="2" charset="0"/>
                </a:rPr>
                <a:t>Top Empresas</a:t>
              </a:r>
              <a:endParaRPr lang="es-ES" sz="1600">
                <a:solidFill>
                  <a:srgbClr val="FFC000"/>
                </a:solidFill>
              </a:endParaRPr>
            </a:p>
          </p:txBody>
        </p:sp>
        <p:sp>
          <p:nvSpPr>
            <p:cNvPr id="214" name="CuadroTexto 213">
              <a:extLst>
                <a:ext uri="{FF2B5EF4-FFF2-40B4-BE49-F238E27FC236}">
                  <a16:creationId xmlns:a16="http://schemas.microsoft.com/office/drawing/2014/main" id="{E3BEC2DE-703A-2487-CE00-BA3A9AABABCA}"/>
                </a:ext>
              </a:extLst>
            </p:cNvPr>
            <p:cNvSpPr txBox="1"/>
            <p:nvPr/>
          </p:nvSpPr>
          <p:spPr>
            <a:xfrm>
              <a:off x="7830402" y="1354030"/>
              <a:ext cx="1689688" cy="351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500" b="1" dirty="0">
                  <a:solidFill>
                    <a:schemeClr val="bg1"/>
                  </a:solidFill>
                </a:rPr>
                <a:t>COLSUBSIDIO	7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T INTEGRADO DE BOGOTA SAS	4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CONSORCIO EXPRESS S A S	3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P A S H SAS	2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CLINICA COLSANITAS S.A.	2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E SOMOS FONTIBON SAS	2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KATHERINE  ALSINA LIZARAZO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U ANTONIO NARINO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PRODUCTIVIDAD EMPRESARIA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AUTOFINANCIERA COLOMBIA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INVERSIONES EL CARNAL SAS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                          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	                               </a:t>
              </a: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6B43F179-4FB5-8C76-7528-22525B1228C0}"/>
              </a:ext>
            </a:extLst>
          </p:cNvPr>
          <p:cNvSpPr txBox="1"/>
          <p:nvPr/>
        </p:nvSpPr>
        <p:spPr>
          <a:xfrm>
            <a:off x="3147194" y="4203365"/>
            <a:ext cx="154680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2</a:t>
            </a:r>
            <a:r>
              <a:rPr lang="es-CO" sz="1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%</a:t>
            </a:r>
          </a:p>
          <a:p>
            <a:r>
              <a:rPr lang="es-CO" sz="1200" b="1" dirty="0">
                <a:solidFill>
                  <a:schemeClr val="bg1"/>
                </a:solidFill>
              </a:rPr>
              <a:t>  Pareja Conyugal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48EE5DE-F211-D9F7-1053-05781D9D09A7}"/>
              </a:ext>
            </a:extLst>
          </p:cNvPr>
          <p:cNvSpPr txBox="1"/>
          <p:nvPr/>
        </p:nvSpPr>
        <p:spPr>
          <a:xfrm>
            <a:off x="10330342" y="6461181"/>
            <a:ext cx="14292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100" dirty="0">
                <a:solidFill>
                  <a:srgbClr val="FFC000"/>
                </a:solidFill>
                <a:latin typeface="KG Red Hands" panose="02000505000000020004" pitchFamily="2" charset="0"/>
              </a:rPr>
              <a:t>*Corte 15/01/2026</a:t>
            </a:r>
            <a:endParaRPr lang="es-ES" sz="11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7588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ED252-8338-F38E-83F5-61E15C07C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42DC7207-D6B0-6345-620F-7B9B4BED68AC}"/>
              </a:ext>
            </a:extLst>
          </p:cNvPr>
          <p:cNvCxnSpPr>
            <a:cxnSpLocks/>
          </p:cNvCxnSpPr>
          <p:nvPr/>
        </p:nvCxnSpPr>
        <p:spPr>
          <a:xfrm flipH="1">
            <a:off x="0" y="645614"/>
            <a:ext cx="10809007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uadroTexto 85">
            <a:extLst>
              <a:ext uri="{FF2B5EF4-FFF2-40B4-BE49-F238E27FC236}">
                <a16:creationId xmlns:a16="http://schemas.microsoft.com/office/drawing/2014/main" id="{E50353AA-3400-9AEE-4009-96773F1B0B07}"/>
              </a:ext>
            </a:extLst>
          </p:cNvPr>
          <p:cNvSpPr txBox="1"/>
          <p:nvPr/>
        </p:nvSpPr>
        <p:spPr>
          <a:xfrm>
            <a:off x="-128399" y="120715"/>
            <a:ext cx="95771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>
                <a:solidFill>
                  <a:schemeClr val="bg1"/>
                </a:solidFill>
                <a:latin typeface="KG Red Hands" panose="02000505000000020004" pitchFamily="2" charset="0"/>
              </a:rPr>
              <a:t>      Reserva de Guayacán</a:t>
            </a:r>
            <a:endParaRPr lang="es-ES" sz="240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9DDA55B5-5F80-9321-B6ED-A0F8CE1B2688}"/>
              </a:ext>
              <a:ext uri="{147F2762-F138-4A5C-976F-8EAC2B608ADB}">
                <a16:predDERef xmlns:a16="http://schemas.microsoft.com/office/drawing/2014/main" pred="{95DEFF95-1524-40DB-8538-DE0C2D5BEC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3398838"/>
            <a:ext cx="555625" cy="49371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F0F787DF-888A-0A1C-4FB5-FEC6F003BB42}"/>
              </a:ext>
              <a:ext uri="{147F2762-F138-4A5C-976F-8EAC2B608ADB}">
                <a16:predDERef xmlns:a16="http://schemas.microsoft.com/office/drawing/2014/main" pred="{95FFDEC5-E647-4E60-9FB8-32349ACC1E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087813"/>
            <a:ext cx="555625" cy="46196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4404F93B-1A23-B4D2-A125-3F3D2039C899}"/>
              </a:ext>
              <a:ext uri="{147F2762-F138-4A5C-976F-8EAC2B608ADB}">
                <a16:predDERef xmlns:a16="http://schemas.microsoft.com/office/drawing/2014/main" pred="{D53D0C4A-FE71-44C0-97B3-1EA296D3DCE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814888"/>
            <a:ext cx="555625" cy="41116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BAFD2896-429E-47AE-FDFD-A907147BAD06}"/>
              </a:ext>
              <a:ext uri="{147F2762-F138-4A5C-976F-8EAC2B608ADB}">
                <a16:predDERef xmlns:a16="http://schemas.microsoft.com/office/drawing/2014/main" pred="{7008BA42-7365-4AD1-B913-F26820CE47E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1775" y="5427663"/>
            <a:ext cx="465138" cy="433387"/>
          </a:xfrm>
          <a:prstGeom prst="rect">
            <a:avLst/>
          </a:prstGeom>
        </p:spPr>
      </p:pic>
      <p:grpSp>
        <p:nvGrpSpPr>
          <p:cNvPr id="135" name="Grupo 134">
            <a:extLst>
              <a:ext uri="{FF2B5EF4-FFF2-40B4-BE49-F238E27FC236}">
                <a16:creationId xmlns:a16="http://schemas.microsoft.com/office/drawing/2014/main" id="{314588FC-9A67-2FEA-3C10-DE1A0C040748}"/>
              </a:ext>
            </a:extLst>
          </p:cNvPr>
          <p:cNvGrpSpPr/>
          <p:nvPr/>
        </p:nvGrpSpPr>
        <p:grpSpPr>
          <a:xfrm>
            <a:off x="5564187" y="853892"/>
            <a:ext cx="2195988" cy="1780012"/>
            <a:chOff x="5353656" y="1110832"/>
            <a:chExt cx="2195988" cy="1780012"/>
          </a:xfrm>
        </p:grpSpPr>
        <p:sp>
          <p:nvSpPr>
            <p:cNvPr id="58" name="Rectángulo 57">
              <a:extLst>
                <a:ext uri="{FF2B5EF4-FFF2-40B4-BE49-F238E27FC236}">
                  <a16:creationId xmlns:a16="http://schemas.microsoft.com/office/drawing/2014/main" id="{F1634FC6-6F85-0C59-65C3-F8270E10CC04}"/>
                </a:ext>
              </a:extLst>
            </p:cNvPr>
            <p:cNvSpPr/>
            <p:nvPr/>
          </p:nvSpPr>
          <p:spPr>
            <a:xfrm>
              <a:off x="5353656" y="1110832"/>
              <a:ext cx="2195987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43" name="Grupo 42">
              <a:extLst>
                <a:ext uri="{FF2B5EF4-FFF2-40B4-BE49-F238E27FC236}">
                  <a16:creationId xmlns:a16="http://schemas.microsoft.com/office/drawing/2014/main" id="{AD867C9D-F39F-1E5F-F102-8069E433AD28}"/>
                </a:ext>
              </a:extLst>
            </p:cNvPr>
            <p:cNvGrpSpPr/>
            <p:nvPr/>
          </p:nvGrpSpPr>
          <p:grpSpPr>
            <a:xfrm>
              <a:off x="5353657" y="1223137"/>
              <a:ext cx="2083693" cy="1630468"/>
              <a:chOff x="3249940" y="1229837"/>
              <a:chExt cx="2083693" cy="1630468"/>
            </a:xfrm>
          </p:grpSpPr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286862F8-3EBB-423E-AD23-90A72F1977DB}"/>
                  </a:ext>
                </a:extLst>
              </p:cNvPr>
              <p:cNvSpPr txBox="1"/>
              <p:nvPr/>
            </p:nvSpPr>
            <p:spPr>
              <a:xfrm>
                <a:off x="3552927" y="1229837"/>
                <a:ext cx="178070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Rango Salario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4928B093-29F6-E216-5D93-BAC46C3260AC}"/>
                  </a:ext>
                </a:extLst>
              </p:cNvPr>
              <p:cNvSpPr txBox="1"/>
              <p:nvPr/>
            </p:nvSpPr>
            <p:spPr>
              <a:xfrm>
                <a:off x="3249940" y="2306307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68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Hasta 2 </a:t>
                </a:r>
                <a:r>
                  <a:rPr lang="es-CO" sz="1200" b="1" dirty="0" err="1">
                    <a:solidFill>
                      <a:schemeClr val="bg1"/>
                    </a:solidFill>
                  </a:rPr>
                  <a:t>smlv</a:t>
                </a:r>
                <a:endParaRPr lang="es-CO" sz="12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53" name="Imagen 52">
              <a:extLst>
                <a:ext uri="{FF2B5EF4-FFF2-40B4-BE49-F238E27FC236}">
                  <a16:creationId xmlns:a16="http://schemas.microsoft.com/office/drawing/2014/main" id="{9E018834-8459-E8BB-01A7-4ED2BE41E31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12042" y="1623254"/>
              <a:ext cx="641350" cy="641350"/>
            </a:xfrm>
            <a:prstGeom prst="rect">
              <a:avLst/>
            </a:prstGeom>
          </p:spPr>
        </p:pic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15FBD72A-9E35-7DF3-72D5-FD7D7393F86B}"/>
                </a:ext>
              </a:extLst>
            </p:cNvPr>
            <p:cNvSpPr txBox="1"/>
            <p:nvPr/>
          </p:nvSpPr>
          <p:spPr>
            <a:xfrm>
              <a:off x="6376735" y="2289285"/>
              <a:ext cx="1172909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32</a:t>
              </a:r>
              <a:r>
                <a:rPr lang="es-CO" sz="18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Mas de 2 </a:t>
              </a:r>
              <a:r>
                <a:rPr lang="es-CO" sz="1200" b="1" dirty="0" err="1">
                  <a:solidFill>
                    <a:schemeClr val="bg1"/>
                  </a:solidFill>
                </a:rPr>
                <a:t>smlv</a:t>
              </a:r>
              <a:endParaRPr lang="es-CO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BD5F0991-9458-C5F2-8477-6E26E29D7755}"/>
              </a:ext>
            </a:extLst>
          </p:cNvPr>
          <p:cNvGrpSpPr/>
          <p:nvPr/>
        </p:nvGrpSpPr>
        <p:grpSpPr>
          <a:xfrm>
            <a:off x="3320687" y="874756"/>
            <a:ext cx="1941094" cy="1759148"/>
            <a:chOff x="3224463" y="1110832"/>
            <a:chExt cx="1941094" cy="1759148"/>
          </a:xfrm>
        </p:grpSpPr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2A41BA59-2A04-40A0-595B-AFB059E0E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36596" y="1677993"/>
              <a:ext cx="721895" cy="721895"/>
            </a:xfrm>
            <a:prstGeom prst="rect">
              <a:avLst/>
            </a:prstGeom>
          </p:spPr>
        </p:pic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B44BCC5D-C6B8-78E6-DCB6-7CB2F5BBEF1F}"/>
                </a:ext>
              </a:extLst>
            </p:cNvPr>
            <p:cNvGrpSpPr/>
            <p:nvPr/>
          </p:nvGrpSpPr>
          <p:grpSpPr>
            <a:xfrm>
              <a:off x="3420553" y="1223137"/>
              <a:ext cx="1609350" cy="1516670"/>
              <a:chOff x="3420553" y="1223137"/>
              <a:chExt cx="1609350" cy="1516670"/>
            </a:xfrm>
          </p:grpSpPr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FA2A3B35-CF3A-1607-78CF-1621E629C1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74608" y="1613811"/>
                <a:ext cx="723600" cy="723600"/>
              </a:xfrm>
              <a:prstGeom prst="rect">
                <a:avLst/>
              </a:prstGeom>
            </p:spPr>
          </p:pic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91E989B7-82A8-A681-D9D5-F63FEDE5E314}"/>
                  </a:ext>
                </a:extLst>
              </p:cNvPr>
              <p:cNvSpPr txBox="1"/>
              <p:nvPr/>
            </p:nvSpPr>
            <p:spPr>
              <a:xfrm>
                <a:off x="3685253" y="1223137"/>
                <a:ext cx="1098946" cy="345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Género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DDAA0C4A-B0BB-B56F-FB38-2DF0FBDEADC4}"/>
                  </a:ext>
                </a:extLst>
              </p:cNvPr>
              <p:cNvSpPr txBox="1"/>
              <p:nvPr/>
            </p:nvSpPr>
            <p:spPr>
              <a:xfrm>
                <a:off x="3420553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50%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CA6079DD-2F7C-CE5B-C5BA-C60DB04898A7}"/>
                  </a:ext>
                </a:extLst>
              </p:cNvPr>
              <p:cNvSpPr txBox="1"/>
              <p:nvPr/>
            </p:nvSpPr>
            <p:spPr>
              <a:xfrm>
                <a:off x="4308008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50%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</p:grp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98738289-E567-AF0F-FC20-AFF690E4CE7F}"/>
                </a:ext>
              </a:extLst>
            </p:cNvPr>
            <p:cNvSpPr/>
            <p:nvPr/>
          </p:nvSpPr>
          <p:spPr>
            <a:xfrm>
              <a:off x="3224463" y="1110832"/>
              <a:ext cx="1941094" cy="175914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78" name="CuadroTexto 77">
            <a:extLst>
              <a:ext uri="{FF2B5EF4-FFF2-40B4-BE49-F238E27FC236}">
                <a16:creationId xmlns:a16="http://schemas.microsoft.com/office/drawing/2014/main" id="{5D63F510-C54A-9A85-7551-2706F9E20E00}"/>
              </a:ext>
            </a:extLst>
          </p:cNvPr>
          <p:cNvSpPr txBox="1"/>
          <p:nvPr/>
        </p:nvSpPr>
        <p:spPr>
          <a:xfrm>
            <a:off x="1376075" y="3222417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22%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Joven</a:t>
            </a:r>
          </a:p>
        </p:txBody>
      </p: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53A40CB9-70E3-9802-AA41-3F24CDD092EF}"/>
              </a:ext>
            </a:extLst>
          </p:cNvPr>
          <p:cNvGrpSpPr/>
          <p:nvPr/>
        </p:nvGrpSpPr>
        <p:grpSpPr>
          <a:xfrm>
            <a:off x="-155207" y="2771278"/>
            <a:ext cx="2688149" cy="1998661"/>
            <a:chOff x="435343" y="3108160"/>
            <a:chExt cx="2688149" cy="1998661"/>
          </a:xfrm>
        </p:grpSpPr>
        <p:grpSp>
          <p:nvGrpSpPr>
            <p:cNvPr id="69" name="Grupo 68">
              <a:extLst>
                <a:ext uri="{FF2B5EF4-FFF2-40B4-BE49-F238E27FC236}">
                  <a16:creationId xmlns:a16="http://schemas.microsoft.com/office/drawing/2014/main" id="{85E108D5-4DB1-5322-5D2E-35FB6D767081}"/>
                </a:ext>
              </a:extLst>
            </p:cNvPr>
            <p:cNvGrpSpPr/>
            <p:nvPr/>
          </p:nvGrpSpPr>
          <p:grpSpPr>
            <a:xfrm>
              <a:off x="457829" y="3108160"/>
              <a:ext cx="2665663" cy="1998661"/>
              <a:chOff x="7590765" y="1110832"/>
              <a:chExt cx="2665663" cy="1822499"/>
            </a:xfrm>
          </p:grpSpPr>
          <p:sp>
            <p:nvSpPr>
              <p:cNvPr id="70" name="Rectángulo 69">
                <a:extLst>
                  <a:ext uri="{FF2B5EF4-FFF2-40B4-BE49-F238E27FC236}">
                    <a16:creationId xmlns:a16="http://schemas.microsoft.com/office/drawing/2014/main" id="{DE9977D9-10A8-6FEB-06D4-B6BBAF2665FD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71" name="Grupo 70">
                <a:extLst>
                  <a:ext uri="{FF2B5EF4-FFF2-40B4-BE49-F238E27FC236}">
                    <a16:creationId xmlns:a16="http://schemas.microsoft.com/office/drawing/2014/main" id="{281E7A68-3DBB-C3FD-6A6E-198CF3C54D44}"/>
                  </a:ext>
                </a:extLst>
              </p:cNvPr>
              <p:cNvGrpSpPr/>
              <p:nvPr/>
            </p:nvGrpSpPr>
            <p:grpSpPr>
              <a:xfrm>
                <a:off x="7590765" y="1223137"/>
                <a:ext cx="2024519" cy="1655939"/>
                <a:chOff x="3026344" y="1229837"/>
                <a:chExt cx="2024519" cy="1655939"/>
              </a:xfrm>
            </p:grpSpPr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889D0084-8AFB-F7BA-1452-BD6FDB8F4B79}"/>
                    </a:ext>
                  </a:extLst>
                </p:cNvPr>
                <p:cNvSpPr txBox="1"/>
                <p:nvPr/>
              </p:nvSpPr>
              <p:spPr>
                <a:xfrm>
                  <a:off x="3645002" y="1229837"/>
                  <a:ext cx="1405861" cy="3087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Segmento 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FFF5244B-0393-CC04-722D-1359154946C0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12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34%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Básico</a:t>
                  </a:r>
                </a:p>
              </p:txBody>
            </p:sp>
          </p:grpSp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04E9D9E5-80AB-7905-BBB1-B72BE3FAAC6A}"/>
                  </a:ext>
                </a:extLst>
              </p:cNvPr>
              <p:cNvSpPr txBox="1"/>
              <p:nvPr/>
            </p:nvSpPr>
            <p:spPr>
              <a:xfrm>
                <a:off x="9083519" y="231777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0%</a:t>
                </a:r>
              </a:p>
              <a:p>
                <a:r>
                  <a:rPr lang="es-CO" sz="1400" b="1">
                    <a:solidFill>
                      <a:schemeClr val="bg1"/>
                    </a:solidFill>
                  </a:rPr>
                  <a:t>       Alto</a:t>
                </a:r>
              </a:p>
            </p:txBody>
          </p:sp>
        </p:grpSp>
        <p:sp>
          <p:nvSpPr>
            <p:cNvPr id="77" name="CuadroTexto 76">
              <a:extLst>
                <a:ext uri="{FF2B5EF4-FFF2-40B4-BE49-F238E27FC236}">
                  <a16:creationId xmlns:a16="http://schemas.microsoft.com/office/drawing/2014/main" id="{21C786CE-0742-7880-A0A4-3F10C709DFE8}"/>
                </a:ext>
              </a:extLst>
            </p:cNvPr>
            <p:cNvSpPr txBox="1"/>
            <p:nvPr/>
          </p:nvSpPr>
          <p:spPr>
            <a:xfrm>
              <a:off x="435343" y="3559299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44%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Medio</a:t>
              </a:r>
            </a:p>
          </p:txBody>
        </p:sp>
        <p:pic>
          <p:nvPicPr>
            <p:cNvPr id="80" name="Imagen 79">
              <a:extLst>
                <a:ext uri="{FF2B5EF4-FFF2-40B4-BE49-F238E27FC236}">
                  <a16:creationId xmlns:a16="http://schemas.microsoft.com/office/drawing/2014/main" id="{A7688811-67F0-DE58-D501-83F270839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LineDrawing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90862" y="3871141"/>
              <a:ext cx="680857" cy="680857"/>
            </a:xfrm>
            <a:prstGeom prst="rect">
              <a:avLst/>
            </a:prstGeom>
          </p:spPr>
        </p:pic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6EF5AB13-3C6B-A84F-0A9B-D3F8C4C077C4}"/>
              </a:ext>
            </a:extLst>
          </p:cNvPr>
          <p:cNvGrpSpPr/>
          <p:nvPr/>
        </p:nvGrpSpPr>
        <p:grpSpPr>
          <a:xfrm>
            <a:off x="2169335" y="2774370"/>
            <a:ext cx="3284086" cy="1963483"/>
            <a:chOff x="2759885" y="3111252"/>
            <a:chExt cx="3284086" cy="1963483"/>
          </a:xfrm>
        </p:grpSpPr>
        <p:sp>
          <p:nvSpPr>
            <p:cNvPr id="88" name="CuadroTexto 87">
              <a:extLst>
                <a:ext uri="{FF2B5EF4-FFF2-40B4-BE49-F238E27FC236}">
                  <a16:creationId xmlns:a16="http://schemas.microsoft.com/office/drawing/2014/main" id="{3BCF01C2-A9BC-2D09-7D3C-EA6E8A1F4642}"/>
                </a:ext>
              </a:extLst>
            </p:cNvPr>
            <p:cNvSpPr txBox="1"/>
            <p:nvPr/>
          </p:nvSpPr>
          <p:spPr>
            <a:xfrm>
              <a:off x="2759885" y="3531697"/>
              <a:ext cx="154680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   46%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             Sin Grupo</a:t>
              </a:r>
            </a:p>
          </p:txBody>
        </p:sp>
        <p:grpSp>
          <p:nvGrpSpPr>
            <p:cNvPr id="124" name="Grupo 123">
              <a:extLst>
                <a:ext uri="{FF2B5EF4-FFF2-40B4-BE49-F238E27FC236}">
                  <a16:creationId xmlns:a16="http://schemas.microsoft.com/office/drawing/2014/main" id="{3F07F044-183C-FB84-2D13-F17788790D21}"/>
                </a:ext>
              </a:extLst>
            </p:cNvPr>
            <p:cNvGrpSpPr/>
            <p:nvPr/>
          </p:nvGrpSpPr>
          <p:grpSpPr>
            <a:xfrm>
              <a:off x="2827705" y="3111252"/>
              <a:ext cx="3216266" cy="1963483"/>
              <a:chOff x="2827705" y="3111252"/>
              <a:chExt cx="3216266" cy="1963483"/>
            </a:xfrm>
          </p:grpSpPr>
          <p:grpSp>
            <p:nvGrpSpPr>
              <p:cNvPr id="81" name="Grupo 80">
                <a:extLst>
                  <a:ext uri="{FF2B5EF4-FFF2-40B4-BE49-F238E27FC236}">
                    <a16:creationId xmlns:a16="http://schemas.microsoft.com/office/drawing/2014/main" id="{655EBEA3-5B7F-8A20-2BA6-25965BCA6FC9}"/>
                  </a:ext>
                </a:extLst>
              </p:cNvPr>
              <p:cNvGrpSpPr/>
              <p:nvPr/>
            </p:nvGrpSpPr>
            <p:grpSpPr>
              <a:xfrm>
                <a:off x="2827705" y="3111252"/>
                <a:ext cx="3216266" cy="1963483"/>
                <a:chOff x="7593779" y="1110832"/>
                <a:chExt cx="3216266" cy="1780012"/>
              </a:xfrm>
            </p:grpSpPr>
            <p:sp>
              <p:nvSpPr>
                <p:cNvPr id="82" name="Rectángulo 81">
                  <a:extLst>
                    <a:ext uri="{FF2B5EF4-FFF2-40B4-BE49-F238E27FC236}">
                      <a16:creationId xmlns:a16="http://schemas.microsoft.com/office/drawing/2014/main" id="{807218C8-50E3-E870-A7DA-F63C936739A1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808386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83" name="Grupo 82">
                  <a:extLst>
                    <a:ext uri="{FF2B5EF4-FFF2-40B4-BE49-F238E27FC236}">
                      <a16:creationId xmlns:a16="http://schemas.microsoft.com/office/drawing/2014/main" id="{1A680905-686B-11CA-5EEF-D457117D73A7}"/>
                    </a:ext>
                  </a:extLst>
                </p:cNvPr>
                <p:cNvGrpSpPr/>
                <p:nvPr/>
              </p:nvGrpSpPr>
              <p:grpSpPr>
                <a:xfrm>
                  <a:off x="7593779" y="1166870"/>
                  <a:ext cx="2748715" cy="1440614"/>
                  <a:chOff x="3029358" y="1173570"/>
                  <a:chExt cx="2748715" cy="1440614"/>
                </a:xfrm>
              </p:grpSpPr>
              <p:sp>
                <p:nvSpPr>
                  <p:cNvPr id="85" name="CuadroTexto 84">
                    <a:extLst>
                      <a:ext uri="{FF2B5EF4-FFF2-40B4-BE49-F238E27FC236}">
                        <a16:creationId xmlns:a16="http://schemas.microsoft.com/office/drawing/2014/main" id="{ABA5F00E-2084-9591-F353-272D5D2066C4}"/>
                      </a:ext>
                    </a:extLst>
                  </p:cNvPr>
                  <p:cNvSpPr txBox="1"/>
                  <p:nvPr/>
                </p:nvSpPr>
                <p:spPr>
                  <a:xfrm>
                    <a:off x="3634807" y="1173570"/>
                    <a:ext cx="2143266" cy="30691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Segmento Familia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87" name="CuadroTexto 86">
                    <a:extLst>
                      <a:ext uri="{FF2B5EF4-FFF2-40B4-BE49-F238E27FC236}">
                        <a16:creationId xmlns:a16="http://schemas.microsoft.com/office/drawing/2014/main" id="{358E6670-9D59-DCE1-8EA9-41D7EA806AF1}"/>
                      </a:ext>
                    </a:extLst>
                  </p:cNvPr>
                  <p:cNvSpPr txBox="1"/>
                  <p:nvPr/>
                </p:nvSpPr>
                <p:spPr>
                  <a:xfrm>
                    <a:off x="3029358" y="1944542"/>
                    <a:ext cx="1923771" cy="66964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 16</a:t>
                    </a:r>
                    <a:r>
                      <a:rPr lang="es-CO" sz="18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%</a:t>
                    </a:r>
                  </a:p>
                  <a:p>
                    <a:r>
                      <a:rPr lang="es-CO" sz="1200" b="1" dirty="0">
                        <a:solidFill>
                          <a:schemeClr val="bg1"/>
                        </a:solidFill>
                      </a:rPr>
                      <a:t>      Monoparental</a:t>
                    </a:r>
                  </a:p>
                  <a:p>
                    <a:r>
                      <a:rPr lang="es-CO" sz="1200" b="1" dirty="0">
                        <a:solidFill>
                          <a:schemeClr val="bg1"/>
                        </a:solidFill>
                      </a:rPr>
                      <a:t>      Ampliada</a:t>
                    </a:r>
                  </a:p>
                </p:txBody>
              </p:sp>
            </p:grpSp>
            <p:sp>
              <p:nvSpPr>
                <p:cNvPr id="84" name="CuadroTexto 83">
                  <a:extLst>
                    <a:ext uri="{FF2B5EF4-FFF2-40B4-BE49-F238E27FC236}">
                      <a16:creationId xmlns:a16="http://schemas.microsoft.com/office/drawing/2014/main" id="{527A8D99-143F-A3C3-CBB3-A6296346A68E}"/>
                    </a:ext>
                  </a:extLst>
                </p:cNvPr>
                <p:cNvSpPr txBox="1"/>
                <p:nvPr/>
              </p:nvSpPr>
              <p:spPr>
                <a:xfrm>
                  <a:off x="9185077" y="2002589"/>
                  <a:ext cx="1624968" cy="5022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        10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 Nuclear Integrada</a:t>
                  </a:r>
                </a:p>
              </p:txBody>
            </p:sp>
          </p:grpSp>
          <p:sp>
            <p:nvSpPr>
              <p:cNvPr id="89" name="CuadroTexto 88">
                <a:extLst>
                  <a:ext uri="{FF2B5EF4-FFF2-40B4-BE49-F238E27FC236}">
                    <a16:creationId xmlns:a16="http://schemas.microsoft.com/office/drawing/2014/main" id="{1D795F4C-56FB-E421-AAB6-4EC291A04C59}"/>
                  </a:ext>
                </a:extLst>
              </p:cNvPr>
              <p:cNvSpPr txBox="1"/>
              <p:nvPr/>
            </p:nvSpPr>
            <p:spPr>
              <a:xfrm>
                <a:off x="4771770" y="3534141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26%</a:t>
                </a:r>
                <a:r>
                  <a:rPr lang="es-CO" sz="1200" b="1" dirty="0">
                    <a:solidFill>
                      <a:schemeClr val="bg1"/>
                    </a:solidFill>
                  </a:rPr>
                  <a:t> Monoparental</a:t>
                </a:r>
              </a:p>
            </p:txBody>
          </p:sp>
          <p:pic>
            <p:nvPicPr>
              <p:cNvPr id="92" name="Imagen 91">
                <a:extLst>
                  <a:ext uri="{FF2B5EF4-FFF2-40B4-BE49-F238E27FC236}">
                    <a16:creationId xmlns:a16="http://schemas.microsoft.com/office/drawing/2014/main" id="{26ADC77E-3F9E-CA55-1828-3672BEB30E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artisticGlowDiffused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075298" y="3683026"/>
                <a:ext cx="754362" cy="754362"/>
              </a:xfrm>
              <a:prstGeom prst="rect">
                <a:avLst/>
              </a:prstGeom>
            </p:spPr>
          </p:pic>
        </p:grp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2DAE5AF5-8604-3177-26DB-655FA76AEB77}"/>
              </a:ext>
            </a:extLst>
          </p:cNvPr>
          <p:cNvGrpSpPr/>
          <p:nvPr/>
        </p:nvGrpSpPr>
        <p:grpSpPr>
          <a:xfrm>
            <a:off x="90873" y="847081"/>
            <a:ext cx="3094159" cy="1780012"/>
            <a:chOff x="681423" y="1183963"/>
            <a:chExt cx="3094159" cy="1780012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F457D1EB-1153-E9B7-B09A-996CBACEDF1C}"/>
                </a:ext>
              </a:extLst>
            </p:cNvPr>
            <p:cNvSpPr txBox="1"/>
            <p:nvPr/>
          </p:nvSpPr>
          <p:spPr>
            <a:xfrm>
              <a:off x="942955" y="1217834"/>
              <a:ext cx="2376943" cy="16927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s-CO" sz="2000" b="1" dirty="0">
                <a:solidFill>
                  <a:srgbClr val="FFC000"/>
                </a:solidFill>
              </a:endParaRP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Afiliado     </a:t>
              </a:r>
              <a:r>
                <a:rPr lang="es-CO" sz="2800" b="1" dirty="0">
                  <a:solidFill>
                    <a:srgbClr val="FFC000"/>
                  </a:solidFill>
                </a:rPr>
                <a:t>   </a:t>
              </a:r>
              <a:r>
                <a:rPr lang="es-CO" sz="2800" b="1" dirty="0">
                  <a:solidFill>
                    <a:schemeClr val="bg1"/>
                  </a:solidFill>
                </a:rPr>
                <a:t>69%</a:t>
              </a: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No Afilado   </a:t>
              </a:r>
              <a:r>
                <a:rPr lang="es-CO" sz="2800" b="1" dirty="0">
                  <a:solidFill>
                    <a:schemeClr val="bg1"/>
                  </a:solidFill>
                </a:rPr>
                <a:t>31%</a:t>
              </a:r>
            </a:p>
            <a:p>
              <a:endParaRPr lang="es-ES" sz="28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05" name="Rectángulo 104">
              <a:extLst>
                <a:ext uri="{FF2B5EF4-FFF2-40B4-BE49-F238E27FC236}">
                  <a16:creationId xmlns:a16="http://schemas.microsoft.com/office/drawing/2014/main" id="{FEA27172-B265-1FD1-8488-CC0590C71A00}"/>
                </a:ext>
              </a:extLst>
            </p:cNvPr>
            <p:cNvSpPr/>
            <p:nvPr/>
          </p:nvSpPr>
          <p:spPr>
            <a:xfrm>
              <a:off x="681423" y="1183963"/>
              <a:ext cx="3094159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20" name="Grupo 119">
            <a:extLst>
              <a:ext uri="{FF2B5EF4-FFF2-40B4-BE49-F238E27FC236}">
                <a16:creationId xmlns:a16="http://schemas.microsoft.com/office/drawing/2014/main" id="{0FA63841-ADEC-BEC7-A2D4-898736435E60}"/>
              </a:ext>
            </a:extLst>
          </p:cNvPr>
          <p:cNvGrpSpPr/>
          <p:nvPr/>
        </p:nvGrpSpPr>
        <p:grpSpPr>
          <a:xfrm>
            <a:off x="7777183" y="2775745"/>
            <a:ext cx="2623981" cy="1933541"/>
            <a:chOff x="9059295" y="3127128"/>
            <a:chExt cx="2623981" cy="1933541"/>
          </a:xfrm>
        </p:grpSpPr>
        <p:grpSp>
          <p:nvGrpSpPr>
            <p:cNvPr id="106" name="Grupo 105">
              <a:extLst>
                <a:ext uri="{FF2B5EF4-FFF2-40B4-BE49-F238E27FC236}">
                  <a16:creationId xmlns:a16="http://schemas.microsoft.com/office/drawing/2014/main" id="{1C1032A3-93D6-810D-6678-1BAFB4EE5DDB}"/>
                </a:ext>
              </a:extLst>
            </p:cNvPr>
            <p:cNvGrpSpPr/>
            <p:nvPr/>
          </p:nvGrpSpPr>
          <p:grpSpPr>
            <a:xfrm>
              <a:off x="9080988" y="3127128"/>
              <a:ext cx="2601495" cy="1933541"/>
              <a:chOff x="7590765" y="1110832"/>
              <a:chExt cx="2601495" cy="1780012"/>
            </a:xfrm>
          </p:grpSpPr>
          <p:sp>
            <p:nvSpPr>
              <p:cNvPr id="107" name="Rectángulo 106">
                <a:extLst>
                  <a:ext uri="{FF2B5EF4-FFF2-40B4-BE49-F238E27FC236}">
                    <a16:creationId xmlns:a16="http://schemas.microsoft.com/office/drawing/2014/main" id="{DDB057C1-01F0-1A34-75FE-E00A6B984456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108" name="Grupo 107">
                <a:extLst>
                  <a:ext uri="{FF2B5EF4-FFF2-40B4-BE49-F238E27FC236}">
                    <a16:creationId xmlns:a16="http://schemas.microsoft.com/office/drawing/2014/main" id="{92CD8351-9AE8-BFDA-2854-65C703208D75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2191150" cy="1678227"/>
                <a:chOff x="3026344" y="1212927"/>
                <a:chExt cx="2191150" cy="1678227"/>
              </a:xfrm>
            </p:grpSpPr>
            <p:sp>
              <p:nvSpPr>
                <p:cNvPr id="110" name="CuadroTexto 109">
                  <a:extLst>
                    <a:ext uri="{FF2B5EF4-FFF2-40B4-BE49-F238E27FC236}">
                      <a16:creationId xmlns:a16="http://schemas.microsoft.com/office/drawing/2014/main" id="{EA7DAE7D-AE3B-F649-93E1-C7ECE9A81CED}"/>
                    </a:ext>
                  </a:extLst>
                </p:cNvPr>
                <p:cNvSpPr txBox="1"/>
                <p:nvPr/>
              </p:nvSpPr>
              <p:spPr>
                <a:xfrm>
                  <a:off x="3811633" y="1212927"/>
                  <a:ext cx="140586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Estrato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11" name="CuadroTexto 110">
                  <a:extLst>
                    <a:ext uri="{FF2B5EF4-FFF2-40B4-BE49-F238E27FC236}">
                      <a16:creationId xmlns:a16="http://schemas.microsoft.com/office/drawing/2014/main" id="{B2B2D9C7-8427-CEDE-93B6-E19CCB8B580A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20%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  <p:sp>
            <p:nvSpPr>
              <p:cNvPr id="109" name="CuadroTexto 108">
                <a:extLst>
                  <a:ext uri="{FF2B5EF4-FFF2-40B4-BE49-F238E27FC236}">
                    <a16:creationId xmlns:a16="http://schemas.microsoft.com/office/drawing/2014/main" id="{03641997-26C3-DC6B-7818-D419570FF7CF}"/>
                  </a:ext>
                </a:extLst>
              </p:cNvPr>
              <p:cNvSpPr txBox="1"/>
              <p:nvPr/>
            </p:nvSpPr>
            <p:spPr>
              <a:xfrm>
                <a:off x="9019351" y="2317778"/>
                <a:ext cx="1172909" cy="566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64%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Cinco</a:t>
                </a:r>
              </a:p>
            </p:txBody>
          </p:sp>
        </p:grpSp>
        <p:sp>
          <p:nvSpPr>
            <p:cNvPr id="112" name="CuadroTexto 111">
              <a:extLst>
                <a:ext uri="{FF2B5EF4-FFF2-40B4-BE49-F238E27FC236}">
                  <a16:creationId xmlns:a16="http://schemas.microsoft.com/office/drawing/2014/main" id="{2F63F2C6-3855-6444-5536-8D479EB4601E}"/>
                </a:ext>
              </a:extLst>
            </p:cNvPr>
            <p:cNvSpPr txBox="1"/>
            <p:nvPr/>
          </p:nvSpPr>
          <p:spPr>
            <a:xfrm>
              <a:off x="9059295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0%</a:t>
              </a:r>
            </a:p>
            <a:p>
              <a:r>
                <a:rPr lang="es-CO" sz="1400" b="1">
                  <a:solidFill>
                    <a:schemeClr val="bg1"/>
                  </a:solidFill>
                </a:rPr>
                <a:t>         Uno</a:t>
              </a:r>
            </a:p>
          </p:txBody>
        </p:sp>
        <p:sp>
          <p:nvSpPr>
            <p:cNvPr id="113" name="CuadroTexto 112">
              <a:extLst>
                <a:ext uri="{FF2B5EF4-FFF2-40B4-BE49-F238E27FC236}">
                  <a16:creationId xmlns:a16="http://schemas.microsoft.com/office/drawing/2014/main" id="{B9BAC8B6-4E8F-10DF-23C3-AA76F2D2BF41}"/>
                </a:ext>
              </a:extLst>
            </p:cNvPr>
            <p:cNvSpPr txBox="1"/>
            <p:nvPr/>
          </p:nvSpPr>
          <p:spPr>
            <a:xfrm>
              <a:off x="10510367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14%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Dos</a:t>
              </a:r>
            </a:p>
          </p:txBody>
        </p:sp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E48F4949-4293-530F-03F5-9249579335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artisticPencilGrayscale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043317" y="3855923"/>
              <a:ext cx="655939" cy="655939"/>
            </a:xfrm>
            <a:prstGeom prst="rect">
              <a:avLst/>
            </a:prstGeom>
          </p:spPr>
        </p:pic>
      </p:grp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06E92F26-F714-834E-B112-12526533F08F}"/>
              </a:ext>
            </a:extLst>
          </p:cNvPr>
          <p:cNvSpPr txBox="1"/>
          <p:nvPr/>
        </p:nvSpPr>
        <p:spPr>
          <a:xfrm>
            <a:off x="5289967" y="3228845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46%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 Cero</a:t>
            </a:r>
          </a:p>
        </p:txBody>
      </p:sp>
      <p:grpSp>
        <p:nvGrpSpPr>
          <p:cNvPr id="123" name="Grupo 122">
            <a:extLst>
              <a:ext uri="{FF2B5EF4-FFF2-40B4-BE49-F238E27FC236}">
                <a16:creationId xmlns:a16="http://schemas.microsoft.com/office/drawing/2014/main" id="{73857DF2-64D5-F960-B1C1-86C84EA9EC65}"/>
              </a:ext>
            </a:extLst>
          </p:cNvPr>
          <p:cNvGrpSpPr/>
          <p:nvPr/>
        </p:nvGrpSpPr>
        <p:grpSpPr>
          <a:xfrm>
            <a:off x="5340592" y="2790246"/>
            <a:ext cx="2602288" cy="1933541"/>
            <a:chOff x="5931142" y="3127128"/>
            <a:chExt cx="2602288" cy="1933541"/>
          </a:xfrm>
        </p:grpSpPr>
        <p:grpSp>
          <p:nvGrpSpPr>
            <p:cNvPr id="93" name="Grupo 92">
              <a:extLst>
                <a:ext uri="{FF2B5EF4-FFF2-40B4-BE49-F238E27FC236}">
                  <a16:creationId xmlns:a16="http://schemas.microsoft.com/office/drawing/2014/main" id="{B27BB7C1-C79C-9931-82A8-974B44F46FDB}"/>
                </a:ext>
              </a:extLst>
            </p:cNvPr>
            <p:cNvGrpSpPr/>
            <p:nvPr/>
          </p:nvGrpSpPr>
          <p:grpSpPr>
            <a:xfrm>
              <a:off x="5931142" y="3127128"/>
              <a:ext cx="2419582" cy="1933541"/>
              <a:chOff x="7590765" y="1110832"/>
              <a:chExt cx="2419582" cy="1780012"/>
            </a:xfrm>
          </p:grpSpPr>
          <p:sp>
            <p:nvSpPr>
              <p:cNvPr id="94" name="Rectángulo 93">
                <a:extLst>
                  <a:ext uri="{FF2B5EF4-FFF2-40B4-BE49-F238E27FC236}">
                    <a16:creationId xmlns:a16="http://schemas.microsoft.com/office/drawing/2014/main" id="{2FFCA849-3119-4AAC-0554-949EAB827BE5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95" name="Grupo 94">
                <a:extLst>
                  <a:ext uri="{FF2B5EF4-FFF2-40B4-BE49-F238E27FC236}">
                    <a16:creationId xmlns:a16="http://schemas.microsoft.com/office/drawing/2014/main" id="{9846C0C9-CC64-1E20-9AB7-58C89234FEDC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1922369" cy="1647802"/>
                <a:chOff x="3026344" y="1212927"/>
                <a:chExt cx="1922369" cy="1647802"/>
              </a:xfrm>
            </p:grpSpPr>
            <p:sp>
              <p:nvSpPr>
                <p:cNvPr id="97" name="CuadroTexto 96">
                  <a:extLst>
                    <a:ext uri="{FF2B5EF4-FFF2-40B4-BE49-F238E27FC236}">
                      <a16:creationId xmlns:a16="http://schemas.microsoft.com/office/drawing/2014/main" id="{3E484B9D-AB52-6264-459B-989CC20CCF5C}"/>
                    </a:ext>
                  </a:extLst>
                </p:cNvPr>
                <p:cNvSpPr txBox="1"/>
                <p:nvPr/>
              </p:nvSpPr>
              <p:spPr>
                <a:xfrm>
                  <a:off x="4021092" y="1212927"/>
                  <a:ext cx="92762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PAC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98" name="CuadroTexto 97">
                  <a:extLst>
                    <a:ext uri="{FF2B5EF4-FFF2-40B4-BE49-F238E27FC236}">
                      <a16:creationId xmlns:a16="http://schemas.microsoft.com/office/drawing/2014/main" id="{0D2C7A32-D7C2-CE43-357F-6947290FD213}"/>
                    </a:ext>
                  </a:extLst>
                </p:cNvPr>
                <p:cNvSpPr txBox="1"/>
                <p:nvPr/>
              </p:nvSpPr>
              <p:spPr>
                <a:xfrm>
                  <a:off x="3026344" y="2294053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4%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</p:grpSp>
        <p:grpSp>
          <p:nvGrpSpPr>
            <p:cNvPr id="121" name="Grupo 120">
              <a:extLst>
                <a:ext uri="{FF2B5EF4-FFF2-40B4-BE49-F238E27FC236}">
                  <a16:creationId xmlns:a16="http://schemas.microsoft.com/office/drawing/2014/main" id="{E493CADE-38E8-667E-FAD1-3DA0D8BAA460}"/>
                </a:ext>
              </a:extLst>
            </p:cNvPr>
            <p:cNvGrpSpPr/>
            <p:nvPr/>
          </p:nvGrpSpPr>
          <p:grpSpPr>
            <a:xfrm>
              <a:off x="6649678" y="3565727"/>
              <a:ext cx="1883752" cy="1414028"/>
              <a:chOff x="6649678" y="3565727"/>
              <a:chExt cx="1883752" cy="1414028"/>
            </a:xfrm>
          </p:grpSpPr>
          <p:sp>
            <p:nvSpPr>
              <p:cNvPr id="99" name="CuadroTexto 98">
                <a:extLst>
                  <a:ext uri="{FF2B5EF4-FFF2-40B4-BE49-F238E27FC236}">
                    <a16:creationId xmlns:a16="http://schemas.microsoft.com/office/drawing/2014/main" id="{4377EB45-647E-65BE-E362-624D447C60B9}"/>
                  </a:ext>
                </a:extLst>
              </p:cNvPr>
              <p:cNvSpPr txBox="1"/>
              <p:nvPr/>
            </p:nvSpPr>
            <p:spPr>
              <a:xfrm>
                <a:off x="6649678" y="358240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36%</a:t>
                </a:r>
              </a:p>
              <a:p>
                <a:r>
                  <a:rPr lang="es-CO" sz="1400" b="1">
                    <a:solidFill>
                      <a:schemeClr val="bg1"/>
                    </a:solidFill>
                  </a:rPr>
                  <a:t>         Uno</a:t>
                </a:r>
              </a:p>
            </p:txBody>
          </p:sp>
          <p:sp>
            <p:nvSpPr>
              <p:cNvPr id="101" name="CuadroTexto 100">
                <a:extLst>
                  <a:ext uri="{FF2B5EF4-FFF2-40B4-BE49-F238E27FC236}">
                    <a16:creationId xmlns:a16="http://schemas.microsoft.com/office/drawing/2014/main" id="{35AA1B25-98D9-BAD1-81DF-7D56B8614ED8}"/>
                  </a:ext>
                </a:extLst>
              </p:cNvPr>
              <p:cNvSpPr txBox="1"/>
              <p:nvPr/>
            </p:nvSpPr>
            <p:spPr>
              <a:xfrm>
                <a:off x="7360521" y="3565727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14%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Dos</a:t>
                </a:r>
              </a:p>
            </p:txBody>
          </p:sp>
          <p:pic>
            <p:nvPicPr>
              <p:cNvPr id="118" name="Imagen 117">
                <a:extLst>
                  <a:ext uri="{FF2B5EF4-FFF2-40B4-BE49-F238E27FC236}">
                    <a16:creationId xmlns:a16="http://schemas.microsoft.com/office/drawing/2014/main" id="{3FD8A69B-CA5D-F606-8737-363FE1EFA0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artisticPaintStrokes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886925" y="4205951"/>
                <a:ext cx="773804" cy="773804"/>
              </a:xfrm>
              <a:prstGeom prst="rect">
                <a:avLst/>
              </a:prstGeom>
            </p:spPr>
          </p:pic>
        </p:grpSp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E08C3EF6-D98C-BF48-525A-096566AE5499}"/>
              </a:ext>
            </a:extLst>
          </p:cNvPr>
          <p:cNvGrpSpPr/>
          <p:nvPr/>
        </p:nvGrpSpPr>
        <p:grpSpPr>
          <a:xfrm>
            <a:off x="8022470" y="853892"/>
            <a:ext cx="2195988" cy="1780012"/>
            <a:chOff x="7814360" y="1110832"/>
            <a:chExt cx="2195988" cy="1780012"/>
          </a:xfrm>
        </p:grpSpPr>
        <p:grpSp>
          <p:nvGrpSpPr>
            <p:cNvPr id="66" name="Grupo 65">
              <a:extLst>
                <a:ext uri="{FF2B5EF4-FFF2-40B4-BE49-F238E27FC236}">
                  <a16:creationId xmlns:a16="http://schemas.microsoft.com/office/drawing/2014/main" id="{C57E15D7-22B0-A7F4-91B0-25347F2C8E0E}"/>
                </a:ext>
              </a:extLst>
            </p:cNvPr>
            <p:cNvGrpSpPr/>
            <p:nvPr/>
          </p:nvGrpSpPr>
          <p:grpSpPr>
            <a:xfrm>
              <a:off x="7814360" y="1110832"/>
              <a:ext cx="2195988" cy="1780012"/>
              <a:chOff x="7814360" y="1110832"/>
              <a:chExt cx="2195988" cy="1780012"/>
            </a:xfrm>
          </p:grpSpPr>
          <p:sp>
            <p:nvSpPr>
              <p:cNvPr id="60" name="Rectángulo 59">
                <a:extLst>
                  <a:ext uri="{FF2B5EF4-FFF2-40B4-BE49-F238E27FC236}">
                    <a16:creationId xmlns:a16="http://schemas.microsoft.com/office/drawing/2014/main" id="{F9EFCADC-05B2-F682-289B-C747CC2CD405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61" name="Grupo 60">
                <a:extLst>
                  <a:ext uri="{FF2B5EF4-FFF2-40B4-BE49-F238E27FC236}">
                    <a16:creationId xmlns:a16="http://schemas.microsoft.com/office/drawing/2014/main" id="{C964548B-6050-9570-F6ED-821402EF251B}"/>
                  </a:ext>
                </a:extLst>
              </p:cNvPr>
              <p:cNvGrpSpPr/>
              <p:nvPr/>
            </p:nvGrpSpPr>
            <p:grpSpPr>
              <a:xfrm>
                <a:off x="7814361" y="1223137"/>
                <a:ext cx="2083693" cy="1630468"/>
                <a:chOff x="3249940" y="1229837"/>
                <a:chExt cx="2083693" cy="1630468"/>
              </a:xfrm>
            </p:grpSpPr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A384638E-A349-F40A-70A6-8D9CA8E6240E}"/>
                    </a:ext>
                  </a:extLst>
                </p:cNvPr>
                <p:cNvSpPr txBox="1"/>
                <p:nvPr/>
              </p:nvSpPr>
              <p:spPr>
                <a:xfrm>
                  <a:off x="3552927" y="1229837"/>
                  <a:ext cx="1780706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Rango Edad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2EDF63FC-ACD7-05DF-88CF-893AD3B6E72C}"/>
                    </a:ext>
                  </a:extLst>
                </p:cNvPr>
                <p:cNvSpPr txBox="1"/>
                <p:nvPr/>
              </p:nvSpPr>
              <p:spPr>
                <a:xfrm>
                  <a:off x="3249940" y="2306307"/>
                  <a:ext cx="1172909" cy="5539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56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20 a 35 años</a:t>
                  </a:r>
                </a:p>
              </p:txBody>
            </p:sp>
          </p:grpSp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312D8C5E-12D6-0247-EA4C-40EE0D3A22CC}"/>
                  </a:ext>
                </a:extLst>
              </p:cNvPr>
              <p:cNvSpPr txBox="1"/>
              <p:nvPr/>
            </p:nvSpPr>
            <p:spPr>
              <a:xfrm>
                <a:off x="8837439" y="2289285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30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36 a 45 años</a:t>
                </a:r>
              </a:p>
            </p:txBody>
          </p:sp>
        </p:grpSp>
        <p:pic>
          <p:nvPicPr>
            <p:cNvPr id="128" name="Imagen 127">
              <a:extLst>
                <a:ext uri="{FF2B5EF4-FFF2-40B4-BE49-F238E27FC236}">
                  <a16:creationId xmlns:a16="http://schemas.microsoft.com/office/drawing/2014/main" id="{251F6E1F-603F-F500-E0EB-C36A59BACA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17644" y="1602912"/>
              <a:ext cx="655473" cy="655473"/>
            </a:xfrm>
            <a:prstGeom prst="rect">
              <a:avLst/>
            </a:prstGeom>
          </p:spPr>
        </p:pic>
      </p:grpSp>
      <p:grpSp>
        <p:nvGrpSpPr>
          <p:cNvPr id="189" name="Grupo 188">
            <a:extLst>
              <a:ext uri="{FF2B5EF4-FFF2-40B4-BE49-F238E27FC236}">
                <a16:creationId xmlns:a16="http://schemas.microsoft.com/office/drawing/2014/main" id="{6B14D51F-E29D-CAD4-D4CF-D7A0012030CA}"/>
              </a:ext>
            </a:extLst>
          </p:cNvPr>
          <p:cNvGrpSpPr/>
          <p:nvPr/>
        </p:nvGrpSpPr>
        <p:grpSpPr>
          <a:xfrm>
            <a:off x="-114768" y="4837223"/>
            <a:ext cx="3758502" cy="1933541"/>
            <a:chOff x="435340" y="4837223"/>
            <a:chExt cx="4854517" cy="1933541"/>
          </a:xfrm>
        </p:grpSpPr>
        <p:grpSp>
          <p:nvGrpSpPr>
            <p:cNvPr id="138" name="Grupo 137">
              <a:extLst>
                <a:ext uri="{FF2B5EF4-FFF2-40B4-BE49-F238E27FC236}">
                  <a16:creationId xmlns:a16="http://schemas.microsoft.com/office/drawing/2014/main" id="{AB41BA5B-5472-CB5F-9C23-801D7F20AA01}"/>
                </a:ext>
              </a:extLst>
            </p:cNvPr>
            <p:cNvGrpSpPr/>
            <p:nvPr/>
          </p:nvGrpSpPr>
          <p:grpSpPr>
            <a:xfrm>
              <a:off x="435340" y="4837223"/>
              <a:ext cx="4854517" cy="1933541"/>
              <a:chOff x="9135236" y="3127128"/>
              <a:chExt cx="3830051" cy="1933541"/>
            </a:xfrm>
          </p:grpSpPr>
          <p:grpSp>
            <p:nvGrpSpPr>
              <p:cNvPr id="139" name="Grupo 138">
                <a:extLst>
                  <a:ext uri="{FF2B5EF4-FFF2-40B4-BE49-F238E27FC236}">
                    <a16:creationId xmlns:a16="http://schemas.microsoft.com/office/drawing/2014/main" id="{511D022A-8BBE-261B-2313-4AA7E571A9C2}"/>
                  </a:ext>
                </a:extLst>
              </p:cNvPr>
              <p:cNvGrpSpPr/>
              <p:nvPr/>
            </p:nvGrpSpPr>
            <p:grpSpPr>
              <a:xfrm>
                <a:off x="9229918" y="3127128"/>
                <a:ext cx="3735369" cy="1933541"/>
                <a:chOff x="7739695" y="1110832"/>
                <a:chExt cx="3735369" cy="1780012"/>
              </a:xfrm>
            </p:grpSpPr>
            <p:sp>
              <p:nvSpPr>
                <p:cNvPr id="143" name="Rectángulo 142">
                  <a:extLst>
                    <a:ext uri="{FF2B5EF4-FFF2-40B4-BE49-F238E27FC236}">
                      <a16:creationId xmlns:a16="http://schemas.microsoft.com/office/drawing/2014/main" id="{56D26484-9AC4-5E5B-FD84-903DD436457B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3246650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44" name="Grupo 143">
                  <a:extLst>
                    <a:ext uri="{FF2B5EF4-FFF2-40B4-BE49-F238E27FC236}">
                      <a16:creationId xmlns:a16="http://schemas.microsoft.com/office/drawing/2014/main" id="{A66F8B98-0CE8-E5ED-17EA-6E63CE019B84}"/>
                    </a:ext>
                  </a:extLst>
                </p:cNvPr>
                <p:cNvGrpSpPr/>
                <p:nvPr/>
              </p:nvGrpSpPr>
              <p:grpSpPr>
                <a:xfrm>
                  <a:off x="7739695" y="1236316"/>
                  <a:ext cx="3735369" cy="1532075"/>
                  <a:chOff x="3175274" y="1243016"/>
                  <a:chExt cx="3735369" cy="1532075"/>
                </a:xfrm>
              </p:grpSpPr>
              <p:sp>
                <p:nvSpPr>
                  <p:cNvPr id="146" name="CuadroTexto 145">
                    <a:extLst>
                      <a:ext uri="{FF2B5EF4-FFF2-40B4-BE49-F238E27FC236}">
                        <a16:creationId xmlns:a16="http://schemas.microsoft.com/office/drawing/2014/main" id="{F1C52975-A187-B356-471E-887840B88619}"/>
                      </a:ext>
                    </a:extLst>
                  </p:cNvPr>
                  <p:cNvSpPr txBox="1"/>
                  <p:nvPr/>
                </p:nvSpPr>
                <p:spPr>
                  <a:xfrm>
                    <a:off x="3854322" y="1243016"/>
                    <a:ext cx="3056321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Segmento Empresas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47" name="CuadroTexto 146">
                    <a:extLst>
                      <a:ext uri="{FF2B5EF4-FFF2-40B4-BE49-F238E27FC236}">
                        <a16:creationId xmlns:a16="http://schemas.microsoft.com/office/drawing/2014/main" id="{C997D662-F577-C13A-ED2B-4E91235DD816}"/>
                      </a:ext>
                    </a:extLst>
                  </p:cNvPr>
                  <p:cNvSpPr txBox="1"/>
                  <p:nvPr/>
                </p:nvSpPr>
                <p:spPr>
                  <a:xfrm>
                    <a:off x="3175274" y="2208415"/>
                    <a:ext cx="1945898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20%</a:t>
                    </a:r>
                    <a:endParaRPr lang="es-CO" sz="1400" b="1" dirty="0">
                      <a:solidFill>
                        <a:schemeClr val="bg1"/>
                      </a:solidFill>
                    </a:endParaRP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Medianas</a:t>
                    </a:r>
                  </a:p>
                </p:txBody>
              </p:sp>
            </p:grpSp>
            <p:sp>
              <p:nvSpPr>
                <p:cNvPr id="145" name="CuadroTexto 144">
                  <a:extLst>
                    <a:ext uri="{FF2B5EF4-FFF2-40B4-BE49-F238E27FC236}">
                      <a16:creationId xmlns:a16="http://schemas.microsoft.com/office/drawing/2014/main" id="{BC268D51-4AD1-9951-3CD8-DC7E812E8ACA}"/>
                    </a:ext>
                  </a:extLst>
                </p:cNvPr>
                <p:cNvSpPr txBox="1"/>
                <p:nvPr/>
              </p:nvSpPr>
              <p:spPr>
                <a:xfrm>
                  <a:off x="9864249" y="1523867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24%</a:t>
                  </a:r>
                </a:p>
                <a:p>
                  <a:r>
                    <a:rPr lang="es-CO" sz="1400" b="1">
                      <a:solidFill>
                        <a:schemeClr val="bg1"/>
                      </a:solidFill>
                    </a:rPr>
                    <a:t>       Grandes</a:t>
                  </a:r>
                </a:p>
              </p:txBody>
            </p:sp>
          </p:grpSp>
          <p:sp>
            <p:nvSpPr>
              <p:cNvPr id="140" name="CuadroTexto 139">
                <a:extLst>
                  <a:ext uri="{FF2B5EF4-FFF2-40B4-BE49-F238E27FC236}">
                    <a16:creationId xmlns:a16="http://schemas.microsoft.com/office/drawing/2014/main" id="{E43DA695-D673-E2A1-17D9-4D4563FC8678}"/>
                  </a:ext>
                </a:extLst>
              </p:cNvPr>
              <p:cNvSpPr txBox="1"/>
              <p:nvPr/>
            </p:nvSpPr>
            <p:spPr>
              <a:xfrm>
                <a:off x="9135236" y="3565727"/>
                <a:ext cx="145027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6%</a:t>
                </a:r>
              </a:p>
              <a:p>
                <a:r>
                  <a:rPr lang="es-CO" sz="1400" b="1">
                    <a:solidFill>
                      <a:schemeClr val="bg1"/>
                    </a:solidFill>
                  </a:rPr>
                  <a:t>       Emp Top</a:t>
                </a:r>
              </a:p>
            </p:txBody>
          </p:sp>
          <p:sp>
            <p:nvSpPr>
              <p:cNvPr id="141" name="CuadroTexto 140">
                <a:extLst>
                  <a:ext uri="{FF2B5EF4-FFF2-40B4-BE49-F238E27FC236}">
                    <a16:creationId xmlns:a16="http://schemas.microsoft.com/office/drawing/2014/main" id="{F696E305-D3F7-27C5-61B9-711B6EF4F025}"/>
                  </a:ext>
                </a:extLst>
              </p:cNvPr>
              <p:cNvSpPr txBox="1"/>
              <p:nvPr/>
            </p:nvSpPr>
            <p:spPr>
              <a:xfrm>
                <a:off x="10055645" y="3580594"/>
                <a:ext cx="152651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46%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    Micro    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Transaccional</a:t>
                </a:r>
              </a:p>
            </p:txBody>
          </p:sp>
        </p:grpSp>
        <p:pic>
          <p:nvPicPr>
            <p:cNvPr id="149" name="Imagen 148">
              <a:extLst>
                <a:ext uri="{FF2B5EF4-FFF2-40B4-BE49-F238E27FC236}">
                  <a16:creationId xmlns:a16="http://schemas.microsoft.com/office/drawing/2014/main" id="{2653B6B8-2012-2454-EB5C-D9C37B45F1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325932" y="6027593"/>
              <a:ext cx="677562" cy="677562"/>
            </a:xfrm>
            <a:prstGeom prst="rect">
              <a:avLst/>
            </a:prstGeom>
          </p:spPr>
        </p:pic>
      </p:grp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56EB9E46-362D-39C2-8FB6-56829AF007CA}"/>
              </a:ext>
            </a:extLst>
          </p:cNvPr>
          <p:cNvSpPr txBox="1"/>
          <p:nvPr/>
        </p:nvSpPr>
        <p:spPr>
          <a:xfrm>
            <a:off x="2093411" y="5976448"/>
            <a:ext cx="128594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4%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Estándar</a:t>
            </a:r>
          </a:p>
        </p:txBody>
      </p:sp>
      <p:grpSp>
        <p:nvGrpSpPr>
          <p:cNvPr id="151" name="Grupo 150">
            <a:extLst>
              <a:ext uri="{FF2B5EF4-FFF2-40B4-BE49-F238E27FC236}">
                <a16:creationId xmlns:a16="http://schemas.microsoft.com/office/drawing/2014/main" id="{A43C6E69-515D-9A51-5A61-4E7EC7B16AD9}"/>
              </a:ext>
            </a:extLst>
          </p:cNvPr>
          <p:cNvGrpSpPr/>
          <p:nvPr/>
        </p:nvGrpSpPr>
        <p:grpSpPr>
          <a:xfrm>
            <a:off x="3041036" y="4852302"/>
            <a:ext cx="2562052" cy="1933541"/>
            <a:chOff x="9024616" y="3127128"/>
            <a:chExt cx="2562052" cy="1933541"/>
          </a:xfrm>
        </p:grpSpPr>
        <p:grpSp>
          <p:nvGrpSpPr>
            <p:cNvPr id="152" name="Grupo 151">
              <a:extLst>
                <a:ext uri="{FF2B5EF4-FFF2-40B4-BE49-F238E27FC236}">
                  <a16:creationId xmlns:a16="http://schemas.microsoft.com/office/drawing/2014/main" id="{DA85A437-3F46-D03E-B1D9-20D2CE074674}"/>
                </a:ext>
              </a:extLst>
            </p:cNvPr>
            <p:cNvGrpSpPr/>
            <p:nvPr/>
          </p:nvGrpSpPr>
          <p:grpSpPr>
            <a:xfrm>
              <a:off x="9024616" y="3127128"/>
              <a:ext cx="2475954" cy="1933541"/>
              <a:chOff x="7534393" y="1110832"/>
              <a:chExt cx="2475954" cy="1780012"/>
            </a:xfrm>
          </p:grpSpPr>
          <p:sp>
            <p:nvSpPr>
              <p:cNvPr id="157" name="Rectángulo 156">
                <a:extLst>
                  <a:ext uri="{FF2B5EF4-FFF2-40B4-BE49-F238E27FC236}">
                    <a16:creationId xmlns:a16="http://schemas.microsoft.com/office/drawing/2014/main" id="{F5C8EEF9-FFC3-5B6D-71ED-0D046F1F87A2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158" name="Grupo 157">
                <a:extLst>
                  <a:ext uri="{FF2B5EF4-FFF2-40B4-BE49-F238E27FC236}">
                    <a16:creationId xmlns:a16="http://schemas.microsoft.com/office/drawing/2014/main" id="{02335CE1-91A5-7940-D810-3DC280BB6614}"/>
                  </a:ext>
                </a:extLst>
              </p:cNvPr>
              <p:cNvGrpSpPr/>
              <p:nvPr/>
            </p:nvGrpSpPr>
            <p:grpSpPr>
              <a:xfrm>
                <a:off x="7534393" y="1206227"/>
                <a:ext cx="2388623" cy="1388251"/>
                <a:chOff x="2969972" y="1212927"/>
                <a:chExt cx="2388623" cy="1388251"/>
              </a:xfrm>
            </p:grpSpPr>
            <p:sp>
              <p:nvSpPr>
                <p:cNvPr id="160" name="CuadroTexto 159">
                  <a:extLst>
                    <a:ext uri="{FF2B5EF4-FFF2-40B4-BE49-F238E27FC236}">
                      <a16:creationId xmlns:a16="http://schemas.microsoft.com/office/drawing/2014/main" id="{56B73210-B1E6-7352-91E3-0D67B79C478B}"/>
                    </a:ext>
                  </a:extLst>
                </p:cNvPr>
                <p:cNvSpPr txBox="1"/>
                <p:nvPr/>
              </p:nvSpPr>
              <p:spPr>
                <a:xfrm>
                  <a:off x="3408991" y="1212927"/>
                  <a:ext cx="1949604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Departamento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61" name="CuadroTexto 160">
                  <a:extLst>
                    <a:ext uri="{FF2B5EF4-FFF2-40B4-BE49-F238E27FC236}">
                      <a16:creationId xmlns:a16="http://schemas.microsoft.com/office/drawing/2014/main" id="{4C508A93-D8A4-9D0E-A70E-ED245BEE4FF0}"/>
                    </a:ext>
                  </a:extLst>
                </p:cNvPr>
                <p:cNvSpPr txBox="1"/>
                <p:nvPr/>
              </p:nvSpPr>
              <p:spPr>
                <a:xfrm>
                  <a:off x="2969972" y="2034502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2%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Ubaté</a:t>
                  </a:r>
                </a:p>
              </p:txBody>
            </p:sp>
          </p:grpSp>
        </p:grpSp>
        <p:sp>
          <p:nvSpPr>
            <p:cNvPr id="154" name="CuadroTexto 153">
              <a:extLst>
                <a:ext uri="{FF2B5EF4-FFF2-40B4-BE49-F238E27FC236}">
                  <a16:creationId xmlns:a16="http://schemas.microsoft.com/office/drawing/2014/main" id="{2887AF2A-1769-0EF7-1CE4-356DEC4EAC7E}"/>
                </a:ext>
              </a:extLst>
            </p:cNvPr>
            <p:cNvSpPr txBox="1"/>
            <p:nvPr/>
          </p:nvSpPr>
          <p:spPr>
            <a:xfrm>
              <a:off x="9059295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40%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Bogotá</a:t>
              </a:r>
            </a:p>
          </p:txBody>
        </p:sp>
        <p:sp>
          <p:nvSpPr>
            <p:cNvPr id="155" name="CuadroTexto 154">
              <a:extLst>
                <a:ext uri="{FF2B5EF4-FFF2-40B4-BE49-F238E27FC236}">
                  <a16:creationId xmlns:a16="http://schemas.microsoft.com/office/drawing/2014/main" id="{371EA574-4F42-6E3E-EC5C-075D415079B5}"/>
                </a:ext>
              </a:extLst>
            </p:cNvPr>
            <p:cNvSpPr txBox="1"/>
            <p:nvPr/>
          </p:nvSpPr>
          <p:spPr>
            <a:xfrm>
              <a:off x="10368253" y="3565504"/>
              <a:ext cx="1218415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10%</a:t>
              </a:r>
              <a:r>
                <a:rPr lang="es-CO" sz="1400" b="1" dirty="0">
                  <a:solidFill>
                    <a:schemeClr val="bg1"/>
                  </a:solidFill>
                </a:rPr>
                <a:t>                         Girardot</a:t>
              </a:r>
            </a:p>
          </p:txBody>
        </p:sp>
      </p:grpSp>
      <p:grpSp>
        <p:nvGrpSpPr>
          <p:cNvPr id="201" name="Grupo 200">
            <a:extLst>
              <a:ext uri="{FF2B5EF4-FFF2-40B4-BE49-F238E27FC236}">
                <a16:creationId xmlns:a16="http://schemas.microsoft.com/office/drawing/2014/main" id="{26EEB54E-5902-8BC4-B15A-0A1DDA888B3E}"/>
              </a:ext>
            </a:extLst>
          </p:cNvPr>
          <p:cNvGrpSpPr/>
          <p:nvPr/>
        </p:nvGrpSpPr>
        <p:grpSpPr>
          <a:xfrm>
            <a:off x="5407406" y="4842106"/>
            <a:ext cx="2693579" cy="1985915"/>
            <a:chOff x="5483606" y="4842106"/>
            <a:chExt cx="2693579" cy="1985915"/>
          </a:xfrm>
        </p:grpSpPr>
        <p:grpSp>
          <p:nvGrpSpPr>
            <p:cNvPr id="164" name="Grupo 163">
              <a:extLst>
                <a:ext uri="{FF2B5EF4-FFF2-40B4-BE49-F238E27FC236}">
                  <a16:creationId xmlns:a16="http://schemas.microsoft.com/office/drawing/2014/main" id="{CE621703-1E4B-79BF-701D-4F8EE503DDAD}"/>
                </a:ext>
              </a:extLst>
            </p:cNvPr>
            <p:cNvGrpSpPr/>
            <p:nvPr/>
          </p:nvGrpSpPr>
          <p:grpSpPr>
            <a:xfrm>
              <a:off x="5483606" y="4842106"/>
              <a:ext cx="2693579" cy="1957609"/>
              <a:chOff x="9049330" y="3127128"/>
              <a:chExt cx="2693579" cy="1957609"/>
            </a:xfrm>
          </p:grpSpPr>
          <p:grpSp>
            <p:nvGrpSpPr>
              <p:cNvPr id="165" name="Grupo 164">
                <a:extLst>
                  <a:ext uri="{FF2B5EF4-FFF2-40B4-BE49-F238E27FC236}">
                    <a16:creationId xmlns:a16="http://schemas.microsoft.com/office/drawing/2014/main" id="{3B7B10E1-1A75-9C4D-346B-ECD4B0AE8775}"/>
                  </a:ext>
                </a:extLst>
              </p:cNvPr>
              <p:cNvGrpSpPr/>
              <p:nvPr/>
            </p:nvGrpSpPr>
            <p:grpSpPr>
              <a:xfrm>
                <a:off x="9049330" y="3127128"/>
                <a:ext cx="2655911" cy="1957609"/>
                <a:chOff x="7559107" y="1110832"/>
                <a:chExt cx="2655911" cy="1802169"/>
              </a:xfrm>
            </p:grpSpPr>
            <p:sp>
              <p:nvSpPr>
                <p:cNvPr id="168" name="Rectángulo 167">
                  <a:extLst>
                    <a:ext uri="{FF2B5EF4-FFF2-40B4-BE49-F238E27FC236}">
                      <a16:creationId xmlns:a16="http://schemas.microsoft.com/office/drawing/2014/main" id="{4ABFAE59-103B-EEFF-9B8B-75CAC1740EFC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195987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70" name="Grupo 169">
                  <a:extLst>
                    <a:ext uri="{FF2B5EF4-FFF2-40B4-BE49-F238E27FC236}">
                      <a16:creationId xmlns:a16="http://schemas.microsoft.com/office/drawing/2014/main" id="{1725A66B-3A43-4FCF-4DBB-BA2E8044633D}"/>
                    </a:ext>
                  </a:extLst>
                </p:cNvPr>
                <p:cNvGrpSpPr/>
                <p:nvPr/>
              </p:nvGrpSpPr>
              <p:grpSpPr>
                <a:xfrm>
                  <a:off x="7559107" y="1207829"/>
                  <a:ext cx="2655911" cy="1705172"/>
                  <a:chOff x="2994686" y="1214529"/>
                  <a:chExt cx="2655911" cy="1705172"/>
                </a:xfrm>
              </p:grpSpPr>
              <p:sp>
                <p:nvSpPr>
                  <p:cNvPr id="171" name="CuadroTexto 170">
                    <a:extLst>
                      <a:ext uri="{FF2B5EF4-FFF2-40B4-BE49-F238E27FC236}">
                        <a16:creationId xmlns:a16="http://schemas.microsoft.com/office/drawing/2014/main" id="{399637D3-97DF-A6F2-320F-C18EFCB7D6FE}"/>
                      </a:ext>
                    </a:extLst>
                  </p:cNvPr>
                  <p:cNvSpPr txBox="1"/>
                  <p:nvPr/>
                </p:nvSpPr>
                <p:spPr>
                  <a:xfrm>
                    <a:off x="3700993" y="1214529"/>
                    <a:ext cx="1949604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Localidad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72" name="CuadroTexto 171">
                    <a:extLst>
                      <a:ext uri="{FF2B5EF4-FFF2-40B4-BE49-F238E27FC236}">
                        <a16:creationId xmlns:a16="http://schemas.microsoft.com/office/drawing/2014/main" id="{ACEC9B56-F83E-0B77-FA56-20717D4CA549}"/>
                      </a:ext>
                    </a:extLst>
                  </p:cNvPr>
                  <p:cNvSpPr txBox="1"/>
                  <p:nvPr/>
                </p:nvSpPr>
                <p:spPr>
                  <a:xfrm>
                    <a:off x="2994686" y="2353025"/>
                    <a:ext cx="1323041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2%</a:t>
                    </a: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    Bosa</a:t>
                    </a:r>
                  </a:p>
                </p:txBody>
              </p:sp>
            </p:grpSp>
          </p:grpSp>
          <p:sp>
            <p:nvSpPr>
              <p:cNvPr id="166" name="CuadroTexto 165">
                <a:extLst>
                  <a:ext uri="{FF2B5EF4-FFF2-40B4-BE49-F238E27FC236}">
                    <a16:creationId xmlns:a16="http://schemas.microsoft.com/office/drawing/2014/main" id="{64DA5AF6-C89B-854A-5736-17F24BAD5AB6}"/>
                  </a:ext>
                </a:extLst>
              </p:cNvPr>
              <p:cNvSpPr txBox="1"/>
              <p:nvPr/>
            </p:nvSpPr>
            <p:spPr>
              <a:xfrm>
                <a:off x="9059295" y="3565727"/>
                <a:ext cx="1304030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16%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Engativá</a:t>
                </a:r>
              </a:p>
            </p:txBody>
          </p:sp>
          <p:sp>
            <p:nvSpPr>
              <p:cNvPr id="167" name="CuadroTexto 166">
                <a:extLst>
                  <a:ext uri="{FF2B5EF4-FFF2-40B4-BE49-F238E27FC236}">
                    <a16:creationId xmlns:a16="http://schemas.microsoft.com/office/drawing/2014/main" id="{1DA67390-65B7-4C89-15E1-2E177C06F241}"/>
                  </a:ext>
                </a:extLst>
              </p:cNvPr>
              <p:cNvSpPr txBox="1"/>
              <p:nvPr/>
            </p:nvSpPr>
            <p:spPr>
              <a:xfrm>
                <a:off x="10498522" y="3549824"/>
                <a:ext cx="1244387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6%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Kennedy</a:t>
                </a:r>
              </a:p>
            </p:txBody>
          </p:sp>
        </p:grpSp>
        <p:sp>
          <p:nvSpPr>
            <p:cNvPr id="185" name="CuadroTexto 184">
              <a:extLst>
                <a:ext uri="{FF2B5EF4-FFF2-40B4-BE49-F238E27FC236}">
                  <a16:creationId xmlns:a16="http://schemas.microsoft.com/office/drawing/2014/main" id="{2BED38A4-B638-F82D-90C4-543DBAE4194F}"/>
                </a:ext>
              </a:extLst>
            </p:cNvPr>
            <p:cNvSpPr txBox="1"/>
            <p:nvPr/>
          </p:nvSpPr>
          <p:spPr>
            <a:xfrm>
              <a:off x="6625166" y="6212468"/>
              <a:ext cx="1323041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58%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 Sin </a:t>
              </a:r>
              <a:r>
                <a:rPr lang="es-CO" sz="1400" b="1" dirty="0" err="1">
                  <a:solidFill>
                    <a:schemeClr val="bg1"/>
                  </a:solidFill>
                </a:rPr>
                <a:t>Infor</a:t>
              </a:r>
              <a:endParaRPr lang="es-CO" sz="1400" b="1" dirty="0">
                <a:solidFill>
                  <a:schemeClr val="bg1"/>
                </a:solidFill>
              </a:endParaRPr>
            </a:p>
          </p:txBody>
        </p:sp>
        <p:pic>
          <p:nvPicPr>
            <p:cNvPr id="187" name="Imagen 186">
              <a:extLst>
                <a:ext uri="{FF2B5EF4-FFF2-40B4-BE49-F238E27FC236}">
                  <a16:creationId xmlns:a16="http://schemas.microsoft.com/office/drawing/2014/main" id="{82F11718-E367-4264-78DC-9B9CA021CA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401571" y="5793688"/>
              <a:ext cx="1266970" cy="620378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grpSp>
        <p:nvGrpSpPr>
          <p:cNvPr id="202" name="Grupo 201">
            <a:extLst>
              <a:ext uri="{FF2B5EF4-FFF2-40B4-BE49-F238E27FC236}">
                <a16:creationId xmlns:a16="http://schemas.microsoft.com/office/drawing/2014/main" id="{C8AAC575-2FB3-233B-93B7-FF5E9112A7D5}"/>
              </a:ext>
            </a:extLst>
          </p:cNvPr>
          <p:cNvGrpSpPr/>
          <p:nvPr/>
        </p:nvGrpSpPr>
        <p:grpSpPr>
          <a:xfrm>
            <a:off x="7528734" y="4834201"/>
            <a:ext cx="2867011" cy="1957609"/>
            <a:chOff x="8071595" y="4834201"/>
            <a:chExt cx="3008704" cy="1957609"/>
          </a:xfrm>
        </p:grpSpPr>
        <p:grpSp>
          <p:nvGrpSpPr>
            <p:cNvPr id="190" name="Grupo 189">
              <a:extLst>
                <a:ext uri="{FF2B5EF4-FFF2-40B4-BE49-F238E27FC236}">
                  <a16:creationId xmlns:a16="http://schemas.microsoft.com/office/drawing/2014/main" id="{49CC0B9A-F51B-CB07-3655-AA262C1C9B7C}"/>
                </a:ext>
              </a:extLst>
            </p:cNvPr>
            <p:cNvGrpSpPr/>
            <p:nvPr/>
          </p:nvGrpSpPr>
          <p:grpSpPr>
            <a:xfrm>
              <a:off x="8071595" y="4834201"/>
              <a:ext cx="3008704" cy="1957609"/>
              <a:chOff x="8845727" y="3127128"/>
              <a:chExt cx="3008704" cy="1957609"/>
            </a:xfrm>
          </p:grpSpPr>
          <p:grpSp>
            <p:nvGrpSpPr>
              <p:cNvPr id="191" name="Grupo 190">
                <a:extLst>
                  <a:ext uri="{FF2B5EF4-FFF2-40B4-BE49-F238E27FC236}">
                    <a16:creationId xmlns:a16="http://schemas.microsoft.com/office/drawing/2014/main" id="{AAF7EAA8-E47C-A194-690C-B8475981748C}"/>
                  </a:ext>
                </a:extLst>
              </p:cNvPr>
              <p:cNvGrpSpPr/>
              <p:nvPr/>
            </p:nvGrpSpPr>
            <p:grpSpPr>
              <a:xfrm>
                <a:off x="8845727" y="3127128"/>
                <a:ext cx="3008704" cy="1957609"/>
                <a:chOff x="7355504" y="1110832"/>
                <a:chExt cx="3008704" cy="1802169"/>
              </a:xfrm>
            </p:grpSpPr>
            <p:sp>
              <p:nvSpPr>
                <p:cNvPr id="194" name="Rectángulo 193">
                  <a:extLst>
                    <a:ext uri="{FF2B5EF4-FFF2-40B4-BE49-F238E27FC236}">
                      <a16:creationId xmlns:a16="http://schemas.microsoft.com/office/drawing/2014/main" id="{350A0E0D-1C90-84B1-1798-10924A7DACA5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368574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95" name="Grupo 194">
                  <a:extLst>
                    <a:ext uri="{FF2B5EF4-FFF2-40B4-BE49-F238E27FC236}">
                      <a16:creationId xmlns:a16="http://schemas.microsoft.com/office/drawing/2014/main" id="{FFED46E4-0F35-F245-EEDB-E68BEB706B07}"/>
                    </a:ext>
                  </a:extLst>
                </p:cNvPr>
                <p:cNvGrpSpPr/>
                <p:nvPr/>
              </p:nvGrpSpPr>
              <p:grpSpPr>
                <a:xfrm>
                  <a:off x="7355504" y="1207828"/>
                  <a:ext cx="3008704" cy="1705173"/>
                  <a:chOff x="2791083" y="1214528"/>
                  <a:chExt cx="3008704" cy="1705173"/>
                </a:xfrm>
              </p:grpSpPr>
              <p:sp>
                <p:nvSpPr>
                  <p:cNvPr id="197" name="CuadroTexto 196">
                    <a:extLst>
                      <a:ext uri="{FF2B5EF4-FFF2-40B4-BE49-F238E27FC236}">
                        <a16:creationId xmlns:a16="http://schemas.microsoft.com/office/drawing/2014/main" id="{AC558F91-38C9-C39F-2469-015E1E1A6CC5}"/>
                      </a:ext>
                    </a:extLst>
                  </p:cNvPr>
                  <p:cNvSpPr txBox="1"/>
                  <p:nvPr/>
                </p:nvSpPr>
                <p:spPr>
                  <a:xfrm>
                    <a:off x="3225997" y="1214528"/>
                    <a:ext cx="2573790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Entidad Financieras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98" name="CuadroTexto 197">
                    <a:extLst>
                      <a:ext uri="{FF2B5EF4-FFF2-40B4-BE49-F238E27FC236}">
                        <a16:creationId xmlns:a16="http://schemas.microsoft.com/office/drawing/2014/main" id="{EBF07DF7-9246-95BB-2021-A6CC03DE84A0}"/>
                      </a:ext>
                    </a:extLst>
                  </p:cNvPr>
                  <p:cNvSpPr txBox="1"/>
                  <p:nvPr/>
                </p:nvSpPr>
                <p:spPr>
                  <a:xfrm>
                    <a:off x="2791083" y="2353025"/>
                    <a:ext cx="2440539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6%</a:t>
                    </a: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      Colsubsidio</a:t>
                    </a:r>
                  </a:p>
                </p:txBody>
              </p:sp>
            </p:grpSp>
          </p:grpSp>
          <p:sp>
            <p:nvSpPr>
              <p:cNvPr id="192" name="CuadroTexto 191">
                <a:extLst>
                  <a:ext uri="{FF2B5EF4-FFF2-40B4-BE49-F238E27FC236}">
                    <a16:creationId xmlns:a16="http://schemas.microsoft.com/office/drawing/2014/main" id="{384801B8-7FA6-FF71-42FF-AE2A51A95F5E}"/>
                  </a:ext>
                </a:extLst>
              </p:cNvPr>
              <p:cNvSpPr txBox="1"/>
              <p:nvPr/>
            </p:nvSpPr>
            <p:spPr>
              <a:xfrm>
                <a:off x="9490209" y="3567846"/>
                <a:ext cx="1337256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50%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    BBVA</a:t>
                </a:r>
              </a:p>
            </p:txBody>
          </p:sp>
          <p:sp>
            <p:nvSpPr>
              <p:cNvPr id="193" name="CuadroTexto 192">
                <a:extLst>
                  <a:ext uri="{FF2B5EF4-FFF2-40B4-BE49-F238E27FC236}">
                    <a16:creationId xmlns:a16="http://schemas.microsoft.com/office/drawing/2014/main" id="{40398477-2CE9-3AA2-DC65-413DBDC1F225}"/>
                  </a:ext>
                </a:extLst>
              </p:cNvPr>
              <p:cNvSpPr txBox="1"/>
              <p:nvPr/>
            </p:nvSpPr>
            <p:spPr>
              <a:xfrm>
                <a:off x="10498522" y="3549824"/>
                <a:ext cx="1244387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24%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B de </a:t>
                </a:r>
                <a:r>
                  <a:rPr lang="es-CO" sz="1400" b="1" dirty="0" err="1">
                    <a:solidFill>
                      <a:schemeClr val="bg1"/>
                    </a:solidFill>
                  </a:rPr>
                  <a:t>Bogota</a:t>
                </a:r>
                <a:endParaRPr lang="es-CO" sz="14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99" name="CuadroTexto 198">
              <a:extLst>
                <a:ext uri="{FF2B5EF4-FFF2-40B4-BE49-F238E27FC236}">
                  <a16:creationId xmlns:a16="http://schemas.microsoft.com/office/drawing/2014/main" id="{EAECDE9D-E131-F544-FB6B-ED5AFE07D7BD}"/>
                </a:ext>
              </a:extLst>
            </p:cNvPr>
            <p:cNvSpPr txBox="1"/>
            <p:nvPr/>
          </p:nvSpPr>
          <p:spPr>
            <a:xfrm>
              <a:off x="9366872" y="6140046"/>
              <a:ext cx="1323041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  20%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      Otros</a:t>
              </a:r>
            </a:p>
          </p:txBody>
        </p:sp>
      </p:grpSp>
      <p:sp>
        <p:nvSpPr>
          <p:cNvPr id="200" name="CuadroTexto 199">
            <a:extLst>
              <a:ext uri="{FF2B5EF4-FFF2-40B4-BE49-F238E27FC236}">
                <a16:creationId xmlns:a16="http://schemas.microsoft.com/office/drawing/2014/main" id="{C729CC61-3D02-9154-7AE4-5F015471080C}"/>
              </a:ext>
            </a:extLst>
          </p:cNvPr>
          <p:cNvSpPr txBox="1"/>
          <p:nvPr/>
        </p:nvSpPr>
        <p:spPr>
          <a:xfrm>
            <a:off x="4140736" y="5856787"/>
            <a:ext cx="137625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2%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Mosquera</a:t>
            </a:r>
          </a:p>
        </p:txBody>
      </p:sp>
      <p:pic>
        <p:nvPicPr>
          <p:cNvPr id="205" name="Imagen 204">
            <a:extLst>
              <a:ext uri="{FF2B5EF4-FFF2-40B4-BE49-F238E27FC236}">
                <a16:creationId xmlns:a16="http://schemas.microsoft.com/office/drawing/2014/main" id="{C0E08D22-E486-8D9A-529B-62AE293BE14F}"/>
              </a:ext>
            </a:extLst>
          </p:cNvPr>
          <p:cNvPicPr>
            <a:picLocks noChangeAspect="1"/>
          </p:cNvPicPr>
          <p:nvPr/>
        </p:nvPicPr>
        <p:blipFill>
          <a:blip r:embed="rId22">
            <a:duotone>
              <a:prstClr val="black"/>
              <a:schemeClr val="tx1">
                <a:lumMod val="75000"/>
                <a:lumOff val="2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4538" y="5846263"/>
            <a:ext cx="673981" cy="673981"/>
          </a:xfrm>
          <a:prstGeom prst="rect">
            <a:avLst/>
          </a:prstGeom>
        </p:spPr>
      </p:pic>
      <p:grpSp>
        <p:nvGrpSpPr>
          <p:cNvPr id="208" name="Grupo 207">
            <a:extLst>
              <a:ext uri="{FF2B5EF4-FFF2-40B4-BE49-F238E27FC236}">
                <a16:creationId xmlns:a16="http://schemas.microsoft.com/office/drawing/2014/main" id="{F178FB8A-3412-C8DB-D1E9-9EAE3C5E009C}"/>
              </a:ext>
            </a:extLst>
          </p:cNvPr>
          <p:cNvGrpSpPr/>
          <p:nvPr/>
        </p:nvGrpSpPr>
        <p:grpSpPr>
          <a:xfrm>
            <a:off x="10245555" y="853892"/>
            <a:ext cx="1956550" cy="5540381"/>
            <a:chOff x="7793864" y="1110832"/>
            <a:chExt cx="1816602" cy="1780012"/>
          </a:xfrm>
        </p:grpSpPr>
        <p:sp>
          <p:nvSpPr>
            <p:cNvPr id="212" name="Rectángulo 211">
              <a:extLst>
                <a:ext uri="{FF2B5EF4-FFF2-40B4-BE49-F238E27FC236}">
                  <a16:creationId xmlns:a16="http://schemas.microsoft.com/office/drawing/2014/main" id="{2965FE24-C30D-CB6C-D7FB-35C63AFD8880}"/>
                </a:ext>
              </a:extLst>
            </p:cNvPr>
            <p:cNvSpPr/>
            <p:nvPr/>
          </p:nvSpPr>
          <p:spPr>
            <a:xfrm>
              <a:off x="7814360" y="1110832"/>
              <a:ext cx="1666611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5" name="CuadroTexto 214">
              <a:extLst>
                <a:ext uri="{FF2B5EF4-FFF2-40B4-BE49-F238E27FC236}">
                  <a16:creationId xmlns:a16="http://schemas.microsoft.com/office/drawing/2014/main" id="{F446CAAF-567A-E7AD-39D4-693927CCB957}"/>
                </a:ext>
              </a:extLst>
            </p:cNvPr>
            <p:cNvSpPr txBox="1"/>
            <p:nvPr/>
          </p:nvSpPr>
          <p:spPr>
            <a:xfrm>
              <a:off x="7793864" y="1161252"/>
              <a:ext cx="1816602" cy="1141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1600">
                  <a:solidFill>
                    <a:srgbClr val="FFC000"/>
                  </a:solidFill>
                  <a:latin typeface="KG Red Hands" panose="02000505000000020004" pitchFamily="2" charset="0"/>
                </a:rPr>
                <a:t>Top Empresas</a:t>
              </a:r>
              <a:endParaRPr lang="es-ES" sz="1600">
                <a:solidFill>
                  <a:srgbClr val="FFC000"/>
                </a:solidFill>
              </a:endParaRPr>
            </a:p>
          </p:txBody>
        </p:sp>
        <p:sp>
          <p:nvSpPr>
            <p:cNvPr id="214" name="CuadroTexto 213">
              <a:extLst>
                <a:ext uri="{FF2B5EF4-FFF2-40B4-BE49-F238E27FC236}">
                  <a16:creationId xmlns:a16="http://schemas.microsoft.com/office/drawing/2014/main" id="{5AB4E622-60E2-A6BB-1E4E-D242B3353BD1}"/>
                </a:ext>
              </a:extLst>
            </p:cNvPr>
            <p:cNvSpPr txBox="1"/>
            <p:nvPr/>
          </p:nvSpPr>
          <p:spPr>
            <a:xfrm>
              <a:off x="7830402" y="1354030"/>
              <a:ext cx="1689688" cy="351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500" b="1" dirty="0">
                  <a:solidFill>
                    <a:schemeClr val="bg1"/>
                  </a:solidFill>
                </a:rPr>
                <a:t>COLSUBSIDIO	3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TELEPERFORMANCE	2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MUNICIPIO DE GIRARDOT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GRANYPROC S.A.S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SERCONSTRUCTORES S.A.S.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ALCIAUTOS LTDA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JERONIMO MARTINS COLOMBI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ANARKITECH SOLUCIONES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RAMA JUDICIAL CONS SUP J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ANGELA CONSUELO CUELLAR 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ADECCO SERVICIOS COLOMBI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	                             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	                               </a:t>
              </a: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E63346C8-2448-4AF0-AEBD-2A683765F550}"/>
              </a:ext>
            </a:extLst>
          </p:cNvPr>
          <p:cNvSpPr txBox="1"/>
          <p:nvPr/>
        </p:nvSpPr>
        <p:spPr>
          <a:xfrm>
            <a:off x="10330342" y="6461181"/>
            <a:ext cx="14292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100" dirty="0">
                <a:solidFill>
                  <a:srgbClr val="FFC000"/>
                </a:solidFill>
                <a:latin typeface="KG Red Hands" panose="02000505000000020004" pitchFamily="2" charset="0"/>
              </a:rPr>
              <a:t>*Corte 15/01/2026</a:t>
            </a:r>
            <a:endParaRPr lang="es-ES" sz="11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0450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55DE0-83A9-3076-5D05-14A1A5E6F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5EFA76E5-F4A4-EEBD-73F6-1D4F265DF46E}"/>
              </a:ext>
            </a:extLst>
          </p:cNvPr>
          <p:cNvCxnSpPr>
            <a:cxnSpLocks/>
          </p:cNvCxnSpPr>
          <p:nvPr/>
        </p:nvCxnSpPr>
        <p:spPr>
          <a:xfrm flipH="1">
            <a:off x="0" y="645614"/>
            <a:ext cx="10809007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uadroTexto 85">
            <a:extLst>
              <a:ext uri="{FF2B5EF4-FFF2-40B4-BE49-F238E27FC236}">
                <a16:creationId xmlns:a16="http://schemas.microsoft.com/office/drawing/2014/main" id="{0117E983-87FD-2A46-9731-D5AE25BB38F1}"/>
              </a:ext>
            </a:extLst>
          </p:cNvPr>
          <p:cNvSpPr txBox="1"/>
          <p:nvPr/>
        </p:nvSpPr>
        <p:spPr>
          <a:xfrm>
            <a:off x="-128399" y="120715"/>
            <a:ext cx="95771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>
                <a:solidFill>
                  <a:schemeClr val="bg1"/>
                </a:solidFill>
                <a:latin typeface="KG Red Hands" panose="02000505000000020004" pitchFamily="2" charset="0"/>
              </a:rPr>
              <a:t>      Reserva de </a:t>
            </a:r>
            <a:r>
              <a:rPr lang="es-CO" sz="2400" err="1">
                <a:solidFill>
                  <a:schemeClr val="bg1"/>
                </a:solidFill>
                <a:latin typeface="KG Red Hands" panose="02000505000000020004" pitchFamily="2" charset="0"/>
              </a:rPr>
              <a:t>Saman</a:t>
            </a:r>
            <a:endParaRPr lang="es-ES" sz="240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8BFE54C-B1B5-6B08-7BC8-E23526DA39F5}"/>
              </a:ext>
              <a:ext uri="{147F2762-F138-4A5C-976F-8EAC2B608ADB}">
                <a16:predDERef xmlns:a16="http://schemas.microsoft.com/office/drawing/2014/main" pred="{95DEFF95-1524-40DB-8538-DE0C2D5BEC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3398838"/>
            <a:ext cx="555625" cy="49371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9759345-ECD2-83B1-D8AC-7B15C96C4063}"/>
              </a:ext>
              <a:ext uri="{147F2762-F138-4A5C-976F-8EAC2B608ADB}">
                <a16:predDERef xmlns:a16="http://schemas.microsoft.com/office/drawing/2014/main" pred="{95FFDEC5-E647-4E60-9FB8-32349ACC1E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087813"/>
            <a:ext cx="555625" cy="46196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FB6D7D1-F29C-63A3-16E4-08007787CE1B}"/>
              </a:ext>
              <a:ext uri="{147F2762-F138-4A5C-976F-8EAC2B608ADB}">
                <a16:predDERef xmlns:a16="http://schemas.microsoft.com/office/drawing/2014/main" pred="{D53D0C4A-FE71-44C0-97B3-1EA296D3DCE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814888"/>
            <a:ext cx="555625" cy="41116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1B6DDAB5-6195-9A0F-EF37-C010AE89566D}"/>
              </a:ext>
              <a:ext uri="{147F2762-F138-4A5C-976F-8EAC2B608ADB}">
                <a16:predDERef xmlns:a16="http://schemas.microsoft.com/office/drawing/2014/main" pred="{7008BA42-7365-4AD1-B913-F26820CE47E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1775" y="5427663"/>
            <a:ext cx="465138" cy="433387"/>
          </a:xfrm>
          <a:prstGeom prst="rect">
            <a:avLst/>
          </a:prstGeom>
        </p:spPr>
      </p:pic>
      <p:grpSp>
        <p:nvGrpSpPr>
          <p:cNvPr id="135" name="Grupo 134">
            <a:extLst>
              <a:ext uri="{FF2B5EF4-FFF2-40B4-BE49-F238E27FC236}">
                <a16:creationId xmlns:a16="http://schemas.microsoft.com/office/drawing/2014/main" id="{5ED5EEF4-32E1-4819-9863-D9D0D70B589E}"/>
              </a:ext>
            </a:extLst>
          </p:cNvPr>
          <p:cNvGrpSpPr/>
          <p:nvPr/>
        </p:nvGrpSpPr>
        <p:grpSpPr>
          <a:xfrm>
            <a:off x="5564187" y="853892"/>
            <a:ext cx="2195988" cy="1780012"/>
            <a:chOff x="5353656" y="1110832"/>
            <a:chExt cx="2195988" cy="1780012"/>
          </a:xfrm>
        </p:grpSpPr>
        <p:sp>
          <p:nvSpPr>
            <p:cNvPr id="58" name="Rectángulo 57">
              <a:extLst>
                <a:ext uri="{FF2B5EF4-FFF2-40B4-BE49-F238E27FC236}">
                  <a16:creationId xmlns:a16="http://schemas.microsoft.com/office/drawing/2014/main" id="{E0399878-6444-E91E-2870-0C4576315095}"/>
                </a:ext>
              </a:extLst>
            </p:cNvPr>
            <p:cNvSpPr/>
            <p:nvPr/>
          </p:nvSpPr>
          <p:spPr>
            <a:xfrm>
              <a:off x="5353656" y="1110832"/>
              <a:ext cx="2195987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43" name="Grupo 42">
              <a:extLst>
                <a:ext uri="{FF2B5EF4-FFF2-40B4-BE49-F238E27FC236}">
                  <a16:creationId xmlns:a16="http://schemas.microsoft.com/office/drawing/2014/main" id="{8774F073-EE1A-93E1-2E9C-F0ECE807846D}"/>
                </a:ext>
              </a:extLst>
            </p:cNvPr>
            <p:cNvGrpSpPr/>
            <p:nvPr/>
          </p:nvGrpSpPr>
          <p:grpSpPr>
            <a:xfrm>
              <a:off x="5353657" y="1223137"/>
              <a:ext cx="2083693" cy="1630468"/>
              <a:chOff x="3249940" y="1229837"/>
              <a:chExt cx="2083693" cy="1630468"/>
            </a:xfrm>
          </p:grpSpPr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DAE14E98-9C80-9F16-E2EC-C3804067F4D6}"/>
                  </a:ext>
                </a:extLst>
              </p:cNvPr>
              <p:cNvSpPr txBox="1"/>
              <p:nvPr/>
            </p:nvSpPr>
            <p:spPr>
              <a:xfrm>
                <a:off x="3552927" y="1229837"/>
                <a:ext cx="178070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Rango Salario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5307DE7B-DFA3-4A50-36FF-07A239867716}"/>
                  </a:ext>
                </a:extLst>
              </p:cNvPr>
              <p:cNvSpPr txBox="1"/>
              <p:nvPr/>
            </p:nvSpPr>
            <p:spPr>
              <a:xfrm>
                <a:off x="3249940" y="2306307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64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Hasta 2 </a:t>
                </a:r>
                <a:r>
                  <a:rPr lang="es-CO" sz="1200" b="1" dirty="0" err="1">
                    <a:solidFill>
                      <a:schemeClr val="bg1"/>
                    </a:solidFill>
                  </a:rPr>
                  <a:t>smlv</a:t>
                </a:r>
                <a:endParaRPr lang="es-CO" sz="12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53" name="Imagen 52">
              <a:extLst>
                <a:ext uri="{FF2B5EF4-FFF2-40B4-BE49-F238E27FC236}">
                  <a16:creationId xmlns:a16="http://schemas.microsoft.com/office/drawing/2014/main" id="{E5774EA2-404D-4AC5-E1DD-329DC4EB696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12042" y="1623254"/>
              <a:ext cx="641350" cy="641350"/>
            </a:xfrm>
            <a:prstGeom prst="rect">
              <a:avLst/>
            </a:prstGeom>
          </p:spPr>
        </p:pic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3B189AE7-F58D-40C5-8F83-A95E7106D6EE}"/>
                </a:ext>
              </a:extLst>
            </p:cNvPr>
            <p:cNvSpPr txBox="1"/>
            <p:nvPr/>
          </p:nvSpPr>
          <p:spPr>
            <a:xfrm>
              <a:off x="6376735" y="2289285"/>
              <a:ext cx="1172909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36</a:t>
              </a:r>
              <a:r>
                <a:rPr lang="es-CO" sz="18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Mas de 2 </a:t>
              </a:r>
              <a:r>
                <a:rPr lang="es-CO" sz="1200" b="1" dirty="0" err="1">
                  <a:solidFill>
                    <a:schemeClr val="bg1"/>
                  </a:solidFill>
                </a:rPr>
                <a:t>smlv</a:t>
              </a:r>
              <a:endParaRPr lang="es-CO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1AF314B0-FDCD-37F6-4F29-923301C66749}"/>
              </a:ext>
            </a:extLst>
          </p:cNvPr>
          <p:cNvGrpSpPr/>
          <p:nvPr/>
        </p:nvGrpSpPr>
        <p:grpSpPr>
          <a:xfrm>
            <a:off x="3320687" y="874756"/>
            <a:ext cx="1941094" cy="1759148"/>
            <a:chOff x="3224463" y="1110832"/>
            <a:chExt cx="1941094" cy="1759148"/>
          </a:xfrm>
        </p:grpSpPr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2D7B9FBA-3B6A-51CD-F278-736046DAE62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36596" y="1677993"/>
              <a:ext cx="721895" cy="721895"/>
            </a:xfrm>
            <a:prstGeom prst="rect">
              <a:avLst/>
            </a:prstGeom>
          </p:spPr>
        </p:pic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F4D2324C-DDDC-23ED-0885-F062676D4343}"/>
                </a:ext>
              </a:extLst>
            </p:cNvPr>
            <p:cNvGrpSpPr/>
            <p:nvPr/>
          </p:nvGrpSpPr>
          <p:grpSpPr>
            <a:xfrm>
              <a:off x="3420553" y="1223137"/>
              <a:ext cx="1609350" cy="1516670"/>
              <a:chOff x="3420553" y="1223137"/>
              <a:chExt cx="1609350" cy="1516670"/>
            </a:xfrm>
          </p:grpSpPr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6D75864B-8035-8440-572E-A20DAEE5F4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74608" y="1613811"/>
                <a:ext cx="723600" cy="723600"/>
              </a:xfrm>
              <a:prstGeom prst="rect">
                <a:avLst/>
              </a:prstGeom>
            </p:spPr>
          </p:pic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1DF28899-CDBE-6859-0CFF-678A6D0F4178}"/>
                  </a:ext>
                </a:extLst>
              </p:cNvPr>
              <p:cNvSpPr txBox="1"/>
              <p:nvPr/>
            </p:nvSpPr>
            <p:spPr>
              <a:xfrm>
                <a:off x="3685253" y="1223137"/>
                <a:ext cx="1098946" cy="345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Género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2860737A-0066-AC7C-AA98-558D250B5B2A}"/>
                  </a:ext>
                </a:extLst>
              </p:cNvPr>
              <p:cNvSpPr txBox="1"/>
              <p:nvPr/>
            </p:nvSpPr>
            <p:spPr>
              <a:xfrm>
                <a:off x="3420553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59%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8FA7B946-F57A-A383-D1EE-108DEE3F5D9D}"/>
                  </a:ext>
                </a:extLst>
              </p:cNvPr>
              <p:cNvSpPr txBox="1"/>
              <p:nvPr/>
            </p:nvSpPr>
            <p:spPr>
              <a:xfrm>
                <a:off x="4308008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41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</p:grp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D0F6BCC4-A053-5F5C-93B3-E80FBC539714}"/>
                </a:ext>
              </a:extLst>
            </p:cNvPr>
            <p:cNvSpPr/>
            <p:nvPr/>
          </p:nvSpPr>
          <p:spPr>
            <a:xfrm>
              <a:off x="3224463" y="1110832"/>
              <a:ext cx="1941094" cy="175914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78" name="CuadroTexto 77">
            <a:extLst>
              <a:ext uri="{FF2B5EF4-FFF2-40B4-BE49-F238E27FC236}">
                <a16:creationId xmlns:a16="http://schemas.microsoft.com/office/drawing/2014/main" id="{4B3EC93F-9D96-7504-3D10-E7A3E429A1EE}"/>
              </a:ext>
            </a:extLst>
          </p:cNvPr>
          <p:cNvSpPr txBox="1"/>
          <p:nvPr/>
        </p:nvSpPr>
        <p:spPr>
          <a:xfrm>
            <a:off x="1376075" y="3222417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20%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Joven</a:t>
            </a:r>
          </a:p>
        </p:txBody>
      </p: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9259EE93-38FC-EB01-7384-7CC997086727}"/>
              </a:ext>
            </a:extLst>
          </p:cNvPr>
          <p:cNvGrpSpPr/>
          <p:nvPr/>
        </p:nvGrpSpPr>
        <p:grpSpPr>
          <a:xfrm>
            <a:off x="-155207" y="2771278"/>
            <a:ext cx="2688149" cy="1998661"/>
            <a:chOff x="435343" y="3108160"/>
            <a:chExt cx="2688149" cy="1998661"/>
          </a:xfrm>
        </p:grpSpPr>
        <p:grpSp>
          <p:nvGrpSpPr>
            <p:cNvPr id="69" name="Grupo 68">
              <a:extLst>
                <a:ext uri="{FF2B5EF4-FFF2-40B4-BE49-F238E27FC236}">
                  <a16:creationId xmlns:a16="http://schemas.microsoft.com/office/drawing/2014/main" id="{1BB78C2C-8C52-AB1D-0EA9-74240B80F160}"/>
                </a:ext>
              </a:extLst>
            </p:cNvPr>
            <p:cNvGrpSpPr/>
            <p:nvPr/>
          </p:nvGrpSpPr>
          <p:grpSpPr>
            <a:xfrm>
              <a:off x="457829" y="3108160"/>
              <a:ext cx="2665663" cy="1998661"/>
              <a:chOff x="7590765" y="1110832"/>
              <a:chExt cx="2665663" cy="1822499"/>
            </a:xfrm>
          </p:grpSpPr>
          <p:sp>
            <p:nvSpPr>
              <p:cNvPr id="70" name="Rectángulo 69">
                <a:extLst>
                  <a:ext uri="{FF2B5EF4-FFF2-40B4-BE49-F238E27FC236}">
                    <a16:creationId xmlns:a16="http://schemas.microsoft.com/office/drawing/2014/main" id="{33F1C6A0-8527-1C64-2617-89EA6414F0A3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71" name="Grupo 70">
                <a:extLst>
                  <a:ext uri="{FF2B5EF4-FFF2-40B4-BE49-F238E27FC236}">
                    <a16:creationId xmlns:a16="http://schemas.microsoft.com/office/drawing/2014/main" id="{AD0138A6-AC9A-49BE-2D1D-D7906043A10E}"/>
                  </a:ext>
                </a:extLst>
              </p:cNvPr>
              <p:cNvGrpSpPr/>
              <p:nvPr/>
            </p:nvGrpSpPr>
            <p:grpSpPr>
              <a:xfrm>
                <a:off x="7590765" y="1223137"/>
                <a:ext cx="2024519" cy="1655939"/>
                <a:chOff x="3026344" y="1229837"/>
                <a:chExt cx="2024519" cy="1655939"/>
              </a:xfrm>
            </p:grpSpPr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2561E617-F5B0-1B30-12B8-306099283F9B}"/>
                    </a:ext>
                  </a:extLst>
                </p:cNvPr>
                <p:cNvSpPr txBox="1"/>
                <p:nvPr/>
              </p:nvSpPr>
              <p:spPr>
                <a:xfrm>
                  <a:off x="3645002" y="1229837"/>
                  <a:ext cx="1405861" cy="3087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Segmento 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640D307A-8E9E-CDDA-B223-D95CF303EF92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12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37%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Básico</a:t>
                  </a:r>
                </a:p>
              </p:txBody>
            </p:sp>
          </p:grpSp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3D657126-718D-3F94-5FB2-A1BFBB72DBB3}"/>
                  </a:ext>
                </a:extLst>
              </p:cNvPr>
              <p:cNvSpPr txBox="1"/>
              <p:nvPr/>
            </p:nvSpPr>
            <p:spPr>
              <a:xfrm>
                <a:off x="9083519" y="231777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0%</a:t>
                </a:r>
              </a:p>
              <a:p>
                <a:r>
                  <a:rPr lang="es-CO" sz="1400" b="1">
                    <a:solidFill>
                      <a:schemeClr val="bg1"/>
                    </a:solidFill>
                  </a:rPr>
                  <a:t>       Alto</a:t>
                </a:r>
              </a:p>
            </p:txBody>
          </p:sp>
        </p:grpSp>
        <p:sp>
          <p:nvSpPr>
            <p:cNvPr id="77" name="CuadroTexto 76">
              <a:extLst>
                <a:ext uri="{FF2B5EF4-FFF2-40B4-BE49-F238E27FC236}">
                  <a16:creationId xmlns:a16="http://schemas.microsoft.com/office/drawing/2014/main" id="{79B6DFB3-B64B-0948-A5BB-733F0F0E0C57}"/>
                </a:ext>
              </a:extLst>
            </p:cNvPr>
            <p:cNvSpPr txBox="1"/>
            <p:nvPr/>
          </p:nvSpPr>
          <p:spPr>
            <a:xfrm>
              <a:off x="435343" y="3559299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42%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Medio</a:t>
              </a:r>
            </a:p>
          </p:txBody>
        </p:sp>
        <p:pic>
          <p:nvPicPr>
            <p:cNvPr id="80" name="Imagen 79">
              <a:extLst>
                <a:ext uri="{FF2B5EF4-FFF2-40B4-BE49-F238E27FC236}">
                  <a16:creationId xmlns:a16="http://schemas.microsoft.com/office/drawing/2014/main" id="{8BCC48BD-ED31-E123-C364-EE2F9B0204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LineDrawing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90862" y="3871141"/>
              <a:ext cx="680857" cy="680857"/>
            </a:xfrm>
            <a:prstGeom prst="rect">
              <a:avLst/>
            </a:prstGeom>
          </p:spPr>
        </p:pic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A82E0219-1C7F-74D0-29E7-3B1E6E12C251}"/>
              </a:ext>
            </a:extLst>
          </p:cNvPr>
          <p:cNvGrpSpPr/>
          <p:nvPr/>
        </p:nvGrpSpPr>
        <p:grpSpPr>
          <a:xfrm>
            <a:off x="2169335" y="2774370"/>
            <a:ext cx="3284086" cy="1963483"/>
            <a:chOff x="2759885" y="3111252"/>
            <a:chExt cx="3284086" cy="1963483"/>
          </a:xfrm>
        </p:grpSpPr>
        <p:sp>
          <p:nvSpPr>
            <p:cNvPr id="88" name="CuadroTexto 87">
              <a:extLst>
                <a:ext uri="{FF2B5EF4-FFF2-40B4-BE49-F238E27FC236}">
                  <a16:creationId xmlns:a16="http://schemas.microsoft.com/office/drawing/2014/main" id="{15CC87C9-808D-5D4E-C108-2CE141AB7A21}"/>
                </a:ext>
              </a:extLst>
            </p:cNvPr>
            <p:cNvSpPr txBox="1"/>
            <p:nvPr/>
          </p:nvSpPr>
          <p:spPr>
            <a:xfrm>
              <a:off x="2759885" y="3531697"/>
              <a:ext cx="154680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   37%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             Sin Grupo</a:t>
              </a:r>
            </a:p>
          </p:txBody>
        </p:sp>
        <p:grpSp>
          <p:nvGrpSpPr>
            <p:cNvPr id="124" name="Grupo 123">
              <a:extLst>
                <a:ext uri="{FF2B5EF4-FFF2-40B4-BE49-F238E27FC236}">
                  <a16:creationId xmlns:a16="http://schemas.microsoft.com/office/drawing/2014/main" id="{16B8F492-2830-73F5-0089-3A79AE9B57F9}"/>
                </a:ext>
              </a:extLst>
            </p:cNvPr>
            <p:cNvGrpSpPr/>
            <p:nvPr/>
          </p:nvGrpSpPr>
          <p:grpSpPr>
            <a:xfrm>
              <a:off x="3048286" y="3111252"/>
              <a:ext cx="2995685" cy="1963483"/>
              <a:chOff x="3048286" y="3111252"/>
              <a:chExt cx="2995685" cy="1963483"/>
            </a:xfrm>
          </p:grpSpPr>
          <p:grpSp>
            <p:nvGrpSpPr>
              <p:cNvPr id="81" name="Grupo 80">
                <a:extLst>
                  <a:ext uri="{FF2B5EF4-FFF2-40B4-BE49-F238E27FC236}">
                    <a16:creationId xmlns:a16="http://schemas.microsoft.com/office/drawing/2014/main" id="{0D91F8E5-709E-CFF3-3252-9CE7C84E33A0}"/>
                  </a:ext>
                </a:extLst>
              </p:cNvPr>
              <p:cNvGrpSpPr/>
              <p:nvPr/>
            </p:nvGrpSpPr>
            <p:grpSpPr>
              <a:xfrm>
                <a:off x="3048286" y="3111252"/>
                <a:ext cx="2995685" cy="1963483"/>
                <a:chOff x="7814360" y="1110832"/>
                <a:chExt cx="2995685" cy="1780012"/>
              </a:xfrm>
            </p:grpSpPr>
            <p:sp>
              <p:nvSpPr>
                <p:cNvPr id="82" name="Rectángulo 81">
                  <a:extLst>
                    <a:ext uri="{FF2B5EF4-FFF2-40B4-BE49-F238E27FC236}">
                      <a16:creationId xmlns:a16="http://schemas.microsoft.com/office/drawing/2014/main" id="{052D5FC5-09FE-20C8-477A-9671B644C1B8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808386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5" name="CuadroTexto 84">
                  <a:extLst>
                    <a:ext uri="{FF2B5EF4-FFF2-40B4-BE49-F238E27FC236}">
                      <a16:creationId xmlns:a16="http://schemas.microsoft.com/office/drawing/2014/main" id="{6DF7A29D-0D14-D087-E1CB-CF53042F9D7A}"/>
                    </a:ext>
                  </a:extLst>
                </p:cNvPr>
                <p:cNvSpPr txBox="1"/>
                <p:nvPr/>
              </p:nvSpPr>
              <p:spPr>
                <a:xfrm>
                  <a:off x="8199228" y="1166870"/>
                  <a:ext cx="2143266" cy="3069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Segmento Familia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84" name="CuadroTexto 83">
                  <a:extLst>
                    <a:ext uri="{FF2B5EF4-FFF2-40B4-BE49-F238E27FC236}">
                      <a16:creationId xmlns:a16="http://schemas.microsoft.com/office/drawing/2014/main" id="{97E88829-9CC9-9E87-0DE3-6973112FA958}"/>
                    </a:ext>
                  </a:extLst>
                </p:cNvPr>
                <p:cNvSpPr txBox="1"/>
                <p:nvPr/>
              </p:nvSpPr>
              <p:spPr>
                <a:xfrm>
                  <a:off x="9185077" y="2002589"/>
                  <a:ext cx="1624968" cy="5022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        15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 Nuclear Integrada</a:t>
                  </a:r>
                </a:p>
              </p:txBody>
            </p:sp>
          </p:grpSp>
          <p:sp>
            <p:nvSpPr>
              <p:cNvPr id="89" name="CuadroTexto 88">
                <a:extLst>
                  <a:ext uri="{FF2B5EF4-FFF2-40B4-BE49-F238E27FC236}">
                    <a16:creationId xmlns:a16="http://schemas.microsoft.com/office/drawing/2014/main" id="{494DC231-FE9C-4073-F791-1C9AB909122A}"/>
                  </a:ext>
                </a:extLst>
              </p:cNvPr>
              <p:cNvSpPr txBox="1"/>
              <p:nvPr/>
            </p:nvSpPr>
            <p:spPr>
              <a:xfrm>
                <a:off x="4771770" y="3534141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41%</a:t>
                </a:r>
                <a:r>
                  <a:rPr lang="es-CO" sz="1200" b="1" dirty="0">
                    <a:solidFill>
                      <a:schemeClr val="bg1"/>
                    </a:solidFill>
                  </a:rPr>
                  <a:t> Monoparental</a:t>
                </a:r>
              </a:p>
            </p:txBody>
          </p:sp>
          <p:pic>
            <p:nvPicPr>
              <p:cNvPr id="92" name="Imagen 91">
                <a:extLst>
                  <a:ext uri="{FF2B5EF4-FFF2-40B4-BE49-F238E27FC236}">
                    <a16:creationId xmlns:a16="http://schemas.microsoft.com/office/drawing/2014/main" id="{8FE6AFBD-8CF8-CDC9-BE34-BB28145D3C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artisticGlowDiffused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075298" y="3683026"/>
                <a:ext cx="754362" cy="754362"/>
              </a:xfrm>
              <a:prstGeom prst="rect">
                <a:avLst/>
              </a:prstGeom>
            </p:spPr>
          </p:pic>
        </p:grp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D80F334F-F068-33FD-3526-F05D4DB5B2DF}"/>
              </a:ext>
            </a:extLst>
          </p:cNvPr>
          <p:cNvGrpSpPr/>
          <p:nvPr/>
        </p:nvGrpSpPr>
        <p:grpSpPr>
          <a:xfrm>
            <a:off x="90873" y="847081"/>
            <a:ext cx="3094159" cy="1780012"/>
            <a:chOff x="681423" y="1183963"/>
            <a:chExt cx="3094159" cy="1780012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F105C7D0-3D0D-285F-919F-AE696EEC977B}"/>
                </a:ext>
              </a:extLst>
            </p:cNvPr>
            <p:cNvSpPr txBox="1"/>
            <p:nvPr/>
          </p:nvSpPr>
          <p:spPr>
            <a:xfrm>
              <a:off x="942955" y="1217834"/>
              <a:ext cx="2376943" cy="16927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s-CO" sz="2000" b="1" dirty="0">
                <a:solidFill>
                  <a:srgbClr val="FFC000"/>
                </a:solidFill>
              </a:endParaRP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Afiliado     </a:t>
              </a:r>
              <a:r>
                <a:rPr lang="es-CO" sz="2800" b="1" dirty="0">
                  <a:solidFill>
                    <a:srgbClr val="FFC000"/>
                  </a:solidFill>
                </a:rPr>
                <a:t>   </a:t>
              </a:r>
              <a:r>
                <a:rPr lang="es-CO" sz="2800" b="1" dirty="0">
                  <a:solidFill>
                    <a:schemeClr val="bg1"/>
                  </a:solidFill>
                </a:rPr>
                <a:t>77%</a:t>
              </a: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No Afilado   </a:t>
              </a:r>
              <a:r>
                <a:rPr lang="es-CO" sz="2800" b="1" dirty="0">
                  <a:solidFill>
                    <a:schemeClr val="bg1"/>
                  </a:solidFill>
                </a:rPr>
                <a:t>23%</a:t>
              </a:r>
            </a:p>
            <a:p>
              <a:endParaRPr lang="es-ES" sz="28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05" name="Rectángulo 104">
              <a:extLst>
                <a:ext uri="{FF2B5EF4-FFF2-40B4-BE49-F238E27FC236}">
                  <a16:creationId xmlns:a16="http://schemas.microsoft.com/office/drawing/2014/main" id="{758B2296-CC66-2AF0-C516-27E96F0FFD6E}"/>
                </a:ext>
              </a:extLst>
            </p:cNvPr>
            <p:cNvSpPr/>
            <p:nvPr/>
          </p:nvSpPr>
          <p:spPr>
            <a:xfrm>
              <a:off x="681423" y="1183963"/>
              <a:ext cx="3094159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20" name="Grupo 119">
            <a:extLst>
              <a:ext uri="{FF2B5EF4-FFF2-40B4-BE49-F238E27FC236}">
                <a16:creationId xmlns:a16="http://schemas.microsoft.com/office/drawing/2014/main" id="{7D206D7C-268F-A44E-E1ED-823668B01528}"/>
              </a:ext>
            </a:extLst>
          </p:cNvPr>
          <p:cNvGrpSpPr/>
          <p:nvPr/>
        </p:nvGrpSpPr>
        <p:grpSpPr>
          <a:xfrm>
            <a:off x="7777183" y="2775745"/>
            <a:ext cx="2623981" cy="1933541"/>
            <a:chOff x="9059295" y="3127128"/>
            <a:chExt cx="2623981" cy="1933541"/>
          </a:xfrm>
        </p:grpSpPr>
        <p:grpSp>
          <p:nvGrpSpPr>
            <p:cNvPr id="106" name="Grupo 105">
              <a:extLst>
                <a:ext uri="{FF2B5EF4-FFF2-40B4-BE49-F238E27FC236}">
                  <a16:creationId xmlns:a16="http://schemas.microsoft.com/office/drawing/2014/main" id="{0B5D2E06-1D62-423F-3B49-A67BCD5BF05A}"/>
                </a:ext>
              </a:extLst>
            </p:cNvPr>
            <p:cNvGrpSpPr/>
            <p:nvPr/>
          </p:nvGrpSpPr>
          <p:grpSpPr>
            <a:xfrm>
              <a:off x="9080988" y="3127128"/>
              <a:ext cx="2601495" cy="1933541"/>
              <a:chOff x="7590765" y="1110832"/>
              <a:chExt cx="2601495" cy="1780012"/>
            </a:xfrm>
          </p:grpSpPr>
          <p:sp>
            <p:nvSpPr>
              <p:cNvPr id="107" name="Rectángulo 106">
                <a:extLst>
                  <a:ext uri="{FF2B5EF4-FFF2-40B4-BE49-F238E27FC236}">
                    <a16:creationId xmlns:a16="http://schemas.microsoft.com/office/drawing/2014/main" id="{E99D3AD7-345A-E754-3BAC-8E62CA0092A5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108" name="Grupo 107">
                <a:extLst>
                  <a:ext uri="{FF2B5EF4-FFF2-40B4-BE49-F238E27FC236}">
                    <a16:creationId xmlns:a16="http://schemas.microsoft.com/office/drawing/2014/main" id="{E99D8756-F927-DCC9-4051-7984548E9002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2191150" cy="1678227"/>
                <a:chOff x="3026344" y="1212927"/>
                <a:chExt cx="2191150" cy="1678227"/>
              </a:xfrm>
            </p:grpSpPr>
            <p:sp>
              <p:nvSpPr>
                <p:cNvPr id="110" name="CuadroTexto 109">
                  <a:extLst>
                    <a:ext uri="{FF2B5EF4-FFF2-40B4-BE49-F238E27FC236}">
                      <a16:creationId xmlns:a16="http://schemas.microsoft.com/office/drawing/2014/main" id="{689B9345-E550-B245-2B32-82BB74091BAC}"/>
                    </a:ext>
                  </a:extLst>
                </p:cNvPr>
                <p:cNvSpPr txBox="1"/>
                <p:nvPr/>
              </p:nvSpPr>
              <p:spPr>
                <a:xfrm>
                  <a:off x="3811633" y="1212927"/>
                  <a:ext cx="140586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Estrato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11" name="CuadroTexto 110">
                  <a:extLst>
                    <a:ext uri="{FF2B5EF4-FFF2-40B4-BE49-F238E27FC236}">
                      <a16:creationId xmlns:a16="http://schemas.microsoft.com/office/drawing/2014/main" id="{FEBB0B3A-F74B-1679-A775-BFC8C273721D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2%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Cuatro</a:t>
                  </a:r>
                </a:p>
              </p:txBody>
            </p:sp>
          </p:grpSp>
          <p:sp>
            <p:nvSpPr>
              <p:cNvPr id="109" name="CuadroTexto 108">
                <a:extLst>
                  <a:ext uri="{FF2B5EF4-FFF2-40B4-BE49-F238E27FC236}">
                    <a16:creationId xmlns:a16="http://schemas.microsoft.com/office/drawing/2014/main" id="{D25E2A36-8374-C7D3-840C-AA1EBA0BEA5B}"/>
                  </a:ext>
                </a:extLst>
              </p:cNvPr>
              <p:cNvSpPr txBox="1"/>
              <p:nvPr/>
            </p:nvSpPr>
            <p:spPr>
              <a:xfrm>
                <a:off x="9019351" y="2317778"/>
                <a:ext cx="1172909" cy="566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2%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Seis</a:t>
                </a:r>
              </a:p>
            </p:txBody>
          </p:sp>
        </p:grpSp>
        <p:sp>
          <p:nvSpPr>
            <p:cNvPr id="112" name="CuadroTexto 111">
              <a:extLst>
                <a:ext uri="{FF2B5EF4-FFF2-40B4-BE49-F238E27FC236}">
                  <a16:creationId xmlns:a16="http://schemas.microsoft.com/office/drawing/2014/main" id="{533707CA-0DDF-1D9A-4CB4-1C7B85900F76}"/>
                </a:ext>
              </a:extLst>
            </p:cNvPr>
            <p:cNvSpPr txBox="1"/>
            <p:nvPr/>
          </p:nvSpPr>
          <p:spPr>
            <a:xfrm>
              <a:off x="9059295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20%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Dos</a:t>
              </a:r>
            </a:p>
          </p:txBody>
        </p:sp>
        <p:sp>
          <p:nvSpPr>
            <p:cNvPr id="113" name="CuadroTexto 112">
              <a:extLst>
                <a:ext uri="{FF2B5EF4-FFF2-40B4-BE49-F238E27FC236}">
                  <a16:creationId xmlns:a16="http://schemas.microsoft.com/office/drawing/2014/main" id="{D6C3EF46-E3BD-75F3-36FE-38C8B6CBBA55}"/>
                </a:ext>
              </a:extLst>
            </p:cNvPr>
            <p:cNvSpPr txBox="1"/>
            <p:nvPr/>
          </p:nvSpPr>
          <p:spPr>
            <a:xfrm>
              <a:off x="10510367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12%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Tres</a:t>
              </a:r>
            </a:p>
          </p:txBody>
        </p:sp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8B049CE3-61F3-B17F-48A7-17E3E288F9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artisticPencilGrayscale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043317" y="3855923"/>
              <a:ext cx="655939" cy="655939"/>
            </a:xfrm>
            <a:prstGeom prst="rect">
              <a:avLst/>
            </a:prstGeom>
          </p:spPr>
        </p:pic>
      </p:grp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D1F30FA7-1C46-07D1-F904-B78D6ACE81E2}"/>
              </a:ext>
            </a:extLst>
          </p:cNvPr>
          <p:cNvSpPr txBox="1"/>
          <p:nvPr/>
        </p:nvSpPr>
        <p:spPr>
          <a:xfrm>
            <a:off x="5289967" y="3228845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37%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 Cero</a:t>
            </a:r>
          </a:p>
        </p:txBody>
      </p:sp>
      <p:grpSp>
        <p:nvGrpSpPr>
          <p:cNvPr id="123" name="Grupo 122">
            <a:extLst>
              <a:ext uri="{FF2B5EF4-FFF2-40B4-BE49-F238E27FC236}">
                <a16:creationId xmlns:a16="http://schemas.microsoft.com/office/drawing/2014/main" id="{A458B5FE-B3FD-8121-08A3-2F18A4E07882}"/>
              </a:ext>
            </a:extLst>
          </p:cNvPr>
          <p:cNvGrpSpPr/>
          <p:nvPr/>
        </p:nvGrpSpPr>
        <p:grpSpPr>
          <a:xfrm>
            <a:off x="5340592" y="2790246"/>
            <a:ext cx="2602288" cy="1933541"/>
            <a:chOff x="5931142" y="3127128"/>
            <a:chExt cx="2602288" cy="1933541"/>
          </a:xfrm>
        </p:grpSpPr>
        <p:grpSp>
          <p:nvGrpSpPr>
            <p:cNvPr id="93" name="Grupo 92">
              <a:extLst>
                <a:ext uri="{FF2B5EF4-FFF2-40B4-BE49-F238E27FC236}">
                  <a16:creationId xmlns:a16="http://schemas.microsoft.com/office/drawing/2014/main" id="{12741DD8-BB72-C963-703F-A46FC6449FDF}"/>
                </a:ext>
              </a:extLst>
            </p:cNvPr>
            <p:cNvGrpSpPr/>
            <p:nvPr/>
          </p:nvGrpSpPr>
          <p:grpSpPr>
            <a:xfrm>
              <a:off x="5931142" y="3127128"/>
              <a:ext cx="2419582" cy="1933541"/>
              <a:chOff x="7590765" y="1110832"/>
              <a:chExt cx="2419582" cy="1780012"/>
            </a:xfrm>
          </p:grpSpPr>
          <p:sp>
            <p:nvSpPr>
              <p:cNvPr id="94" name="Rectángulo 93">
                <a:extLst>
                  <a:ext uri="{FF2B5EF4-FFF2-40B4-BE49-F238E27FC236}">
                    <a16:creationId xmlns:a16="http://schemas.microsoft.com/office/drawing/2014/main" id="{4C4059CB-607F-37F5-D803-0C4098D84F34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95" name="Grupo 94">
                <a:extLst>
                  <a:ext uri="{FF2B5EF4-FFF2-40B4-BE49-F238E27FC236}">
                    <a16:creationId xmlns:a16="http://schemas.microsoft.com/office/drawing/2014/main" id="{4F30E430-1621-6EEA-11F4-AB6776732200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1922369" cy="1647802"/>
                <a:chOff x="3026344" y="1212927"/>
                <a:chExt cx="1922369" cy="1647802"/>
              </a:xfrm>
            </p:grpSpPr>
            <p:sp>
              <p:nvSpPr>
                <p:cNvPr id="97" name="CuadroTexto 96">
                  <a:extLst>
                    <a:ext uri="{FF2B5EF4-FFF2-40B4-BE49-F238E27FC236}">
                      <a16:creationId xmlns:a16="http://schemas.microsoft.com/office/drawing/2014/main" id="{FCE6FA07-3A26-1752-4BA7-DD551E7BACF9}"/>
                    </a:ext>
                  </a:extLst>
                </p:cNvPr>
                <p:cNvSpPr txBox="1"/>
                <p:nvPr/>
              </p:nvSpPr>
              <p:spPr>
                <a:xfrm>
                  <a:off x="4021092" y="1212927"/>
                  <a:ext cx="92762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PAC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98" name="CuadroTexto 97">
                  <a:extLst>
                    <a:ext uri="{FF2B5EF4-FFF2-40B4-BE49-F238E27FC236}">
                      <a16:creationId xmlns:a16="http://schemas.microsoft.com/office/drawing/2014/main" id="{1871E5D3-A535-C2B8-DCAC-A1C0563B69F4}"/>
                    </a:ext>
                  </a:extLst>
                </p:cNvPr>
                <p:cNvSpPr txBox="1"/>
                <p:nvPr/>
              </p:nvSpPr>
              <p:spPr>
                <a:xfrm>
                  <a:off x="3026344" y="2294053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12%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</p:grpSp>
        <p:grpSp>
          <p:nvGrpSpPr>
            <p:cNvPr id="121" name="Grupo 120">
              <a:extLst>
                <a:ext uri="{FF2B5EF4-FFF2-40B4-BE49-F238E27FC236}">
                  <a16:creationId xmlns:a16="http://schemas.microsoft.com/office/drawing/2014/main" id="{CAAB5027-DCAA-09F7-0577-2A9CA12E9E9D}"/>
                </a:ext>
              </a:extLst>
            </p:cNvPr>
            <p:cNvGrpSpPr/>
            <p:nvPr/>
          </p:nvGrpSpPr>
          <p:grpSpPr>
            <a:xfrm>
              <a:off x="6649678" y="3565727"/>
              <a:ext cx="1883752" cy="1414028"/>
              <a:chOff x="6649678" y="3565727"/>
              <a:chExt cx="1883752" cy="1414028"/>
            </a:xfrm>
          </p:grpSpPr>
          <p:sp>
            <p:nvSpPr>
              <p:cNvPr id="99" name="CuadroTexto 98">
                <a:extLst>
                  <a:ext uri="{FF2B5EF4-FFF2-40B4-BE49-F238E27FC236}">
                    <a16:creationId xmlns:a16="http://schemas.microsoft.com/office/drawing/2014/main" id="{B4CBFE58-6847-7D09-3B96-81810ED373A4}"/>
                  </a:ext>
                </a:extLst>
              </p:cNvPr>
              <p:cNvSpPr txBox="1"/>
              <p:nvPr/>
            </p:nvSpPr>
            <p:spPr>
              <a:xfrm>
                <a:off x="6649678" y="358240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25%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Uno</a:t>
                </a:r>
              </a:p>
            </p:txBody>
          </p:sp>
          <p:sp>
            <p:nvSpPr>
              <p:cNvPr id="101" name="CuadroTexto 100">
                <a:extLst>
                  <a:ext uri="{FF2B5EF4-FFF2-40B4-BE49-F238E27FC236}">
                    <a16:creationId xmlns:a16="http://schemas.microsoft.com/office/drawing/2014/main" id="{07BFF1FE-22A5-2561-FB78-2914D417E258}"/>
                  </a:ext>
                </a:extLst>
              </p:cNvPr>
              <p:cNvSpPr txBox="1"/>
              <p:nvPr/>
            </p:nvSpPr>
            <p:spPr>
              <a:xfrm>
                <a:off x="7360521" y="3565727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20%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Dos</a:t>
                </a:r>
              </a:p>
            </p:txBody>
          </p:sp>
          <p:pic>
            <p:nvPicPr>
              <p:cNvPr id="118" name="Imagen 117">
                <a:extLst>
                  <a:ext uri="{FF2B5EF4-FFF2-40B4-BE49-F238E27FC236}">
                    <a16:creationId xmlns:a16="http://schemas.microsoft.com/office/drawing/2014/main" id="{A52B739B-11CC-A65B-3509-FFF650874E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artisticPaintStrokes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886925" y="4205951"/>
                <a:ext cx="773804" cy="773804"/>
              </a:xfrm>
              <a:prstGeom prst="rect">
                <a:avLst/>
              </a:prstGeom>
            </p:spPr>
          </p:pic>
        </p:grpSp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5E4FA1D8-2A5B-8A47-C7F4-257DCA9DC650}"/>
              </a:ext>
            </a:extLst>
          </p:cNvPr>
          <p:cNvGrpSpPr/>
          <p:nvPr/>
        </p:nvGrpSpPr>
        <p:grpSpPr>
          <a:xfrm>
            <a:off x="8022470" y="853892"/>
            <a:ext cx="2195988" cy="1780012"/>
            <a:chOff x="7814360" y="1110832"/>
            <a:chExt cx="2195988" cy="1780012"/>
          </a:xfrm>
        </p:grpSpPr>
        <p:grpSp>
          <p:nvGrpSpPr>
            <p:cNvPr id="66" name="Grupo 65">
              <a:extLst>
                <a:ext uri="{FF2B5EF4-FFF2-40B4-BE49-F238E27FC236}">
                  <a16:creationId xmlns:a16="http://schemas.microsoft.com/office/drawing/2014/main" id="{4216BC72-02F4-1D4F-4385-E66A22DB8230}"/>
                </a:ext>
              </a:extLst>
            </p:cNvPr>
            <p:cNvGrpSpPr/>
            <p:nvPr/>
          </p:nvGrpSpPr>
          <p:grpSpPr>
            <a:xfrm>
              <a:off x="7814360" y="1110832"/>
              <a:ext cx="2195988" cy="1780012"/>
              <a:chOff x="7814360" y="1110832"/>
              <a:chExt cx="2195988" cy="1780012"/>
            </a:xfrm>
          </p:grpSpPr>
          <p:sp>
            <p:nvSpPr>
              <p:cNvPr id="60" name="Rectángulo 59">
                <a:extLst>
                  <a:ext uri="{FF2B5EF4-FFF2-40B4-BE49-F238E27FC236}">
                    <a16:creationId xmlns:a16="http://schemas.microsoft.com/office/drawing/2014/main" id="{955B9AB6-0A4F-2484-5655-3262B9AAC9E0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61" name="Grupo 60">
                <a:extLst>
                  <a:ext uri="{FF2B5EF4-FFF2-40B4-BE49-F238E27FC236}">
                    <a16:creationId xmlns:a16="http://schemas.microsoft.com/office/drawing/2014/main" id="{28C7DA83-ED2F-7964-3FF3-49A13B54D19B}"/>
                  </a:ext>
                </a:extLst>
              </p:cNvPr>
              <p:cNvGrpSpPr/>
              <p:nvPr/>
            </p:nvGrpSpPr>
            <p:grpSpPr>
              <a:xfrm>
                <a:off x="7814361" y="1223137"/>
                <a:ext cx="2083693" cy="1630468"/>
                <a:chOff x="3249940" y="1229837"/>
                <a:chExt cx="2083693" cy="1630468"/>
              </a:xfrm>
            </p:grpSpPr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F1C05EFE-60FD-2B98-9A6B-14951F292264}"/>
                    </a:ext>
                  </a:extLst>
                </p:cNvPr>
                <p:cNvSpPr txBox="1"/>
                <p:nvPr/>
              </p:nvSpPr>
              <p:spPr>
                <a:xfrm>
                  <a:off x="3552927" y="1229837"/>
                  <a:ext cx="1780706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Rango Edad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51B4A4EA-AFFB-C7AA-79D5-9D966C1A092C}"/>
                    </a:ext>
                  </a:extLst>
                </p:cNvPr>
                <p:cNvSpPr txBox="1"/>
                <p:nvPr/>
              </p:nvSpPr>
              <p:spPr>
                <a:xfrm>
                  <a:off x="3249940" y="2306307"/>
                  <a:ext cx="1172909" cy="5539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41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20 a 35 años</a:t>
                  </a:r>
                </a:p>
              </p:txBody>
            </p:sp>
          </p:grpSp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EC9DF969-59E2-4F61-0848-E6F2A44A69D7}"/>
                  </a:ext>
                </a:extLst>
              </p:cNvPr>
              <p:cNvSpPr txBox="1"/>
              <p:nvPr/>
            </p:nvSpPr>
            <p:spPr>
              <a:xfrm>
                <a:off x="8837439" y="2289285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31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36 a 45 años</a:t>
                </a:r>
              </a:p>
            </p:txBody>
          </p:sp>
        </p:grpSp>
        <p:pic>
          <p:nvPicPr>
            <p:cNvPr id="128" name="Imagen 127">
              <a:extLst>
                <a:ext uri="{FF2B5EF4-FFF2-40B4-BE49-F238E27FC236}">
                  <a16:creationId xmlns:a16="http://schemas.microsoft.com/office/drawing/2014/main" id="{BC950975-BB25-DF91-01F8-67448C2730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17644" y="1602912"/>
              <a:ext cx="655473" cy="655473"/>
            </a:xfrm>
            <a:prstGeom prst="rect">
              <a:avLst/>
            </a:prstGeom>
          </p:spPr>
        </p:pic>
      </p:grpSp>
      <p:grpSp>
        <p:nvGrpSpPr>
          <p:cNvPr id="189" name="Grupo 188">
            <a:extLst>
              <a:ext uri="{FF2B5EF4-FFF2-40B4-BE49-F238E27FC236}">
                <a16:creationId xmlns:a16="http://schemas.microsoft.com/office/drawing/2014/main" id="{845193E9-CA30-6DBD-3743-17FDB017C664}"/>
              </a:ext>
            </a:extLst>
          </p:cNvPr>
          <p:cNvGrpSpPr/>
          <p:nvPr/>
        </p:nvGrpSpPr>
        <p:grpSpPr>
          <a:xfrm>
            <a:off x="-114768" y="4837223"/>
            <a:ext cx="3758502" cy="1933541"/>
            <a:chOff x="435340" y="4837223"/>
            <a:chExt cx="4854517" cy="1933541"/>
          </a:xfrm>
        </p:grpSpPr>
        <p:grpSp>
          <p:nvGrpSpPr>
            <p:cNvPr id="138" name="Grupo 137">
              <a:extLst>
                <a:ext uri="{FF2B5EF4-FFF2-40B4-BE49-F238E27FC236}">
                  <a16:creationId xmlns:a16="http://schemas.microsoft.com/office/drawing/2014/main" id="{1A6FD8DE-DAE3-9381-7607-584043074579}"/>
                </a:ext>
              </a:extLst>
            </p:cNvPr>
            <p:cNvGrpSpPr/>
            <p:nvPr/>
          </p:nvGrpSpPr>
          <p:grpSpPr>
            <a:xfrm>
              <a:off x="435340" y="4837223"/>
              <a:ext cx="4854517" cy="1933541"/>
              <a:chOff x="9135236" y="3127128"/>
              <a:chExt cx="3830051" cy="1933541"/>
            </a:xfrm>
          </p:grpSpPr>
          <p:grpSp>
            <p:nvGrpSpPr>
              <p:cNvPr id="139" name="Grupo 138">
                <a:extLst>
                  <a:ext uri="{FF2B5EF4-FFF2-40B4-BE49-F238E27FC236}">
                    <a16:creationId xmlns:a16="http://schemas.microsoft.com/office/drawing/2014/main" id="{A4AE3533-B08A-5F93-8A78-D20D6AC3D121}"/>
                  </a:ext>
                </a:extLst>
              </p:cNvPr>
              <p:cNvGrpSpPr/>
              <p:nvPr/>
            </p:nvGrpSpPr>
            <p:grpSpPr>
              <a:xfrm>
                <a:off x="9229918" y="3127128"/>
                <a:ext cx="3735369" cy="1933541"/>
                <a:chOff x="7739695" y="1110832"/>
                <a:chExt cx="3735369" cy="1780012"/>
              </a:xfrm>
            </p:grpSpPr>
            <p:sp>
              <p:nvSpPr>
                <p:cNvPr id="143" name="Rectángulo 142">
                  <a:extLst>
                    <a:ext uri="{FF2B5EF4-FFF2-40B4-BE49-F238E27FC236}">
                      <a16:creationId xmlns:a16="http://schemas.microsoft.com/office/drawing/2014/main" id="{F7A36AE1-43C3-7C7A-83C8-30E03C21AD75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3246650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44" name="Grupo 143">
                  <a:extLst>
                    <a:ext uri="{FF2B5EF4-FFF2-40B4-BE49-F238E27FC236}">
                      <a16:creationId xmlns:a16="http://schemas.microsoft.com/office/drawing/2014/main" id="{6589731C-0576-C842-24C9-88374CF7AEDC}"/>
                    </a:ext>
                  </a:extLst>
                </p:cNvPr>
                <p:cNvGrpSpPr/>
                <p:nvPr/>
              </p:nvGrpSpPr>
              <p:grpSpPr>
                <a:xfrm>
                  <a:off x="7739695" y="1236316"/>
                  <a:ext cx="3735369" cy="1532075"/>
                  <a:chOff x="3175274" y="1243016"/>
                  <a:chExt cx="3735369" cy="1532075"/>
                </a:xfrm>
              </p:grpSpPr>
              <p:sp>
                <p:nvSpPr>
                  <p:cNvPr id="146" name="CuadroTexto 145">
                    <a:extLst>
                      <a:ext uri="{FF2B5EF4-FFF2-40B4-BE49-F238E27FC236}">
                        <a16:creationId xmlns:a16="http://schemas.microsoft.com/office/drawing/2014/main" id="{35925482-210A-4508-5315-B90710A36FB0}"/>
                      </a:ext>
                    </a:extLst>
                  </p:cNvPr>
                  <p:cNvSpPr txBox="1"/>
                  <p:nvPr/>
                </p:nvSpPr>
                <p:spPr>
                  <a:xfrm>
                    <a:off x="3854322" y="1243016"/>
                    <a:ext cx="3056321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Segmento Empresas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47" name="CuadroTexto 146">
                    <a:extLst>
                      <a:ext uri="{FF2B5EF4-FFF2-40B4-BE49-F238E27FC236}">
                        <a16:creationId xmlns:a16="http://schemas.microsoft.com/office/drawing/2014/main" id="{7E760FF7-A798-EEA4-1A57-F452BB5E84E6}"/>
                      </a:ext>
                    </a:extLst>
                  </p:cNvPr>
                  <p:cNvSpPr txBox="1"/>
                  <p:nvPr/>
                </p:nvSpPr>
                <p:spPr>
                  <a:xfrm>
                    <a:off x="3175274" y="2208415"/>
                    <a:ext cx="1945898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22%</a:t>
                    </a:r>
                    <a:endParaRPr lang="es-CO" sz="1400" b="1" dirty="0">
                      <a:solidFill>
                        <a:schemeClr val="bg1"/>
                      </a:solidFill>
                    </a:endParaRP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Medianas</a:t>
                    </a:r>
                  </a:p>
                </p:txBody>
              </p:sp>
            </p:grpSp>
            <p:sp>
              <p:nvSpPr>
                <p:cNvPr id="145" name="CuadroTexto 144">
                  <a:extLst>
                    <a:ext uri="{FF2B5EF4-FFF2-40B4-BE49-F238E27FC236}">
                      <a16:creationId xmlns:a16="http://schemas.microsoft.com/office/drawing/2014/main" id="{A4402FAE-07B8-7B4F-663E-F7F6AEA40ABF}"/>
                    </a:ext>
                  </a:extLst>
                </p:cNvPr>
                <p:cNvSpPr txBox="1"/>
                <p:nvPr/>
              </p:nvSpPr>
              <p:spPr>
                <a:xfrm>
                  <a:off x="9864249" y="1523867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22%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Grandes</a:t>
                  </a:r>
                </a:p>
              </p:txBody>
            </p:sp>
          </p:grpSp>
          <p:sp>
            <p:nvSpPr>
              <p:cNvPr id="140" name="CuadroTexto 139">
                <a:extLst>
                  <a:ext uri="{FF2B5EF4-FFF2-40B4-BE49-F238E27FC236}">
                    <a16:creationId xmlns:a16="http://schemas.microsoft.com/office/drawing/2014/main" id="{6A20B7B6-91BC-1B64-9177-404825FABF59}"/>
                  </a:ext>
                </a:extLst>
              </p:cNvPr>
              <p:cNvSpPr txBox="1"/>
              <p:nvPr/>
            </p:nvSpPr>
            <p:spPr>
              <a:xfrm>
                <a:off x="9135236" y="3565727"/>
                <a:ext cx="145027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12%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</a:t>
                </a:r>
                <a:r>
                  <a:rPr lang="es-CO" sz="1400" b="1" dirty="0" err="1">
                    <a:solidFill>
                      <a:schemeClr val="bg1"/>
                    </a:solidFill>
                  </a:rPr>
                  <a:t>Emp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Top</a:t>
                </a:r>
              </a:p>
            </p:txBody>
          </p:sp>
          <p:sp>
            <p:nvSpPr>
              <p:cNvPr id="141" name="CuadroTexto 140">
                <a:extLst>
                  <a:ext uri="{FF2B5EF4-FFF2-40B4-BE49-F238E27FC236}">
                    <a16:creationId xmlns:a16="http://schemas.microsoft.com/office/drawing/2014/main" id="{53B4653D-F21E-8C33-C61E-2D14319072FD}"/>
                  </a:ext>
                </a:extLst>
              </p:cNvPr>
              <p:cNvSpPr txBox="1"/>
              <p:nvPr/>
            </p:nvSpPr>
            <p:spPr>
              <a:xfrm>
                <a:off x="10055645" y="3580594"/>
                <a:ext cx="152651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39%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    Micro    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Transaccional</a:t>
                </a:r>
              </a:p>
            </p:txBody>
          </p:sp>
        </p:grpSp>
        <p:pic>
          <p:nvPicPr>
            <p:cNvPr id="149" name="Imagen 148">
              <a:extLst>
                <a:ext uri="{FF2B5EF4-FFF2-40B4-BE49-F238E27FC236}">
                  <a16:creationId xmlns:a16="http://schemas.microsoft.com/office/drawing/2014/main" id="{C6535583-B681-5613-200F-6E3CE8AFFE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325932" y="6027593"/>
              <a:ext cx="677562" cy="677562"/>
            </a:xfrm>
            <a:prstGeom prst="rect">
              <a:avLst/>
            </a:prstGeom>
          </p:spPr>
        </p:pic>
      </p:grp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D5F4230D-5C1F-22B4-7852-5218EE62B50F}"/>
              </a:ext>
            </a:extLst>
          </p:cNvPr>
          <p:cNvSpPr txBox="1"/>
          <p:nvPr/>
        </p:nvSpPr>
        <p:spPr>
          <a:xfrm>
            <a:off x="2093411" y="5976448"/>
            <a:ext cx="128594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5%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Estándar</a:t>
            </a:r>
          </a:p>
        </p:txBody>
      </p:sp>
      <p:grpSp>
        <p:nvGrpSpPr>
          <p:cNvPr id="151" name="Grupo 150">
            <a:extLst>
              <a:ext uri="{FF2B5EF4-FFF2-40B4-BE49-F238E27FC236}">
                <a16:creationId xmlns:a16="http://schemas.microsoft.com/office/drawing/2014/main" id="{11C2F542-1620-AEB0-D135-96B6F6C9DC05}"/>
              </a:ext>
            </a:extLst>
          </p:cNvPr>
          <p:cNvGrpSpPr/>
          <p:nvPr/>
        </p:nvGrpSpPr>
        <p:grpSpPr>
          <a:xfrm>
            <a:off x="2904556" y="4852302"/>
            <a:ext cx="2698532" cy="1933541"/>
            <a:chOff x="8888136" y="3127128"/>
            <a:chExt cx="2698532" cy="1933541"/>
          </a:xfrm>
        </p:grpSpPr>
        <p:grpSp>
          <p:nvGrpSpPr>
            <p:cNvPr id="152" name="Grupo 151">
              <a:extLst>
                <a:ext uri="{FF2B5EF4-FFF2-40B4-BE49-F238E27FC236}">
                  <a16:creationId xmlns:a16="http://schemas.microsoft.com/office/drawing/2014/main" id="{28D20574-07C2-34B7-8FE0-E4D0C2A0F309}"/>
                </a:ext>
              </a:extLst>
            </p:cNvPr>
            <p:cNvGrpSpPr/>
            <p:nvPr/>
          </p:nvGrpSpPr>
          <p:grpSpPr>
            <a:xfrm>
              <a:off x="8888136" y="3127128"/>
              <a:ext cx="2612434" cy="1933541"/>
              <a:chOff x="7397913" y="1110832"/>
              <a:chExt cx="2612434" cy="1780012"/>
            </a:xfrm>
          </p:grpSpPr>
          <p:sp>
            <p:nvSpPr>
              <p:cNvPr id="157" name="Rectángulo 156">
                <a:extLst>
                  <a:ext uri="{FF2B5EF4-FFF2-40B4-BE49-F238E27FC236}">
                    <a16:creationId xmlns:a16="http://schemas.microsoft.com/office/drawing/2014/main" id="{7F4FACCE-F792-C5B8-6FDE-F635742EF6BB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158" name="Grupo 157">
                <a:extLst>
                  <a:ext uri="{FF2B5EF4-FFF2-40B4-BE49-F238E27FC236}">
                    <a16:creationId xmlns:a16="http://schemas.microsoft.com/office/drawing/2014/main" id="{2E3A9A35-5520-3931-C1DA-3C8DC4D5AE09}"/>
                  </a:ext>
                </a:extLst>
              </p:cNvPr>
              <p:cNvGrpSpPr/>
              <p:nvPr/>
            </p:nvGrpSpPr>
            <p:grpSpPr>
              <a:xfrm>
                <a:off x="7397913" y="1206227"/>
                <a:ext cx="2525103" cy="1388251"/>
                <a:chOff x="2833492" y="1212927"/>
                <a:chExt cx="2525103" cy="1388251"/>
              </a:xfrm>
            </p:grpSpPr>
            <p:sp>
              <p:nvSpPr>
                <p:cNvPr id="160" name="CuadroTexto 159">
                  <a:extLst>
                    <a:ext uri="{FF2B5EF4-FFF2-40B4-BE49-F238E27FC236}">
                      <a16:creationId xmlns:a16="http://schemas.microsoft.com/office/drawing/2014/main" id="{F4C0C4E7-2818-FC95-9261-654CDABE75FF}"/>
                    </a:ext>
                  </a:extLst>
                </p:cNvPr>
                <p:cNvSpPr txBox="1"/>
                <p:nvPr/>
              </p:nvSpPr>
              <p:spPr>
                <a:xfrm>
                  <a:off x="3408991" y="1212927"/>
                  <a:ext cx="1949604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Departamento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61" name="CuadroTexto 160">
                  <a:extLst>
                    <a:ext uri="{FF2B5EF4-FFF2-40B4-BE49-F238E27FC236}">
                      <a16:creationId xmlns:a16="http://schemas.microsoft.com/office/drawing/2014/main" id="{FA88564B-9D5B-2F91-698D-D229C175A218}"/>
                    </a:ext>
                  </a:extLst>
                </p:cNvPr>
                <p:cNvSpPr txBox="1"/>
                <p:nvPr/>
              </p:nvSpPr>
              <p:spPr>
                <a:xfrm>
                  <a:off x="2833492" y="2034502"/>
                  <a:ext cx="1570471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  2%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Agua de Dios</a:t>
                  </a:r>
                </a:p>
              </p:txBody>
            </p:sp>
          </p:grpSp>
        </p:grpSp>
        <p:sp>
          <p:nvSpPr>
            <p:cNvPr id="154" name="CuadroTexto 153">
              <a:extLst>
                <a:ext uri="{FF2B5EF4-FFF2-40B4-BE49-F238E27FC236}">
                  <a16:creationId xmlns:a16="http://schemas.microsoft.com/office/drawing/2014/main" id="{6F4EE43F-937A-4DE1-D5C7-3727B780AF10}"/>
                </a:ext>
              </a:extLst>
            </p:cNvPr>
            <p:cNvSpPr txBox="1"/>
            <p:nvPr/>
          </p:nvSpPr>
          <p:spPr>
            <a:xfrm>
              <a:off x="9059295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59%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Bogotá</a:t>
              </a:r>
            </a:p>
          </p:txBody>
        </p:sp>
        <p:sp>
          <p:nvSpPr>
            <p:cNvPr id="155" name="CuadroTexto 154">
              <a:extLst>
                <a:ext uri="{FF2B5EF4-FFF2-40B4-BE49-F238E27FC236}">
                  <a16:creationId xmlns:a16="http://schemas.microsoft.com/office/drawing/2014/main" id="{9B94CD20-908B-30CF-F759-A291F04049BA}"/>
                </a:ext>
              </a:extLst>
            </p:cNvPr>
            <p:cNvSpPr txBox="1"/>
            <p:nvPr/>
          </p:nvSpPr>
          <p:spPr>
            <a:xfrm>
              <a:off x="10368253" y="3565504"/>
              <a:ext cx="1218415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5%</a:t>
              </a:r>
              <a:r>
                <a:rPr lang="es-CO" sz="1400" b="1" dirty="0">
                  <a:solidFill>
                    <a:schemeClr val="bg1"/>
                  </a:solidFill>
                </a:rPr>
                <a:t>                         Soacha</a:t>
              </a:r>
            </a:p>
          </p:txBody>
        </p:sp>
      </p:grpSp>
      <p:grpSp>
        <p:nvGrpSpPr>
          <p:cNvPr id="201" name="Grupo 200">
            <a:extLst>
              <a:ext uri="{FF2B5EF4-FFF2-40B4-BE49-F238E27FC236}">
                <a16:creationId xmlns:a16="http://schemas.microsoft.com/office/drawing/2014/main" id="{05354154-FA1C-9710-60A3-B9F81C20D53A}"/>
              </a:ext>
            </a:extLst>
          </p:cNvPr>
          <p:cNvGrpSpPr/>
          <p:nvPr/>
        </p:nvGrpSpPr>
        <p:grpSpPr>
          <a:xfrm>
            <a:off x="5407406" y="4842106"/>
            <a:ext cx="2693579" cy="1985915"/>
            <a:chOff x="5483606" y="4842106"/>
            <a:chExt cx="2693579" cy="1985915"/>
          </a:xfrm>
        </p:grpSpPr>
        <p:grpSp>
          <p:nvGrpSpPr>
            <p:cNvPr id="164" name="Grupo 163">
              <a:extLst>
                <a:ext uri="{FF2B5EF4-FFF2-40B4-BE49-F238E27FC236}">
                  <a16:creationId xmlns:a16="http://schemas.microsoft.com/office/drawing/2014/main" id="{7C712A7C-05CA-4AE3-E300-E8F246DAD6DF}"/>
                </a:ext>
              </a:extLst>
            </p:cNvPr>
            <p:cNvGrpSpPr/>
            <p:nvPr/>
          </p:nvGrpSpPr>
          <p:grpSpPr>
            <a:xfrm>
              <a:off x="5483606" y="4842106"/>
              <a:ext cx="2693579" cy="1957609"/>
              <a:chOff x="9049330" y="3127128"/>
              <a:chExt cx="2693579" cy="1957609"/>
            </a:xfrm>
          </p:grpSpPr>
          <p:grpSp>
            <p:nvGrpSpPr>
              <p:cNvPr id="165" name="Grupo 164">
                <a:extLst>
                  <a:ext uri="{FF2B5EF4-FFF2-40B4-BE49-F238E27FC236}">
                    <a16:creationId xmlns:a16="http://schemas.microsoft.com/office/drawing/2014/main" id="{118E7FCE-35EB-9703-C112-3889D429DCA9}"/>
                  </a:ext>
                </a:extLst>
              </p:cNvPr>
              <p:cNvGrpSpPr/>
              <p:nvPr/>
            </p:nvGrpSpPr>
            <p:grpSpPr>
              <a:xfrm>
                <a:off x="9049330" y="3127128"/>
                <a:ext cx="2655911" cy="1957609"/>
                <a:chOff x="7559107" y="1110832"/>
                <a:chExt cx="2655911" cy="1802169"/>
              </a:xfrm>
            </p:grpSpPr>
            <p:sp>
              <p:nvSpPr>
                <p:cNvPr id="168" name="Rectángulo 167">
                  <a:extLst>
                    <a:ext uri="{FF2B5EF4-FFF2-40B4-BE49-F238E27FC236}">
                      <a16:creationId xmlns:a16="http://schemas.microsoft.com/office/drawing/2014/main" id="{EB128F24-33A5-A978-2C99-E8BB3E9F6B36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195987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70" name="Grupo 169">
                  <a:extLst>
                    <a:ext uri="{FF2B5EF4-FFF2-40B4-BE49-F238E27FC236}">
                      <a16:creationId xmlns:a16="http://schemas.microsoft.com/office/drawing/2014/main" id="{D486A444-5C10-0BA3-FB81-2091917B8EE8}"/>
                    </a:ext>
                  </a:extLst>
                </p:cNvPr>
                <p:cNvGrpSpPr/>
                <p:nvPr/>
              </p:nvGrpSpPr>
              <p:grpSpPr>
                <a:xfrm>
                  <a:off x="7559107" y="1207829"/>
                  <a:ext cx="2655911" cy="1705172"/>
                  <a:chOff x="2994686" y="1214529"/>
                  <a:chExt cx="2655911" cy="1705172"/>
                </a:xfrm>
              </p:grpSpPr>
              <p:sp>
                <p:nvSpPr>
                  <p:cNvPr id="171" name="CuadroTexto 170">
                    <a:extLst>
                      <a:ext uri="{FF2B5EF4-FFF2-40B4-BE49-F238E27FC236}">
                        <a16:creationId xmlns:a16="http://schemas.microsoft.com/office/drawing/2014/main" id="{06BC81F6-3431-35BD-8FB7-D5923C8904C1}"/>
                      </a:ext>
                    </a:extLst>
                  </p:cNvPr>
                  <p:cNvSpPr txBox="1"/>
                  <p:nvPr/>
                </p:nvSpPr>
                <p:spPr>
                  <a:xfrm>
                    <a:off x="3700993" y="1214529"/>
                    <a:ext cx="1949604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Localidad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72" name="CuadroTexto 171">
                    <a:extLst>
                      <a:ext uri="{FF2B5EF4-FFF2-40B4-BE49-F238E27FC236}">
                        <a16:creationId xmlns:a16="http://schemas.microsoft.com/office/drawing/2014/main" id="{7DEB2A95-50AF-66E3-37D4-B385CCC7BEB7}"/>
                      </a:ext>
                    </a:extLst>
                  </p:cNvPr>
                  <p:cNvSpPr txBox="1"/>
                  <p:nvPr/>
                </p:nvSpPr>
                <p:spPr>
                  <a:xfrm>
                    <a:off x="2994686" y="2353025"/>
                    <a:ext cx="1323041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5%</a:t>
                    </a: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    </a:t>
                    </a:r>
                    <a:r>
                      <a:rPr lang="es-CO" sz="1400" b="1" dirty="0" err="1">
                        <a:solidFill>
                          <a:schemeClr val="bg1"/>
                        </a:solidFill>
                      </a:rPr>
                      <a:t>Engativa</a:t>
                    </a:r>
                    <a:endParaRPr lang="es-CO" sz="14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</p:grpSp>
          <p:sp>
            <p:nvSpPr>
              <p:cNvPr id="166" name="CuadroTexto 165">
                <a:extLst>
                  <a:ext uri="{FF2B5EF4-FFF2-40B4-BE49-F238E27FC236}">
                    <a16:creationId xmlns:a16="http://schemas.microsoft.com/office/drawing/2014/main" id="{6E97EEDE-8DB9-5B2B-AFBA-21452F39F3F9}"/>
                  </a:ext>
                </a:extLst>
              </p:cNvPr>
              <p:cNvSpPr txBox="1"/>
              <p:nvPr/>
            </p:nvSpPr>
            <p:spPr>
              <a:xfrm>
                <a:off x="9059295" y="3565727"/>
                <a:ext cx="1304030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8%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Kennedy</a:t>
                </a:r>
              </a:p>
            </p:txBody>
          </p:sp>
          <p:sp>
            <p:nvSpPr>
              <p:cNvPr id="167" name="CuadroTexto 166">
                <a:extLst>
                  <a:ext uri="{FF2B5EF4-FFF2-40B4-BE49-F238E27FC236}">
                    <a16:creationId xmlns:a16="http://schemas.microsoft.com/office/drawing/2014/main" id="{EC1C09B9-66E3-A829-3A27-644232803756}"/>
                  </a:ext>
                </a:extLst>
              </p:cNvPr>
              <p:cNvSpPr txBox="1"/>
              <p:nvPr/>
            </p:nvSpPr>
            <p:spPr>
              <a:xfrm>
                <a:off x="10498522" y="3549824"/>
                <a:ext cx="1244387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5%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Suba</a:t>
                </a:r>
              </a:p>
            </p:txBody>
          </p:sp>
        </p:grpSp>
        <p:sp>
          <p:nvSpPr>
            <p:cNvPr id="185" name="CuadroTexto 184">
              <a:extLst>
                <a:ext uri="{FF2B5EF4-FFF2-40B4-BE49-F238E27FC236}">
                  <a16:creationId xmlns:a16="http://schemas.microsoft.com/office/drawing/2014/main" id="{11BDCAF2-CA3D-7E32-C173-C986D35C54D2}"/>
                </a:ext>
              </a:extLst>
            </p:cNvPr>
            <p:cNvSpPr txBox="1"/>
            <p:nvPr/>
          </p:nvSpPr>
          <p:spPr>
            <a:xfrm>
              <a:off x="6625166" y="6212468"/>
              <a:ext cx="1323041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54%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 Sin </a:t>
              </a:r>
              <a:r>
                <a:rPr lang="es-CO" sz="1400" b="1" dirty="0" err="1">
                  <a:solidFill>
                    <a:schemeClr val="bg1"/>
                  </a:solidFill>
                </a:rPr>
                <a:t>Infor</a:t>
              </a:r>
              <a:endParaRPr lang="es-CO" sz="1400" b="1" dirty="0">
                <a:solidFill>
                  <a:schemeClr val="bg1"/>
                </a:solidFill>
              </a:endParaRPr>
            </a:p>
          </p:txBody>
        </p:sp>
        <p:pic>
          <p:nvPicPr>
            <p:cNvPr id="187" name="Imagen 186">
              <a:extLst>
                <a:ext uri="{FF2B5EF4-FFF2-40B4-BE49-F238E27FC236}">
                  <a16:creationId xmlns:a16="http://schemas.microsoft.com/office/drawing/2014/main" id="{1E67A0C9-C44A-3CDE-0994-EB2443B6F7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401571" y="5793688"/>
              <a:ext cx="1266970" cy="620378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grpSp>
        <p:nvGrpSpPr>
          <p:cNvPr id="202" name="Grupo 201">
            <a:extLst>
              <a:ext uri="{FF2B5EF4-FFF2-40B4-BE49-F238E27FC236}">
                <a16:creationId xmlns:a16="http://schemas.microsoft.com/office/drawing/2014/main" id="{3057FAD4-0047-6D19-9566-5CF9C6EE99CF}"/>
              </a:ext>
            </a:extLst>
          </p:cNvPr>
          <p:cNvGrpSpPr/>
          <p:nvPr/>
        </p:nvGrpSpPr>
        <p:grpSpPr>
          <a:xfrm>
            <a:off x="7528734" y="4834201"/>
            <a:ext cx="2867011" cy="1957609"/>
            <a:chOff x="8071595" y="4834201"/>
            <a:chExt cx="3008704" cy="1957609"/>
          </a:xfrm>
        </p:grpSpPr>
        <p:grpSp>
          <p:nvGrpSpPr>
            <p:cNvPr id="190" name="Grupo 189">
              <a:extLst>
                <a:ext uri="{FF2B5EF4-FFF2-40B4-BE49-F238E27FC236}">
                  <a16:creationId xmlns:a16="http://schemas.microsoft.com/office/drawing/2014/main" id="{94669F0A-7411-E3F7-7303-C99ADB23BD0E}"/>
                </a:ext>
              </a:extLst>
            </p:cNvPr>
            <p:cNvGrpSpPr/>
            <p:nvPr/>
          </p:nvGrpSpPr>
          <p:grpSpPr>
            <a:xfrm>
              <a:off x="8071595" y="4834201"/>
              <a:ext cx="3008704" cy="1957609"/>
              <a:chOff x="8845727" y="3127128"/>
              <a:chExt cx="3008704" cy="1957609"/>
            </a:xfrm>
          </p:grpSpPr>
          <p:grpSp>
            <p:nvGrpSpPr>
              <p:cNvPr id="191" name="Grupo 190">
                <a:extLst>
                  <a:ext uri="{FF2B5EF4-FFF2-40B4-BE49-F238E27FC236}">
                    <a16:creationId xmlns:a16="http://schemas.microsoft.com/office/drawing/2014/main" id="{6E211FF1-8DC9-42C4-457E-52BF7E503C8C}"/>
                  </a:ext>
                </a:extLst>
              </p:cNvPr>
              <p:cNvGrpSpPr/>
              <p:nvPr/>
            </p:nvGrpSpPr>
            <p:grpSpPr>
              <a:xfrm>
                <a:off x="8845727" y="3127128"/>
                <a:ext cx="3008704" cy="1957609"/>
                <a:chOff x="7355504" y="1110832"/>
                <a:chExt cx="3008704" cy="1802169"/>
              </a:xfrm>
            </p:grpSpPr>
            <p:sp>
              <p:nvSpPr>
                <p:cNvPr id="194" name="Rectángulo 193">
                  <a:extLst>
                    <a:ext uri="{FF2B5EF4-FFF2-40B4-BE49-F238E27FC236}">
                      <a16:creationId xmlns:a16="http://schemas.microsoft.com/office/drawing/2014/main" id="{4B7B90C0-C97B-36E0-4F31-80FF7A1A7207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368574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95" name="Grupo 194">
                  <a:extLst>
                    <a:ext uri="{FF2B5EF4-FFF2-40B4-BE49-F238E27FC236}">
                      <a16:creationId xmlns:a16="http://schemas.microsoft.com/office/drawing/2014/main" id="{1A7955B9-3DCB-596E-E7FC-F655D6CE485E}"/>
                    </a:ext>
                  </a:extLst>
                </p:cNvPr>
                <p:cNvGrpSpPr/>
                <p:nvPr/>
              </p:nvGrpSpPr>
              <p:grpSpPr>
                <a:xfrm>
                  <a:off x="7355504" y="1207828"/>
                  <a:ext cx="3008704" cy="1705173"/>
                  <a:chOff x="2791083" y="1214528"/>
                  <a:chExt cx="3008704" cy="1705173"/>
                </a:xfrm>
              </p:grpSpPr>
              <p:sp>
                <p:nvSpPr>
                  <p:cNvPr id="197" name="CuadroTexto 196">
                    <a:extLst>
                      <a:ext uri="{FF2B5EF4-FFF2-40B4-BE49-F238E27FC236}">
                        <a16:creationId xmlns:a16="http://schemas.microsoft.com/office/drawing/2014/main" id="{9A58786C-C548-C250-85D5-E2AA234465EE}"/>
                      </a:ext>
                    </a:extLst>
                  </p:cNvPr>
                  <p:cNvSpPr txBox="1"/>
                  <p:nvPr/>
                </p:nvSpPr>
                <p:spPr>
                  <a:xfrm>
                    <a:off x="3225997" y="1214528"/>
                    <a:ext cx="2573790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Entidad Financieras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98" name="CuadroTexto 197">
                    <a:extLst>
                      <a:ext uri="{FF2B5EF4-FFF2-40B4-BE49-F238E27FC236}">
                        <a16:creationId xmlns:a16="http://schemas.microsoft.com/office/drawing/2014/main" id="{9CA7AB5D-DF02-18F5-5A82-5072033B67C4}"/>
                      </a:ext>
                    </a:extLst>
                  </p:cNvPr>
                  <p:cNvSpPr txBox="1"/>
                  <p:nvPr/>
                </p:nvSpPr>
                <p:spPr>
                  <a:xfrm>
                    <a:off x="2791083" y="2353025"/>
                    <a:ext cx="2440539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   25%</a:t>
                    </a: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      Colsubsidio</a:t>
                    </a:r>
                  </a:p>
                </p:txBody>
              </p:sp>
            </p:grpSp>
          </p:grpSp>
          <p:sp>
            <p:nvSpPr>
              <p:cNvPr id="192" name="CuadroTexto 191">
                <a:extLst>
                  <a:ext uri="{FF2B5EF4-FFF2-40B4-BE49-F238E27FC236}">
                    <a16:creationId xmlns:a16="http://schemas.microsoft.com/office/drawing/2014/main" id="{BFCB499E-CC7A-DCD8-4158-F6F55BAE9360}"/>
                  </a:ext>
                </a:extLst>
              </p:cNvPr>
              <p:cNvSpPr txBox="1"/>
              <p:nvPr/>
            </p:nvSpPr>
            <p:spPr>
              <a:xfrm>
                <a:off x="9490209" y="3567846"/>
                <a:ext cx="1337256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29%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    BBVA</a:t>
                </a:r>
              </a:p>
            </p:txBody>
          </p:sp>
          <p:sp>
            <p:nvSpPr>
              <p:cNvPr id="193" name="CuadroTexto 192">
                <a:extLst>
                  <a:ext uri="{FF2B5EF4-FFF2-40B4-BE49-F238E27FC236}">
                    <a16:creationId xmlns:a16="http://schemas.microsoft.com/office/drawing/2014/main" id="{4D87FE98-E251-C3AE-124F-5D59885EC5E9}"/>
                  </a:ext>
                </a:extLst>
              </p:cNvPr>
              <p:cNvSpPr txBox="1"/>
              <p:nvPr/>
            </p:nvSpPr>
            <p:spPr>
              <a:xfrm>
                <a:off x="10498522" y="3549824"/>
                <a:ext cx="1244387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20%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Banco de </a:t>
                </a:r>
                <a:r>
                  <a:rPr lang="es-CO" sz="1400" b="1" dirty="0" err="1">
                    <a:solidFill>
                      <a:schemeClr val="bg1"/>
                    </a:solidFill>
                  </a:rPr>
                  <a:t>Bogota</a:t>
                </a:r>
                <a:endParaRPr lang="es-CO" sz="14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99" name="CuadroTexto 198">
              <a:extLst>
                <a:ext uri="{FF2B5EF4-FFF2-40B4-BE49-F238E27FC236}">
                  <a16:creationId xmlns:a16="http://schemas.microsoft.com/office/drawing/2014/main" id="{7F20DFF6-5D50-6CA8-FDEC-A55DF1C2A6C8}"/>
                </a:ext>
              </a:extLst>
            </p:cNvPr>
            <p:cNvSpPr txBox="1"/>
            <p:nvPr/>
          </p:nvSpPr>
          <p:spPr>
            <a:xfrm>
              <a:off x="9366872" y="6140046"/>
              <a:ext cx="1323041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  25%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      Otros</a:t>
              </a:r>
            </a:p>
          </p:txBody>
        </p:sp>
      </p:grpSp>
      <p:sp>
        <p:nvSpPr>
          <p:cNvPr id="200" name="CuadroTexto 199">
            <a:extLst>
              <a:ext uri="{FF2B5EF4-FFF2-40B4-BE49-F238E27FC236}">
                <a16:creationId xmlns:a16="http://schemas.microsoft.com/office/drawing/2014/main" id="{F53DC22A-DC6D-C78A-DC0D-688294154EBD}"/>
              </a:ext>
            </a:extLst>
          </p:cNvPr>
          <p:cNvSpPr txBox="1"/>
          <p:nvPr/>
        </p:nvSpPr>
        <p:spPr>
          <a:xfrm>
            <a:off x="4140736" y="5856787"/>
            <a:ext cx="137625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2%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Nocaima</a:t>
            </a:r>
          </a:p>
        </p:txBody>
      </p:sp>
      <p:pic>
        <p:nvPicPr>
          <p:cNvPr id="205" name="Imagen 204">
            <a:extLst>
              <a:ext uri="{FF2B5EF4-FFF2-40B4-BE49-F238E27FC236}">
                <a16:creationId xmlns:a16="http://schemas.microsoft.com/office/drawing/2014/main" id="{76A6CF17-A688-6F73-562F-65983697584D}"/>
              </a:ext>
            </a:extLst>
          </p:cNvPr>
          <p:cNvPicPr>
            <a:picLocks noChangeAspect="1"/>
          </p:cNvPicPr>
          <p:nvPr/>
        </p:nvPicPr>
        <p:blipFill>
          <a:blip r:embed="rId22">
            <a:duotone>
              <a:prstClr val="black"/>
              <a:schemeClr val="tx1">
                <a:lumMod val="75000"/>
                <a:lumOff val="2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4538" y="5846263"/>
            <a:ext cx="673981" cy="673981"/>
          </a:xfrm>
          <a:prstGeom prst="rect">
            <a:avLst/>
          </a:prstGeom>
        </p:spPr>
      </p:pic>
      <p:grpSp>
        <p:nvGrpSpPr>
          <p:cNvPr id="208" name="Grupo 207">
            <a:extLst>
              <a:ext uri="{FF2B5EF4-FFF2-40B4-BE49-F238E27FC236}">
                <a16:creationId xmlns:a16="http://schemas.microsoft.com/office/drawing/2014/main" id="{3D758666-D781-1E73-D0F5-4DA2A76FC0D8}"/>
              </a:ext>
            </a:extLst>
          </p:cNvPr>
          <p:cNvGrpSpPr/>
          <p:nvPr/>
        </p:nvGrpSpPr>
        <p:grpSpPr>
          <a:xfrm>
            <a:off x="10245555" y="853892"/>
            <a:ext cx="1956550" cy="5540381"/>
            <a:chOff x="7793864" y="1110832"/>
            <a:chExt cx="1816602" cy="1780012"/>
          </a:xfrm>
        </p:grpSpPr>
        <p:sp>
          <p:nvSpPr>
            <p:cNvPr id="212" name="Rectángulo 211">
              <a:extLst>
                <a:ext uri="{FF2B5EF4-FFF2-40B4-BE49-F238E27FC236}">
                  <a16:creationId xmlns:a16="http://schemas.microsoft.com/office/drawing/2014/main" id="{D84A36AE-A816-8B09-0CE7-0D367DA27F56}"/>
                </a:ext>
              </a:extLst>
            </p:cNvPr>
            <p:cNvSpPr/>
            <p:nvPr/>
          </p:nvSpPr>
          <p:spPr>
            <a:xfrm>
              <a:off x="7814360" y="1110832"/>
              <a:ext cx="1666611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5" name="CuadroTexto 214">
              <a:extLst>
                <a:ext uri="{FF2B5EF4-FFF2-40B4-BE49-F238E27FC236}">
                  <a16:creationId xmlns:a16="http://schemas.microsoft.com/office/drawing/2014/main" id="{C825CFF8-D7E2-90A4-4903-B460BD1D4663}"/>
                </a:ext>
              </a:extLst>
            </p:cNvPr>
            <p:cNvSpPr txBox="1"/>
            <p:nvPr/>
          </p:nvSpPr>
          <p:spPr>
            <a:xfrm>
              <a:off x="7793864" y="1161252"/>
              <a:ext cx="1816602" cy="1141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1600">
                  <a:solidFill>
                    <a:srgbClr val="FFC000"/>
                  </a:solidFill>
                  <a:latin typeface="KG Red Hands" panose="02000505000000020004" pitchFamily="2" charset="0"/>
                </a:rPr>
                <a:t>Top Empresas</a:t>
              </a:r>
              <a:endParaRPr lang="es-ES" sz="1600">
                <a:solidFill>
                  <a:srgbClr val="FFC000"/>
                </a:solidFill>
              </a:endParaRPr>
            </a:p>
          </p:txBody>
        </p:sp>
        <p:sp>
          <p:nvSpPr>
            <p:cNvPr id="214" name="CuadroTexto 213">
              <a:extLst>
                <a:ext uri="{FF2B5EF4-FFF2-40B4-BE49-F238E27FC236}">
                  <a16:creationId xmlns:a16="http://schemas.microsoft.com/office/drawing/2014/main" id="{D84DCDEA-7E15-F874-B5C3-4B0326B073AD}"/>
                </a:ext>
              </a:extLst>
            </p:cNvPr>
            <p:cNvSpPr txBox="1"/>
            <p:nvPr/>
          </p:nvSpPr>
          <p:spPr>
            <a:xfrm>
              <a:off x="7830402" y="1354030"/>
              <a:ext cx="1689688" cy="301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500" b="1" dirty="0">
                  <a:solidFill>
                    <a:schemeClr val="bg1"/>
                  </a:solidFill>
                </a:rPr>
                <a:t>COLSUBSIDIO	6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GRUPO EMPRESARIAL EN LINE	3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G DE CUNDINAMARCA	2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DIREC DE IMP Y ADUAN NAL	2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MAS TALENTO SAS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INVERSIONES ANTRI S A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SEGURIDAD LAGUS LTDA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BANCO DAVIVIENDA S A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L DE COSMETICOS SLENDY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ACCENTURE LTDA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MERCADOLIBRE COLOMBIA	1                               </a:t>
              </a: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2DDBA4AC-5A2F-D278-0994-8DC7E060CA24}"/>
              </a:ext>
            </a:extLst>
          </p:cNvPr>
          <p:cNvSpPr txBox="1"/>
          <p:nvPr/>
        </p:nvSpPr>
        <p:spPr>
          <a:xfrm>
            <a:off x="6773529" y="4056451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5%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 Cuatro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9D0F459-5714-F4C5-08BA-8CEE4381D258}"/>
              </a:ext>
            </a:extLst>
          </p:cNvPr>
          <p:cNvSpPr txBox="1"/>
          <p:nvPr/>
        </p:nvSpPr>
        <p:spPr>
          <a:xfrm>
            <a:off x="2237155" y="3686622"/>
            <a:ext cx="192377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2</a:t>
            </a:r>
            <a:r>
              <a:rPr lang="es-CO" sz="1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%</a:t>
            </a:r>
          </a:p>
          <a:p>
            <a:r>
              <a:rPr lang="es-CO" sz="1200" b="1" dirty="0">
                <a:solidFill>
                  <a:schemeClr val="bg1"/>
                </a:solidFill>
              </a:rPr>
              <a:t>      Monoparental</a:t>
            </a:r>
          </a:p>
          <a:p>
            <a:r>
              <a:rPr lang="es-CO" sz="1200" b="1" dirty="0">
                <a:solidFill>
                  <a:schemeClr val="bg1"/>
                </a:solidFill>
              </a:rPr>
              <a:t>      Ampliada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F9711E5-3E86-F002-53AC-41DB7F52CCB5}"/>
              </a:ext>
            </a:extLst>
          </p:cNvPr>
          <p:cNvSpPr txBox="1"/>
          <p:nvPr/>
        </p:nvSpPr>
        <p:spPr>
          <a:xfrm>
            <a:off x="10330342" y="6461181"/>
            <a:ext cx="14292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100" dirty="0">
                <a:solidFill>
                  <a:srgbClr val="FFC000"/>
                </a:solidFill>
                <a:latin typeface="KG Red Hands" panose="02000505000000020004" pitchFamily="2" charset="0"/>
              </a:rPr>
              <a:t>*Corte 15/01/2026</a:t>
            </a:r>
            <a:endParaRPr lang="es-ES" sz="11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148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33109-0987-C077-33D3-BD0D7466D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0504CE7D-8700-A927-2E9E-83659FBA473B}"/>
              </a:ext>
            </a:extLst>
          </p:cNvPr>
          <p:cNvCxnSpPr>
            <a:cxnSpLocks/>
          </p:cNvCxnSpPr>
          <p:nvPr/>
        </p:nvCxnSpPr>
        <p:spPr>
          <a:xfrm flipH="1">
            <a:off x="0" y="645614"/>
            <a:ext cx="10809007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uadroTexto 85">
            <a:extLst>
              <a:ext uri="{FF2B5EF4-FFF2-40B4-BE49-F238E27FC236}">
                <a16:creationId xmlns:a16="http://schemas.microsoft.com/office/drawing/2014/main" id="{34D5BED3-1F88-227C-2066-BF0AD7A5968B}"/>
              </a:ext>
            </a:extLst>
          </p:cNvPr>
          <p:cNvSpPr txBox="1"/>
          <p:nvPr/>
        </p:nvSpPr>
        <p:spPr>
          <a:xfrm>
            <a:off x="-128399" y="120715"/>
            <a:ext cx="95771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>
                <a:solidFill>
                  <a:schemeClr val="bg1"/>
                </a:solidFill>
                <a:latin typeface="KG Red Hands" panose="02000505000000020004" pitchFamily="2" charset="0"/>
              </a:rPr>
              <a:t>      INARI</a:t>
            </a:r>
            <a:endParaRPr lang="es-ES" sz="240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BB4F6AF3-7FFE-2A4F-453F-FB0C1F794746}"/>
              </a:ext>
              <a:ext uri="{147F2762-F138-4A5C-976F-8EAC2B608ADB}">
                <a16:predDERef xmlns:a16="http://schemas.microsoft.com/office/drawing/2014/main" pred="{95DEFF95-1524-40DB-8538-DE0C2D5BEC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3398838"/>
            <a:ext cx="555625" cy="49371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CA745500-49CE-70D5-3A14-82E44EF2D86E}"/>
              </a:ext>
              <a:ext uri="{147F2762-F138-4A5C-976F-8EAC2B608ADB}">
                <a16:predDERef xmlns:a16="http://schemas.microsoft.com/office/drawing/2014/main" pred="{95FFDEC5-E647-4E60-9FB8-32349ACC1E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087813"/>
            <a:ext cx="555625" cy="46196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61AEBB99-E7BD-7F70-31F0-2278C48B1DBE}"/>
              </a:ext>
              <a:ext uri="{147F2762-F138-4A5C-976F-8EAC2B608ADB}">
                <a16:predDERef xmlns:a16="http://schemas.microsoft.com/office/drawing/2014/main" pred="{D53D0C4A-FE71-44C0-97B3-1EA296D3DCE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814888"/>
            <a:ext cx="555625" cy="41116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AAB1EDE2-D4FA-9356-6832-155452D96641}"/>
              </a:ext>
              <a:ext uri="{147F2762-F138-4A5C-976F-8EAC2B608ADB}">
                <a16:predDERef xmlns:a16="http://schemas.microsoft.com/office/drawing/2014/main" pred="{7008BA42-7365-4AD1-B913-F26820CE47E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1775" y="5427663"/>
            <a:ext cx="465138" cy="433387"/>
          </a:xfrm>
          <a:prstGeom prst="rect">
            <a:avLst/>
          </a:prstGeom>
        </p:spPr>
      </p:pic>
      <p:grpSp>
        <p:nvGrpSpPr>
          <p:cNvPr id="135" name="Grupo 134">
            <a:extLst>
              <a:ext uri="{FF2B5EF4-FFF2-40B4-BE49-F238E27FC236}">
                <a16:creationId xmlns:a16="http://schemas.microsoft.com/office/drawing/2014/main" id="{5A9E64F3-3ABB-7753-1724-0242ACEB4C40}"/>
              </a:ext>
            </a:extLst>
          </p:cNvPr>
          <p:cNvGrpSpPr/>
          <p:nvPr/>
        </p:nvGrpSpPr>
        <p:grpSpPr>
          <a:xfrm>
            <a:off x="5451761" y="866384"/>
            <a:ext cx="2195988" cy="1780012"/>
            <a:chOff x="5353656" y="1110832"/>
            <a:chExt cx="2195988" cy="1780012"/>
          </a:xfrm>
        </p:grpSpPr>
        <p:sp>
          <p:nvSpPr>
            <p:cNvPr id="58" name="Rectángulo 57">
              <a:extLst>
                <a:ext uri="{FF2B5EF4-FFF2-40B4-BE49-F238E27FC236}">
                  <a16:creationId xmlns:a16="http://schemas.microsoft.com/office/drawing/2014/main" id="{FBA3C6DF-9E7A-5521-7181-3CBA8B42343A}"/>
                </a:ext>
              </a:extLst>
            </p:cNvPr>
            <p:cNvSpPr/>
            <p:nvPr/>
          </p:nvSpPr>
          <p:spPr>
            <a:xfrm>
              <a:off x="5353656" y="1110832"/>
              <a:ext cx="2195987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43" name="Grupo 42">
              <a:extLst>
                <a:ext uri="{FF2B5EF4-FFF2-40B4-BE49-F238E27FC236}">
                  <a16:creationId xmlns:a16="http://schemas.microsoft.com/office/drawing/2014/main" id="{36CF4B70-E042-C51D-82EA-6C23CA244F94}"/>
                </a:ext>
              </a:extLst>
            </p:cNvPr>
            <p:cNvGrpSpPr/>
            <p:nvPr/>
          </p:nvGrpSpPr>
          <p:grpSpPr>
            <a:xfrm>
              <a:off x="5353657" y="1223137"/>
              <a:ext cx="2083693" cy="1630468"/>
              <a:chOff x="3249940" y="1229837"/>
              <a:chExt cx="2083693" cy="1630468"/>
            </a:xfrm>
          </p:grpSpPr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990B25B7-DE23-A9EE-7B9F-292A1B14E029}"/>
                  </a:ext>
                </a:extLst>
              </p:cNvPr>
              <p:cNvSpPr txBox="1"/>
              <p:nvPr/>
            </p:nvSpPr>
            <p:spPr>
              <a:xfrm>
                <a:off x="3552927" y="1229837"/>
                <a:ext cx="178070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Rango Salario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94A0E833-2791-46E2-9E65-28FC362B145C}"/>
                  </a:ext>
                </a:extLst>
              </p:cNvPr>
              <p:cNvSpPr txBox="1"/>
              <p:nvPr/>
            </p:nvSpPr>
            <p:spPr>
              <a:xfrm>
                <a:off x="3249940" y="2306307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72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Hasta 2 </a:t>
                </a:r>
                <a:r>
                  <a:rPr lang="es-CO" sz="1200" b="1" dirty="0" err="1">
                    <a:solidFill>
                      <a:schemeClr val="bg1"/>
                    </a:solidFill>
                  </a:rPr>
                  <a:t>smlv</a:t>
                </a:r>
                <a:endParaRPr lang="es-CO" sz="12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53" name="Imagen 52">
              <a:extLst>
                <a:ext uri="{FF2B5EF4-FFF2-40B4-BE49-F238E27FC236}">
                  <a16:creationId xmlns:a16="http://schemas.microsoft.com/office/drawing/2014/main" id="{B3789C2E-FCD0-C5F4-F135-2FED03514E6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12042" y="1623254"/>
              <a:ext cx="641350" cy="641350"/>
            </a:xfrm>
            <a:prstGeom prst="rect">
              <a:avLst/>
            </a:prstGeom>
          </p:spPr>
        </p:pic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1ACD47E2-C5FD-BD6D-43D3-102C42CC08CF}"/>
                </a:ext>
              </a:extLst>
            </p:cNvPr>
            <p:cNvSpPr txBox="1"/>
            <p:nvPr/>
          </p:nvSpPr>
          <p:spPr>
            <a:xfrm>
              <a:off x="6376735" y="2289285"/>
              <a:ext cx="1172909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28</a:t>
              </a:r>
              <a:r>
                <a:rPr lang="es-CO" sz="18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Mas de 2 </a:t>
              </a:r>
              <a:r>
                <a:rPr lang="es-CO" sz="1200" b="1" dirty="0" err="1">
                  <a:solidFill>
                    <a:schemeClr val="bg1"/>
                  </a:solidFill>
                </a:rPr>
                <a:t>smlv</a:t>
              </a:r>
              <a:endParaRPr lang="es-CO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27EABD7E-3A61-F8DD-BDC3-B16EB396612B}"/>
              </a:ext>
            </a:extLst>
          </p:cNvPr>
          <p:cNvGrpSpPr/>
          <p:nvPr/>
        </p:nvGrpSpPr>
        <p:grpSpPr>
          <a:xfrm>
            <a:off x="3320687" y="874756"/>
            <a:ext cx="1941094" cy="1759148"/>
            <a:chOff x="3224463" y="1110832"/>
            <a:chExt cx="1941094" cy="1759148"/>
          </a:xfrm>
        </p:grpSpPr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031E6169-DE5A-0352-86C8-4E413AEDE73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36596" y="1677993"/>
              <a:ext cx="721895" cy="721895"/>
            </a:xfrm>
            <a:prstGeom prst="rect">
              <a:avLst/>
            </a:prstGeom>
          </p:spPr>
        </p:pic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949C9F51-A489-B45B-1ADC-C94E25512715}"/>
                </a:ext>
              </a:extLst>
            </p:cNvPr>
            <p:cNvGrpSpPr/>
            <p:nvPr/>
          </p:nvGrpSpPr>
          <p:grpSpPr>
            <a:xfrm>
              <a:off x="3420553" y="1223137"/>
              <a:ext cx="1609350" cy="1516670"/>
              <a:chOff x="3420553" y="1223137"/>
              <a:chExt cx="1609350" cy="1516670"/>
            </a:xfrm>
          </p:grpSpPr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5C5328DD-6C0B-934B-CAE3-086229B07A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74608" y="1613811"/>
                <a:ext cx="723600" cy="723600"/>
              </a:xfrm>
              <a:prstGeom prst="rect">
                <a:avLst/>
              </a:prstGeom>
            </p:spPr>
          </p:pic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C9302F6A-A652-3C98-5263-715465FAB669}"/>
                  </a:ext>
                </a:extLst>
              </p:cNvPr>
              <p:cNvSpPr txBox="1"/>
              <p:nvPr/>
            </p:nvSpPr>
            <p:spPr>
              <a:xfrm>
                <a:off x="3685253" y="1223137"/>
                <a:ext cx="1098946" cy="345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Género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BE7DAAD5-B38F-E398-27E6-D2B686843549}"/>
                  </a:ext>
                </a:extLst>
              </p:cNvPr>
              <p:cNvSpPr txBox="1"/>
              <p:nvPr/>
            </p:nvSpPr>
            <p:spPr>
              <a:xfrm>
                <a:off x="3420553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37%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EA8EFC09-FDB5-7BEA-6576-15D3B118DE13}"/>
                  </a:ext>
                </a:extLst>
              </p:cNvPr>
              <p:cNvSpPr txBox="1"/>
              <p:nvPr/>
            </p:nvSpPr>
            <p:spPr>
              <a:xfrm>
                <a:off x="4308008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63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</p:grp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8BD2250C-989F-7A25-0B70-BABB7CA6FDA3}"/>
                </a:ext>
              </a:extLst>
            </p:cNvPr>
            <p:cNvSpPr/>
            <p:nvPr/>
          </p:nvSpPr>
          <p:spPr>
            <a:xfrm>
              <a:off x="3224463" y="1110832"/>
              <a:ext cx="1941094" cy="175914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78" name="CuadroTexto 77">
            <a:extLst>
              <a:ext uri="{FF2B5EF4-FFF2-40B4-BE49-F238E27FC236}">
                <a16:creationId xmlns:a16="http://schemas.microsoft.com/office/drawing/2014/main" id="{F5208425-6C79-E8BF-CF30-3D495086C45E}"/>
              </a:ext>
            </a:extLst>
          </p:cNvPr>
          <p:cNvSpPr txBox="1"/>
          <p:nvPr/>
        </p:nvSpPr>
        <p:spPr>
          <a:xfrm>
            <a:off x="1376075" y="3222417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34%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Joven</a:t>
            </a:r>
          </a:p>
        </p:txBody>
      </p: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207A17DF-6A40-7851-E606-721B77BBF1BA}"/>
              </a:ext>
            </a:extLst>
          </p:cNvPr>
          <p:cNvGrpSpPr/>
          <p:nvPr/>
        </p:nvGrpSpPr>
        <p:grpSpPr>
          <a:xfrm>
            <a:off x="-155207" y="2771278"/>
            <a:ext cx="2688149" cy="1998661"/>
            <a:chOff x="435343" y="3108160"/>
            <a:chExt cx="2688149" cy="1998661"/>
          </a:xfrm>
        </p:grpSpPr>
        <p:grpSp>
          <p:nvGrpSpPr>
            <p:cNvPr id="69" name="Grupo 68">
              <a:extLst>
                <a:ext uri="{FF2B5EF4-FFF2-40B4-BE49-F238E27FC236}">
                  <a16:creationId xmlns:a16="http://schemas.microsoft.com/office/drawing/2014/main" id="{BE10D075-A7B6-06F3-E54B-8A7084C85B93}"/>
                </a:ext>
              </a:extLst>
            </p:cNvPr>
            <p:cNvGrpSpPr/>
            <p:nvPr/>
          </p:nvGrpSpPr>
          <p:grpSpPr>
            <a:xfrm>
              <a:off x="457829" y="3108160"/>
              <a:ext cx="2665663" cy="1998661"/>
              <a:chOff x="7590765" y="1110832"/>
              <a:chExt cx="2665663" cy="1822499"/>
            </a:xfrm>
          </p:grpSpPr>
          <p:sp>
            <p:nvSpPr>
              <p:cNvPr id="70" name="Rectángulo 69">
                <a:extLst>
                  <a:ext uri="{FF2B5EF4-FFF2-40B4-BE49-F238E27FC236}">
                    <a16:creationId xmlns:a16="http://schemas.microsoft.com/office/drawing/2014/main" id="{D171D165-5CDF-920E-13CB-AD822AA66ACC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71" name="Grupo 70">
                <a:extLst>
                  <a:ext uri="{FF2B5EF4-FFF2-40B4-BE49-F238E27FC236}">
                    <a16:creationId xmlns:a16="http://schemas.microsoft.com/office/drawing/2014/main" id="{985FAA97-E3EA-0591-886B-362AEB626CCA}"/>
                  </a:ext>
                </a:extLst>
              </p:cNvPr>
              <p:cNvGrpSpPr/>
              <p:nvPr/>
            </p:nvGrpSpPr>
            <p:grpSpPr>
              <a:xfrm>
                <a:off x="7590765" y="1223137"/>
                <a:ext cx="2024519" cy="1655939"/>
                <a:chOff x="3026344" y="1229837"/>
                <a:chExt cx="2024519" cy="1655939"/>
              </a:xfrm>
            </p:grpSpPr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88E1FCAE-DCBB-22DF-1EC4-C5AE8DFE1FCE}"/>
                    </a:ext>
                  </a:extLst>
                </p:cNvPr>
                <p:cNvSpPr txBox="1"/>
                <p:nvPr/>
              </p:nvSpPr>
              <p:spPr>
                <a:xfrm>
                  <a:off x="3645002" y="1229837"/>
                  <a:ext cx="1405861" cy="3087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Segmento 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E03D8013-A7E7-4D93-1F6E-B274F0FF02BA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12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38%</a:t>
                  </a:r>
                </a:p>
                <a:p>
                  <a:r>
                    <a:rPr lang="es-CO" sz="1400" b="1">
                      <a:solidFill>
                        <a:schemeClr val="bg1"/>
                      </a:solidFill>
                    </a:rPr>
                    <a:t>      Básico</a:t>
                  </a:r>
                </a:p>
              </p:txBody>
            </p:sp>
          </p:grpSp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8F6CC805-F9FA-EE55-E4CF-1A0C55FE731E}"/>
                  </a:ext>
                </a:extLst>
              </p:cNvPr>
              <p:cNvSpPr txBox="1"/>
              <p:nvPr/>
            </p:nvSpPr>
            <p:spPr>
              <a:xfrm>
                <a:off x="9083519" y="231777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0%</a:t>
                </a:r>
              </a:p>
              <a:p>
                <a:r>
                  <a:rPr lang="es-CO" sz="1400" b="1">
                    <a:solidFill>
                      <a:schemeClr val="bg1"/>
                    </a:solidFill>
                  </a:rPr>
                  <a:t>       Alto</a:t>
                </a:r>
              </a:p>
            </p:txBody>
          </p:sp>
        </p:grpSp>
        <p:sp>
          <p:nvSpPr>
            <p:cNvPr id="77" name="CuadroTexto 76">
              <a:extLst>
                <a:ext uri="{FF2B5EF4-FFF2-40B4-BE49-F238E27FC236}">
                  <a16:creationId xmlns:a16="http://schemas.microsoft.com/office/drawing/2014/main" id="{115E9430-EEB2-DD05-B095-F12726F080FC}"/>
                </a:ext>
              </a:extLst>
            </p:cNvPr>
            <p:cNvSpPr txBox="1"/>
            <p:nvPr/>
          </p:nvSpPr>
          <p:spPr>
            <a:xfrm>
              <a:off x="435343" y="3559299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28%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Medio</a:t>
              </a:r>
            </a:p>
          </p:txBody>
        </p:sp>
        <p:pic>
          <p:nvPicPr>
            <p:cNvPr id="80" name="Imagen 79">
              <a:extLst>
                <a:ext uri="{FF2B5EF4-FFF2-40B4-BE49-F238E27FC236}">
                  <a16:creationId xmlns:a16="http://schemas.microsoft.com/office/drawing/2014/main" id="{1A1117FA-C70B-F8F5-2D74-FAFE081A51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LineDrawing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90862" y="3871141"/>
              <a:ext cx="680857" cy="680857"/>
            </a:xfrm>
            <a:prstGeom prst="rect">
              <a:avLst/>
            </a:prstGeom>
          </p:spPr>
        </p:pic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98C55EB2-CF18-7370-1F26-A5A82E21F940}"/>
              </a:ext>
            </a:extLst>
          </p:cNvPr>
          <p:cNvGrpSpPr/>
          <p:nvPr/>
        </p:nvGrpSpPr>
        <p:grpSpPr>
          <a:xfrm>
            <a:off x="2169335" y="2774370"/>
            <a:ext cx="3284086" cy="1963483"/>
            <a:chOff x="2759885" y="3111252"/>
            <a:chExt cx="3284086" cy="1963483"/>
          </a:xfrm>
        </p:grpSpPr>
        <p:sp>
          <p:nvSpPr>
            <p:cNvPr id="88" name="CuadroTexto 87">
              <a:extLst>
                <a:ext uri="{FF2B5EF4-FFF2-40B4-BE49-F238E27FC236}">
                  <a16:creationId xmlns:a16="http://schemas.microsoft.com/office/drawing/2014/main" id="{33F81B45-BE24-55F1-3453-1716CAA89389}"/>
                </a:ext>
              </a:extLst>
            </p:cNvPr>
            <p:cNvSpPr txBox="1"/>
            <p:nvPr/>
          </p:nvSpPr>
          <p:spPr>
            <a:xfrm>
              <a:off x="2759885" y="3531697"/>
              <a:ext cx="154680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   57%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             Sin Grupo</a:t>
              </a:r>
            </a:p>
          </p:txBody>
        </p:sp>
        <p:grpSp>
          <p:nvGrpSpPr>
            <p:cNvPr id="124" name="Grupo 123">
              <a:extLst>
                <a:ext uri="{FF2B5EF4-FFF2-40B4-BE49-F238E27FC236}">
                  <a16:creationId xmlns:a16="http://schemas.microsoft.com/office/drawing/2014/main" id="{4FD2E14F-6BA3-45F8-6110-3BA7C3828DCE}"/>
                </a:ext>
              </a:extLst>
            </p:cNvPr>
            <p:cNvGrpSpPr/>
            <p:nvPr/>
          </p:nvGrpSpPr>
          <p:grpSpPr>
            <a:xfrm>
              <a:off x="3048286" y="3111252"/>
              <a:ext cx="2995685" cy="1963483"/>
              <a:chOff x="3048286" y="3111252"/>
              <a:chExt cx="2995685" cy="1963483"/>
            </a:xfrm>
          </p:grpSpPr>
          <p:grpSp>
            <p:nvGrpSpPr>
              <p:cNvPr id="81" name="Grupo 80">
                <a:extLst>
                  <a:ext uri="{FF2B5EF4-FFF2-40B4-BE49-F238E27FC236}">
                    <a16:creationId xmlns:a16="http://schemas.microsoft.com/office/drawing/2014/main" id="{23FA5C19-5306-A0BF-E496-1C29065E6721}"/>
                  </a:ext>
                </a:extLst>
              </p:cNvPr>
              <p:cNvGrpSpPr/>
              <p:nvPr/>
            </p:nvGrpSpPr>
            <p:grpSpPr>
              <a:xfrm>
                <a:off x="3048286" y="3111252"/>
                <a:ext cx="2995685" cy="1963483"/>
                <a:chOff x="7814360" y="1110832"/>
                <a:chExt cx="2995685" cy="1780012"/>
              </a:xfrm>
            </p:grpSpPr>
            <p:sp>
              <p:nvSpPr>
                <p:cNvPr id="82" name="Rectángulo 81">
                  <a:extLst>
                    <a:ext uri="{FF2B5EF4-FFF2-40B4-BE49-F238E27FC236}">
                      <a16:creationId xmlns:a16="http://schemas.microsoft.com/office/drawing/2014/main" id="{B029892A-B684-97CB-AC35-727BCDE70A3A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808386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5" name="CuadroTexto 84">
                  <a:extLst>
                    <a:ext uri="{FF2B5EF4-FFF2-40B4-BE49-F238E27FC236}">
                      <a16:creationId xmlns:a16="http://schemas.microsoft.com/office/drawing/2014/main" id="{923CAC56-E7BA-A57C-7F60-D6DF80E4D9FF}"/>
                    </a:ext>
                  </a:extLst>
                </p:cNvPr>
                <p:cNvSpPr txBox="1"/>
                <p:nvPr/>
              </p:nvSpPr>
              <p:spPr>
                <a:xfrm>
                  <a:off x="8199228" y="1166870"/>
                  <a:ext cx="2143266" cy="3069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Segmento Familia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84" name="CuadroTexto 83">
                  <a:extLst>
                    <a:ext uri="{FF2B5EF4-FFF2-40B4-BE49-F238E27FC236}">
                      <a16:creationId xmlns:a16="http://schemas.microsoft.com/office/drawing/2014/main" id="{3C55B8C3-7E06-EBB8-45AA-99C03BDEA6A6}"/>
                    </a:ext>
                  </a:extLst>
                </p:cNvPr>
                <p:cNvSpPr txBox="1"/>
                <p:nvPr/>
              </p:nvSpPr>
              <p:spPr>
                <a:xfrm>
                  <a:off x="9185077" y="2002589"/>
                  <a:ext cx="1624968" cy="5022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        6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 Nuclear Integrada</a:t>
                  </a:r>
                </a:p>
              </p:txBody>
            </p:sp>
          </p:grpSp>
          <p:sp>
            <p:nvSpPr>
              <p:cNvPr id="89" name="CuadroTexto 88">
                <a:extLst>
                  <a:ext uri="{FF2B5EF4-FFF2-40B4-BE49-F238E27FC236}">
                    <a16:creationId xmlns:a16="http://schemas.microsoft.com/office/drawing/2014/main" id="{6389AF6E-F4B6-2D63-F1A6-49325FC9FEDE}"/>
                  </a:ext>
                </a:extLst>
              </p:cNvPr>
              <p:cNvSpPr txBox="1"/>
              <p:nvPr/>
            </p:nvSpPr>
            <p:spPr>
              <a:xfrm>
                <a:off x="4771770" y="3534141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29%</a:t>
                </a:r>
                <a:r>
                  <a:rPr lang="es-CO" sz="1200" b="1" dirty="0">
                    <a:solidFill>
                      <a:schemeClr val="bg1"/>
                    </a:solidFill>
                  </a:rPr>
                  <a:t> Monoparental</a:t>
                </a:r>
              </a:p>
            </p:txBody>
          </p:sp>
          <p:pic>
            <p:nvPicPr>
              <p:cNvPr id="92" name="Imagen 91">
                <a:extLst>
                  <a:ext uri="{FF2B5EF4-FFF2-40B4-BE49-F238E27FC236}">
                    <a16:creationId xmlns:a16="http://schemas.microsoft.com/office/drawing/2014/main" id="{68CB8091-6B3F-F2C7-99B7-BEAC02EA96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artisticGlowDiffused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075298" y="3683026"/>
                <a:ext cx="754362" cy="754362"/>
              </a:xfrm>
              <a:prstGeom prst="rect">
                <a:avLst/>
              </a:prstGeom>
            </p:spPr>
          </p:pic>
        </p:grp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9D253708-A6F0-1D1E-13D0-0F1F253B739E}"/>
              </a:ext>
            </a:extLst>
          </p:cNvPr>
          <p:cNvGrpSpPr/>
          <p:nvPr/>
        </p:nvGrpSpPr>
        <p:grpSpPr>
          <a:xfrm>
            <a:off x="90873" y="847081"/>
            <a:ext cx="3094159" cy="1780012"/>
            <a:chOff x="681423" y="1183963"/>
            <a:chExt cx="3094159" cy="1780012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3CC8246D-05B3-1529-0314-60EAB805A53E}"/>
                </a:ext>
              </a:extLst>
            </p:cNvPr>
            <p:cNvSpPr txBox="1"/>
            <p:nvPr/>
          </p:nvSpPr>
          <p:spPr>
            <a:xfrm>
              <a:off x="942955" y="1217834"/>
              <a:ext cx="2376943" cy="16927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s-CO" sz="2000" b="1">
                <a:solidFill>
                  <a:srgbClr val="FFC000"/>
                </a:solidFill>
              </a:endParaRPr>
            </a:p>
            <a:p>
              <a:r>
                <a:rPr lang="es-CO" sz="2000" b="1">
                  <a:solidFill>
                    <a:srgbClr val="FFC000"/>
                  </a:solidFill>
                </a:rPr>
                <a:t>Afiliado     </a:t>
              </a:r>
              <a:r>
                <a:rPr lang="es-CO" sz="2800" b="1">
                  <a:solidFill>
                    <a:srgbClr val="FFC000"/>
                  </a:solidFill>
                </a:rPr>
                <a:t>   </a:t>
              </a:r>
              <a:r>
                <a:rPr lang="es-CO" sz="2800" b="1">
                  <a:solidFill>
                    <a:schemeClr val="bg1"/>
                  </a:solidFill>
                </a:rPr>
                <a:t>64%</a:t>
              </a:r>
            </a:p>
            <a:p>
              <a:r>
                <a:rPr lang="es-CO" sz="2000" b="1">
                  <a:solidFill>
                    <a:srgbClr val="FFC000"/>
                  </a:solidFill>
                </a:rPr>
                <a:t>No Afilado   </a:t>
              </a:r>
              <a:r>
                <a:rPr lang="es-CO" sz="2800" b="1">
                  <a:solidFill>
                    <a:schemeClr val="bg1"/>
                  </a:solidFill>
                </a:rPr>
                <a:t>36%</a:t>
              </a:r>
            </a:p>
            <a:p>
              <a:endParaRPr lang="es-ES" sz="280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05" name="Rectángulo 104">
              <a:extLst>
                <a:ext uri="{FF2B5EF4-FFF2-40B4-BE49-F238E27FC236}">
                  <a16:creationId xmlns:a16="http://schemas.microsoft.com/office/drawing/2014/main" id="{89ACEC60-9E45-CE2A-FD78-3470079DB144}"/>
                </a:ext>
              </a:extLst>
            </p:cNvPr>
            <p:cNvSpPr/>
            <p:nvPr/>
          </p:nvSpPr>
          <p:spPr>
            <a:xfrm>
              <a:off x="681423" y="1183963"/>
              <a:ext cx="3094159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20" name="Grupo 119">
            <a:extLst>
              <a:ext uri="{FF2B5EF4-FFF2-40B4-BE49-F238E27FC236}">
                <a16:creationId xmlns:a16="http://schemas.microsoft.com/office/drawing/2014/main" id="{D529D4A0-792C-26E8-A49E-9D221CC3ED42}"/>
              </a:ext>
            </a:extLst>
          </p:cNvPr>
          <p:cNvGrpSpPr/>
          <p:nvPr/>
        </p:nvGrpSpPr>
        <p:grpSpPr>
          <a:xfrm>
            <a:off x="7777183" y="2775745"/>
            <a:ext cx="2623981" cy="1933541"/>
            <a:chOff x="9059295" y="3127128"/>
            <a:chExt cx="2623981" cy="1933541"/>
          </a:xfrm>
        </p:grpSpPr>
        <p:grpSp>
          <p:nvGrpSpPr>
            <p:cNvPr id="106" name="Grupo 105">
              <a:extLst>
                <a:ext uri="{FF2B5EF4-FFF2-40B4-BE49-F238E27FC236}">
                  <a16:creationId xmlns:a16="http://schemas.microsoft.com/office/drawing/2014/main" id="{74F8CA73-572E-A203-863D-B278196B19BE}"/>
                </a:ext>
              </a:extLst>
            </p:cNvPr>
            <p:cNvGrpSpPr/>
            <p:nvPr/>
          </p:nvGrpSpPr>
          <p:grpSpPr>
            <a:xfrm>
              <a:off x="9080988" y="3127128"/>
              <a:ext cx="2601495" cy="1933541"/>
              <a:chOff x="7590765" y="1110832"/>
              <a:chExt cx="2601495" cy="1780012"/>
            </a:xfrm>
          </p:grpSpPr>
          <p:sp>
            <p:nvSpPr>
              <p:cNvPr id="107" name="Rectángulo 106">
                <a:extLst>
                  <a:ext uri="{FF2B5EF4-FFF2-40B4-BE49-F238E27FC236}">
                    <a16:creationId xmlns:a16="http://schemas.microsoft.com/office/drawing/2014/main" id="{C4AEF747-BF48-80FD-941F-47A04780BF01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108" name="Grupo 107">
                <a:extLst>
                  <a:ext uri="{FF2B5EF4-FFF2-40B4-BE49-F238E27FC236}">
                    <a16:creationId xmlns:a16="http://schemas.microsoft.com/office/drawing/2014/main" id="{958763FA-8883-B40D-4557-928A4193E84A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2191150" cy="1678227"/>
                <a:chOff x="3026344" y="1212927"/>
                <a:chExt cx="2191150" cy="1678227"/>
              </a:xfrm>
            </p:grpSpPr>
            <p:sp>
              <p:nvSpPr>
                <p:cNvPr id="110" name="CuadroTexto 109">
                  <a:extLst>
                    <a:ext uri="{FF2B5EF4-FFF2-40B4-BE49-F238E27FC236}">
                      <a16:creationId xmlns:a16="http://schemas.microsoft.com/office/drawing/2014/main" id="{6FE38165-CAB8-D3CD-395F-B5ABD4AA1EAF}"/>
                    </a:ext>
                  </a:extLst>
                </p:cNvPr>
                <p:cNvSpPr txBox="1"/>
                <p:nvPr/>
              </p:nvSpPr>
              <p:spPr>
                <a:xfrm>
                  <a:off x="3811633" y="1212927"/>
                  <a:ext cx="140586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Estrato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11" name="CuadroTexto 110">
                  <a:extLst>
                    <a:ext uri="{FF2B5EF4-FFF2-40B4-BE49-F238E27FC236}">
                      <a16:creationId xmlns:a16="http://schemas.microsoft.com/office/drawing/2014/main" id="{6C1C3F28-482A-4914-48C9-7DF3BC93ECA3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9%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  <p:sp>
            <p:nvSpPr>
              <p:cNvPr id="109" name="CuadroTexto 108">
                <a:extLst>
                  <a:ext uri="{FF2B5EF4-FFF2-40B4-BE49-F238E27FC236}">
                    <a16:creationId xmlns:a16="http://schemas.microsoft.com/office/drawing/2014/main" id="{ADA1B8A9-7A03-79B7-C1F5-4753D9DE5635}"/>
                  </a:ext>
                </a:extLst>
              </p:cNvPr>
              <p:cNvSpPr txBox="1"/>
              <p:nvPr/>
            </p:nvSpPr>
            <p:spPr>
              <a:xfrm>
                <a:off x="9019351" y="2317778"/>
                <a:ext cx="1172909" cy="566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3%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Cuatro</a:t>
                </a:r>
              </a:p>
            </p:txBody>
          </p:sp>
        </p:grpSp>
        <p:sp>
          <p:nvSpPr>
            <p:cNvPr id="112" name="CuadroTexto 111">
              <a:extLst>
                <a:ext uri="{FF2B5EF4-FFF2-40B4-BE49-F238E27FC236}">
                  <a16:creationId xmlns:a16="http://schemas.microsoft.com/office/drawing/2014/main" id="{6E611BC3-1B47-13D9-4474-B07798BF12FE}"/>
                </a:ext>
              </a:extLst>
            </p:cNvPr>
            <p:cNvSpPr txBox="1"/>
            <p:nvPr/>
          </p:nvSpPr>
          <p:spPr>
            <a:xfrm>
              <a:off x="9059295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1%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Uno</a:t>
              </a:r>
            </a:p>
          </p:txBody>
        </p:sp>
        <p:sp>
          <p:nvSpPr>
            <p:cNvPr id="113" name="CuadroTexto 112">
              <a:extLst>
                <a:ext uri="{FF2B5EF4-FFF2-40B4-BE49-F238E27FC236}">
                  <a16:creationId xmlns:a16="http://schemas.microsoft.com/office/drawing/2014/main" id="{8A00B40D-52AC-3A8F-0B52-1D9EE6DF5E97}"/>
                </a:ext>
              </a:extLst>
            </p:cNvPr>
            <p:cNvSpPr txBox="1"/>
            <p:nvPr/>
          </p:nvSpPr>
          <p:spPr>
            <a:xfrm>
              <a:off x="10510367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19%</a:t>
              </a:r>
            </a:p>
            <a:p>
              <a:r>
                <a:rPr lang="es-CO" sz="1400" b="1">
                  <a:solidFill>
                    <a:schemeClr val="bg1"/>
                  </a:solidFill>
                </a:rPr>
                <a:t>          Dos</a:t>
              </a:r>
            </a:p>
          </p:txBody>
        </p:sp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8FE8FF18-E980-9BE2-6365-60790E5EF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artisticPencilGrayscale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043317" y="3855923"/>
              <a:ext cx="655939" cy="655939"/>
            </a:xfrm>
            <a:prstGeom prst="rect">
              <a:avLst/>
            </a:prstGeom>
          </p:spPr>
        </p:pic>
      </p:grp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37E966CB-1177-AF7B-69E2-014388E299B2}"/>
              </a:ext>
            </a:extLst>
          </p:cNvPr>
          <p:cNvSpPr txBox="1"/>
          <p:nvPr/>
        </p:nvSpPr>
        <p:spPr>
          <a:xfrm>
            <a:off x="5289967" y="3228845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57%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 Cero</a:t>
            </a:r>
          </a:p>
        </p:txBody>
      </p:sp>
      <p:grpSp>
        <p:nvGrpSpPr>
          <p:cNvPr id="123" name="Grupo 122">
            <a:extLst>
              <a:ext uri="{FF2B5EF4-FFF2-40B4-BE49-F238E27FC236}">
                <a16:creationId xmlns:a16="http://schemas.microsoft.com/office/drawing/2014/main" id="{B8B43DD0-6845-A682-2646-BD3C5ED4DE72}"/>
              </a:ext>
            </a:extLst>
          </p:cNvPr>
          <p:cNvGrpSpPr/>
          <p:nvPr/>
        </p:nvGrpSpPr>
        <p:grpSpPr>
          <a:xfrm>
            <a:off x="5340592" y="2790246"/>
            <a:ext cx="2602288" cy="1933541"/>
            <a:chOff x="5931142" y="3127128"/>
            <a:chExt cx="2602288" cy="1933541"/>
          </a:xfrm>
        </p:grpSpPr>
        <p:grpSp>
          <p:nvGrpSpPr>
            <p:cNvPr id="93" name="Grupo 92">
              <a:extLst>
                <a:ext uri="{FF2B5EF4-FFF2-40B4-BE49-F238E27FC236}">
                  <a16:creationId xmlns:a16="http://schemas.microsoft.com/office/drawing/2014/main" id="{6F6427BF-541C-FDFB-3805-4492AA3BFDDD}"/>
                </a:ext>
              </a:extLst>
            </p:cNvPr>
            <p:cNvGrpSpPr/>
            <p:nvPr/>
          </p:nvGrpSpPr>
          <p:grpSpPr>
            <a:xfrm>
              <a:off x="5931142" y="3127128"/>
              <a:ext cx="2419582" cy="1933541"/>
              <a:chOff x="7590765" y="1110832"/>
              <a:chExt cx="2419582" cy="1780012"/>
            </a:xfrm>
          </p:grpSpPr>
          <p:sp>
            <p:nvSpPr>
              <p:cNvPr id="94" name="Rectángulo 93">
                <a:extLst>
                  <a:ext uri="{FF2B5EF4-FFF2-40B4-BE49-F238E27FC236}">
                    <a16:creationId xmlns:a16="http://schemas.microsoft.com/office/drawing/2014/main" id="{E1456A00-C726-08B7-A8BC-2580D46FE659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95" name="Grupo 94">
                <a:extLst>
                  <a:ext uri="{FF2B5EF4-FFF2-40B4-BE49-F238E27FC236}">
                    <a16:creationId xmlns:a16="http://schemas.microsoft.com/office/drawing/2014/main" id="{36D3B76A-18BF-A7E5-D50E-B37D64E0971C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1922369" cy="1647802"/>
                <a:chOff x="3026344" y="1212927"/>
                <a:chExt cx="1922369" cy="1647802"/>
              </a:xfrm>
            </p:grpSpPr>
            <p:sp>
              <p:nvSpPr>
                <p:cNvPr id="97" name="CuadroTexto 96">
                  <a:extLst>
                    <a:ext uri="{FF2B5EF4-FFF2-40B4-BE49-F238E27FC236}">
                      <a16:creationId xmlns:a16="http://schemas.microsoft.com/office/drawing/2014/main" id="{8D9DCAE2-ACF8-7D77-B4C6-3815ADCEC8C9}"/>
                    </a:ext>
                  </a:extLst>
                </p:cNvPr>
                <p:cNvSpPr txBox="1"/>
                <p:nvPr/>
              </p:nvSpPr>
              <p:spPr>
                <a:xfrm>
                  <a:off x="4021092" y="1212927"/>
                  <a:ext cx="92762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PAC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98" name="CuadroTexto 97">
                  <a:extLst>
                    <a:ext uri="{FF2B5EF4-FFF2-40B4-BE49-F238E27FC236}">
                      <a16:creationId xmlns:a16="http://schemas.microsoft.com/office/drawing/2014/main" id="{AF815C76-E508-B1AE-D416-6ABE8732C7D6}"/>
                    </a:ext>
                  </a:extLst>
                </p:cNvPr>
                <p:cNvSpPr txBox="1"/>
                <p:nvPr/>
              </p:nvSpPr>
              <p:spPr>
                <a:xfrm>
                  <a:off x="3026344" y="2294053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4%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</p:grpSp>
        <p:grpSp>
          <p:nvGrpSpPr>
            <p:cNvPr id="121" name="Grupo 120">
              <a:extLst>
                <a:ext uri="{FF2B5EF4-FFF2-40B4-BE49-F238E27FC236}">
                  <a16:creationId xmlns:a16="http://schemas.microsoft.com/office/drawing/2014/main" id="{1BD44970-38FE-AAEE-D0B9-6676A872409B}"/>
                </a:ext>
              </a:extLst>
            </p:cNvPr>
            <p:cNvGrpSpPr/>
            <p:nvPr/>
          </p:nvGrpSpPr>
          <p:grpSpPr>
            <a:xfrm>
              <a:off x="6649678" y="3565727"/>
              <a:ext cx="1883752" cy="1414028"/>
              <a:chOff x="6649678" y="3565727"/>
              <a:chExt cx="1883752" cy="1414028"/>
            </a:xfrm>
          </p:grpSpPr>
          <p:sp>
            <p:nvSpPr>
              <p:cNvPr id="99" name="CuadroTexto 98">
                <a:extLst>
                  <a:ext uri="{FF2B5EF4-FFF2-40B4-BE49-F238E27FC236}">
                    <a16:creationId xmlns:a16="http://schemas.microsoft.com/office/drawing/2014/main" id="{2B79F98A-0872-2C2D-1576-B7A427BF2E31}"/>
                  </a:ext>
                </a:extLst>
              </p:cNvPr>
              <p:cNvSpPr txBox="1"/>
              <p:nvPr/>
            </p:nvSpPr>
            <p:spPr>
              <a:xfrm>
                <a:off x="6649678" y="358240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28%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Uno</a:t>
                </a:r>
              </a:p>
            </p:txBody>
          </p:sp>
          <p:sp>
            <p:nvSpPr>
              <p:cNvPr id="101" name="CuadroTexto 100">
                <a:extLst>
                  <a:ext uri="{FF2B5EF4-FFF2-40B4-BE49-F238E27FC236}">
                    <a16:creationId xmlns:a16="http://schemas.microsoft.com/office/drawing/2014/main" id="{795A72F4-E512-39D2-9ADD-75FD41E18CA8}"/>
                  </a:ext>
                </a:extLst>
              </p:cNvPr>
              <p:cNvSpPr txBox="1"/>
              <p:nvPr/>
            </p:nvSpPr>
            <p:spPr>
              <a:xfrm>
                <a:off x="7360521" y="3565727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11%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Dos</a:t>
                </a:r>
              </a:p>
            </p:txBody>
          </p:sp>
          <p:pic>
            <p:nvPicPr>
              <p:cNvPr id="118" name="Imagen 117">
                <a:extLst>
                  <a:ext uri="{FF2B5EF4-FFF2-40B4-BE49-F238E27FC236}">
                    <a16:creationId xmlns:a16="http://schemas.microsoft.com/office/drawing/2014/main" id="{38456DAE-FC11-EC13-EBA2-92922220C7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artisticPaintStrokes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886925" y="4205951"/>
                <a:ext cx="773804" cy="773804"/>
              </a:xfrm>
              <a:prstGeom prst="rect">
                <a:avLst/>
              </a:prstGeom>
            </p:spPr>
          </p:pic>
        </p:grpSp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91F1A4F3-4E96-94EE-5A0F-C306FB0E413E}"/>
              </a:ext>
            </a:extLst>
          </p:cNvPr>
          <p:cNvGrpSpPr/>
          <p:nvPr/>
        </p:nvGrpSpPr>
        <p:grpSpPr>
          <a:xfrm>
            <a:off x="8022470" y="853892"/>
            <a:ext cx="2195988" cy="1780012"/>
            <a:chOff x="7814360" y="1110832"/>
            <a:chExt cx="2195988" cy="1780012"/>
          </a:xfrm>
        </p:grpSpPr>
        <p:grpSp>
          <p:nvGrpSpPr>
            <p:cNvPr id="66" name="Grupo 65">
              <a:extLst>
                <a:ext uri="{FF2B5EF4-FFF2-40B4-BE49-F238E27FC236}">
                  <a16:creationId xmlns:a16="http://schemas.microsoft.com/office/drawing/2014/main" id="{4C718CB4-682C-36BD-C54B-8C5CD7A321C3}"/>
                </a:ext>
              </a:extLst>
            </p:cNvPr>
            <p:cNvGrpSpPr/>
            <p:nvPr/>
          </p:nvGrpSpPr>
          <p:grpSpPr>
            <a:xfrm>
              <a:off x="7814360" y="1110832"/>
              <a:ext cx="2195988" cy="1780012"/>
              <a:chOff x="7814360" y="1110832"/>
              <a:chExt cx="2195988" cy="1780012"/>
            </a:xfrm>
          </p:grpSpPr>
          <p:sp>
            <p:nvSpPr>
              <p:cNvPr id="60" name="Rectángulo 59">
                <a:extLst>
                  <a:ext uri="{FF2B5EF4-FFF2-40B4-BE49-F238E27FC236}">
                    <a16:creationId xmlns:a16="http://schemas.microsoft.com/office/drawing/2014/main" id="{32271483-95A4-FECE-B698-46F99A352CB2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61" name="Grupo 60">
                <a:extLst>
                  <a:ext uri="{FF2B5EF4-FFF2-40B4-BE49-F238E27FC236}">
                    <a16:creationId xmlns:a16="http://schemas.microsoft.com/office/drawing/2014/main" id="{E6D46885-71C8-0E4B-B664-119C03EFC755}"/>
                  </a:ext>
                </a:extLst>
              </p:cNvPr>
              <p:cNvGrpSpPr/>
              <p:nvPr/>
            </p:nvGrpSpPr>
            <p:grpSpPr>
              <a:xfrm>
                <a:off x="7814361" y="1223137"/>
                <a:ext cx="2083693" cy="1630468"/>
                <a:chOff x="3249940" y="1229837"/>
                <a:chExt cx="2083693" cy="1630468"/>
              </a:xfrm>
            </p:grpSpPr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808CFE99-A265-866A-FCD8-817AB1D8A9FA}"/>
                    </a:ext>
                  </a:extLst>
                </p:cNvPr>
                <p:cNvSpPr txBox="1"/>
                <p:nvPr/>
              </p:nvSpPr>
              <p:spPr>
                <a:xfrm>
                  <a:off x="3552927" y="1229837"/>
                  <a:ext cx="1780706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Rango Edad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8FDDCE57-3EDA-1F77-284E-B1FA4EB68946}"/>
                    </a:ext>
                  </a:extLst>
                </p:cNvPr>
                <p:cNvSpPr txBox="1"/>
                <p:nvPr/>
              </p:nvSpPr>
              <p:spPr>
                <a:xfrm>
                  <a:off x="3249940" y="2306307"/>
                  <a:ext cx="1172909" cy="5539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56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20 a 35 años</a:t>
                  </a:r>
                </a:p>
              </p:txBody>
            </p:sp>
          </p:grpSp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F165FF7C-7516-45F1-A9ED-1620926F8512}"/>
                  </a:ext>
                </a:extLst>
              </p:cNvPr>
              <p:cNvSpPr txBox="1"/>
              <p:nvPr/>
            </p:nvSpPr>
            <p:spPr>
              <a:xfrm>
                <a:off x="8837439" y="2289285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26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36 a 45 años</a:t>
                </a:r>
              </a:p>
            </p:txBody>
          </p:sp>
        </p:grpSp>
        <p:pic>
          <p:nvPicPr>
            <p:cNvPr id="128" name="Imagen 127">
              <a:extLst>
                <a:ext uri="{FF2B5EF4-FFF2-40B4-BE49-F238E27FC236}">
                  <a16:creationId xmlns:a16="http://schemas.microsoft.com/office/drawing/2014/main" id="{A8F3230F-1951-BACD-2082-9AEDCE9769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17644" y="1602912"/>
              <a:ext cx="655473" cy="655473"/>
            </a:xfrm>
            <a:prstGeom prst="rect">
              <a:avLst/>
            </a:prstGeom>
          </p:spPr>
        </p:pic>
      </p:grpSp>
      <p:grpSp>
        <p:nvGrpSpPr>
          <p:cNvPr id="189" name="Grupo 188">
            <a:extLst>
              <a:ext uri="{FF2B5EF4-FFF2-40B4-BE49-F238E27FC236}">
                <a16:creationId xmlns:a16="http://schemas.microsoft.com/office/drawing/2014/main" id="{0E490407-C5BE-7C35-758F-EE418E4DADA1}"/>
              </a:ext>
            </a:extLst>
          </p:cNvPr>
          <p:cNvGrpSpPr/>
          <p:nvPr/>
        </p:nvGrpSpPr>
        <p:grpSpPr>
          <a:xfrm>
            <a:off x="-114768" y="4837223"/>
            <a:ext cx="3758502" cy="1933541"/>
            <a:chOff x="435340" y="4837223"/>
            <a:chExt cx="4854517" cy="1933541"/>
          </a:xfrm>
        </p:grpSpPr>
        <p:grpSp>
          <p:nvGrpSpPr>
            <p:cNvPr id="138" name="Grupo 137">
              <a:extLst>
                <a:ext uri="{FF2B5EF4-FFF2-40B4-BE49-F238E27FC236}">
                  <a16:creationId xmlns:a16="http://schemas.microsoft.com/office/drawing/2014/main" id="{5A85D9A9-B266-55FA-0995-B8E80645749F}"/>
                </a:ext>
              </a:extLst>
            </p:cNvPr>
            <p:cNvGrpSpPr/>
            <p:nvPr/>
          </p:nvGrpSpPr>
          <p:grpSpPr>
            <a:xfrm>
              <a:off x="435340" y="4837223"/>
              <a:ext cx="4854517" cy="1933541"/>
              <a:chOff x="9135236" y="3127128"/>
              <a:chExt cx="3830051" cy="1933541"/>
            </a:xfrm>
          </p:grpSpPr>
          <p:grpSp>
            <p:nvGrpSpPr>
              <p:cNvPr id="139" name="Grupo 138">
                <a:extLst>
                  <a:ext uri="{FF2B5EF4-FFF2-40B4-BE49-F238E27FC236}">
                    <a16:creationId xmlns:a16="http://schemas.microsoft.com/office/drawing/2014/main" id="{23168979-FA06-4AC8-C806-5A86A4667ED4}"/>
                  </a:ext>
                </a:extLst>
              </p:cNvPr>
              <p:cNvGrpSpPr/>
              <p:nvPr/>
            </p:nvGrpSpPr>
            <p:grpSpPr>
              <a:xfrm>
                <a:off x="9229918" y="3127128"/>
                <a:ext cx="3735369" cy="1933541"/>
                <a:chOff x="7739695" y="1110832"/>
                <a:chExt cx="3735369" cy="1780012"/>
              </a:xfrm>
            </p:grpSpPr>
            <p:sp>
              <p:nvSpPr>
                <p:cNvPr id="143" name="Rectángulo 142">
                  <a:extLst>
                    <a:ext uri="{FF2B5EF4-FFF2-40B4-BE49-F238E27FC236}">
                      <a16:creationId xmlns:a16="http://schemas.microsoft.com/office/drawing/2014/main" id="{F7679083-9410-2BCE-A076-70A071C5CB76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3246650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44" name="Grupo 143">
                  <a:extLst>
                    <a:ext uri="{FF2B5EF4-FFF2-40B4-BE49-F238E27FC236}">
                      <a16:creationId xmlns:a16="http://schemas.microsoft.com/office/drawing/2014/main" id="{4667B5B1-A26A-9362-3799-E2514B151583}"/>
                    </a:ext>
                  </a:extLst>
                </p:cNvPr>
                <p:cNvGrpSpPr/>
                <p:nvPr/>
              </p:nvGrpSpPr>
              <p:grpSpPr>
                <a:xfrm>
                  <a:off x="7739695" y="1236316"/>
                  <a:ext cx="3735369" cy="1532075"/>
                  <a:chOff x="3175274" y="1243016"/>
                  <a:chExt cx="3735369" cy="1532075"/>
                </a:xfrm>
              </p:grpSpPr>
              <p:sp>
                <p:nvSpPr>
                  <p:cNvPr id="146" name="CuadroTexto 145">
                    <a:extLst>
                      <a:ext uri="{FF2B5EF4-FFF2-40B4-BE49-F238E27FC236}">
                        <a16:creationId xmlns:a16="http://schemas.microsoft.com/office/drawing/2014/main" id="{FB47A1E4-5DE5-B85C-E645-511F9B8AB700}"/>
                      </a:ext>
                    </a:extLst>
                  </p:cNvPr>
                  <p:cNvSpPr txBox="1"/>
                  <p:nvPr/>
                </p:nvSpPr>
                <p:spPr>
                  <a:xfrm>
                    <a:off x="3854322" y="1243016"/>
                    <a:ext cx="3056321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Segmento Empresas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47" name="CuadroTexto 146">
                    <a:extLst>
                      <a:ext uri="{FF2B5EF4-FFF2-40B4-BE49-F238E27FC236}">
                        <a16:creationId xmlns:a16="http://schemas.microsoft.com/office/drawing/2014/main" id="{FB666DD6-1673-0F33-57FB-F1EC50D714F1}"/>
                      </a:ext>
                    </a:extLst>
                  </p:cNvPr>
                  <p:cNvSpPr txBox="1"/>
                  <p:nvPr/>
                </p:nvSpPr>
                <p:spPr>
                  <a:xfrm>
                    <a:off x="3175274" y="2208415"/>
                    <a:ext cx="1945898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25%</a:t>
                    </a:r>
                    <a:endParaRPr lang="es-CO" sz="1400" b="1" dirty="0">
                      <a:solidFill>
                        <a:schemeClr val="bg1"/>
                      </a:solidFill>
                    </a:endParaRP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Medianas</a:t>
                    </a:r>
                  </a:p>
                </p:txBody>
              </p:sp>
            </p:grpSp>
            <p:sp>
              <p:nvSpPr>
                <p:cNvPr id="145" name="CuadroTexto 144">
                  <a:extLst>
                    <a:ext uri="{FF2B5EF4-FFF2-40B4-BE49-F238E27FC236}">
                      <a16:creationId xmlns:a16="http://schemas.microsoft.com/office/drawing/2014/main" id="{119A8B2F-C47E-B611-6D18-816D1BB4EF88}"/>
                    </a:ext>
                  </a:extLst>
                </p:cNvPr>
                <p:cNvSpPr txBox="1"/>
                <p:nvPr/>
              </p:nvSpPr>
              <p:spPr>
                <a:xfrm>
                  <a:off x="9864249" y="1523867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17%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Grandes</a:t>
                  </a:r>
                </a:p>
              </p:txBody>
            </p:sp>
          </p:grpSp>
          <p:sp>
            <p:nvSpPr>
              <p:cNvPr id="140" name="CuadroTexto 139">
                <a:extLst>
                  <a:ext uri="{FF2B5EF4-FFF2-40B4-BE49-F238E27FC236}">
                    <a16:creationId xmlns:a16="http://schemas.microsoft.com/office/drawing/2014/main" id="{C0F0059E-22BC-783D-5CA6-239E07738FCA}"/>
                  </a:ext>
                </a:extLst>
              </p:cNvPr>
              <p:cNvSpPr txBox="1"/>
              <p:nvPr/>
            </p:nvSpPr>
            <p:spPr>
              <a:xfrm>
                <a:off x="9135236" y="3565727"/>
                <a:ext cx="145027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17%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</a:t>
                </a:r>
                <a:r>
                  <a:rPr lang="es-CO" sz="1400" b="1" dirty="0" err="1">
                    <a:solidFill>
                      <a:schemeClr val="bg1"/>
                    </a:solidFill>
                  </a:rPr>
                  <a:t>Emp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Top</a:t>
                </a:r>
              </a:p>
            </p:txBody>
          </p:sp>
          <p:sp>
            <p:nvSpPr>
              <p:cNvPr id="141" name="CuadroTexto 140">
                <a:extLst>
                  <a:ext uri="{FF2B5EF4-FFF2-40B4-BE49-F238E27FC236}">
                    <a16:creationId xmlns:a16="http://schemas.microsoft.com/office/drawing/2014/main" id="{D72A5928-DDC0-3DA6-1DB2-C64057DF810E}"/>
                  </a:ext>
                </a:extLst>
              </p:cNvPr>
              <p:cNvSpPr txBox="1"/>
              <p:nvPr/>
            </p:nvSpPr>
            <p:spPr>
              <a:xfrm>
                <a:off x="10055645" y="3580594"/>
                <a:ext cx="152651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38%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    Micro    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Transaccional</a:t>
                </a:r>
              </a:p>
            </p:txBody>
          </p:sp>
        </p:grpSp>
        <p:pic>
          <p:nvPicPr>
            <p:cNvPr id="149" name="Imagen 148">
              <a:extLst>
                <a:ext uri="{FF2B5EF4-FFF2-40B4-BE49-F238E27FC236}">
                  <a16:creationId xmlns:a16="http://schemas.microsoft.com/office/drawing/2014/main" id="{8B07212A-C359-4C92-F55D-120B88B896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325932" y="6027593"/>
              <a:ext cx="677562" cy="677562"/>
            </a:xfrm>
            <a:prstGeom prst="rect">
              <a:avLst/>
            </a:prstGeom>
          </p:spPr>
        </p:pic>
      </p:grp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C87B2014-FDEF-39A7-2C01-8AC0155582D8}"/>
              </a:ext>
            </a:extLst>
          </p:cNvPr>
          <p:cNvSpPr txBox="1"/>
          <p:nvPr/>
        </p:nvSpPr>
        <p:spPr>
          <a:xfrm>
            <a:off x="2093411" y="5976448"/>
            <a:ext cx="128594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2%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Estándar</a:t>
            </a:r>
          </a:p>
        </p:txBody>
      </p:sp>
      <p:grpSp>
        <p:nvGrpSpPr>
          <p:cNvPr id="151" name="Grupo 150">
            <a:extLst>
              <a:ext uri="{FF2B5EF4-FFF2-40B4-BE49-F238E27FC236}">
                <a16:creationId xmlns:a16="http://schemas.microsoft.com/office/drawing/2014/main" id="{A983B072-F3C6-6D4E-3936-4C1B34042BC0}"/>
              </a:ext>
            </a:extLst>
          </p:cNvPr>
          <p:cNvGrpSpPr/>
          <p:nvPr/>
        </p:nvGrpSpPr>
        <p:grpSpPr>
          <a:xfrm>
            <a:off x="2904556" y="4852302"/>
            <a:ext cx="2807716" cy="1933541"/>
            <a:chOff x="8888136" y="3127128"/>
            <a:chExt cx="2807716" cy="1933541"/>
          </a:xfrm>
        </p:grpSpPr>
        <p:grpSp>
          <p:nvGrpSpPr>
            <p:cNvPr id="152" name="Grupo 151">
              <a:extLst>
                <a:ext uri="{FF2B5EF4-FFF2-40B4-BE49-F238E27FC236}">
                  <a16:creationId xmlns:a16="http://schemas.microsoft.com/office/drawing/2014/main" id="{38893A16-890B-382A-9DE8-CEDB79456BD6}"/>
                </a:ext>
              </a:extLst>
            </p:cNvPr>
            <p:cNvGrpSpPr/>
            <p:nvPr/>
          </p:nvGrpSpPr>
          <p:grpSpPr>
            <a:xfrm>
              <a:off x="8888136" y="3127128"/>
              <a:ext cx="2612434" cy="1933541"/>
              <a:chOff x="7397913" y="1110832"/>
              <a:chExt cx="2612434" cy="1780012"/>
            </a:xfrm>
          </p:grpSpPr>
          <p:sp>
            <p:nvSpPr>
              <p:cNvPr id="157" name="Rectángulo 156">
                <a:extLst>
                  <a:ext uri="{FF2B5EF4-FFF2-40B4-BE49-F238E27FC236}">
                    <a16:creationId xmlns:a16="http://schemas.microsoft.com/office/drawing/2014/main" id="{47D95151-8D5A-EAD8-2759-C642C91DEBB8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158" name="Grupo 157">
                <a:extLst>
                  <a:ext uri="{FF2B5EF4-FFF2-40B4-BE49-F238E27FC236}">
                    <a16:creationId xmlns:a16="http://schemas.microsoft.com/office/drawing/2014/main" id="{3C963911-69CB-68C5-1108-8E29B72F01C9}"/>
                  </a:ext>
                </a:extLst>
              </p:cNvPr>
              <p:cNvGrpSpPr/>
              <p:nvPr/>
            </p:nvGrpSpPr>
            <p:grpSpPr>
              <a:xfrm>
                <a:off x="7397913" y="1206227"/>
                <a:ext cx="2525103" cy="1388251"/>
                <a:chOff x="2833492" y="1212927"/>
                <a:chExt cx="2525103" cy="1388251"/>
              </a:xfrm>
            </p:grpSpPr>
            <p:sp>
              <p:nvSpPr>
                <p:cNvPr id="160" name="CuadroTexto 159">
                  <a:extLst>
                    <a:ext uri="{FF2B5EF4-FFF2-40B4-BE49-F238E27FC236}">
                      <a16:creationId xmlns:a16="http://schemas.microsoft.com/office/drawing/2014/main" id="{9D8A8F42-2FE4-ADC5-DBBC-04C34DAD287F}"/>
                    </a:ext>
                  </a:extLst>
                </p:cNvPr>
                <p:cNvSpPr txBox="1"/>
                <p:nvPr/>
              </p:nvSpPr>
              <p:spPr>
                <a:xfrm>
                  <a:off x="3408991" y="1212927"/>
                  <a:ext cx="1949604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Departamento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61" name="CuadroTexto 160">
                  <a:extLst>
                    <a:ext uri="{FF2B5EF4-FFF2-40B4-BE49-F238E27FC236}">
                      <a16:creationId xmlns:a16="http://schemas.microsoft.com/office/drawing/2014/main" id="{4BE83633-C6CF-58E9-67A5-D781D74A3D53}"/>
                    </a:ext>
                  </a:extLst>
                </p:cNvPr>
                <p:cNvSpPr txBox="1"/>
                <p:nvPr/>
              </p:nvSpPr>
              <p:spPr>
                <a:xfrm>
                  <a:off x="2833492" y="2034502"/>
                  <a:ext cx="1570471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  14%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   </a:t>
                  </a:r>
                  <a:r>
                    <a:rPr lang="es-CO" sz="1400" b="1" dirty="0" err="1">
                      <a:solidFill>
                        <a:schemeClr val="bg1"/>
                      </a:solidFill>
                    </a:rPr>
                    <a:t>Ubate</a:t>
                  </a:r>
                  <a:endParaRPr lang="es-CO" sz="14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154" name="CuadroTexto 153">
              <a:extLst>
                <a:ext uri="{FF2B5EF4-FFF2-40B4-BE49-F238E27FC236}">
                  <a16:creationId xmlns:a16="http://schemas.microsoft.com/office/drawing/2014/main" id="{E7588FCC-E999-E986-A820-D11C7BB8A565}"/>
                </a:ext>
              </a:extLst>
            </p:cNvPr>
            <p:cNvSpPr txBox="1"/>
            <p:nvPr/>
          </p:nvSpPr>
          <p:spPr>
            <a:xfrm>
              <a:off x="9059295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29%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Bogotá</a:t>
              </a:r>
            </a:p>
          </p:txBody>
        </p:sp>
        <p:sp>
          <p:nvSpPr>
            <p:cNvPr id="155" name="CuadroTexto 154">
              <a:extLst>
                <a:ext uri="{FF2B5EF4-FFF2-40B4-BE49-F238E27FC236}">
                  <a16:creationId xmlns:a16="http://schemas.microsoft.com/office/drawing/2014/main" id="{EA50B5A7-A65E-27D7-07E5-AA2DA67E6B3B}"/>
                </a:ext>
              </a:extLst>
            </p:cNvPr>
            <p:cNvSpPr txBox="1"/>
            <p:nvPr/>
          </p:nvSpPr>
          <p:spPr>
            <a:xfrm>
              <a:off x="10477437" y="3565504"/>
              <a:ext cx="1218415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14%</a:t>
              </a:r>
              <a:r>
                <a:rPr lang="es-CO" sz="1400" b="1" dirty="0">
                  <a:solidFill>
                    <a:schemeClr val="bg1"/>
                  </a:solidFill>
                </a:rPr>
                <a:t>                           Chía</a:t>
              </a:r>
            </a:p>
          </p:txBody>
        </p:sp>
      </p:grpSp>
      <p:grpSp>
        <p:nvGrpSpPr>
          <p:cNvPr id="201" name="Grupo 200">
            <a:extLst>
              <a:ext uri="{FF2B5EF4-FFF2-40B4-BE49-F238E27FC236}">
                <a16:creationId xmlns:a16="http://schemas.microsoft.com/office/drawing/2014/main" id="{2F426F7B-C123-C921-FE18-C3F565E45583}"/>
              </a:ext>
            </a:extLst>
          </p:cNvPr>
          <p:cNvGrpSpPr/>
          <p:nvPr/>
        </p:nvGrpSpPr>
        <p:grpSpPr>
          <a:xfrm>
            <a:off x="5407406" y="4842106"/>
            <a:ext cx="2693579" cy="1985915"/>
            <a:chOff x="5483606" y="4842106"/>
            <a:chExt cx="2693579" cy="1985915"/>
          </a:xfrm>
        </p:grpSpPr>
        <p:grpSp>
          <p:nvGrpSpPr>
            <p:cNvPr id="164" name="Grupo 163">
              <a:extLst>
                <a:ext uri="{FF2B5EF4-FFF2-40B4-BE49-F238E27FC236}">
                  <a16:creationId xmlns:a16="http://schemas.microsoft.com/office/drawing/2014/main" id="{B92BF6D3-4CB2-35F5-B4D2-A387D34E2DE3}"/>
                </a:ext>
              </a:extLst>
            </p:cNvPr>
            <p:cNvGrpSpPr/>
            <p:nvPr/>
          </p:nvGrpSpPr>
          <p:grpSpPr>
            <a:xfrm>
              <a:off x="5483606" y="4842106"/>
              <a:ext cx="2693579" cy="1957609"/>
              <a:chOff x="9049330" y="3127128"/>
              <a:chExt cx="2693579" cy="1957609"/>
            </a:xfrm>
          </p:grpSpPr>
          <p:grpSp>
            <p:nvGrpSpPr>
              <p:cNvPr id="165" name="Grupo 164">
                <a:extLst>
                  <a:ext uri="{FF2B5EF4-FFF2-40B4-BE49-F238E27FC236}">
                    <a16:creationId xmlns:a16="http://schemas.microsoft.com/office/drawing/2014/main" id="{887C0EFA-5403-4A23-7FCF-5188F8FD0F83}"/>
                  </a:ext>
                </a:extLst>
              </p:cNvPr>
              <p:cNvGrpSpPr/>
              <p:nvPr/>
            </p:nvGrpSpPr>
            <p:grpSpPr>
              <a:xfrm>
                <a:off x="9049330" y="3127128"/>
                <a:ext cx="2655911" cy="1957609"/>
                <a:chOff x="7559107" y="1110832"/>
                <a:chExt cx="2655911" cy="1802169"/>
              </a:xfrm>
            </p:grpSpPr>
            <p:sp>
              <p:nvSpPr>
                <p:cNvPr id="168" name="Rectángulo 167">
                  <a:extLst>
                    <a:ext uri="{FF2B5EF4-FFF2-40B4-BE49-F238E27FC236}">
                      <a16:creationId xmlns:a16="http://schemas.microsoft.com/office/drawing/2014/main" id="{D4578802-5DD8-8E1C-6CE4-E267D80E2438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195987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70" name="Grupo 169">
                  <a:extLst>
                    <a:ext uri="{FF2B5EF4-FFF2-40B4-BE49-F238E27FC236}">
                      <a16:creationId xmlns:a16="http://schemas.microsoft.com/office/drawing/2014/main" id="{544AD468-396B-5BDD-AB38-A431C7EE3294}"/>
                    </a:ext>
                  </a:extLst>
                </p:cNvPr>
                <p:cNvGrpSpPr/>
                <p:nvPr/>
              </p:nvGrpSpPr>
              <p:grpSpPr>
                <a:xfrm>
                  <a:off x="7559107" y="1207829"/>
                  <a:ext cx="2655911" cy="1705172"/>
                  <a:chOff x="2994686" y="1214529"/>
                  <a:chExt cx="2655911" cy="1705172"/>
                </a:xfrm>
              </p:grpSpPr>
              <p:sp>
                <p:nvSpPr>
                  <p:cNvPr id="171" name="CuadroTexto 170">
                    <a:extLst>
                      <a:ext uri="{FF2B5EF4-FFF2-40B4-BE49-F238E27FC236}">
                        <a16:creationId xmlns:a16="http://schemas.microsoft.com/office/drawing/2014/main" id="{7117FF95-64CB-F930-D990-453BE2157551}"/>
                      </a:ext>
                    </a:extLst>
                  </p:cNvPr>
                  <p:cNvSpPr txBox="1"/>
                  <p:nvPr/>
                </p:nvSpPr>
                <p:spPr>
                  <a:xfrm>
                    <a:off x="3700993" y="1214529"/>
                    <a:ext cx="1949604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Localidad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72" name="CuadroTexto 171">
                    <a:extLst>
                      <a:ext uri="{FF2B5EF4-FFF2-40B4-BE49-F238E27FC236}">
                        <a16:creationId xmlns:a16="http://schemas.microsoft.com/office/drawing/2014/main" id="{E8AB3892-18AB-75E4-21AC-1DFA94B9383E}"/>
                      </a:ext>
                    </a:extLst>
                  </p:cNvPr>
                  <p:cNvSpPr txBox="1"/>
                  <p:nvPr/>
                </p:nvSpPr>
                <p:spPr>
                  <a:xfrm>
                    <a:off x="2994686" y="2353025"/>
                    <a:ext cx="1323041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6%</a:t>
                    </a: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    </a:t>
                    </a:r>
                    <a:r>
                      <a:rPr lang="es-CO" sz="1400" b="1" dirty="0" err="1">
                        <a:solidFill>
                          <a:schemeClr val="bg1"/>
                        </a:solidFill>
                      </a:rPr>
                      <a:t>Engativa</a:t>
                    </a:r>
                    <a:endParaRPr lang="es-CO" sz="14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</p:grpSp>
          <p:sp>
            <p:nvSpPr>
              <p:cNvPr id="166" name="CuadroTexto 165">
                <a:extLst>
                  <a:ext uri="{FF2B5EF4-FFF2-40B4-BE49-F238E27FC236}">
                    <a16:creationId xmlns:a16="http://schemas.microsoft.com/office/drawing/2014/main" id="{58E4B416-8B3C-C742-4125-A22429AFC5CA}"/>
                  </a:ext>
                </a:extLst>
              </p:cNvPr>
              <p:cNvSpPr txBox="1"/>
              <p:nvPr/>
            </p:nvSpPr>
            <p:spPr>
              <a:xfrm>
                <a:off x="9059295" y="3565727"/>
                <a:ext cx="1304030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9%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 </a:t>
                </a:r>
                <a:r>
                  <a:rPr lang="es-CO" sz="1400" b="1" dirty="0" err="1">
                    <a:solidFill>
                      <a:schemeClr val="bg1"/>
                    </a:solidFill>
                  </a:rPr>
                  <a:t>Chia</a:t>
                </a:r>
                <a:endParaRPr lang="es-CO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7" name="CuadroTexto 166">
                <a:extLst>
                  <a:ext uri="{FF2B5EF4-FFF2-40B4-BE49-F238E27FC236}">
                    <a16:creationId xmlns:a16="http://schemas.microsoft.com/office/drawing/2014/main" id="{487A8DFE-F27B-A82B-98BC-6CCB8C0C122A}"/>
                  </a:ext>
                </a:extLst>
              </p:cNvPr>
              <p:cNvSpPr txBox="1"/>
              <p:nvPr/>
            </p:nvSpPr>
            <p:spPr>
              <a:xfrm>
                <a:off x="10498522" y="3549824"/>
                <a:ext cx="1244387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7%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Suba</a:t>
                </a:r>
              </a:p>
            </p:txBody>
          </p:sp>
        </p:grpSp>
        <p:sp>
          <p:nvSpPr>
            <p:cNvPr id="185" name="CuadroTexto 184">
              <a:extLst>
                <a:ext uri="{FF2B5EF4-FFF2-40B4-BE49-F238E27FC236}">
                  <a16:creationId xmlns:a16="http://schemas.microsoft.com/office/drawing/2014/main" id="{E936125B-2F37-8A77-A82D-B2BCDA73D5C1}"/>
                </a:ext>
              </a:extLst>
            </p:cNvPr>
            <p:cNvSpPr txBox="1"/>
            <p:nvPr/>
          </p:nvSpPr>
          <p:spPr>
            <a:xfrm>
              <a:off x="6625166" y="6212468"/>
              <a:ext cx="1323041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61%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 Sin </a:t>
              </a:r>
              <a:r>
                <a:rPr lang="es-CO" sz="1400" b="1" dirty="0" err="1">
                  <a:solidFill>
                    <a:schemeClr val="bg1"/>
                  </a:solidFill>
                </a:rPr>
                <a:t>Infor</a:t>
              </a:r>
              <a:endParaRPr lang="es-CO" sz="1400" b="1" dirty="0">
                <a:solidFill>
                  <a:schemeClr val="bg1"/>
                </a:solidFill>
              </a:endParaRPr>
            </a:p>
          </p:txBody>
        </p:sp>
        <p:pic>
          <p:nvPicPr>
            <p:cNvPr id="187" name="Imagen 186">
              <a:extLst>
                <a:ext uri="{FF2B5EF4-FFF2-40B4-BE49-F238E27FC236}">
                  <a16:creationId xmlns:a16="http://schemas.microsoft.com/office/drawing/2014/main" id="{445FAFE3-5C1B-DC6B-53C4-D0F576FDC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401571" y="5793688"/>
              <a:ext cx="1266970" cy="620378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grpSp>
        <p:nvGrpSpPr>
          <p:cNvPr id="202" name="Grupo 201">
            <a:extLst>
              <a:ext uri="{FF2B5EF4-FFF2-40B4-BE49-F238E27FC236}">
                <a16:creationId xmlns:a16="http://schemas.microsoft.com/office/drawing/2014/main" id="{AF078796-21AC-85A1-84F1-58EFBE290B45}"/>
              </a:ext>
            </a:extLst>
          </p:cNvPr>
          <p:cNvGrpSpPr/>
          <p:nvPr/>
        </p:nvGrpSpPr>
        <p:grpSpPr>
          <a:xfrm>
            <a:off x="7528734" y="4834201"/>
            <a:ext cx="2867011" cy="1957609"/>
            <a:chOff x="8071595" y="4834201"/>
            <a:chExt cx="3008704" cy="1957609"/>
          </a:xfrm>
        </p:grpSpPr>
        <p:grpSp>
          <p:nvGrpSpPr>
            <p:cNvPr id="190" name="Grupo 189">
              <a:extLst>
                <a:ext uri="{FF2B5EF4-FFF2-40B4-BE49-F238E27FC236}">
                  <a16:creationId xmlns:a16="http://schemas.microsoft.com/office/drawing/2014/main" id="{82149D8C-8F06-E1DF-B034-E71B76BFA537}"/>
                </a:ext>
              </a:extLst>
            </p:cNvPr>
            <p:cNvGrpSpPr/>
            <p:nvPr/>
          </p:nvGrpSpPr>
          <p:grpSpPr>
            <a:xfrm>
              <a:off x="8071595" y="4834201"/>
              <a:ext cx="3008704" cy="1957609"/>
              <a:chOff x="8845727" y="3127128"/>
              <a:chExt cx="3008704" cy="1957609"/>
            </a:xfrm>
          </p:grpSpPr>
          <p:grpSp>
            <p:nvGrpSpPr>
              <p:cNvPr id="191" name="Grupo 190">
                <a:extLst>
                  <a:ext uri="{FF2B5EF4-FFF2-40B4-BE49-F238E27FC236}">
                    <a16:creationId xmlns:a16="http://schemas.microsoft.com/office/drawing/2014/main" id="{F85E6841-6A6A-610A-92B6-928B410A8141}"/>
                  </a:ext>
                </a:extLst>
              </p:cNvPr>
              <p:cNvGrpSpPr/>
              <p:nvPr/>
            </p:nvGrpSpPr>
            <p:grpSpPr>
              <a:xfrm>
                <a:off x="8845727" y="3127128"/>
                <a:ext cx="3008704" cy="1957609"/>
                <a:chOff x="7355504" y="1110832"/>
                <a:chExt cx="3008704" cy="1802169"/>
              </a:xfrm>
            </p:grpSpPr>
            <p:sp>
              <p:nvSpPr>
                <p:cNvPr id="194" name="Rectángulo 193">
                  <a:extLst>
                    <a:ext uri="{FF2B5EF4-FFF2-40B4-BE49-F238E27FC236}">
                      <a16:creationId xmlns:a16="http://schemas.microsoft.com/office/drawing/2014/main" id="{525EAB4C-4F81-0C18-6A67-282B60F5462B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368574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95" name="Grupo 194">
                  <a:extLst>
                    <a:ext uri="{FF2B5EF4-FFF2-40B4-BE49-F238E27FC236}">
                      <a16:creationId xmlns:a16="http://schemas.microsoft.com/office/drawing/2014/main" id="{6D4C1734-4EAC-4F1A-AAD6-0B08E9416F3E}"/>
                    </a:ext>
                  </a:extLst>
                </p:cNvPr>
                <p:cNvGrpSpPr/>
                <p:nvPr/>
              </p:nvGrpSpPr>
              <p:grpSpPr>
                <a:xfrm>
                  <a:off x="7355504" y="1207828"/>
                  <a:ext cx="3008704" cy="1705173"/>
                  <a:chOff x="2791083" y="1214528"/>
                  <a:chExt cx="3008704" cy="1705173"/>
                </a:xfrm>
              </p:grpSpPr>
              <p:sp>
                <p:nvSpPr>
                  <p:cNvPr id="197" name="CuadroTexto 196">
                    <a:extLst>
                      <a:ext uri="{FF2B5EF4-FFF2-40B4-BE49-F238E27FC236}">
                        <a16:creationId xmlns:a16="http://schemas.microsoft.com/office/drawing/2014/main" id="{5C898531-7C00-3B26-46F8-B25DBCADD8CB}"/>
                      </a:ext>
                    </a:extLst>
                  </p:cNvPr>
                  <p:cNvSpPr txBox="1"/>
                  <p:nvPr/>
                </p:nvSpPr>
                <p:spPr>
                  <a:xfrm>
                    <a:off x="3225997" y="1214528"/>
                    <a:ext cx="2573790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Entidad Financieras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98" name="CuadroTexto 197">
                    <a:extLst>
                      <a:ext uri="{FF2B5EF4-FFF2-40B4-BE49-F238E27FC236}">
                        <a16:creationId xmlns:a16="http://schemas.microsoft.com/office/drawing/2014/main" id="{C8176FC7-58AE-6DBD-5359-7EF72E954860}"/>
                      </a:ext>
                    </a:extLst>
                  </p:cNvPr>
                  <p:cNvSpPr txBox="1"/>
                  <p:nvPr/>
                </p:nvSpPr>
                <p:spPr>
                  <a:xfrm>
                    <a:off x="2791083" y="2353025"/>
                    <a:ext cx="2440539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   41%</a:t>
                    </a: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      Colsubsidio</a:t>
                    </a:r>
                  </a:p>
                </p:txBody>
              </p:sp>
            </p:grpSp>
          </p:grpSp>
          <p:sp>
            <p:nvSpPr>
              <p:cNvPr id="192" name="CuadroTexto 191">
                <a:extLst>
                  <a:ext uri="{FF2B5EF4-FFF2-40B4-BE49-F238E27FC236}">
                    <a16:creationId xmlns:a16="http://schemas.microsoft.com/office/drawing/2014/main" id="{E0FC5FA4-D150-DB67-D341-09A61469C2FD}"/>
                  </a:ext>
                </a:extLst>
              </p:cNvPr>
              <p:cNvSpPr txBox="1"/>
              <p:nvPr/>
            </p:nvSpPr>
            <p:spPr>
              <a:xfrm>
                <a:off x="9418597" y="3567846"/>
                <a:ext cx="1337256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33%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    Hipoteca</a:t>
                </a:r>
              </a:p>
            </p:txBody>
          </p:sp>
          <p:sp>
            <p:nvSpPr>
              <p:cNvPr id="193" name="CuadroTexto 192">
                <a:extLst>
                  <a:ext uri="{FF2B5EF4-FFF2-40B4-BE49-F238E27FC236}">
                    <a16:creationId xmlns:a16="http://schemas.microsoft.com/office/drawing/2014/main" id="{443F5454-3F9C-00B7-FD8B-2723A0F8AED4}"/>
                  </a:ext>
                </a:extLst>
              </p:cNvPr>
              <p:cNvSpPr txBox="1"/>
              <p:nvPr/>
            </p:nvSpPr>
            <p:spPr>
              <a:xfrm>
                <a:off x="10498522" y="3549824"/>
                <a:ext cx="1244387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11%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Davivienda</a:t>
                </a:r>
              </a:p>
            </p:txBody>
          </p:sp>
        </p:grpSp>
        <p:sp>
          <p:nvSpPr>
            <p:cNvPr id="199" name="CuadroTexto 198">
              <a:extLst>
                <a:ext uri="{FF2B5EF4-FFF2-40B4-BE49-F238E27FC236}">
                  <a16:creationId xmlns:a16="http://schemas.microsoft.com/office/drawing/2014/main" id="{14AA7486-4023-0360-6FEC-0E66F59F8158}"/>
                </a:ext>
              </a:extLst>
            </p:cNvPr>
            <p:cNvSpPr txBox="1"/>
            <p:nvPr/>
          </p:nvSpPr>
          <p:spPr>
            <a:xfrm>
              <a:off x="9366872" y="6140046"/>
              <a:ext cx="1323041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  15%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      Otros</a:t>
              </a:r>
            </a:p>
          </p:txBody>
        </p:sp>
      </p:grpSp>
      <p:sp>
        <p:nvSpPr>
          <p:cNvPr id="200" name="CuadroTexto 199">
            <a:extLst>
              <a:ext uri="{FF2B5EF4-FFF2-40B4-BE49-F238E27FC236}">
                <a16:creationId xmlns:a16="http://schemas.microsoft.com/office/drawing/2014/main" id="{488F3B15-F01A-F877-434B-63029EDD8985}"/>
              </a:ext>
            </a:extLst>
          </p:cNvPr>
          <p:cNvSpPr txBox="1"/>
          <p:nvPr/>
        </p:nvSpPr>
        <p:spPr>
          <a:xfrm>
            <a:off x="4140736" y="5856787"/>
            <a:ext cx="137625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1%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</a:t>
            </a:r>
            <a:r>
              <a:rPr lang="es-CO" sz="1400" b="1" dirty="0" err="1">
                <a:solidFill>
                  <a:schemeClr val="bg1"/>
                </a:solidFill>
              </a:rPr>
              <a:t>Zipaquira</a:t>
            </a:r>
            <a:endParaRPr lang="es-CO" sz="1400" b="1" dirty="0">
              <a:solidFill>
                <a:schemeClr val="bg1"/>
              </a:solidFill>
            </a:endParaRPr>
          </a:p>
        </p:txBody>
      </p:sp>
      <p:pic>
        <p:nvPicPr>
          <p:cNvPr id="205" name="Imagen 204">
            <a:extLst>
              <a:ext uri="{FF2B5EF4-FFF2-40B4-BE49-F238E27FC236}">
                <a16:creationId xmlns:a16="http://schemas.microsoft.com/office/drawing/2014/main" id="{71D28B4A-A7B4-2051-1E5C-D3C16672F44B}"/>
              </a:ext>
            </a:extLst>
          </p:cNvPr>
          <p:cNvPicPr>
            <a:picLocks noChangeAspect="1"/>
          </p:cNvPicPr>
          <p:nvPr/>
        </p:nvPicPr>
        <p:blipFill>
          <a:blip r:embed="rId22">
            <a:duotone>
              <a:prstClr val="black"/>
              <a:schemeClr val="tx1">
                <a:lumMod val="75000"/>
                <a:lumOff val="2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4538" y="5846263"/>
            <a:ext cx="673981" cy="673981"/>
          </a:xfrm>
          <a:prstGeom prst="rect">
            <a:avLst/>
          </a:prstGeom>
        </p:spPr>
      </p:pic>
      <p:grpSp>
        <p:nvGrpSpPr>
          <p:cNvPr id="208" name="Grupo 207">
            <a:extLst>
              <a:ext uri="{FF2B5EF4-FFF2-40B4-BE49-F238E27FC236}">
                <a16:creationId xmlns:a16="http://schemas.microsoft.com/office/drawing/2014/main" id="{3468226E-674E-12BE-FFA4-8286AC80C313}"/>
              </a:ext>
            </a:extLst>
          </p:cNvPr>
          <p:cNvGrpSpPr/>
          <p:nvPr/>
        </p:nvGrpSpPr>
        <p:grpSpPr>
          <a:xfrm>
            <a:off x="10245555" y="853892"/>
            <a:ext cx="1956550" cy="5540381"/>
            <a:chOff x="7793864" y="1110832"/>
            <a:chExt cx="1816602" cy="1780012"/>
          </a:xfrm>
        </p:grpSpPr>
        <p:sp>
          <p:nvSpPr>
            <p:cNvPr id="212" name="Rectángulo 211">
              <a:extLst>
                <a:ext uri="{FF2B5EF4-FFF2-40B4-BE49-F238E27FC236}">
                  <a16:creationId xmlns:a16="http://schemas.microsoft.com/office/drawing/2014/main" id="{0D3903C3-7559-9F84-65AC-5C757909EA22}"/>
                </a:ext>
              </a:extLst>
            </p:cNvPr>
            <p:cNvSpPr/>
            <p:nvPr/>
          </p:nvSpPr>
          <p:spPr>
            <a:xfrm>
              <a:off x="7814360" y="1110832"/>
              <a:ext cx="1666611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5" name="CuadroTexto 214">
              <a:extLst>
                <a:ext uri="{FF2B5EF4-FFF2-40B4-BE49-F238E27FC236}">
                  <a16:creationId xmlns:a16="http://schemas.microsoft.com/office/drawing/2014/main" id="{B721D353-918F-CAED-9D61-E483C359E885}"/>
                </a:ext>
              </a:extLst>
            </p:cNvPr>
            <p:cNvSpPr txBox="1"/>
            <p:nvPr/>
          </p:nvSpPr>
          <p:spPr>
            <a:xfrm>
              <a:off x="7793864" y="1161252"/>
              <a:ext cx="1816602" cy="1141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1600">
                  <a:solidFill>
                    <a:srgbClr val="FFC000"/>
                  </a:solidFill>
                  <a:latin typeface="KG Red Hands" panose="02000505000000020004" pitchFamily="2" charset="0"/>
                </a:rPr>
                <a:t>Top Empresas</a:t>
              </a:r>
              <a:endParaRPr lang="es-ES" sz="1600">
                <a:solidFill>
                  <a:srgbClr val="FFC000"/>
                </a:solidFill>
              </a:endParaRPr>
            </a:p>
          </p:txBody>
        </p:sp>
        <p:sp>
          <p:nvSpPr>
            <p:cNvPr id="214" name="CuadroTexto 213">
              <a:extLst>
                <a:ext uri="{FF2B5EF4-FFF2-40B4-BE49-F238E27FC236}">
                  <a16:creationId xmlns:a16="http://schemas.microsoft.com/office/drawing/2014/main" id="{AFC33F15-57A7-91AD-AA00-C96C1B8CC90D}"/>
                </a:ext>
              </a:extLst>
            </p:cNvPr>
            <p:cNvSpPr txBox="1"/>
            <p:nvPr/>
          </p:nvSpPr>
          <p:spPr>
            <a:xfrm>
              <a:off x="7830402" y="1354030"/>
              <a:ext cx="1689688" cy="3263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500" b="1" dirty="0">
                  <a:solidFill>
                    <a:schemeClr val="bg1"/>
                  </a:solidFill>
                </a:rPr>
                <a:t>COLSUBSIDIO	7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G DE CUNDINAMARCA	4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MONGIBELLO S.A.S.	3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FLORES IPANEMA S.A.S	2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IMAGE QUALITY OUTSOURCIN	2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FORTOX S A	2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CONSORCIO EXPRESS S A S	2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AVSA S A	2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KPMG S.A.S.	2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PALMA DE ACEITE CENIPALMA	2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U ANTONIO NARINO	2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	                               </a:t>
              </a: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32DC2A69-A96A-9CB5-1EBA-66FE0EFE7A61}"/>
              </a:ext>
            </a:extLst>
          </p:cNvPr>
          <p:cNvSpPr txBox="1"/>
          <p:nvPr/>
        </p:nvSpPr>
        <p:spPr>
          <a:xfrm>
            <a:off x="6773529" y="4056451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1%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 Cinco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E402C36-1BF7-941C-497F-889FD3FA0E38}"/>
              </a:ext>
            </a:extLst>
          </p:cNvPr>
          <p:cNvSpPr txBox="1"/>
          <p:nvPr/>
        </p:nvSpPr>
        <p:spPr>
          <a:xfrm>
            <a:off x="2446074" y="3853817"/>
            <a:ext cx="117290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4%</a:t>
            </a:r>
            <a:r>
              <a:rPr lang="es-CO" sz="1200" b="1" dirty="0">
                <a:solidFill>
                  <a:schemeClr val="bg1"/>
                </a:solidFill>
              </a:rPr>
              <a:t> Monoparental</a:t>
            </a:r>
          </a:p>
          <a:p>
            <a:r>
              <a:rPr lang="es-CO" sz="1200" b="1" dirty="0">
                <a:solidFill>
                  <a:schemeClr val="bg1"/>
                </a:solidFill>
              </a:rPr>
              <a:t>Ampliada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EA17C83-2B44-4A72-078F-06E8269DF33C}"/>
              </a:ext>
            </a:extLst>
          </p:cNvPr>
          <p:cNvSpPr txBox="1"/>
          <p:nvPr/>
        </p:nvSpPr>
        <p:spPr>
          <a:xfrm>
            <a:off x="3218372" y="4258748"/>
            <a:ext cx="154680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6</a:t>
            </a:r>
            <a:r>
              <a:rPr lang="es-CO" sz="1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%</a:t>
            </a:r>
          </a:p>
          <a:p>
            <a:r>
              <a:rPr lang="es-CO" sz="1200" b="1" dirty="0">
                <a:solidFill>
                  <a:schemeClr val="bg1"/>
                </a:solidFill>
              </a:rPr>
              <a:t>  Pareja Conyugal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FB28626-FF41-91FD-5A9F-D7EAFA56BFFB}"/>
              </a:ext>
            </a:extLst>
          </p:cNvPr>
          <p:cNvSpPr txBox="1"/>
          <p:nvPr/>
        </p:nvSpPr>
        <p:spPr>
          <a:xfrm>
            <a:off x="10330342" y="6461181"/>
            <a:ext cx="14292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100" dirty="0">
                <a:solidFill>
                  <a:srgbClr val="FFC000"/>
                </a:solidFill>
                <a:latin typeface="KG Red Hands" panose="02000505000000020004" pitchFamily="2" charset="0"/>
              </a:rPr>
              <a:t>*Corte 15/01/2026</a:t>
            </a:r>
            <a:endParaRPr lang="es-ES" sz="11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6019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0012E-C53F-990B-A891-B1D8E719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8ACED455-AAD7-6BB7-B9E9-DAFF4ADE82F9}"/>
              </a:ext>
            </a:extLst>
          </p:cNvPr>
          <p:cNvCxnSpPr>
            <a:cxnSpLocks/>
          </p:cNvCxnSpPr>
          <p:nvPr/>
        </p:nvCxnSpPr>
        <p:spPr>
          <a:xfrm flipH="1">
            <a:off x="0" y="645614"/>
            <a:ext cx="10809007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uadroTexto 85">
            <a:extLst>
              <a:ext uri="{FF2B5EF4-FFF2-40B4-BE49-F238E27FC236}">
                <a16:creationId xmlns:a16="http://schemas.microsoft.com/office/drawing/2014/main" id="{DD551A57-5E43-811F-3FBA-CF0F0EEFC494}"/>
              </a:ext>
            </a:extLst>
          </p:cNvPr>
          <p:cNvSpPr txBox="1"/>
          <p:nvPr/>
        </p:nvSpPr>
        <p:spPr>
          <a:xfrm>
            <a:off x="-128399" y="120715"/>
            <a:ext cx="95771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>
                <a:solidFill>
                  <a:schemeClr val="bg1"/>
                </a:solidFill>
                <a:latin typeface="KG Red Hands" panose="02000505000000020004" pitchFamily="2" charset="0"/>
              </a:rPr>
              <a:t>      La arboleda</a:t>
            </a:r>
            <a:endParaRPr lang="es-ES" sz="240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568FBC41-35BB-8F99-A4F9-98647B09D7D0}"/>
              </a:ext>
              <a:ext uri="{147F2762-F138-4A5C-976F-8EAC2B608ADB}">
                <a16:predDERef xmlns:a16="http://schemas.microsoft.com/office/drawing/2014/main" pred="{95DEFF95-1524-40DB-8538-DE0C2D5BEC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3398838"/>
            <a:ext cx="555625" cy="49371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C14CA62-6C1D-CFF0-EBE7-4309CC59E874}"/>
              </a:ext>
              <a:ext uri="{147F2762-F138-4A5C-976F-8EAC2B608ADB}">
                <a16:predDERef xmlns:a16="http://schemas.microsoft.com/office/drawing/2014/main" pred="{95FFDEC5-E647-4E60-9FB8-32349ACC1E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087813"/>
            <a:ext cx="555625" cy="46196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74E0D70-97DF-840E-DDF8-45A5A1A2EA34}"/>
              </a:ext>
              <a:ext uri="{147F2762-F138-4A5C-976F-8EAC2B608ADB}">
                <a16:predDERef xmlns:a16="http://schemas.microsoft.com/office/drawing/2014/main" pred="{D53D0C4A-FE71-44C0-97B3-1EA296D3DCE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814888"/>
            <a:ext cx="555625" cy="41116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A7A59C94-6C2B-88A6-BEC9-EEB44CD19F77}"/>
              </a:ext>
              <a:ext uri="{147F2762-F138-4A5C-976F-8EAC2B608ADB}">
                <a16:predDERef xmlns:a16="http://schemas.microsoft.com/office/drawing/2014/main" pred="{7008BA42-7365-4AD1-B913-F26820CE47E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1775" y="5427663"/>
            <a:ext cx="465138" cy="433387"/>
          </a:xfrm>
          <a:prstGeom prst="rect">
            <a:avLst/>
          </a:prstGeom>
        </p:spPr>
      </p:pic>
      <p:grpSp>
        <p:nvGrpSpPr>
          <p:cNvPr id="135" name="Grupo 134">
            <a:extLst>
              <a:ext uri="{FF2B5EF4-FFF2-40B4-BE49-F238E27FC236}">
                <a16:creationId xmlns:a16="http://schemas.microsoft.com/office/drawing/2014/main" id="{B65D6139-C3B9-73C6-2739-CF7F8C499DDD}"/>
              </a:ext>
            </a:extLst>
          </p:cNvPr>
          <p:cNvGrpSpPr/>
          <p:nvPr/>
        </p:nvGrpSpPr>
        <p:grpSpPr>
          <a:xfrm>
            <a:off x="5564187" y="853892"/>
            <a:ext cx="2195988" cy="1780012"/>
            <a:chOff x="5353656" y="1110832"/>
            <a:chExt cx="2195988" cy="1780012"/>
          </a:xfrm>
        </p:grpSpPr>
        <p:sp>
          <p:nvSpPr>
            <p:cNvPr id="58" name="Rectángulo 57">
              <a:extLst>
                <a:ext uri="{FF2B5EF4-FFF2-40B4-BE49-F238E27FC236}">
                  <a16:creationId xmlns:a16="http://schemas.microsoft.com/office/drawing/2014/main" id="{EEC3B5F7-01B0-E25D-C146-D0F1044A21A5}"/>
                </a:ext>
              </a:extLst>
            </p:cNvPr>
            <p:cNvSpPr/>
            <p:nvPr/>
          </p:nvSpPr>
          <p:spPr>
            <a:xfrm>
              <a:off x="5353656" y="1110832"/>
              <a:ext cx="2195987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43" name="Grupo 42">
              <a:extLst>
                <a:ext uri="{FF2B5EF4-FFF2-40B4-BE49-F238E27FC236}">
                  <a16:creationId xmlns:a16="http://schemas.microsoft.com/office/drawing/2014/main" id="{0211B5C6-9CCF-53CB-AA03-B8D4DA760E14}"/>
                </a:ext>
              </a:extLst>
            </p:cNvPr>
            <p:cNvGrpSpPr/>
            <p:nvPr/>
          </p:nvGrpSpPr>
          <p:grpSpPr>
            <a:xfrm>
              <a:off x="5353657" y="1223137"/>
              <a:ext cx="2083693" cy="1630468"/>
              <a:chOff x="3249940" y="1229837"/>
              <a:chExt cx="2083693" cy="1630468"/>
            </a:xfrm>
          </p:grpSpPr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D05B20D4-16A3-DE12-9A53-6C42FDC0AA6C}"/>
                  </a:ext>
                </a:extLst>
              </p:cNvPr>
              <p:cNvSpPr txBox="1"/>
              <p:nvPr/>
            </p:nvSpPr>
            <p:spPr>
              <a:xfrm>
                <a:off x="3552927" y="1229837"/>
                <a:ext cx="178070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Rango Salario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A8144A3A-3898-15F7-EFAF-A8BF726C671F}"/>
                  </a:ext>
                </a:extLst>
              </p:cNvPr>
              <p:cNvSpPr txBox="1"/>
              <p:nvPr/>
            </p:nvSpPr>
            <p:spPr>
              <a:xfrm>
                <a:off x="3249940" y="2306307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90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Hasta 2 </a:t>
                </a:r>
                <a:r>
                  <a:rPr lang="es-CO" sz="1200" b="1" dirty="0" err="1">
                    <a:solidFill>
                      <a:schemeClr val="bg1"/>
                    </a:solidFill>
                  </a:rPr>
                  <a:t>smlv</a:t>
                </a:r>
                <a:endParaRPr lang="es-CO" sz="12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53" name="Imagen 52">
              <a:extLst>
                <a:ext uri="{FF2B5EF4-FFF2-40B4-BE49-F238E27FC236}">
                  <a16:creationId xmlns:a16="http://schemas.microsoft.com/office/drawing/2014/main" id="{2BF28F56-818E-A8C7-A48E-946A6D127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12042" y="1623254"/>
              <a:ext cx="641350" cy="641350"/>
            </a:xfrm>
            <a:prstGeom prst="rect">
              <a:avLst/>
            </a:prstGeom>
          </p:spPr>
        </p:pic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5074DBA2-871B-4F7D-0F69-9E70685AAE7A}"/>
                </a:ext>
              </a:extLst>
            </p:cNvPr>
            <p:cNvSpPr txBox="1"/>
            <p:nvPr/>
          </p:nvSpPr>
          <p:spPr>
            <a:xfrm>
              <a:off x="6376735" y="2289285"/>
              <a:ext cx="1172909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10</a:t>
              </a:r>
              <a:r>
                <a:rPr lang="es-CO" sz="18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Mas de 2 </a:t>
              </a:r>
              <a:r>
                <a:rPr lang="es-CO" sz="1200" b="1" dirty="0" err="1">
                  <a:solidFill>
                    <a:schemeClr val="bg1"/>
                  </a:solidFill>
                </a:rPr>
                <a:t>smlv</a:t>
              </a:r>
              <a:endParaRPr lang="es-CO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37687E66-82D1-A904-2179-02AF3245A38C}"/>
              </a:ext>
            </a:extLst>
          </p:cNvPr>
          <p:cNvGrpSpPr/>
          <p:nvPr/>
        </p:nvGrpSpPr>
        <p:grpSpPr>
          <a:xfrm>
            <a:off x="3320687" y="874756"/>
            <a:ext cx="1941094" cy="1759148"/>
            <a:chOff x="3224463" y="1110832"/>
            <a:chExt cx="1941094" cy="1759148"/>
          </a:xfrm>
        </p:grpSpPr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08C3F6FF-93EB-6F00-69DD-4FF7B36F1E8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36596" y="1677993"/>
              <a:ext cx="721895" cy="721895"/>
            </a:xfrm>
            <a:prstGeom prst="rect">
              <a:avLst/>
            </a:prstGeom>
          </p:spPr>
        </p:pic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06C4DE0B-016C-3564-F1F8-08A225A13AD0}"/>
                </a:ext>
              </a:extLst>
            </p:cNvPr>
            <p:cNvGrpSpPr/>
            <p:nvPr/>
          </p:nvGrpSpPr>
          <p:grpSpPr>
            <a:xfrm>
              <a:off x="3420553" y="1223137"/>
              <a:ext cx="1609350" cy="1516670"/>
              <a:chOff x="3420553" y="1223137"/>
              <a:chExt cx="1609350" cy="1516670"/>
            </a:xfrm>
          </p:grpSpPr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D48F4D0E-C5B8-083C-506E-89FFF1FACE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74608" y="1613811"/>
                <a:ext cx="723600" cy="723600"/>
              </a:xfrm>
              <a:prstGeom prst="rect">
                <a:avLst/>
              </a:prstGeom>
            </p:spPr>
          </p:pic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86A6365F-A6A9-4974-4F86-79C9AB9764FC}"/>
                  </a:ext>
                </a:extLst>
              </p:cNvPr>
              <p:cNvSpPr txBox="1"/>
              <p:nvPr/>
            </p:nvSpPr>
            <p:spPr>
              <a:xfrm>
                <a:off x="3685253" y="1223137"/>
                <a:ext cx="1098946" cy="345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Género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382F43BF-005E-9DCC-4709-9A41AF05BFCB}"/>
                  </a:ext>
                </a:extLst>
              </p:cNvPr>
              <p:cNvSpPr txBox="1"/>
              <p:nvPr/>
            </p:nvSpPr>
            <p:spPr>
              <a:xfrm>
                <a:off x="3420553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47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BCCA8D53-7658-2A75-DC2A-E284FCD62D52}"/>
                  </a:ext>
                </a:extLst>
              </p:cNvPr>
              <p:cNvSpPr txBox="1"/>
              <p:nvPr/>
            </p:nvSpPr>
            <p:spPr>
              <a:xfrm>
                <a:off x="4308008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53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</p:grp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C8621FD0-CC86-6906-098C-98BEE642B052}"/>
                </a:ext>
              </a:extLst>
            </p:cNvPr>
            <p:cNvSpPr/>
            <p:nvPr/>
          </p:nvSpPr>
          <p:spPr>
            <a:xfrm>
              <a:off x="3224463" y="1110832"/>
              <a:ext cx="1941094" cy="175914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78" name="CuadroTexto 77">
            <a:extLst>
              <a:ext uri="{FF2B5EF4-FFF2-40B4-BE49-F238E27FC236}">
                <a16:creationId xmlns:a16="http://schemas.microsoft.com/office/drawing/2014/main" id="{7D5AB3BC-7D49-6F01-B24C-EAE89C91FC95}"/>
              </a:ext>
            </a:extLst>
          </p:cNvPr>
          <p:cNvSpPr txBox="1"/>
          <p:nvPr/>
        </p:nvSpPr>
        <p:spPr>
          <a:xfrm>
            <a:off x="1376075" y="3222417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16%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Joven</a:t>
            </a:r>
          </a:p>
        </p:txBody>
      </p: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CD1CB0DC-E4EA-0B63-7A08-A8E6BA4CD650}"/>
              </a:ext>
            </a:extLst>
          </p:cNvPr>
          <p:cNvGrpSpPr/>
          <p:nvPr/>
        </p:nvGrpSpPr>
        <p:grpSpPr>
          <a:xfrm>
            <a:off x="-155207" y="2771278"/>
            <a:ext cx="2688149" cy="1998661"/>
            <a:chOff x="435343" y="3108160"/>
            <a:chExt cx="2688149" cy="1998661"/>
          </a:xfrm>
        </p:grpSpPr>
        <p:grpSp>
          <p:nvGrpSpPr>
            <p:cNvPr id="69" name="Grupo 68">
              <a:extLst>
                <a:ext uri="{FF2B5EF4-FFF2-40B4-BE49-F238E27FC236}">
                  <a16:creationId xmlns:a16="http://schemas.microsoft.com/office/drawing/2014/main" id="{1BE96F6E-17E4-764E-D146-083510F65542}"/>
                </a:ext>
              </a:extLst>
            </p:cNvPr>
            <p:cNvGrpSpPr/>
            <p:nvPr/>
          </p:nvGrpSpPr>
          <p:grpSpPr>
            <a:xfrm>
              <a:off x="457829" y="3108160"/>
              <a:ext cx="2665663" cy="1998661"/>
              <a:chOff x="7590765" y="1110832"/>
              <a:chExt cx="2665663" cy="1822499"/>
            </a:xfrm>
          </p:grpSpPr>
          <p:sp>
            <p:nvSpPr>
              <p:cNvPr id="70" name="Rectángulo 69">
                <a:extLst>
                  <a:ext uri="{FF2B5EF4-FFF2-40B4-BE49-F238E27FC236}">
                    <a16:creationId xmlns:a16="http://schemas.microsoft.com/office/drawing/2014/main" id="{DBA0D9C0-7765-710E-37C7-A745E48DAEED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71" name="Grupo 70">
                <a:extLst>
                  <a:ext uri="{FF2B5EF4-FFF2-40B4-BE49-F238E27FC236}">
                    <a16:creationId xmlns:a16="http://schemas.microsoft.com/office/drawing/2014/main" id="{9BA31B05-7848-2739-EF07-8799C6F63AAD}"/>
                  </a:ext>
                </a:extLst>
              </p:cNvPr>
              <p:cNvGrpSpPr/>
              <p:nvPr/>
            </p:nvGrpSpPr>
            <p:grpSpPr>
              <a:xfrm>
                <a:off x="7590765" y="1223137"/>
                <a:ext cx="2024519" cy="1655939"/>
                <a:chOff x="3026344" y="1229837"/>
                <a:chExt cx="2024519" cy="1655939"/>
              </a:xfrm>
            </p:grpSpPr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285AC448-A544-B0F4-202B-515D113FF976}"/>
                    </a:ext>
                  </a:extLst>
                </p:cNvPr>
                <p:cNvSpPr txBox="1"/>
                <p:nvPr/>
              </p:nvSpPr>
              <p:spPr>
                <a:xfrm>
                  <a:off x="3645002" y="1229837"/>
                  <a:ext cx="1405861" cy="3087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Segmento 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882F25CB-E6D2-5CC8-D7A9-3EECE339734B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12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47%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Básico</a:t>
                  </a:r>
                </a:p>
              </p:txBody>
            </p:sp>
          </p:grpSp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8AE4978B-D25D-33C9-AC4C-21CB27C29868}"/>
                  </a:ext>
                </a:extLst>
              </p:cNvPr>
              <p:cNvSpPr txBox="1"/>
              <p:nvPr/>
            </p:nvSpPr>
            <p:spPr>
              <a:xfrm>
                <a:off x="9083519" y="231777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0%</a:t>
                </a:r>
              </a:p>
              <a:p>
                <a:r>
                  <a:rPr lang="es-CO" sz="1400" b="1">
                    <a:solidFill>
                      <a:schemeClr val="bg1"/>
                    </a:solidFill>
                  </a:rPr>
                  <a:t>       Alto</a:t>
                </a:r>
              </a:p>
            </p:txBody>
          </p:sp>
        </p:grpSp>
        <p:sp>
          <p:nvSpPr>
            <p:cNvPr id="77" name="CuadroTexto 76">
              <a:extLst>
                <a:ext uri="{FF2B5EF4-FFF2-40B4-BE49-F238E27FC236}">
                  <a16:creationId xmlns:a16="http://schemas.microsoft.com/office/drawing/2014/main" id="{3EF30A17-79FF-3B0B-6820-7EC178C25770}"/>
                </a:ext>
              </a:extLst>
            </p:cNvPr>
            <p:cNvSpPr txBox="1"/>
            <p:nvPr/>
          </p:nvSpPr>
          <p:spPr>
            <a:xfrm>
              <a:off x="435343" y="3559299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37%</a:t>
              </a:r>
            </a:p>
            <a:p>
              <a:r>
                <a:rPr lang="es-CO" sz="1400" b="1">
                  <a:solidFill>
                    <a:schemeClr val="bg1"/>
                  </a:solidFill>
                </a:rPr>
                <a:t>       Medio</a:t>
              </a:r>
            </a:p>
          </p:txBody>
        </p:sp>
        <p:pic>
          <p:nvPicPr>
            <p:cNvPr id="80" name="Imagen 79">
              <a:extLst>
                <a:ext uri="{FF2B5EF4-FFF2-40B4-BE49-F238E27FC236}">
                  <a16:creationId xmlns:a16="http://schemas.microsoft.com/office/drawing/2014/main" id="{528CFAFB-C09A-8D47-0434-B59C9D7AE4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LineDrawing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90862" y="3871141"/>
              <a:ext cx="680857" cy="680857"/>
            </a:xfrm>
            <a:prstGeom prst="rect">
              <a:avLst/>
            </a:prstGeom>
          </p:spPr>
        </p:pic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8A56E571-D6BB-C0FA-138A-4BC3947D1029}"/>
              </a:ext>
            </a:extLst>
          </p:cNvPr>
          <p:cNvGrpSpPr/>
          <p:nvPr/>
        </p:nvGrpSpPr>
        <p:grpSpPr>
          <a:xfrm>
            <a:off x="2169335" y="2774370"/>
            <a:ext cx="3284086" cy="1963483"/>
            <a:chOff x="2759885" y="3111252"/>
            <a:chExt cx="3284086" cy="1963483"/>
          </a:xfrm>
        </p:grpSpPr>
        <p:sp>
          <p:nvSpPr>
            <p:cNvPr id="88" name="CuadroTexto 87">
              <a:extLst>
                <a:ext uri="{FF2B5EF4-FFF2-40B4-BE49-F238E27FC236}">
                  <a16:creationId xmlns:a16="http://schemas.microsoft.com/office/drawing/2014/main" id="{A496EBFA-B2A3-8742-440F-DC807B19720B}"/>
                </a:ext>
              </a:extLst>
            </p:cNvPr>
            <p:cNvSpPr txBox="1"/>
            <p:nvPr/>
          </p:nvSpPr>
          <p:spPr>
            <a:xfrm>
              <a:off x="2759885" y="3531697"/>
              <a:ext cx="154680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   30%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             Sin Grupo</a:t>
              </a:r>
            </a:p>
          </p:txBody>
        </p:sp>
        <p:grpSp>
          <p:nvGrpSpPr>
            <p:cNvPr id="124" name="Grupo 123">
              <a:extLst>
                <a:ext uri="{FF2B5EF4-FFF2-40B4-BE49-F238E27FC236}">
                  <a16:creationId xmlns:a16="http://schemas.microsoft.com/office/drawing/2014/main" id="{EC915109-E548-4E5B-67E8-8997901D1CB0}"/>
                </a:ext>
              </a:extLst>
            </p:cNvPr>
            <p:cNvGrpSpPr/>
            <p:nvPr/>
          </p:nvGrpSpPr>
          <p:grpSpPr>
            <a:xfrm>
              <a:off x="3048286" y="3111252"/>
              <a:ext cx="2995685" cy="1963483"/>
              <a:chOff x="3048286" y="3111252"/>
              <a:chExt cx="2995685" cy="1963483"/>
            </a:xfrm>
          </p:grpSpPr>
          <p:grpSp>
            <p:nvGrpSpPr>
              <p:cNvPr id="81" name="Grupo 80">
                <a:extLst>
                  <a:ext uri="{FF2B5EF4-FFF2-40B4-BE49-F238E27FC236}">
                    <a16:creationId xmlns:a16="http://schemas.microsoft.com/office/drawing/2014/main" id="{65E9D907-9DAE-DE7E-EAD7-6CE88DBFC971}"/>
                  </a:ext>
                </a:extLst>
              </p:cNvPr>
              <p:cNvGrpSpPr/>
              <p:nvPr/>
            </p:nvGrpSpPr>
            <p:grpSpPr>
              <a:xfrm>
                <a:off x="3048286" y="3111252"/>
                <a:ext cx="2995685" cy="1963483"/>
                <a:chOff x="7814360" y="1110832"/>
                <a:chExt cx="2995685" cy="1780012"/>
              </a:xfrm>
            </p:grpSpPr>
            <p:sp>
              <p:nvSpPr>
                <p:cNvPr id="82" name="Rectángulo 81">
                  <a:extLst>
                    <a:ext uri="{FF2B5EF4-FFF2-40B4-BE49-F238E27FC236}">
                      <a16:creationId xmlns:a16="http://schemas.microsoft.com/office/drawing/2014/main" id="{FCA36087-F890-5CEA-C18C-5F05CB74310C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808386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5" name="CuadroTexto 84">
                  <a:extLst>
                    <a:ext uri="{FF2B5EF4-FFF2-40B4-BE49-F238E27FC236}">
                      <a16:creationId xmlns:a16="http://schemas.microsoft.com/office/drawing/2014/main" id="{A3518C9E-43FF-AF2B-3103-CF64F6E487BA}"/>
                    </a:ext>
                  </a:extLst>
                </p:cNvPr>
                <p:cNvSpPr txBox="1"/>
                <p:nvPr/>
              </p:nvSpPr>
              <p:spPr>
                <a:xfrm>
                  <a:off x="8199228" y="1166870"/>
                  <a:ext cx="2143266" cy="3069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Segmento Familia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84" name="CuadroTexto 83">
                  <a:extLst>
                    <a:ext uri="{FF2B5EF4-FFF2-40B4-BE49-F238E27FC236}">
                      <a16:creationId xmlns:a16="http://schemas.microsoft.com/office/drawing/2014/main" id="{1BE609C1-889C-92FF-8259-22DC9720EFDC}"/>
                    </a:ext>
                  </a:extLst>
                </p:cNvPr>
                <p:cNvSpPr txBox="1"/>
                <p:nvPr/>
              </p:nvSpPr>
              <p:spPr>
                <a:xfrm>
                  <a:off x="9185077" y="2002589"/>
                  <a:ext cx="1624968" cy="5022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        8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 Nuclear Integrada</a:t>
                  </a:r>
                </a:p>
              </p:txBody>
            </p:sp>
          </p:grpSp>
          <p:sp>
            <p:nvSpPr>
              <p:cNvPr id="89" name="CuadroTexto 88">
                <a:extLst>
                  <a:ext uri="{FF2B5EF4-FFF2-40B4-BE49-F238E27FC236}">
                    <a16:creationId xmlns:a16="http://schemas.microsoft.com/office/drawing/2014/main" id="{E66AAC78-1D30-1E33-C007-AFF15916B058}"/>
                  </a:ext>
                </a:extLst>
              </p:cNvPr>
              <p:cNvSpPr txBox="1"/>
              <p:nvPr/>
            </p:nvSpPr>
            <p:spPr>
              <a:xfrm>
                <a:off x="4771770" y="3534141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54%</a:t>
                </a:r>
                <a:r>
                  <a:rPr lang="es-CO" sz="1200" b="1" dirty="0">
                    <a:solidFill>
                      <a:schemeClr val="bg1"/>
                    </a:solidFill>
                  </a:rPr>
                  <a:t> Monoparental</a:t>
                </a:r>
              </a:p>
            </p:txBody>
          </p:sp>
          <p:pic>
            <p:nvPicPr>
              <p:cNvPr id="92" name="Imagen 91">
                <a:extLst>
                  <a:ext uri="{FF2B5EF4-FFF2-40B4-BE49-F238E27FC236}">
                    <a16:creationId xmlns:a16="http://schemas.microsoft.com/office/drawing/2014/main" id="{8A25F49E-981C-9B25-4487-4DBAFF0F62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artisticGlowDiffused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075298" y="3683026"/>
                <a:ext cx="754362" cy="754362"/>
              </a:xfrm>
              <a:prstGeom prst="rect">
                <a:avLst/>
              </a:prstGeom>
            </p:spPr>
          </p:pic>
        </p:grp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0C809A4B-4453-C322-7F94-C9A80C223F3D}"/>
              </a:ext>
            </a:extLst>
          </p:cNvPr>
          <p:cNvGrpSpPr/>
          <p:nvPr/>
        </p:nvGrpSpPr>
        <p:grpSpPr>
          <a:xfrm>
            <a:off x="90873" y="847081"/>
            <a:ext cx="3094159" cy="1780012"/>
            <a:chOff x="681423" y="1183963"/>
            <a:chExt cx="3094159" cy="1780012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97222830-67E8-EEE2-468B-909DADD77CCF}"/>
                </a:ext>
              </a:extLst>
            </p:cNvPr>
            <p:cNvSpPr txBox="1"/>
            <p:nvPr/>
          </p:nvSpPr>
          <p:spPr>
            <a:xfrm>
              <a:off x="942955" y="1217834"/>
              <a:ext cx="2376943" cy="16927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s-CO" sz="2000" b="1" dirty="0">
                <a:solidFill>
                  <a:srgbClr val="FFC000"/>
                </a:solidFill>
              </a:endParaRP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Afiliado     </a:t>
              </a:r>
              <a:r>
                <a:rPr lang="es-CO" sz="2800" b="1" dirty="0">
                  <a:solidFill>
                    <a:srgbClr val="FFC000"/>
                  </a:solidFill>
                </a:rPr>
                <a:t>   </a:t>
              </a:r>
              <a:r>
                <a:rPr lang="es-CO" sz="2800" b="1" dirty="0">
                  <a:solidFill>
                    <a:schemeClr val="bg1"/>
                  </a:solidFill>
                </a:rPr>
                <a:t>64%</a:t>
              </a: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No Afilado   </a:t>
              </a:r>
              <a:r>
                <a:rPr lang="es-CO" sz="2800" b="1" dirty="0">
                  <a:solidFill>
                    <a:schemeClr val="bg1"/>
                  </a:solidFill>
                </a:rPr>
                <a:t>36%</a:t>
              </a:r>
            </a:p>
            <a:p>
              <a:endParaRPr lang="es-ES" sz="28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05" name="Rectángulo 104">
              <a:extLst>
                <a:ext uri="{FF2B5EF4-FFF2-40B4-BE49-F238E27FC236}">
                  <a16:creationId xmlns:a16="http://schemas.microsoft.com/office/drawing/2014/main" id="{92F9E4D2-3BA9-F90E-044F-693AF633F4C1}"/>
                </a:ext>
              </a:extLst>
            </p:cNvPr>
            <p:cNvSpPr/>
            <p:nvPr/>
          </p:nvSpPr>
          <p:spPr>
            <a:xfrm>
              <a:off x="681423" y="1183963"/>
              <a:ext cx="3094159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20" name="Grupo 119">
            <a:extLst>
              <a:ext uri="{FF2B5EF4-FFF2-40B4-BE49-F238E27FC236}">
                <a16:creationId xmlns:a16="http://schemas.microsoft.com/office/drawing/2014/main" id="{5FAA3A45-170D-FAB0-09FC-B6C1EB649130}"/>
              </a:ext>
            </a:extLst>
          </p:cNvPr>
          <p:cNvGrpSpPr/>
          <p:nvPr/>
        </p:nvGrpSpPr>
        <p:grpSpPr>
          <a:xfrm>
            <a:off x="7777183" y="2775745"/>
            <a:ext cx="2623981" cy="1933541"/>
            <a:chOff x="9059295" y="3127128"/>
            <a:chExt cx="2623981" cy="1933541"/>
          </a:xfrm>
        </p:grpSpPr>
        <p:grpSp>
          <p:nvGrpSpPr>
            <p:cNvPr id="106" name="Grupo 105">
              <a:extLst>
                <a:ext uri="{FF2B5EF4-FFF2-40B4-BE49-F238E27FC236}">
                  <a16:creationId xmlns:a16="http://schemas.microsoft.com/office/drawing/2014/main" id="{34D399B8-8CC7-B3A6-A518-856AE7393DED}"/>
                </a:ext>
              </a:extLst>
            </p:cNvPr>
            <p:cNvGrpSpPr/>
            <p:nvPr/>
          </p:nvGrpSpPr>
          <p:grpSpPr>
            <a:xfrm>
              <a:off x="9080988" y="3127128"/>
              <a:ext cx="2601495" cy="1933541"/>
              <a:chOff x="7590765" y="1110832"/>
              <a:chExt cx="2601495" cy="1780012"/>
            </a:xfrm>
          </p:grpSpPr>
          <p:sp>
            <p:nvSpPr>
              <p:cNvPr id="107" name="Rectángulo 106">
                <a:extLst>
                  <a:ext uri="{FF2B5EF4-FFF2-40B4-BE49-F238E27FC236}">
                    <a16:creationId xmlns:a16="http://schemas.microsoft.com/office/drawing/2014/main" id="{89E7CAEA-E271-47BC-DEC3-BBEBD931BC14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108" name="Grupo 107">
                <a:extLst>
                  <a:ext uri="{FF2B5EF4-FFF2-40B4-BE49-F238E27FC236}">
                    <a16:creationId xmlns:a16="http://schemas.microsoft.com/office/drawing/2014/main" id="{C810E55E-95D0-23E4-9E68-60F658046119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2191150" cy="1678227"/>
                <a:chOff x="3026344" y="1212927"/>
                <a:chExt cx="2191150" cy="1678227"/>
              </a:xfrm>
            </p:grpSpPr>
            <p:sp>
              <p:nvSpPr>
                <p:cNvPr id="110" name="CuadroTexto 109">
                  <a:extLst>
                    <a:ext uri="{FF2B5EF4-FFF2-40B4-BE49-F238E27FC236}">
                      <a16:creationId xmlns:a16="http://schemas.microsoft.com/office/drawing/2014/main" id="{C0025A7C-71C4-AD20-D202-641ADA6BDB52}"/>
                    </a:ext>
                  </a:extLst>
                </p:cNvPr>
                <p:cNvSpPr txBox="1"/>
                <p:nvPr/>
              </p:nvSpPr>
              <p:spPr>
                <a:xfrm>
                  <a:off x="3811633" y="1212927"/>
                  <a:ext cx="140586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Estrato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11" name="CuadroTexto 110">
                  <a:extLst>
                    <a:ext uri="{FF2B5EF4-FFF2-40B4-BE49-F238E27FC236}">
                      <a16:creationId xmlns:a16="http://schemas.microsoft.com/office/drawing/2014/main" id="{BC2BAD0F-A9DA-89FF-D101-8210AF741502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4%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  <p:sp>
            <p:nvSpPr>
              <p:cNvPr id="109" name="CuadroTexto 108">
                <a:extLst>
                  <a:ext uri="{FF2B5EF4-FFF2-40B4-BE49-F238E27FC236}">
                    <a16:creationId xmlns:a16="http://schemas.microsoft.com/office/drawing/2014/main" id="{089DD7F4-C995-0499-26A4-D032712363CD}"/>
                  </a:ext>
                </a:extLst>
              </p:cNvPr>
              <p:cNvSpPr txBox="1"/>
              <p:nvPr/>
            </p:nvSpPr>
            <p:spPr>
              <a:xfrm>
                <a:off x="9019351" y="2317778"/>
                <a:ext cx="1172909" cy="566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3%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Cuatro</a:t>
                </a:r>
              </a:p>
            </p:txBody>
          </p:sp>
        </p:grpSp>
        <p:sp>
          <p:nvSpPr>
            <p:cNvPr id="112" name="CuadroTexto 111">
              <a:extLst>
                <a:ext uri="{FF2B5EF4-FFF2-40B4-BE49-F238E27FC236}">
                  <a16:creationId xmlns:a16="http://schemas.microsoft.com/office/drawing/2014/main" id="{097032F2-E677-94A3-88D9-0751E9182FE0}"/>
                </a:ext>
              </a:extLst>
            </p:cNvPr>
            <p:cNvSpPr txBox="1"/>
            <p:nvPr/>
          </p:nvSpPr>
          <p:spPr>
            <a:xfrm>
              <a:off x="9059295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7%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Uno</a:t>
              </a:r>
            </a:p>
          </p:txBody>
        </p:sp>
        <p:sp>
          <p:nvSpPr>
            <p:cNvPr id="113" name="CuadroTexto 112">
              <a:extLst>
                <a:ext uri="{FF2B5EF4-FFF2-40B4-BE49-F238E27FC236}">
                  <a16:creationId xmlns:a16="http://schemas.microsoft.com/office/drawing/2014/main" id="{4B59632A-718D-BA2D-1F73-A7D3E2491179}"/>
                </a:ext>
              </a:extLst>
            </p:cNvPr>
            <p:cNvSpPr txBox="1"/>
            <p:nvPr/>
          </p:nvSpPr>
          <p:spPr>
            <a:xfrm>
              <a:off x="10510367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20%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Dos</a:t>
              </a:r>
            </a:p>
          </p:txBody>
        </p:sp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D00ABC45-53E5-9BDD-DE76-2A694A727D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artisticPencilGrayscale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043317" y="3855923"/>
              <a:ext cx="655939" cy="655939"/>
            </a:xfrm>
            <a:prstGeom prst="rect">
              <a:avLst/>
            </a:prstGeom>
          </p:spPr>
        </p:pic>
      </p:grp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C1123A03-8772-D803-40E4-795A9DD1FE21}"/>
              </a:ext>
            </a:extLst>
          </p:cNvPr>
          <p:cNvSpPr txBox="1"/>
          <p:nvPr/>
        </p:nvSpPr>
        <p:spPr>
          <a:xfrm>
            <a:off x="5289967" y="3228845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30%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 Cero</a:t>
            </a:r>
          </a:p>
        </p:txBody>
      </p:sp>
      <p:grpSp>
        <p:nvGrpSpPr>
          <p:cNvPr id="123" name="Grupo 122">
            <a:extLst>
              <a:ext uri="{FF2B5EF4-FFF2-40B4-BE49-F238E27FC236}">
                <a16:creationId xmlns:a16="http://schemas.microsoft.com/office/drawing/2014/main" id="{2230B780-B43A-6308-A9F5-A4B7E427366F}"/>
              </a:ext>
            </a:extLst>
          </p:cNvPr>
          <p:cNvGrpSpPr/>
          <p:nvPr/>
        </p:nvGrpSpPr>
        <p:grpSpPr>
          <a:xfrm>
            <a:off x="5340592" y="2790246"/>
            <a:ext cx="2602288" cy="1933541"/>
            <a:chOff x="5931142" y="3127128"/>
            <a:chExt cx="2602288" cy="1933541"/>
          </a:xfrm>
        </p:grpSpPr>
        <p:grpSp>
          <p:nvGrpSpPr>
            <p:cNvPr id="93" name="Grupo 92">
              <a:extLst>
                <a:ext uri="{FF2B5EF4-FFF2-40B4-BE49-F238E27FC236}">
                  <a16:creationId xmlns:a16="http://schemas.microsoft.com/office/drawing/2014/main" id="{857F1C60-0D26-2216-30A0-328EA9D5D047}"/>
                </a:ext>
              </a:extLst>
            </p:cNvPr>
            <p:cNvGrpSpPr/>
            <p:nvPr/>
          </p:nvGrpSpPr>
          <p:grpSpPr>
            <a:xfrm>
              <a:off x="5931142" y="3127128"/>
              <a:ext cx="2419582" cy="1933541"/>
              <a:chOff x="7590765" y="1110832"/>
              <a:chExt cx="2419582" cy="1780012"/>
            </a:xfrm>
          </p:grpSpPr>
          <p:sp>
            <p:nvSpPr>
              <p:cNvPr id="94" name="Rectángulo 93">
                <a:extLst>
                  <a:ext uri="{FF2B5EF4-FFF2-40B4-BE49-F238E27FC236}">
                    <a16:creationId xmlns:a16="http://schemas.microsoft.com/office/drawing/2014/main" id="{237A49EF-D4AA-4597-BD1C-D22A31DC490C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95" name="Grupo 94">
                <a:extLst>
                  <a:ext uri="{FF2B5EF4-FFF2-40B4-BE49-F238E27FC236}">
                    <a16:creationId xmlns:a16="http://schemas.microsoft.com/office/drawing/2014/main" id="{175DBD8A-6958-61CC-16D0-7598B3EFFB3C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1922369" cy="1647802"/>
                <a:chOff x="3026344" y="1212927"/>
                <a:chExt cx="1922369" cy="1647802"/>
              </a:xfrm>
            </p:grpSpPr>
            <p:sp>
              <p:nvSpPr>
                <p:cNvPr id="97" name="CuadroTexto 96">
                  <a:extLst>
                    <a:ext uri="{FF2B5EF4-FFF2-40B4-BE49-F238E27FC236}">
                      <a16:creationId xmlns:a16="http://schemas.microsoft.com/office/drawing/2014/main" id="{87A138AE-8BC3-F962-05D4-92B86377C61E}"/>
                    </a:ext>
                  </a:extLst>
                </p:cNvPr>
                <p:cNvSpPr txBox="1"/>
                <p:nvPr/>
              </p:nvSpPr>
              <p:spPr>
                <a:xfrm>
                  <a:off x="4021092" y="1212927"/>
                  <a:ext cx="92762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PAC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98" name="CuadroTexto 97">
                  <a:extLst>
                    <a:ext uri="{FF2B5EF4-FFF2-40B4-BE49-F238E27FC236}">
                      <a16:creationId xmlns:a16="http://schemas.microsoft.com/office/drawing/2014/main" id="{CFBE1A66-701F-ABEE-21C4-FBF67F61703E}"/>
                    </a:ext>
                  </a:extLst>
                </p:cNvPr>
                <p:cNvSpPr txBox="1"/>
                <p:nvPr/>
              </p:nvSpPr>
              <p:spPr>
                <a:xfrm>
                  <a:off x="3026344" y="2294053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9%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</p:grpSp>
        <p:grpSp>
          <p:nvGrpSpPr>
            <p:cNvPr id="121" name="Grupo 120">
              <a:extLst>
                <a:ext uri="{FF2B5EF4-FFF2-40B4-BE49-F238E27FC236}">
                  <a16:creationId xmlns:a16="http://schemas.microsoft.com/office/drawing/2014/main" id="{ECDF109D-9CD5-DFF8-F5E3-D48A2811F57E}"/>
                </a:ext>
              </a:extLst>
            </p:cNvPr>
            <p:cNvGrpSpPr/>
            <p:nvPr/>
          </p:nvGrpSpPr>
          <p:grpSpPr>
            <a:xfrm>
              <a:off x="6649678" y="3565727"/>
              <a:ext cx="1883752" cy="1414028"/>
              <a:chOff x="6649678" y="3565727"/>
              <a:chExt cx="1883752" cy="1414028"/>
            </a:xfrm>
          </p:grpSpPr>
          <p:sp>
            <p:nvSpPr>
              <p:cNvPr id="99" name="CuadroTexto 98">
                <a:extLst>
                  <a:ext uri="{FF2B5EF4-FFF2-40B4-BE49-F238E27FC236}">
                    <a16:creationId xmlns:a16="http://schemas.microsoft.com/office/drawing/2014/main" id="{F2A68919-8734-864F-5E9D-6E00723DC616}"/>
                  </a:ext>
                </a:extLst>
              </p:cNvPr>
              <p:cNvSpPr txBox="1"/>
              <p:nvPr/>
            </p:nvSpPr>
            <p:spPr>
              <a:xfrm>
                <a:off x="6649678" y="358240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34%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Uno</a:t>
                </a:r>
              </a:p>
            </p:txBody>
          </p:sp>
          <p:sp>
            <p:nvSpPr>
              <p:cNvPr id="101" name="CuadroTexto 100">
                <a:extLst>
                  <a:ext uri="{FF2B5EF4-FFF2-40B4-BE49-F238E27FC236}">
                    <a16:creationId xmlns:a16="http://schemas.microsoft.com/office/drawing/2014/main" id="{FE6201CF-F063-3254-18B0-15505C3F9B8A}"/>
                  </a:ext>
                </a:extLst>
              </p:cNvPr>
              <p:cNvSpPr txBox="1"/>
              <p:nvPr/>
            </p:nvSpPr>
            <p:spPr>
              <a:xfrm>
                <a:off x="7360521" y="3565727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24%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Dos</a:t>
                </a:r>
              </a:p>
            </p:txBody>
          </p:sp>
          <p:pic>
            <p:nvPicPr>
              <p:cNvPr id="118" name="Imagen 117">
                <a:extLst>
                  <a:ext uri="{FF2B5EF4-FFF2-40B4-BE49-F238E27FC236}">
                    <a16:creationId xmlns:a16="http://schemas.microsoft.com/office/drawing/2014/main" id="{D3A34431-2446-7F79-307C-BDE600748A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artisticPaintStrokes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886925" y="4205951"/>
                <a:ext cx="773804" cy="773804"/>
              </a:xfrm>
              <a:prstGeom prst="rect">
                <a:avLst/>
              </a:prstGeom>
            </p:spPr>
          </p:pic>
        </p:grpSp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1B2F8709-F21C-65D5-B6FB-B8A8A9AE3852}"/>
              </a:ext>
            </a:extLst>
          </p:cNvPr>
          <p:cNvGrpSpPr/>
          <p:nvPr/>
        </p:nvGrpSpPr>
        <p:grpSpPr>
          <a:xfrm>
            <a:off x="8022470" y="853892"/>
            <a:ext cx="2195988" cy="1780012"/>
            <a:chOff x="7814360" y="1110832"/>
            <a:chExt cx="2195988" cy="1780012"/>
          </a:xfrm>
        </p:grpSpPr>
        <p:grpSp>
          <p:nvGrpSpPr>
            <p:cNvPr id="66" name="Grupo 65">
              <a:extLst>
                <a:ext uri="{FF2B5EF4-FFF2-40B4-BE49-F238E27FC236}">
                  <a16:creationId xmlns:a16="http://schemas.microsoft.com/office/drawing/2014/main" id="{C5A9E9B4-D566-8220-8F33-22FBEA8B029F}"/>
                </a:ext>
              </a:extLst>
            </p:cNvPr>
            <p:cNvGrpSpPr/>
            <p:nvPr/>
          </p:nvGrpSpPr>
          <p:grpSpPr>
            <a:xfrm>
              <a:off x="7814360" y="1110832"/>
              <a:ext cx="2195988" cy="1780012"/>
              <a:chOff x="7814360" y="1110832"/>
              <a:chExt cx="2195988" cy="1780012"/>
            </a:xfrm>
          </p:grpSpPr>
          <p:sp>
            <p:nvSpPr>
              <p:cNvPr id="60" name="Rectángulo 59">
                <a:extLst>
                  <a:ext uri="{FF2B5EF4-FFF2-40B4-BE49-F238E27FC236}">
                    <a16:creationId xmlns:a16="http://schemas.microsoft.com/office/drawing/2014/main" id="{A526767B-208E-30B4-7A47-9F42BB8375E3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61" name="Grupo 60">
                <a:extLst>
                  <a:ext uri="{FF2B5EF4-FFF2-40B4-BE49-F238E27FC236}">
                    <a16:creationId xmlns:a16="http://schemas.microsoft.com/office/drawing/2014/main" id="{F654EC0D-18D7-4106-A094-AB132A685C8E}"/>
                  </a:ext>
                </a:extLst>
              </p:cNvPr>
              <p:cNvGrpSpPr/>
              <p:nvPr/>
            </p:nvGrpSpPr>
            <p:grpSpPr>
              <a:xfrm>
                <a:off x="7814361" y="1223137"/>
                <a:ext cx="2083693" cy="1630468"/>
                <a:chOff x="3249940" y="1229837"/>
                <a:chExt cx="2083693" cy="1630468"/>
              </a:xfrm>
            </p:grpSpPr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CE9E3A11-8EB5-0213-E429-BD50488EEF77}"/>
                    </a:ext>
                  </a:extLst>
                </p:cNvPr>
                <p:cNvSpPr txBox="1"/>
                <p:nvPr/>
              </p:nvSpPr>
              <p:spPr>
                <a:xfrm>
                  <a:off x="3552927" y="1229837"/>
                  <a:ext cx="1780706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Rango Edad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E3A4D44D-BD9D-D352-5EB0-407EC03880E8}"/>
                    </a:ext>
                  </a:extLst>
                </p:cNvPr>
                <p:cNvSpPr txBox="1"/>
                <p:nvPr/>
              </p:nvSpPr>
              <p:spPr>
                <a:xfrm>
                  <a:off x="3249940" y="2306307"/>
                  <a:ext cx="1172909" cy="5539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53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20 a 35 años</a:t>
                  </a:r>
                </a:p>
              </p:txBody>
            </p:sp>
          </p:grpSp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ADCA378E-EBD3-ACE3-178C-0093B82EA1A9}"/>
                  </a:ext>
                </a:extLst>
              </p:cNvPr>
              <p:cNvSpPr txBox="1"/>
              <p:nvPr/>
            </p:nvSpPr>
            <p:spPr>
              <a:xfrm>
                <a:off x="8837439" y="2289285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33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36 a 45 años</a:t>
                </a:r>
              </a:p>
            </p:txBody>
          </p:sp>
        </p:grpSp>
        <p:pic>
          <p:nvPicPr>
            <p:cNvPr id="128" name="Imagen 127">
              <a:extLst>
                <a:ext uri="{FF2B5EF4-FFF2-40B4-BE49-F238E27FC236}">
                  <a16:creationId xmlns:a16="http://schemas.microsoft.com/office/drawing/2014/main" id="{599D8E57-5B8F-F13B-AD1C-C3DC98E3D9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17644" y="1602912"/>
              <a:ext cx="655473" cy="655473"/>
            </a:xfrm>
            <a:prstGeom prst="rect">
              <a:avLst/>
            </a:prstGeom>
          </p:spPr>
        </p:pic>
      </p:grpSp>
      <p:grpSp>
        <p:nvGrpSpPr>
          <p:cNvPr id="189" name="Grupo 188">
            <a:extLst>
              <a:ext uri="{FF2B5EF4-FFF2-40B4-BE49-F238E27FC236}">
                <a16:creationId xmlns:a16="http://schemas.microsoft.com/office/drawing/2014/main" id="{30439F38-9450-FFD3-576A-8ABCE6A939FA}"/>
              </a:ext>
            </a:extLst>
          </p:cNvPr>
          <p:cNvGrpSpPr/>
          <p:nvPr/>
        </p:nvGrpSpPr>
        <p:grpSpPr>
          <a:xfrm>
            <a:off x="-114768" y="4837223"/>
            <a:ext cx="3758502" cy="1933541"/>
            <a:chOff x="435340" y="4837223"/>
            <a:chExt cx="4854517" cy="1933541"/>
          </a:xfrm>
        </p:grpSpPr>
        <p:grpSp>
          <p:nvGrpSpPr>
            <p:cNvPr id="138" name="Grupo 137">
              <a:extLst>
                <a:ext uri="{FF2B5EF4-FFF2-40B4-BE49-F238E27FC236}">
                  <a16:creationId xmlns:a16="http://schemas.microsoft.com/office/drawing/2014/main" id="{CE3E2070-144B-3F9D-FAAE-9883CEB72FDD}"/>
                </a:ext>
              </a:extLst>
            </p:cNvPr>
            <p:cNvGrpSpPr/>
            <p:nvPr/>
          </p:nvGrpSpPr>
          <p:grpSpPr>
            <a:xfrm>
              <a:off x="435340" y="4837223"/>
              <a:ext cx="4854517" cy="1933541"/>
              <a:chOff x="9135236" y="3127128"/>
              <a:chExt cx="3830051" cy="1933541"/>
            </a:xfrm>
          </p:grpSpPr>
          <p:grpSp>
            <p:nvGrpSpPr>
              <p:cNvPr id="139" name="Grupo 138">
                <a:extLst>
                  <a:ext uri="{FF2B5EF4-FFF2-40B4-BE49-F238E27FC236}">
                    <a16:creationId xmlns:a16="http://schemas.microsoft.com/office/drawing/2014/main" id="{881B7EDC-216A-FEF1-5BC8-53A04D159C78}"/>
                  </a:ext>
                </a:extLst>
              </p:cNvPr>
              <p:cNvGrpSpPr/>
              <p:nvPr/>
            </p:nvGrpSpPr>
            <p:grpSpPr>
              <a:xfrm>
                <a:off x="9229918" y="3127128"/>
                <a:ext cx="3735369" cy="1933541"/>
                <a:chOff x="7739695" y="1110832"/>
                <a:chExt cx="3735369" cy="1780012"/>
              </a:xfrm>
            </p:grpSpPr>
            <p:sp>
              <p:nvSpPr>
                <p:cNvPr id="143" name="Rectángulo 142">
                  <a:extLst>
                    <a:ext uri="{FF2B5EF4-FFF2-40B4-BE49-F238E27FC236}">
                      <a16:creationId xmlns:a16="http://schemas.microsoft.com/office/drawing/2014/main" id="{0CDB48E5-3A33-EC5C-1EE3-F5FCCDEA8C7C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3246650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44" name="Grupo 143">
                  <a:extLst>
                    <a:ext uri="{FF2B5EF4-FFF2-40B4-BE49-F238E27FC236}">
                      <a16:creationId xmlns:a16="http://schemas.microsoft.com/office/drawing/2014/main" id="{FC2583FA-9C36-FA52-665F-AE6DB9AA6997}"/>
                    </a:ext>
                  </a:extLst>
                </p:cNvPr>
                <p:cNvGrpSpPr/>
                <p:nvPr/>
              </p:nvGrpSpPr>
              <p:grpSpPr>
                <a:xfrm>
                  <a:off x="7739695" y="1236316"/>
                  <a:ext cx="3735369" cy="1532075"/>
                  <a:chOff x="3175274" y="1243016"/>
                  <a:chExt cx="3735369" cy="1532075"/>
                </a:xfrm>
              </p:grpSpPr>
              <p:sp>
                <p:nvSpPr>
                  <p:cNvPr id="146" name="CuadroTexto 145">
                    <a:extLst>
                      <a:ext uri="{FF2B5EF4-FFF2-40B4-BE49-F238E27FC236}">
                        <a16:creationId xmlns:a16="http://schemas.microsoft.com/office/drawing/2014/main" id="{57333DDD-A2ED-55F8-12EC-4AADEAF185B2}"/>
                      </a:ext>
                    </a:extLst>
                  </p:cNvPr>
                  <p:cNvSpPr txBox="1"/>
                  <p:nvPr/>
                </p:nvSpPr>
                <p:spPr>
                  <a:xfrm>
                    <a:off x="3854322" y="1243016"/>
                    <a:ext cx="3056321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Segmento Empresas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47" name="CuadroTexto 146">
                    <a:extLst>
                      <a:ext uri="{FF2B5EF4-FFF2-40B4-BE49-F238E27FC236}">
                        <a16:creationId xmlns:a16="http://schemas.microsoft.com/office/drawing/2014/main" id="{B384B603-3935-6DA9-402E-FFC9AE2609ED}"/>
                      </a:ext>
                    </a:extLst>
                  </p:cNvPr>
                  <p:cNvSpPr txBox="1"/>
                  <p:nvPr/>
                </p:nvSpPr>
                <p:spPr>
                  <a:xfrm>
                    <a:off x="3175274" y="2208415"/>
                    <a:ext cx="1945898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27%</a:t>
                    </a:r>
                    <a:endParaRPr lang="es-CO" sz="1400" b="1" dirty="0">
                      <a:solidFill>
                        <a:schemeClr val="bg1"/>
                      </a:solidFill>
                    </a:endParaRP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Medianas</a:t>
                    </a:r>
                  </a:p>
                </p:txBody>
              </p:sp>
            </p:grpSp>
            <p:sp>
              <p:nvSpPr>
                <p:cNvPr id="145" name="CuadroTexto 144">
                  <a:extLst>
                    <a:ext uri="{FF2B5EF4-FFF2-40B4-BE49-F238E27FC236}">
                      <a16:creationId xmlns:a16="http://schemas.microsoft.com/office/drawing/2014/main" id="{B8C7F9AD-60B1-42F1-7153-DA21822BEB5B}"/>
                    </a:ext>
                  </a:extLst>
                </p:cNvPr>
                <p:cNvSpPr txBox="1"/>
                <p:nvPr/>
              </p:nvSpPr>
              <p:spPr>
                <a:xfrm>
                  <a:off x="9864249" y="1523867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25%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Grandes</a:t>
                  </a:r>
                </a:p>
              </p:txBody>
            </p:sp>
          </p:grpSp>
          <p:sp>
            <p:nvSpPr>
              <p:cNvPr id="140" name="CuadroTexto 139">
                <a:extLst>
                  <a:ext uri="{FF2B5EF4-FFF2-40B4-BE49-F238E27FC236}">
                    <a16:creationId xmlns:a16="http://schemas.microsoft.com/office/drawing/2014/main" id="{8B13F0C8-C79B-FC81-34DD-486866F88CB5}"/>
                  </a:ext>
                </a:extLst>
              </p:cNvPr>
              <p:cNvSpPr txBox="1"/>
              <p:nvPr/>
            </p:nvSpPr>
            <p:spPr>
              <a:xfrm>
                <a:off x="9135236" y="3565727"/>
                <a:ext cx="145027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14%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</a:t>
                </a:r>
                <a:r>
                  <a:rPr lang="es-CO" sz="1400" b="1" dirty="0" err="1">
                    <a:solidFill>
                      <a:schemeClr val="bg1"/>
                    </a:solidFill>
                  </a:rPr>
                  <a:t>Emp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Top</a:t>
                </a:r>
              </a:p>
            </p:txBody>
          </p:sp>
          <p:sp>
            <p:nvSpPr>
              <p:cNvPr id="141" name="CuadroTexto 140">
                <a:extLst>
                  <a:ext uri="{FF2B5EF4-FFF2-40B4-BE49-F238E27FC236}">
                    <a16:creationId xmlns:a16="http://schemas.microsoft.com/office/drawing/2014/main" id="{ADA8D2DE-31EE-FB5E-BFBE-1EE317DD5A10}"/>
                  </a:ext>
                </a:extLst>
              </p:cNvPr>
              <p:cNvSpPr txBox="1"/>
              <p:nvPr/>
            </p:nvSpPr>
            <p:spPr>
              <a:xfrm>
                <a:off x="10055645" y="3580594"/>
                <a:ext cx="152651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28%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    Micro    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Transaccional</a:t>
                </a:r>
              </a:p>
            </p:txBody>
          </p:sp>
        </p:grpSp>
        <p:pic>
          <p:nvPicPr>
            <p:cNvPr id="149" name="Imagen 148">
              <a:extLst>
                <a:ext uri="{FF2B5EF4-FFF2-40B4-BE49-F238E27FC236}">
                  <a16:creationId xmlns:a16="http://schemas.microsoft.com/office/drawing/2014/main" id="{57378413-A719-C92E-CEA4-3B6592FA29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325932" y="6027593"/>
              <a:ext cx="677562" cy="677562"/>
            </a:xfrm>
            <a:prstGeom prst="rect">
              <a:avLst/>
            </a:prstGeom>
          </p:spPr>
        </p:pic>
      </p:grp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2D923DA8-6744-4B7E-5437-1AE39FB254FC}"/>
              </a:ext>
            </a:extLst>
          </p:cNvPr>
          <p:cNvSpPr txBox="1"/>
          <p:nvPr/>
        </p:nvSpPr>
        <p:spPr>
          <a:xfrm>
            <a:off x="2093411" y="5976448"/>
            <a:ext cx="128594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6%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Estándar</a:t>
            </a:r>
          </a:p>
        </p:txBody>
      </p:sp>
      <p:grpSp>
        <p:nvGrpSpPr>
          <p:cNvPr id="151" name="Grupo 150">
            <a:extLst>
              <a:ext uri="{FF2B5EF4-FFF2-40B4-BE49-F238E27FC236}">
                <a16:creationId xmlns:a16="http://schemas.microsoft.com/office/drawing/2014/main" id="{744EDC3E-360F-3880-4908-E237B206DFA4}"/>
              </a:ext>
            </a:extLst>
          </p:cNvPr>
          <p:cNvGrpSpPr/>
          <p:nvPr/>
        </p:nvGrpSpPr>
        <p:grpSpPr>
          <a:xfrm>
            <a:off x="3075715" y="4852302"/>
            <a:ext cx="2636557" cy="1933541"/>
            <a:chOff x="9059295" y="3127128"/>
            <a:chExt cx="2636557" cy="1933541"/>
          </a:xfrm>
        </p:grpSpPr>
        <p:grpSp>
          <p:nvGrpSpPr>
            <p:cNvPr id="152" name="Grupo 151">
              <a:extLst>
                <a:ext uri="{FF2B5EF4-FFF2-40B4-BE49-F238E27FC236}">
                  <a16:creationId xmlns:a16="http://schemas.microsoft.com/office/drawing/2014/main" id="{828D6591-7912-491A-4319-5F62942C78D4}"/>
                </a:ext>
              </a:extLst>
            </p:cNvPr>
            <p:cNvGrpSpPr/>
            <p:nvPr/>
          </p:nvGrpSpPr>
          <p:grpSpPr>
            <a:xfrm>
              <a:off x="9304583" y="3127128"/>
              <a:ext cx="2195987" cy="1933541"/>
              <a:chOff x="7814360" y="1110832"/>
              <a:chExt cx="2195987" cy="1780012"/>
            </a:xfrm>
          </p:grpSpPr>
          <p:sp>
            <p:nvSpPr>
              <p:cNvPr id="157" name="Rectángulo 156">
                <a:extLst>
                  <a:ext uri="{FF2B5EF4-FFF2-40B4-BE49-F238E27FC236}">
                    <a16:creationId xmlns:a16="http://schemas.microsoft.com/office/drawing/2014/main" id="{FC1CB3D0-3E4F-D1D2-C68D-C2E0DF9300FE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60" name="CuadroTexto 159">
                <a:extLst>
                  <a:ext uri="{FF2B5EF4-FFF2-40B4-BE49-F238E27FC236}">
                    <a16:creationId xmlns:a16="http://schemas.microsoft.com/office/drawing/2014/main" id="{6403B518-CA38-8970-79A5-51E7DDB25C62}"/>
                  </a:ext>
                </a:extLst>
              </p:cNvPr>
              <p:cNvSpPr txBox="1"/>
              <p:nvPr/>
            </p:nvSpPr>
            <p:spPr>
              <a:xfrm>
                <a:off x="7973412" y="1206227"/>
                <a:ext cx="1949604" cy="3116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Departamento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</p:grpSp>
        <p:sp>
          <p:nvSpPr>
            <p:cNvPr id="154" name="CuadroTexto 153">
              <a:extLst>
                <a:ext uri="{FF2B5EF4-FFF2-40B4-BE49-F238E27FC236}">
                  <a16:creationId xmlns:a16="http://schemas.microsoft.com/office/drawing/2014/main" id="{CAFC3387-4358-ADE5-E169-C973375F0867}"/>
                </a:ext>
              </a:extLst>
            </p:cNvPr>
            <p:cNvSpPr txBox="1"/>
            <p:nvPr/>
          </p:nvSpPr>
          <p:spPr>
            <a:xfrm>
              <a:off x="9059295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55%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Bogotá</a:t>
              </a:r>
            </a:p>
          </p:txBody>
        </p:sp>
        <p:sp>
          <p:nvSpPr>
            <p:cNvPr id="155" name="CuadroTexto 154">
              <a:extLst>
                <a:ext uri="{FF2B5EF4-FFF2-40B4-BE49-F238E27FC236}">
                  <a16:creationId xmlns:a16="http://schemas.microsoft.com/office/drawing/2014/main" id="{8D7686F1-3B8B-DA36-051B-5D2166D92CA4}"/>
                </a:ext>
              </a:extLst>
            </p:cNvPr>
            <p:cNvSpPr txBox="1"/>
            <p:nvPr/>
          </p:nvSpPr>
          <p:spPr>
            <a:xfrm>
              <a:off x="10477437" y="3565504"/>
              <a:ext cx="1218415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1%</a:t>
              </a:r>
              <a:r>
                <a:rPr lang="es-CO" sz="1400" b="1">
                  <a:solidFill>
                    <a:schemeClr val="bg1"/>
                  </a:solidFill>
                </a:rPr>
                <a:t>                           Otros</a:t>
              </a:r>
            </a:p>
          </p:txBody>
        </p:sp>
      </p:grpSp>
      <p:grpSp>
        <p:nvGrpSpPr>
          <p:cNvPr id="201" name="Grupo 200">
            <a:extLst>
              <a:ext uri="{FF2B5EF4-FFF2-40B4-BE49-F238E27FC236}">
                <a16:creationId xmlns:a16="http://schemas.microsoft.com/office/drawing/2014/main" id="{AFCA819A-3558-4122-208F-A8353C24E886}"/>
              </a:ext>
            </a:extLst>
          </p:cNvPr>
          <p:cNvGrpSpPr/>
          <p:nvPr/>
        </p:nvGrpSpPr>
        <p:grpSpPr>
          <a:xfrm>
            <a:off x="5243196" y="4842106"/>
            <a:ext cx="2857789" cy="1985915"/>
            <a:chOff x="5319396" y="4842106"/>
            <a:chExt cx="2857789" cy="1985915"/>
          </a:xfrm>
        </p:grpSpPr>
        <p:grpSp>
          <p:nvGrpSpPr>
            <p:cNvPr id="164" name="Grupo 163">
              <a:extLst>
                <a:ext uri="{FF2B5EF4-FFF2-40B4-BE49-F238E27FC236}">
                  <a16:creationId xmlns:a16="http://schemas.microsoft.com/office/drawing/2014/main" id="{F74DA0DC-3A1A-3A09-9A4D-3787292E78E2}"/>
                </a:ext>
              </a:extLst>
            </p:cNvPr>
            <p:cNvGrpSpPr/>
            <p:nvPr/>
          </p:nvGrpSpPr>
          <p:grpSpPr>
            <a:xfrm>
              <a:off x="5319396" y="4842106"/>
              <a:ext cx="2857789" cy="1957609"/>
              <a:chOff x="8885120" y="3127128"/>
              <a:chExt cx="2857789" cy="1957609"/>
            </a:xfrm>
          </p:grpSpPr>
          <p:grpSp>
            <p:nvGrpSpPr>
              <p:cNvPr id="165" name="Grupo 164">
                <a:extLst>
                  <a:ext uri="{FF2B5EF4-FFF2-40B4-BE49-F238E27FC236}">
                    <a16:creationId xmlns:a16="http://schemas.microsoft.com/office/drawing/2014/main" id="{1BC8A25B-5BAE-891A-8BC9-B9704C63BF05}"/>
                  </a:ext>
                </a:extLst>
              </p:cNvPr>
              <p:cNvGrpSpPr/>
              <p:nvPr/>
            </p:nvGrpSpPr>
            <p:grpSpPr>
              <a:xfrm>
                <a:off x="9049330" y="3127128"/>
                <a:ext cx="2655911" cy="1957609"/>
                <a:chOff x="7559107" y="1110832"/>
                <a:chExt cx="2655911" cy="1802169"/>
              </a:xfrm>
            </p:grpSpPr>
            <p:sp>
              <p:nvSpPr>
                <p:cNvPr id="168" name="Rectángulo 167">
                  <a:extLst>
                    <a:ext uri="{FF2B5EF4-FFF2-40B4-BE49-F238E27FC236}">
                      <a16:creationId xmlns:a16="http://schemas.microsoft.com/office/drawing/2014/main" id="{0EF501AE-9E23-BEEC-460E-7BBBA7B626F9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195987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70" name="Grupo 169">
                  <a:extLst>
                    <a:ext uri="{FF2B5EF4-FFF2-40B4-BE49-F238E27FC236}">
                      <a16:creationId xmlns:a16="http://schemas.microsoft.com/office/drawing/2014/main" id="{5A1AB4A0-8E08-474A-CA2C-BFA7DE5720F9}"/>
                    </a:ext>
                  </a:extLst>
                </p:cNvPr>
                <p:cNvGrpSpPr/>
                <p:nvPr/>
              </p:nvGrpSpPr>
              <p:grpSpPr>
                <a:xfrm>
                  <a:off x="7559107" y="1207829"/>
                  <a:ext cx="2655911" cy="1705172"/>
                  <a:chOff x="2994686" y="1214529"/>
                  <a:chExt cx="2655911" cy="1705172"/>
                </a:xfrm>
              </p:grpSpPr>
              <p:sp>
                <p:nvSpPr>
                  <p:cNvPr id="171" name="CuadroTexto 170">
                    <a:extLst>
                      <a:ext uri="{FF2B5EF4-FFF2-40B4-BE49-F238E27FC236}">
                        <a16:creationId xmlns:a16="http://schemas.microsoft.com/office/drawing/2014/main" id="{0E034A20-9ED4-9194-A163-23A8A7053CCD}"/>
                      </a:ext>
                    </a:extLst>
                  </p:cNvPr>
                  <p:cNvSpPr txBox="1"/>
                  <p:nvPr/>
                </p:nvSpPr>
                <p:spPr>
                  <a:xfrm>
                    <a:off x="3700993" y="1214529"/>
                    <a:ext cx="1949604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Localidad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72" name="CuadroTexto 171">
                    <a:extLst>
                      <a:ext uri="{FF2B5EF4-FFF2-40B4-BE49-F238E27FC236}">
                        <a16:creationId xmlns:a16="http://schemas.microsoft.com/office/drawing/2014/main" id="{65475318-07F7-1D49-5D8E-90896EA42FF9}"/>
                      </a:ext>
                    </a:extLst>
                  </p:cNvPr>
                  <p:cNvSpPr txBox="1"/>
                  <p:nvPr/>
                </p:nvSpPr>
                <p:spPr>
                  <a:xfrm>
                    <a:off x="2994686" y="2353025"/>
                    <a:ext cx="1323041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5%</a:t>
                    </a: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    Usme</a:t>
                    </a:r>
                  </a:p>
                </p:txBody>
              </p:sp>
            </p:grpSp>
          </p:grpSp>
          <p:sp>
            <p:nvSpPr>
              <p:cNvPr id="166" name="CuadroTexto 165">
                <a:extLst>
                  <a:ext uri="{FF2B5EF4-FFF2-40B4-BE49-F238E27FC236}">
                    <a16:creationId xmlns:a16="http://schemas.microsoft.com/office/drawing/2014/main" id="{3138F54D-FF4B-FD72-E48D-0A8DE8EAEA69}"/>
                  </a:ext>
                </a:extLst>
              </p:cNvPr>
              <p:cNvSpPr txBox="1"/>
              <p:nvPr/>
            </p:nvSpPr>
            <p:spPr>
              <a:xfrm>
                <a:off x="8885120" y="3565727"/>
                <a:ext cx="1692765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14%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 San </a:t>
                </a:r>
                <a:r>
                  <a:rPr lang="es-CO" sz="1400" b="1" dirty="0" err="1">
                    <a:solidFill>
                      <a:schemeClr val="bg1"/>
                    </a:solidFill>
                  </a:rPr>
                  <a:t>cristobal</a:t>
                </a:r>
                <a:endParaRPr lang="es-CO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7" name="CuadroTexto 166">
                <a:extLst>
                  <a:ext uri="{FF2B5EF4-FFF2-40B4-BE49-F238E27FC236}">
                    <a16:creationId xmlns:a16="http://schemas.microsoft.com/office/drawing/2014/main" id="{97F42F6A-4DE5-DEBF-B6A5-63CB5246956A}"/>
                  </a:ext>
                </a:extLst>
              </p:cNvPr>
              <p:cNvSpPr txBox="1"/>
              <p:nvPr/>
            </p:nvSpPr>
            <p:spPr>
              <a:xfrm>
                <a:off x="10498522" y="3549824"/>
                <a:ext cx="1244387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5%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Chapinero</a:t>
                </a:r>
              </a:p>
            </p:txBody>
          </p:sp>
        </p:grpSp>
        <p:sp>
          <p:nvSpPr>
            <p:cNvPr id="185" name="CuadroTexto 184">
              <a:extLst>
                <a:ext uri="{FF2B5EF4-FFF2-40B4-BE49-F238E27FC236}">
                  <a16:creationId xmlns:a16="http://schemas.microsoft.com/office/drawing/2014/main" id="{5E2DBBDF-E4DC-F741-2141-831045D7713C}"/>
                </a:ext>
              </a:extLst>
            </p:cNvPr>
            <p:cNvSpPr txBox="1"/>
            <p:nvPr/>
          </p:nvSpPr>
          <p:spPr>
            <a:xfrm>
              <a:off x="6625166" y="6212468"/>
              <a:ext cx="1323041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62%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 Sin </a:t>
              </a:r>
              <a:r>
                <a:rPr lang="es-CO" sz="1400" b="1" dirty="0" err="1">
                  <a:solidFill>
                    <a:schemeClr val="bg1"/>
                  </a:solidFill>
                </a:rPr>
                <a:t>Infor</a:t>
              </a:r>
              <a:endParaRPr lang="es-CO" sz="1400" b="1" dirty="0">
                <a:solidFill>
                  <a:schemeClr val="bg1"/>
                </a:solidFill>
              </a:endParaRPr>
            </a:p>
          </p:txBody>
        </p:sp>
        <p:pic>
          <p:nvPicPr>
            <p:cNvPr id="187" name="Imagen 186">
              <a:extLst>
                <a:ext uri="{FF2B5EF4-FFF2-40B4-BE49-F238E27FC236}">
                  <a16:creationId xmlns:a16="http://schemas.microsoft.com/office/drawing/2014/main" id="{5BD5D8E5-D0E7-9B6F-D6D2-3F4044910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401571" y="5793688"/>
              <a:ext cx="1266970" cy="620378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grpSp>
        <p:nvGrpSpPr>
          <p:cNvPr id="202" name="Grupo 201">
            <a:extLst>
              <a:ext uri="{FF2B5EF4-FFF2-40B4-BE49-F238E27FC236}">
                <a16:creationId xmlns:a16="http://schemas.microsoft.com/office/drawing/2014/main" id="{1C22C327-1E29-5B44-EF66-1E59B5CB3DB3}"/>
              </a:ext>
            </a:extLst>
          </p:cNvPr>
          <p:cNvGrpSpPr/>
          <p:nvPr/>
        </p:nvGrpSpPr>
        <p:grpSpPr>
          <a:xfrm>
            <a:off x="7528734" y="4834201"/>
            <a:ext cx="2867011" cy="1957609"/>
            <a:chOff x="8071595" y="4834201"/>
            <a:chExt cx="3008704" cy="1957609"/>
          </a:xfrm>
        </p:grpSpPr>
        <p:grpSp>
          <p:nvGrpSpPr>
            <p:cNvPr id="190" name="Grupo 189">
              <a:extLst>
                <a:ext uri="{FF2B5EF4-FFF2-40B4-BE49-F238E27FC236}">
                  <a16:creationId xmlns:a16="http://schemas.microsoft.com/office/drawing/2014/main" id="{09678E9A-005F-DB53-C311-D4359D58593D}"/>
                </a:ext>
              </a:extLst>
            </p:cNvPr>
            <p:cNvGrpSpPr/>
            <p:nvPr/>
          </p:nvGrpSpPr>
          <p:grpSpPr>
            <a:xfrm>
              <a:off x="8071595" y="4834201"/>
              <a:ext cx="3008704" cy="1957609"/>
              <a:chOff x="8845727" y="3127128"/>
              <a:chExt cx="3008704" cy="1957609"/>
            </a:xfrm>
          </p:grpSpPr>
          <p:grpSp>
            <p:nvGrpSpPr>
              <p:cNvPr id="191" name="Grupo 190">
                <a:extLst>
                  <a:ext uri="{FF2B5EF4-FFF2-40B4-BE49-F238E27FC236}">
                    <a16:creationId xmlns:a16="http://schemas.microsoft.com/office/drawing/2014/main" id="{D54D87B4-0900-2142-C8D3-1C23F6580632}"/>
                  </a:ext>
                </a:extLst>
              </p:cNvPr>
              <p:cNvGrpSpPr/>
              <p:nvPr/>
            </p:nvGrpSpPr>
            <p:grpSpPr>
              <a:xfrm>
                <a:off x="8845727" y="3127128"/>
                <a:ext cx="3008704" cy="1957609"/>
                <a:chOff x="7355504" y="1110832"/>
                <a:chExt cx="3008704" cy="1802169"/>
              </a:xfrm>
            </p:grpSpPr>
            <p:sp>
              <p:nvSpPr>
                <p:cNvPr id="194" name="Rectángulo 193">
                  <a:extLst>
                    <a:ext uri="{FF2B5EF4-FFF2-40B4-BE49-F238E27FC236}">
                      <a16:creationId xmlns:a16="http://schemas.microsoft.com/office/drawing/2014/main" id="{E234B3B5-FAEC-D403-FDDA-48CEE80E4252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368574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95" name="Grupo 194">
                  <a:extLst>
                    <a:ext uri="{FF2B5EF4-FFF2-40B4-BE49-F238E27FC236}">
                      <a16:creationId xmlns:a16="http://schemas.microsoft.com/office/drawing/2014/main" id="{7BD979CB-BDC3-9410-C03F-A01E469B6BE4}"/>
                    </a:ext>
                  </a:extLst>
                </p:cNvPr>
                <p:cNvGrpSpPr/>
                <p:nvPr/>
              </p:nvGrpSpPr>
              <p:grpSpPr>
                <a:xfrm>
                  <a:off x="7355504" y="1207828"/>
                  <a:ext cx="3008704" cy="1705173"/>
                  <a:chOff x="2791083" y="1214528"/>
                  <a:chExt cx="3008704" cy="1705173"/>
                </a:xfrm>
              </p:grpSpPr>
              <p:sp>
                <p:nvSpPr>
                  <p:cNvPr id="197" name="CuadroTexto 196">
                    <a:extLst>
                      <a:ext uri="{FF2B5EF4-FFF2-40B4-BE49-F238E27FC236}">
                        <a16:creationId xmlns:a16="http://schemas.microsoft.com/office/drawing/2014/main" id="{3A845C6E-FB6D-AF7E-1076-1E7CED299A53}"/>
                      </a:ext>
                    </a:extLst>
                  </p:cNvPr>
                  <p:cNvSpPr txBox="1"/>
                  <p:nvPr/>
                </p:nvSpPr>
                <p:spPr>
                  <a:xfrm>
                    <a:off x="3225997" y="1214528"/>
                    <a:ext cx="2573790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Entidad Financieras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98" name="CuadroTexto 197">
                    <a:extLst>
                      <a:ext uri="{FF2B5EF4-FFF2-40B4-BE49-F238E27FC236}">
                        <a16:creationId xmlns:a16="http://schemas.microsoft.com/office/drawing/2014/main" id="{A98BCFD8-49E7-BD14-EB38-B932C28933E7}"/>
                      </a:ext>
                    </a:extLst>
                  </p:cNvPr>
                  <p:cNvSpPr txBox="1"/>
                  <p:nvPr/>
                </p:nvSpPr>
                <p:spPr>
                  <a:xfrm>
                    <a:off x="2791083" y="2353025"/>
                    <a:ext cx="2440539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  14%</a:t>
                    </a: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           FNA</a:t>
                    </a:r>
                  </a:p>
                </p:txBody>
              </p:sp>
            </p:grpSp>
          </p:grpSp>
          <p:sp>
            <p:nvSpPr>
              <p:cNvPr id="192" name="CuadroTexto 191">
                <a:extLst>
                  <a:ext uri="{FF2B5EF4-FFF2-40B4-BE49-F238E27FC236}">
                    <a16:creationId xmlns:a16="http://schemas.microsoft.com/office/drawing/2014/main" id="{FE961ED6-BB0C-B5E9-C7AF-0C330D1B89DE}"/>
                  </a:ext>
                </a:extLst>
              </p:cNvPr>
              <p:cNvSpPr txBox="1"/>
              <p:nvPr/>
            </p:nvSpPr>
            <p:spPr>
              <a:xfrm>
                <a:off x="9418597" y="3567846"/>
                <a:ext cx="1337256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45%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    Colsubsidio</a:t>
                </a:r>
              </a:p>
            </p:txBody>
          </p:sp>
          <p:sp>
            <p:nvSpPr>
              <p:cNvPr id="193" name="CuadroTexto 192">
                <a:extLst>
                  <a:ext uri="{FF2B5EF4-FFF2-40B4-BE49-F238E27FC236}">
                    <a16:creationId xmlns:a16="http://schemas.microsoft.com/office/drawing/2014/main" id="{3CF022F2-5DF2-45E2-B0AE-98A058F78C7A}"/>
                  </a:ext>
                </a:extLst>
              </p:cNvPr>
              <p:cNvSpPr txBox="1"/>
              <p:nvPr/>
            </p:nvSpPr>
            <p:spPr>
              <a:xfrm>
                <a:off x="10498522" y="3549824"/>
                <a:ext cx="1244387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21%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Davivienda</a:t>
                </a:r>
              </a:p>
            </p:txBody>
          </p:sp>
        </p:grpSp>
        <p:sp>
          <p:nvSpPr>
            <p:cNvPr id="199" name="CuadroTexto 198">
              <a:extLst>
                <a:ext uri="{FF2B5EF4-FFF2-40B4-BE49-F238E27FC236}">
                  <a16:creationId xmlns:a16="http://schemas.microsoft.com/office/drawing/2014/main" id="{8EE6F21B-0B66-756D-6FEB-D2AA66905F6F}"/>
                </a:ext>
              </a:extLst>
            </p:cNvPr>
            <p:cNvSpPr txBox="1"/>
            <p:nvPr/>
          </p:nvSpPr>
          <p:spPr>
            <a:xfrm>
              <a:off x="9366872" y="6140046"/>
              <a:ext cx="1323041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  20%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      Otros</a:t>
              </a:r>
            </a:p>
          </p:txBody>
        </p:sp>
      </p:grpSp>
      <p:pic>
        <p:nvPicPr>
          <p:cNvPr id="205" name="Imagen 204">
            <a:extLst>
              <a:ext uri="{FF2B5EF4-FFF2-40B4-BE49-F238E27FC236}">
                <a16:creationId xmlns:a16="http://schemas.microsoft.com/office/drawing/2014/main" id="{F0F7B723-EAA5-7C54-F5FE-06B9BAAEE7C6}"/>
              </a:ext>
            </a:extLst>
          </p:cNvPr>
          <p:cNvPicPr>
            <a:picLocks noChangeAspect="1"/>
          </p:cNvPicPr>
          <p:nvPr/>
        </p:nvPicPr>
        <p:blipFill>
          <a:blip r:embed="rId22">
            <a:duotone>
              <a:prstClr val="black"/>
              <a:schemeClr val="tx1">
                <a:lumMod val="75000"/>
                <a:lumOff val="2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4538" y="5846263"/>
            <a:ext cx="673981" cy="673981"/>
          </a:xfrm>
          <a:prstGeom prst="rect">
            <a:avLst/>
          </a:prstGeom>
        </p:spPr>
      </p:pic>
      <p:grpSp>
        <p:nvGrpSpPr>
          <p:cNvPr id="208" name="Grupo 207">
            <a:extLst>
              <a:ext uri="{FF2B5EF4-FFF2-40B4-BE49-F238E27FC236}">
                <a16:creationId xmlns:a16="http://schemas.microsoft.com/office/drawing/2014/main" id="{60038F9E-D53C-E35E-6CE9-1CE6B053ADC5}"/>
              </a:ext>
            </a:extLst>
          </p:cNvPr>
          <p:cNvGrpSpPr/>
          <p:nvPr/>
        </p:nvGrpSpPr>
        <p:grpSpPr>
          <a:xfrm>
            <a:off x="10245555" y="853892"/>
            <a:ext cx="1956550" cy="5540381"/>
            <a:chOff x="7793864" y="1110832"/>
            <a:chExt cx="1816602" cy="1780012"/>
          </a:xfrm>
        </p:grpSpPr>
        <p:sp>
          <p:nvSpPr>
            <p:cNvPr id="212" name="Rectángulo 211">
              <a:extLst>
                <a:ext uri="{FF2B5EF4-FFF2-40B4-BE49-F238E27FC236}">
                  <a16:creationId xmlns:a16="http://schemas.microsoft.com/office/drawing/2014/main" id="{A71F76E9-7EA5-CF11-C0E5-D2A0FBB7408B}"/>
                </a:ext>
              </a:extLst>
            </p:cNvPr>
            <p:cNvSpPr/>
            <p:nvPr/>
          </p:nvSpPr>
          <p:spPr>
            <a:xfrm>
              <a:off x="7814360" y="1110832"/>
              <a:ext cx="1666611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5" name="CuadroTexto 214">
              <a:extLst>
                <a:ext uri="{FF2B5EF4-FFF2-40B4-BE49-F238E27FC236}">
                  <a16:creationId xmlns:a16="http://schemas.microsoft.com/office/drawing/2014/main" id="{2CE8F79F-73D9-A9B7-35B7-C6907E37E2BE}"/>
                </a:ext>
              </a:extLst>
            </p:cNvPr>
            <p:cNvSpPr txBox="1"/>
            <p:nvPr/>
          </p:nvSpPr>
          <p:spPr>
            <a:xfrm>
              <a:off x="7793864" y="1161252"/>
              <a:ext cx="1816602" cy="1141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1600">
                  <a:solidFill>
                    <a:srgbClr val="FFC000"/>
                  </a:solidFill>
                  <a:latin typeface="KG Red Hands" panose="02000505000000020004" pitchFamily="2" charset="0"/>
                </a:rPr>
                <a:t>Top Empresas</a:t>
              </a:r>
              <a:endParaRPr lang="es-ES" sz="1600">
                <a:solidFill>
                  <a:srgbClr val="FFC000"/>
                </a:solidFill>
              </a:endParaRPr>
            </a:p>
          </p:txBody>
        </p:sp>
        <p:sp>
          <p:nvSpPr>
            <p:cNvPr id="214" name="CuadroTexto 213">
              <a:extLst>
                <a:ext uri="{FF2B5EF4-FFF2-40B4-BE49-F238E27FC236}">
                  <a16:creationId xmlns:a16="http://schemas.microsoft.com/office/drawing/2014/main" id="{5D78A933-0646-866E-4A35-E657BC9C9B19}"/>
                </a:ext>
              </a:extLst>
            </p:cNvPr>
            <p:cNvSpPr txBox="1"/>
            <p:nvPr/>
          </p:nvSpPr>
          <p:spPr>
            <a:xfrm>
              <a:off x="7830402" y="1354030"/>
              <a:ext cx="1689688" cy="3263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500" b="1" dirty="0">
                  <a:solidFill>
                    <a:schemeClr val="bg1"/>
                  </a:solidFill>
                </a:rPr>
                <a:t>CONSORCIO EXPRESS S A S	15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COLSUBSIDIO	11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MEDICALL TALENTO HUMANO	6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ADECCO SERVICIOS COLOMBI	5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MANUFACTURAS ELIOT S A S	3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PROMOAMBIENTAL DISTRITO	3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SECURITAS COLOMBIA S A	3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SERVI POSTALES NACIONALES	3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JERONIMO MARTINS COLOM	3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TELEPERFORMANCE	3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ADECCO COLOMBIA S A	2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	                               </a:t>
              </a: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288E4D84-E6C9-EFB7-8608-655A90EE8EE0}"/>
              </a:ext>
            </a:extLst>
          </p:cNvPr>
          <p:cNvSpPr txBox="1"/>
          <p:nvPr/>
        </p:nvSpPr>
        <p:spPr>
          <a:xfrm>
            <a:off x="6773529" y="4056451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3%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 Cuatro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2E2244F-21E9-019D-3464-D11BD72565FC}"/>
              </a:ext>
            </a:extLst>
          </p:cNvPr>
          <p:cNvSpPr txBox="1"/>
          <p:nvPr/>
        </p:nvSpPr>
        <p:spPr>
          <a:xfrm>
            <a:off x="2446074" y="3853817"/>
            <a:ext cx="117290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5%</a:t>
            </a:r>
            <a:r>
              <a:rPr lang="es-CO" sz="1200" b="1" dirty="0">
                <a:solidFill>
                  <a:schemeClr val="bg1"/>
                </a:solidFill>
              </a:rPr>
              <a:t> Monoparental</a:t>
            </a:r>
          </a:p>
          <a:p>
            <a:r>
              <a:rPr lang="es-CO" sz="1200" b="1" dirty="0">
                <a:solidFill>
                  <a:schemeClr val="bg1"/>
                </a:solidFill>
              </a:rPr>
              <a:t>Ampliada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AE7BD3B-9F11-DE33-B400-EF43752CC20B}"/>
              </a:ext>
            </a:extLst>
          </p:cNvPr>
          <p:cNvSpPr txBox="1"/>
          <p:nvPr/>
        </p:nvSpPr>
        <p:spPr>
          <a:xfrm>
            <a:off x="3218372" y="4258748"/>
            <a:ext cx="154680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3</a:t>
            </a:r>
            <a:r>
              <a:rPr lang="es-CO" sz="1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%</a:t>
            </a:r>
          </a:p>
          <a:p>
            <a:r>
              <a:rPr lang="es-CO" sz="1200" b="1" dirty="0">
                <a:solidFill>
                  <a:schemeClr val="bg1"/>
                </a:solidFill>
              </a:rPr>
              <a:t>  Pareja Conyugal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B4052D5-3176-C911-746D-19955815D998}"/>
              </a:ext>
            </a:extLst>
          </p:cNvPr>
          <p:cNvSpPr txBox="1"/>
          <p:nvPr/>
        </p:nvSpPr>
        <p:spPr>
          <a:xfrm>
            <a:off x="10330342" y="6461181"/>
            <a:ext cx="14292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100" dirty="0">
                <a:solidFill>
                  <a:srgbClr val="FFC000"/>
                </a:solidFill>
                <a:latin typeface="KG Red Hands" panose="02000505000000020004" pitchFamily="2" charset="0"/>
              </a:rPr>
              <a:t>*Corte 15/01/2026</a:t>
            </a:r>
            <a:endParaRPr lang="es-ES" sz="11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304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E2BB8-85BC-E4FA-B940-AEE79ECBA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EC1BB220-DBBD-FB30-0AE4-4E16B698A896}"/>
              </a:ext>
            </a:extLst>
          </p:cNvPr>
          <p:cNvCxnSpPr>
            <a:cxnSpLocks/>
          </p:cNvCxnSpPr>
          <p:nvPr/>
        </p:nvCxnSpPr>
        <p:spPr>
          <a:xfrm flipH="1">
            <a:off x="0" y="645614"/>
            <a:ext cx="10809007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uadroTexto 85">
            <a:extLst>
              <a:ext uri="{FF2B5EF4-FFF2-40B4-BE49-F238E27FC236}">
                <a16:creationId xmlns:a16="http://schemas.microsoft.com/office/drawing/2014/main" id="{8F8F7D4C-94A7-4AA7-76BF-BA5D26F02B14}"/>
              </a:ext>
            </a:extLst>
          </p:cNvPr>
          <p:cNvSpPr txBox="1"/>
          <p:nvPr/>
        </p:nvSpPr>
        <p:spPr>
          <a:xfrm>
            <a:off x="-128399" y="120715"/>
            <a:ext cx="95771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>
                <a:solidFill>
                  <a:schemeClr val="bg1"/>
                </a:solidFill>
                <a:latin typeface="KG Red Hands" panose="02000505000000020004" pitchFamily="2" charset="0"/>
              </a:rPr>
              <a:t>      Los Nogales</a:t>
            </a:r>
            <a:endParaRPr lang="es-ES" sz="240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03EB7446-43B1-E3F0-A7ED-BFDB3CB1EB60}"/>
              </a:ext>
              <a:ext uri="{147F2762-F138-4A5C-976F-8EAC2B608ADB}">
                <a16:predDERef xmlns:a16="http://schemas.microsoft.com/office/drawing/2014/main" pred="{95DEFF95-1524-40DB-8538-DE0C2D5BEC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3398838"/>
            <a:ext cx="555625" cy="49371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66F5A10-28D2-976B-CF4B-5865A57AC7B9}"/>
              </a:ext>
              <a:ext uri="{147F2762-F138-4A5C-976F-8EAC2B608ADB}">
                <a16:predDERef xmlns:a16="http://schemas.microsoft.com/office/drawing/2014/main" pred="{95FFDEC5-E647-4E60-9FB8-32349ACC1E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087813"/>
            <a:ext cx="555625" cy="46196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915A327E-8CDB-581A-19D8-672AAC77B675}"/>
              </a:ext>
              <a:ext uri="{147F2762-F138-4A5C-976F-8EAC2B608ADB}">
                <a16:predDERef xmlns:a16="http://schemas.microsoft.com/office/drawing/2014/main" pred="{D53D0C4A-FE71-44C0-97B3-1EA296D3DCE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814888"/>
            <a:ext cx="555625" cy="41116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89A095A0-8C26-9B3C-E89D-3085033068C9}"/>
              </a:ext>
              <a:ext uri="{147F2762-F138-4A5C-976F-8EAC2B608ADB}">
                <a16:predDERef xmlns:a16="http://schemas.microsoft.com/office/drawing/2014/main" pred="{7008BA42-7365-4AD1-B913-F26820CE47E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1775" y="5427663"/>
            <a:ext cx="465138" cy="433387"/>
          </a:xfrm>
          <a:prstGeom prst="rect">
            <a:avLst/>
          </a:prstGeom>
        </p:spPr>
      </p:pic>
      <p:grpSp>
        <p:nvGrpSpPr>
          <p:cNvPr id="135" name="Grupo 134">
            <a:extLst>
              <a:ext uri="{FF2B5EF4-FFF2-40B4-BE49-F238E27FC236}">
                <a16:creationId xmlns:a16="http://schemas.microsoft.com/office/drawing/2014/main" id="{ACDF5C2C-DB94-1BCC-ABBD-AB7F8743880C}"/>
              </a:ext>
            </a:extLst>
          </p:cNvPr>
          <p:cNvGrpSpPr/>
          <p:nvPr/>
        </p:nvGrpSpPr>
        <p:grpSpPr>
          <a:xfrm>
            <a:off x="5564187" y="853892"/>
            <a:ext cx="2305994" cy="1780012"/>
            <a:chOff x="5353656" y="1110832"/>
            <a:chExt cx="2305994" cy="1780012"/>
          </a:xfrm>
        </p:grpSpPr>
        <p:sp>
          <p:nvSpPr>
            <p:cNvPr id="58" name="Rectángulo 57">
              <a:extLst>
                <a:ext uri="{FF2B5EF4-FFF2-40B4-BE49-F238E27FC236}">
                  <a16:creationId xmlns:a16="http://schemas.microsoft.com/office/drawing/2014/main" id="{41802035-4CB2-6A4A-9738-00B8615C76C4}"/>
                </a:ext>
              </a:extLst>
            </p:cNvPr>
            <p:cNvSpPr/>
            <p:nvPr/>
          </p:nvSpPr>
          <p:spPr>
            <a:xfrm>
              <a:off x="5353656" y="1110832"/>
              <a:ext cx="2195987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43" name="Grupo 42">
              <a:extLst>
                <a:ext uri="{FF2B5EF4-FFF2-40B4-BE49-F238E27FC236}">
                  <a16:creationId xmlns:a16="http://schemas.microsoft.com/office/drawing/2014/main" id="{E5042AAC-8BF4-83F1-5F1B-E5194538294C}"/>
                </a:ext>
              </a:extLst>
            </p:cNvPr>
            <p:cNvGrpSpPr/>
            <p:nvPr/>
          </p:nvGrpSpPr>
          <p:grpSpPr>
            <a:xfrm>
              <a:off x="5353657" y="1223137"/>
              <a:ext cx="2083693" cy="1630468"/>
              <a:chOff x="3249940" y="1229837"/>
              <a:chExt cx="2083693" cy="1630468"/>
            </a:xfrm>
          </p:grpSpPr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F2AC6761-B540-9A10-5E88-A87ECC6A1A9E}"/>
                  </a:ext>
                </a:extLst>
              </p:cNvPr>
              <p:cNvSpPr txBox="1"/>
              <p:nvPr/>
            </p:nvSpPr>
            <p:spPr>
              <a:xfrm>
                <a:off x="3552927" y="1229837"/>
                <a:ext cx="178070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Rango Salario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09651823-A870-A2FB-845D-2915801FD693}"/>
                  </a:ext>
                </a:extLst>
              </p:cNvPr>
              <p:cNvSpPr txBox="1"/>
              <p:nvPr/>
            </p:nvSpPr>
            <p:spPr>
              <a:xfrm>
                <a:off x="3249940" y="2306307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67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Mas  4 </a:t>
                </a:r>
                <a:r>
                  <a:rPr lang="es-CO" sz="1200" b="1" dirty="0" err="1">
                    <a:solidFill>
                      <a:schemeClr val="bg1"/>
                    </a:solidFill>
                  </a:rPr>
                  <a:t>smlv</a:t>
                </a:r>
                <a:endParaRPr lang="es-CO" sz="12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53" name="Imagen 52">
              <a:extLst>
                <a:ext uri="{FF2B5EF4-FFF2-40B4-BE49-F238E27FC236}">
                  <a16:creationId xmlns:a16="http://schemas.microsoft.com/office/drawing/2014/main" id="{5DBB774D-CF72-A749-CE7A-70E81452266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12042" y="1623254"/>
              <a:ext cx="641350" cy="641350"/>
            </a:xfrm>
            <a:prstGeom prst="rect">
              <a:avLst/>
            </a:prstGeom>
          </p:spPr>
        </p:pic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525FD7B3-99EE-A7DB-AB16-FE8528AC3102}"/>
                </a:ext>
              </a:extLst>
            </p:cNvPr>
            <p:cNvSpPr txBox="1"/>
            <p:nvPr/>
          </p:nvSpPr>
          <p:spPr>
            <a:xfrm>
              <a:off x="6280936" y="2289285"/>
              <a:ext cx="1378714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33</a:t>
              </a:r>
              <a:r>
                <a:rPr lang="es-CO" sz="18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Menos de 4 </a:t>
              </a:r>
              <a:r>
                <a:rPr lang="es-CO" sz="1200" b="1" dirty="0" err="1">
                  <a:solidFill>
                    <a:schemeClr val="bg1"/>
                  </a:solidFill>
                </a:rPr>
                <a:t>smlv</a:t>
              </a:r>
              <a:endParaRPr lang="es-CO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F9311976-F4A7-19FF-63AC-0AAD762FA55B}"/>
              </a:ext>
            </a:extLst>
          </p:cNvPr>
          <p:cNvGrpSpPr/>
          <p:nvPr/>
        </p:nvGrpSpPr>
        <p:grpSpPr>
          <a:xfrm>
            <a:off x="3320687" y="874756"/>
            <a:ext cx="1941094" cy="1759148"/>
            <a:chOff x="3224463" y="1110832"/>
            <a:chExt cx="1941094" cy="1759148"/>
          </a:xfrm>
        </p:grpSpPr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EE8A9313-2D97-C368-7828-6A7079511C9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36596" y="1677993"/>
              <a:ext cx="721895" cy="721895"/>
            </a:xfrm>
            <a:prstGeom prst="rect">
              <a:avLst/>
            </a:prstGeom>
          </p:spPr>
        </p:pic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4B0A792D-831A-235A-084D-75874101A1DA}"/>
                </a:ext>
              </a:extLst>
            </p:cNvPr>
            <p:cNvGrpSpPr/>
            <p:nvPr/>
          </p:nvGrpSpPr>
          <p:grpSpPr>
            <a:xfrm>
              <a:off x="3420553" y="1223137"/>
              <a:ext cx="1609350" cy="1516670"/>
              <a:chOff x="3420553" y="1223137"/>
              <a:chExt cx="1609350" cy="1516670"/>
            </a:xfrm>
          </p:grpSpPr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8A09D7E1-D2A8-0295-19F1-DB3C9EBB00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74608" y="1613811"/>
                <a:ext cx="723600" cy="723600"/>
              </a:xfrm>
              <a:prstGeom prst="rect">
                <a:avLst/>
              </a:prstGeom>
            </p:spPr>
          </p:pic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181054C5-31E1-2A34-8F13-9C14A87AB7A0}"/>
                  </a:ext>
                </a:extLst>
              </p:cNvPr>
              <p:cNvSpPr txBox="1"/>
              <p:nvPr/>
            </p:nvSpPr>
            <p:spPr>
              <a:xfrm>
                <a:off x="3685253" y="1223137"/>
                <a:ext cx="1098946" cy="345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Género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397F5B49-C84B-65ED-8210-3C57D02E70AE}"/>
                  </a:ext>
                </a:extLst>
              </p:cNvPr>
              <p:cNvSpPr txBox="1"/>
              <p:nvPr/>
            </p:nvSpPr>
            <p:spPr>
              <a:xfrm>
                <a:off x="3420553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4</a:t>
                </a:r>
                <a:r>
                  <a:rPr lang="es-CO" sz="1800" b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5%</a:t>
                </a:r>
                <a:endParaRPr lang="es-CO" sz="1800" b="1">
                  <a:solidFill>
                    <a:srgbClr val="FFC000"/>
                  </a:solidFill>
                </a:endParaRPr>
              </a:p>
            </p:txBody>
          </p:sp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614EA9CB-4EDE-E9BB-2008-1772503B2E53}"/>
                  </a:ext>
                </a:extLst>
              </p:cNvPr>
              <p:cNvSpPr txBox="1"/>
              <p:nvPr/>
            </p:nvSpPr>
            <p:spPr>
              <a:xfrm>
                <a:off x="4308008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55</a:t>
                </a:r>
                <a:r>
                  <a:rPr lang="es-CO" sz="1800" b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  <a:endParaRPr lang="es-CO" sz="1800" b="1">
                  <a:solidFill>
                    <a:srgbClr val="FFC000"/>
                  </a:solidFill>
                </a:endParaRPr>
              </a:p>
            </p:txBody>
          </p:sp>
        </p:grp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62803A6B-6899-53B9-7784-59D395F8A2E0}"/>
                </a:ext>
              </a:extLst>
            </p:cNvPr>
            <p:cNvSpPr/>
            <p:nvPr/>
          </p:nvSpPr>
          <p:spPr>
            <a:xfrm>
              <a:off x="3224463" y="1110832"/>
              <a:ext cx="1941094" cy="175914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78" name="CuadroTexto 77">
            <a:extLst>
              <a:ext uri="{FF2B5EF4-FFF2-40B4-BE49-F238E27FC236}">
                <a16:creationId xmlns:a16="http://schemas.microsoft.com/office/drawing/2014/main" id="{AAC51268-1E9E-D5C3-AE16-1C60CFC79934}"/>
              </a:ext>
            </a:extLst>
          </p:cNvPr>
          <p:cNvSpPr txBox="1"/>
          <p:nvPr/>
        </p:nvSpPr>
        <p:spPr>
          <a:xfrm>
            <a:off x="1376075" y="3222417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11%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Joven</a:t>
            </a:r>
          </a:p>
        </p:txBody>
      </p: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A4F1104B-424F-5DFC-9A46-902637FEDBDB}"/>
              </a:ext>
            </a:extLst>
          </p:cNvPr>
          <p:cNvGrpSpPr/>
          <p:nvPr/>
        </p:nvGrpSpPr>
        <p:grpSpPr>
          <a:xfrm>
            <a:off x="-155207" y="2771278"/>
            <a:ext cx="2688149" cy="1952067"/>
            <a:chOff x="435343" y="3108160"/>
            <a:chExt cx="2688149" cy="1952067"/>
          </a:xfrm>
        </p:grpSpPr>
        <p:grpSp>
          <p:nvGrpSpPr>
            <p:cNvPr id="69" name="Grupo 68">
              <a:extLst>
                <a:ext uri="{FF2B5EF4-FFF2-40B4-BE49-F238E27FC236}">
                  <a16:creationId xmlns:a16="http://schemas.microsoft.com/office/drawing/2014/main" id="{7B40414A-629D-BC68-9584-920E8358FE0D}"/>
                </a:ext>
              </a:extLst>
            </p:cNvPr>
            <p:cNvGrpSpPr/>
            <p:nvPr/>
          </p:nvGrpSpPr>
          <p:grpSpPr>
            <a:xfrm>
              <a:off x="457829" y="3108160"/>
              <a:ext cx="2665663" cy="1952067"/>
              <a:chOff x="7590765" y="1110832"/>
              <a:chExt cx="2665663" cy="1780012"/>
            </a:xfrm>
          </p:grpSpPr>
          <p:sp>
            <p:nvSpPr>
              <p:cNvPr id="70" name="Rectángulo 69">
                <a:extLst>
                  <a:ext uri="{FF2B5EF4-FFF2-40B4-BE49-F238E27FC236}">
                    <a16:creationId xmlns:a16="http://schemas.microsoft.com/office/drawing/2014/main" id="{C9649180-08D4-3485-2872-05EB6CC375B2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71" name="Grupo 70">
                <a:extLst>
                  <a:ext uri="{FF2B5EF4-FFF2-40B4-BE49-F238E27FC236}">
                    <a16:creationId xmlns:a16="http://schemas.microsoft.com/office/drawing/2014/main" id="{8234D1E3-0278-8FF7-176D-E435D0776FEF}"/>
                  </a:ext>
                </a:extLst>
              </p:cNvPr>
              <p:cNvGrpSpPr/>
              <p:nvPr/>
            </p:nvGrpSpPr>
            <p:grpSpPr>
              <a:xfrm>
                <a:off x="7590765" y="1223137"/>
                <a:ext cx="2024519" cy="1655939"/>
                <a:chOff x="3026344" y="1229837"/>
                <a:chExt cx="2024519" cy="1655939"/>
              </a:xfrm>
            </p:grpSpPr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1DFAFAC2-3BCF-7061-FACE-B569D3EF9904}"/>
                    </a:ext>
                  </a:extLst>
                </p:cNvPr>
                <p:cNvSpPr txBox="1"/>
                <p:nvPr/>
              </p:nvSpPr>
              <p:spPr>
                <a:xfrm>
                  <a:off x="3645002" y="1229837"/>
                  <a:ext cx="1405861" cy="3087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Segmento 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A6884887-76D6-CB82-027D-3C74E7CF7CE9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12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7%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Básico</a:t>
                  </a:r>
                </a:p>
              </p:txBody>
            </p:sp>
          </p:grpSp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CA946177-2946-ADCC-A716-5784E93D10FA}"/>
                  </a:ext>
                </a:extLst>
              </p:cNvPr>
              <p:cNvSpPr txBox="1"/>
              <p:nvPr/>
            </p:nvSpPr>
            <p:spPr>
              <a:xfrm>
                <a:off x="9083519" y="2317778"/>
                <a:ext cx="1172909" cy="5612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Alto</a:t>
                </a:r>
              </a:p>
            </p:txBody>
          </p:sp>
        </p:grpSp>
        <p:sp>
          <p:nvSpPr>
            <p:cNvPr id="77" name="CuadroTexto 76">
              <a:extLst>
                <a:ext uri="{FF2B5EF4-FFF2-40B4-BE49-F238E27FC236}">
                  <a16:creationId xmlns:a16="http://schemas.microsoft.com/office/drawing/2014/main" id="{D7E8A0BC-E5E1-4195-378E-118813A26DD3}"/>
                </a:ext>
              </a:extLst>
            </p:cNvPr>
            <p:cNvSpPr txBox="1"/>
            <p:nvPr/>
          </p:nvSpPr>
          <p:spPr>
            <a:xfrm>
              <a:off x="435343" y="3559299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80%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Medio</a:t>
              </a:r>
            </a:p>
          </p:txBody>
        </p:sp>
        <p:pic>
          <p:nvPicPr>
            <p:cNvPr id="80" name="Imagen 79">
              <a:extLst>
                <a:ext uri="{FF2B5EF4-FFF2-40B4-BE49-F238E27FC236}">
                  <a16:creationId xmlns:a16="http://schemas.microsoft.com/office/drawing/2014/main" id="{FBD0F9C2-DA6E-2180-0EDA-8BF396DCCD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LineDrawing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90862" y="3871141"/>
              <a:ext cx="680857" cy="680857"/>
            </a:xfrm>
            <a:prstGeom prst="rect">
              <a:avLst/>
            </a:prstGeom>
          </p:spPr>
        </p:pic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C2B72518-B244-6A38-4A94-97FB90E41A9B}"/>
              </a:ext>
            </a:extLst>
          </p:cNvPr>
          <p:cNvGrpSpPr/>
          <p:nvPr/>
        </p:nvGrpSpPr>
        <p:grpSpPr>
          <a:xfrm>
            <a:off x="2169335" y="2774370"/>
            <a:ext cx="3283055" cy="1963483"/>
            <a:chOff x="2759885" y="3111252"/>
            <a:chExt cx="3283055" cy="1963483"/>
          </a:xfrm>
        </p:grpSpPr>
        <p:sp>
          <p:nvSpPr>
            <p:cNvPr id="88" name="CuadroTexto 87">
              <a:extLst>
                <a:ext uri="{FF2B5EF4-FFF2-40B4-BE49-F238E27FC236}">
                  <a16:creationId xmlns:a16="http://schemas.microsoft.com/office/drawing/2014/main" id="{0CA4724D-5760-8B4C-60A4-F0645A9F4608}"/>
                </a:ext>
              </a:extLst>
            </p:cNvPr>
            <p:cNvSpPr txBox="1"/>
            <p:nvPr/>
          </p:nvSpPr>
          <p:spPr>
            <a:xfrm>
              <a:off x="2759885" y="3531697"/>
              <a:ext cx="154680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   35%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             Sin Grupo</a:t>
              </a:r>
            </a:p>
          </p:txBody>
        </p:sp>
        <p:grpSp>
          <p:nvGrpSpPr>
            <p:cNvPr id="124" name="Grupo 123">
              <a:extLst>
                <a:ext uri="{FF2B5EF4-FFF2-40B4-BE49-F238E27FC236}">
                  <a16:creationId xmlns:a16="http://schemas.microsoft.com/office/drawing/2014/main" id="{DDC8E58A-2B95-13C4-9CF5-C3D144FA44B4}"/>
                </a:ext>
              </a:extLst>
            </p:cNvPr>
            <p:cNvGrpSpPr/>
            <p:nvPr/>
          </p:nvGrpSpPr>
          <p:grpSpPr>
            <a:xfrm>
              <a:off x="3048286" y="3111252"/>
              <a:ext cx="2994654" cy="1963483"/>
              <a:chOff x="3048286" y="3111252"/>
              <a:chExt cx="2994654" cy="1963483"/>
            </a:xfrm>
          </p:grpSpPr>
          <p:grpSp>
            <p:nvGrpSpPr>
              <p:cNvPr id="81" name="Grupo 80">
                <a:extLst>
                  <a:ext uri="{FF2B5EF4-FFF2-40B4-BE49-F238E27FC236}">
                    <a16:creationId xmlns:a16="http://schemas.microsoft.com/office/drawing/2014/main" id="{220BA60B-81A1-217E-40B7-677040850C73}"/>
                  </a:ext>
                </a:extLst>
              </p:cNvPr>
              <p:cNvGrpSpPr/>
              <p:nvPr/>
            </p:nvGrpSpPr>
            <p:grpSpPr>
              <a:xfrm>
                <a:off x="3048286" y="3111252"/>
                <a:ext cx="2994654" cy="1963483"/>
                <a:chOff x="7814360" y="1110832"/>
                <a:chExt cx="2994654" cy="1780012"/>
              </a:xfrm>
            </p:grpSpPr>
            <p:sp>
              <p:nvSpPr>
                <p:cNvPr id="82" name="Rectángulo 81">
                  <a:extLst>
                    <a:ext uri="{FF2B5EF4-FFF2-40B4-BE49-F238E27FC236}">
                      <a16:creationId xmlns:a16="http://schemas.microsoft.com/office/drawing/2014/main" id="{3EC6790D-0598-1EA4-2E29-9F716B1655EF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808386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5" name="CuadroTexto 84">
                  <a:extLst>
                    <a:ext uri="{FF2B5EF4-FFF2-40B4-BE49-F238E27FC236}">
                      <a16:creationId xmlns:a16="http://schemas.microsoft.com/office/drawing/2014/main" id="{1749CDAC-9577-82B6-63C7-99CB7442C69E}"/>
                    </a:ext>
                  </a:extLst>
                </p:cNvPr>
                <p:cNvSpPr txBox="1"/>
                <p:nvPr/>
              </p:nvSpPr>
              <p:spPr>
                <a:xfrm>
                  <a:off x="8199228" y="1166870"/>
                  <a:ext cx="2143266" cy="3069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Segmento Familia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84" name="CuadroTexto 83">
                  <a:extLst>
                    <a:ext uri="{FF2B5EF4-FFF2-40B4-BE49-F238E27FC236}">
                      <a16:creationId xmlns:a16="http://schemas.microsoft.com/office/drawing/2014/main" id="{D43B3D5A-31A0-62E2-7E96-6AE5697F24C6}"/>
                    </a:ext>
                  </a:extLst>
                </p:cNvPr>
                <p:cNvSpPr txBox="1"/>
                <p:nvPr/>
              </p:nvSpPr>
              <p:spPr>
                <a:xfrm>
                  <a:off x="9184046" y="2199823"/>
                  <a:ext cx="1624968" cy="5022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        24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 Nuclear Integrada</a:t>
                  </a:r>
                </a:p>
              </p:txBody>
            </p:sp>
          </p:grpSp>
          <p:sp>
            <p:nvSpPr>
              <p:cNvPr id="89" name="CuadroTexto 88">
                <a:extLst>
                  <a:ext uri="{FF2B5EF4-FFF2-40B4-BE49-F238E27FC236}">
                    <a16:creationId xmlns:a16="http://schemas.microsoft.com/office/drawing/2014/main" id="{A978F1E5-65A3-2B9B-BBC1-B052EA709686}"/>
                  </a:ext>
                </a:extLst>
              </p:cNvPr>
              <p:cNvSpPr txBox="1"/>
              <p:nvPr/>
            </p:nvSpPr>
            <p:spPr>
              <a:xfrm>
                <a:off x="4771770" y="3534141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20%</a:t>
                </a:r>
                <a:r>
                  <a:rPr lang="es-CO" sz="1200" b="1" dirty="0">
                    <a:solidFill>
                      <a:schemeClr val="bg1"/>
                    </a:solidFill>
                  </a:rPr>
                  <a:t> Monoparental</a:t>
                </a:r>
              </a:p>
            </p:txBody>
          </p:sp>
          <p:pic>
            <p:nvPicPr>
              <p:cNvPr id="92" name="Imagen 91">
                <a:extLst>
                  <a:ext uri="{FF2B5EF4-FFF2-40B4-BE49-F238E27FC236}">
                    <a16:creationId xmlns:a16="http://schemas.microsoft.com/office/drawing/2014/main" id="{797D5EF2-FDD9-2E99-F648-436278F272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artisticGlowDiffused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075298" y="3683026"/>
                <a:ext cx="754362" cy="754362"/>
              </a:xfrm>
              <a:prstGeom prst="rect">
                <a:avLst/>
              </a:prstGeom>
            </p:spPr>
          </p:pic>
        </p:grp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60963AD7-0D93-F18D-FF43-A1F6987C9C4B}"/>
              </a:ext>
            </a:extLst>
          </p:cNvPr>
          <p:cNvGrpSpPr/>
          <p:nvPr/>
        </p:nvGrpSpPr>
        <p:grpSpPr>
          <a:xfrm>
            <a:off x="90873" y="847081"/>
            <a:ext cx="3094159" cy="1780012"/>
            <a:chOff x="681423" y="1183963"/>
            <a:chExt cx="3094159" cy="1780012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6B7CBF25-3FE2-5911-271C-832EC90F6CD1}"/>
                </a:ext>
              </a:extLst>
            </p:cNvPr>
            <p:cNvSpPr txBox="1"/>
            <p:nvPr/>
          </p:nvSpPr>
          <p:spPr>
            <a:xfrm>
              <a:off x="942955" y="1217834"/>
              <a:ext cx="2376943" cy="16927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s-CO" sz="2000" b="1" dirty="0">
                <a:solidFill>
                  <a:srgbClr val="FFC000"/>
                </a:solidFill>
              </a:endParaRP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Afiliado     </a:t>
              </a:r>
              <a:r>
                <a:rPr lang="es-CO" sz="2800" b="1" dirty="0">
                  <a:solidFill>
                    <a:srgbClr val="FFC000"/>
                  </a:solidFill>
                </a:rPr>
                <a:t>   </a:t>
              </a:r>
              <a:r>
                <a:rPr lang="es-CO" sz="2800" b="1" dirty="0">
                  <a:solidFill>
                    <a:schemeClr val="bg1"/>
                  </a:solidFill>
                </a:rPr>
                <a:t>40%</a:t>
              </a: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No Afilado   </a:t>
              </a:r>
              <a:r>
                <a:rPr lang="es-CO" sz="2800" b="1" dirty="0">
                  <a:solidFill>
                    <a:schemeClr val="bg1"/>
                  </a:solidFill>
                </a:rPr>
                <a:t>60%</a:t>
              </a:r>
            </a:p>
            <a:p>
              <a:endParaRPr lang="es-ES" sz="28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05" name="Rectángulo 104">
              <a:extLst>
                <a:ext uri="{FF2B5EF4-FFF2-40B4-BE49-F238E27FC236}">
                  <a16:creationId xmlns:a16="http://schemas.microsoft.com/office/drawing/2014/main" id="{09E782E7-5261-B125-0858-E418E1D8CE6E}"/>
                </a:ext>
              </a:extLst>
            </p:cNvPr>
            <p:cNvSpPr/>
            <p:nvPr/>
          </p:nvSpPr>
          <p:spPr>
            <a:xfrm>
              <a:off x="681423" y="1183963"/>
              <a:ext cx="3094159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20" name="Grupo 119">
            <a:extLst>
              <a:ext uri="{FF2B5EF4-FFF2-40B4-BE49-F238E27FC236}">
                <a16:creationId xmlns:a16="http://schemas.microsoft.com/office/drawing/2014/main" id="{CF221E76-564B-63F4-F294-E6BA3534FCF3}"/>
              </a:ext>
            </a:extLst>
          </p:cNvPr>
          <p:cNvGrpSpPr/>
          <p:nvPr/>
        </p:nvGrpSpPr>
        <p:grpSpPr>
          <a:xfrm>
            <a:off x="7777183" y="2775745"/>
            <a:ext cx="2623981" cy="1933541"/>
            <a:chOff x="9059295" y="3127128"/>
            <a:chExt cx="2623981" cy="1933541"/>
          </a:xfrm>
        </p:grpSpPr>
        <p:grpSp>
          <p:nvGrpSpPr>
            <p:cNvPr id="106" name="Grupo 105">
              <a:extLst>
                <a:ext uri="{FF2B5EF4-FFF2-40B4-BE49-F238E27FC236}">
                  <a16:creationId xmlns:a16="http://schemas.microsoft.com/office/drawing/2014/main" id="{FE256FA5-BA7A-FF47-AE6E-AC04508C1925}"/>
                </a:ext>
              </a:extLst>
            </p:cNvPr>
            <p:cNvGrpSpPr/>
            <p:nvPr/>
          </p:nvGrpSpPr>
          <p:grpSpPr>
            <a:xfrm>
              <a:off x="9080988" y="3127128"/>
              <a:ext cx="2601495" cy="1933541"/>
              <a:chOff x="7590765" y="1110832"/>
              <a:chExt cx="2601495" cy="1780012"/>
            </a:xfrm>
          </p:grpSpPr>
          <p:sp>
            <p:nvSpPr>
              <p:cNvPr id="107" name="Rectángulo 106">
                <a:extLst>
                  <a:ext uri="{FF2B5EF4-FFF2-40B4-BE49-F238E27FC236}">
                    <a16:creationId xmlns:a16="http://schemas.microsoft.com/office/drawing/2014/main" id="{1083DBFC-CA7C-566E-86AC-CA6E40937260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108" name="Grupo 107">
                <a:extLst>
                  <a:ext uri="{FF2B5EF4-FFF2-40B4-BE49-F238E27FC236}">
                    <a16:creationId xmlns:a16="http://schemas.microsoft.com/office/drawing/2014/main" id="{A4999306-B4B2-48B3-53BE-C83833F688B4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2191150" cy="1678227"/>
                <a:chOff x="3026344" y="1212927"/>
                <a:chExt cx="2191150" cy="1678227"/>
              </a:xfrm>
            </p:grpSpPr>
            <p:sp>
              <p:nvSpPr>
                <p:cNvPr id="110" name="CuadroTexto 109">
                  <a:extLst>
                    <a:ext uri="{FF2B5EF4-FFF2-40B4-BE49-F238E27FC236}">
                      <a16:creationId xmlns:a16="http://schemas.microsoft.com/office/drawing/2014/main" id="{26906B4F-B55E-D0ED-2541-FD5080EABF74}"/>
                    </a:ext>
                  </a:extLst>
                </p:cNvPr>
                <p:cNvSpPr txBox="1"/>
                <p:nvPr/>
              </p:nvSpPr>
              <p:spPr>
                <a:xfrm>
                  <a:off x="3811633" y="1212927"/>
                  <a:ext cx="140586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Estrato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11" name="CuadroTexto 110">
                  <a:extLst>
                    <a:ext uri="{FF2B5EF4-FFF2-40B4-BE49-F238E27FC236}">
                      <a16:creationId xmlns:a16="http://schemas.microsoft.com/office/drawing/2014/main" id="{A8CBDE8F-6366-57C1-9A90-F52DC5BD9365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4%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Seis</a:t>
                  </a:r>
                </a:p>
              </p:txBody>
            </p:sp>
          </p:grpSp>
          <p:sp>
            <p:nvSpPr>
              <p:cNvPr id="109" name="CuadroTexto 108">
                <a:extLst>
                  <a:ext uri="{FF2B5EF4-FFF2-40B4-BE49-F238E27FC236}">
                    <a16:creationId xmlns:a16="http://schemas.microsoft.com/office/drawing/2014/main" id="{8EDFF66C-D1CC-44B3-D8E1-12B15AAA6F50}"/>
                  </a:ext>
                </a:extLst>
              </p:cNvPr>
              <p:cNvSpPr txBox="1"/>
              <p:nvPr/>
            </p:nvSpPr>
            <p:spPr>
              <a:xfrm>
                <a:off x="9019351" y="2317778"/>
                <a:ext cx="1172909" cy="566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55%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Sin </a:t>
                </a:r>
                <a:r>
                  <a:rPr lang="es-CO" sz="1400" b="1" dirty="0" err="1">
                    <a:solidFill>
                      <a:schemeClr val="bg1"/>
                    </a:solidFill>
                  </a:rPr>
                  <a:t>Inf</a:t>
                </a:r>
                <a:endParaRPr lang="es-CO" sz="14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12" name="CuadroTexto 111">
              <a:extLst>
                <a:ext uri="{FF2B5EF4-FFF2-40B4-BE49-F238E27FC236}">
                  <a16:creationId xmlns:a16="http://schemas.microsoft.com/office/drawing/2014/main" id="{A0DDE4EF-7B0A-E96F-5BB4-55B8BB2D3759}"/>
                </a:ext>
              </a:extLst>
            </p:cNvPr>
            <p:cNvSpPr txBox="1"/>
            <p:nvPr/>
          </p:nvSpPr>
          <p:spPr>
            <a:xfrm>
              <a:off x="9059295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36%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Tres</a:t>
              </a:r>
            </a:p>
          </p:txBody>
        </p:sp>
        <p:sp>
          <p:nvSpPr>
            <p:cNvPr id="113" name="CuadroTexto 112">
              <a:extLst>
                <a:ext uri="{FF2B5EF4-FFF2-40B4-BE49-F238E27FC236}">
                  <a16:creationId xmlns:a16="http://schemas.microsoft.com/office/drawing/2014/main" id="{0DCADDB4-16FE-EB0D-11F0-86037011C4BF}"/>
                </a:ext>
              </a:extLst>
            </p:cNvPr>
            <p:cNvSpPr txBox="1"/>
            <p:nvPr/>
          </p:nvSpPr>
          <p:spPr>
            <a:xfrm>
              <a:off x="10510367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4%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Cuatro</a:t>
              </a:r>
            </a:p>
          </p:txBody>
        </p:sp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97DB1E8F-8D15-DF8D-EC41-28A53E88B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artisticPencilGrayscale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043317" y="3855923"/>
              <a:ext cx="655939" cy="655939"/>
            </a:xfrm>
            <a:prstGeom prst="rect">
              <a:avLst/>
            </a:prstGeom>
          </p:spPr>
        </p:pic>
      </p:grp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E7506AF5-2C5E-95EA-70F4-F2787E63EFA6}"/>
              </a:ext>
            </a:extLst>
          </p:cNvPr>
          <p:cNvSpPr txBox="1"/>
          <p:nvPr/>
        </p:nvSpPr>
        <p:spPr>
          <a:xfrm>
            <a:off x="5289967" y="3228845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35%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 Cero</a:t>
            </a:r>
          </a:p>
        </p:txBody>
      </p:sp>
      <p:grpSp>
        <p:nvGrpSpPr>
          <p:cNvPr id="123" name="Grupo 122">
            <a:extLst>
              <a:ext uri="{FF2B5EF4-FFF2-40B4-BE49-F238E27FC236}">
                <a16:creationId xmlns:a16="http://schemas.microsoft.com/office/drawing/2014/main" id="{902C9335-3914-A371-F48C-E7EC5FE97D77}"/>
              </a:ext>
            </a:extLst>
          </p:cNvPr>
          <p:cNvGrpSpPr/>
          <p:nvPr/>
        </p:nvGrpSpPr>
        <p:grpSpPr>
          <a:xfrm>
            <a:off x="5340592" y="2790246"/>
            <a:ext cx="2602288" cy="1933541"/>
            <a:chOff x="5931142" y="3127128"/>
            <a:chExt cx="2602288" cy="1933541"/>
          </a:xfrm>
        </p:grpSpPr>
        <p:grpSp>
          <p:nvGrpSpPr>
            <p:cNvPr id="93" name="Grupo 92">
              <a:extLst>
                <a:ext uri="{FF2B5EF4-FFF2-40B4-BE49-F238E27FC236}">
                  <a16:creationId xmlns:a16="http://schemas.microsoft.com/office/drawing/2014/main" id="{592CF948-7A8B-710F-7B4F-34D7B9651930}"/>
                </a:ext>
              </a:extLst>
            </p:cNvPr>
            <p:cNvGrpSpPr/>
            <p:nvPr/>
          </p:nvGrpSpPr>
          <p:grpSpPr>
            <a:xfrm>
              <a:off x="5931142" y="3127128"/>
              <a:ext cx="2419582" cy="1933541"/>
              <a:chOff x="7590765" y="1110832"/>
              <a:chExt cx="2419582" cy="1780012"/>
            </a:xfrm>
          </p:grpSpPr>
          <p:sp>
            <p:nvSpPr>
              <p:cNvPr id="94" name="Rectángulo 93">
                <a:extLst>
                  <a:ext uri="{FF2B5EF4-FFF2-40B4-BE49-F238E27FC236}">
                    <a16:creationId xmlns:a16="http://schemas.microsoft.com/office/drawing/2014/main" id="{A8ACB5A8-1B9B-423A-9532-09EB49642B20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95" name="Grupo 94">
                <a:extLst>
                  <a:ext uri="{FF2B5EF4-FFF2-40B4-BE49-F238E27FC236}">
                    <a16:creationId xmlns:a16="http://schemas.microsoft.com/office/drawing/2014/main" id="{4BF3AC1B-121C-BA1F-A344-088612614C65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1922369" cy="1647802"/>
                <a:chOff x="3026344" y="1212927"/>
                <a:chExt cx="1922369" cy="1647802"/>
              </a:xfrm>
            </p:grpSpPr>
            <p:sp>
              <p:nvSpPr>
                <p:cNvPr id="97" name="CuadroTexto 96">
                  <a:extLst>
                    <a:ext uri="{FF2B5EF4-FFF2-40B4-BE49-F238E27FC236}">
                      <a16:creationId xmlns:a16="http://schemas.microsoft.com/office/drawing/2014/main" id="{6CCE4C90-BFE7-644F-4681-03CE308655A0}"/>
                    </a:ext>
                  </a:extLst>
                </p:cNvPr>
                <p:cNvSpPr txBox="1"/>
                <p:nvPr/>
              </p:nvSpPr>
              <p:spPr>
                <a:xfrm>
                  <a:off x="4021092" y="1212927"/>
                  <a:ext cx="92762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PAC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98" name="CuadroTexto 97">
                  <a:extLst>
                    <a:ext uri="{FF2B5EF4-FFF2-40B4-BE49-F238E27FC236}">
                      <a16:creationId xmlns:a16="http://schemas.microsoft.com/office/drawing/2014/main" id="{8A9DA04E-1940-80AC-D763-67765D9F7D9E}"/>
                    </a:ext>
                  </a:extLst>
                </p:cNvPr>
                <p:cNvSpPr txBox="1"/>
                <p:nvPr/>
              </p:nvSpPr>
              <p:spPr>
                <a:xfrm>
                  <a:off x="3026344" y="2294053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15%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</p:grpSp>
        <p:grpSp>
          <p:nvGrpSpPr>
            <p:cNvPr id="121" name="Grupo 120">
              <a:extLst>
                <a:ext uri="{FF2B5EF4-FFF2-40B4-BE49-F238E27FC236}">
                  <a16:creationId xmlns:a16="http://schemas.microsoft.com/office/drawing/2014/main" id="{4C03636B-DDBA-CA32-43C1-59172433DE23}"/>
                </a:ext>
              </a:extLst>
            </p:cNvPr>
            <p:cNvGrpSpPr/>
            <p:nvPr/>
          </p:nvGrpSpPr>
          <p:grpSpPr>
            <a:xfrm>
              <a:off x="6649678" y="3565727"/>
              <a:ext cx="1883752" cy="1414028"/>
              <a:chOff x="6649678" y="3565727"/>
              <a:chExt cx="1883752" cy="1414028"/>
            </a:xfrm>
          </p:grpSpPr>
          <p:sp>
            <p:nvSpPr>
              <p:cNvPr id="99" name="CuadroTexto 98">
                <a:extLst>
                  <a:ext uri="{FF2B5EF4-FFF2-40B4-BE49-F238E27FC236}">
                    <a16:creationId xmlns:a16="http://schemas.microsoft.com/office/drawing/2014/main" id="{02319441-7E36-3234-42C0-60F53545D6FC}"/>
                  </a:ext>
                </a:extLst>
              </p:cNvPr>
              <p:cNvSpPr txBox="1"/>
              <p:nvPr/>
            </p:nvSpPr>
            <p:spPr>
              <a:xfrm>
                <a:off x="6649678" y="358240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33%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Uno</a:t>
                </a:r>
              </a:p>
            </p:txBody>
          </p:sp>
          <p:sp>
            <p:nvSpPr>
              <p:cNvPr id="101" name="CuadroTexto 100">
                <a:extLst>
                  <a:ext uri="{FF2B5EF4-FFF2-40B4-BE49-F238E27FC236}">
                    <a16:creationId xmlns:a16="http://schemas.microsoft.com/office/drawing/2014/main" id="{16B4D208-70B8-8356-7A55-8A513274A5D4}"/>
                  </a:ext>
                </a:extLst>
              </p:cNvPr>
              <p:cNvSpPr txBox="1"/>
              <p:nvPr/>
            </p:nvSpPr>
            <p:spPr>
              <a:xfrm>
                <a:off x="7360521" y="3565727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16%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Dos</a:t>
                </a:r>
              </a:p>
            </p:txBody>
          </p:sp>
          <p:pic>
            <p:nvPicPr>
              <p:cNvPr id="118" name="Imagen 117">
                <a:extLst>
                  <a:ext uri="{FF2B5EF4-FFF2-40B4-BE49-F238E27FC236}">
                    <a16:creationId xmlns:a16="http://schemas.microsoft.com/office/drawing/2014/main" id="{D8A8A07A-A0E2-3F79-A4D3-CB520427F6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artisticPaintStrokes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886925" y="4205951"/>
                <a:ext cx="773804" cy="773804"/>
              </a:xfrm>
              <a:prstGeom prst="rect">
                <a:avLst/>
              </a:prstGeom>
            </p:spPr>
          </p:pic>
        </p:grpSp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42C10DA7-5EB2-2DD6-E760-00292D35F407}"/>
              </a:ext>
            </a:extLst>
          </p:cNvPr>
          <p:cNvGrpSpPr/>
          <p:nvPr/>
        </p:nvGrpSpPr>
        <p:grpSpPr>
          <a:xfrm>
            <a:off x="8022470" y="853892"/>
            <a:ext cx="2195988" cy="1780012"/>
            <a:chOff x="7814360" y="1110832"/>
            <a:chExt cx="2195988" cy="1780012"/>
          </a:xfrm>
        </p:grpSpPr>
        <p:grpSp>
          <p:nvGrpSpPr>
            <p:cNvPr id="66" name="Grupo 65">
              <a:extLst>
                <a:ext uri="{FF2B5EF4-FFF2-40B4-BE49-F238E27FC236}">
                  <a16:creationId xmlns:a16="http://schemas.microsoft.com/office/drawing/2014/main" id="{7AA6D877-EAC1-44CB-A2C3-CADB72181711}"/>
                </a:ext>
              </a:extLst>
            </p:cNvPr>
            <p:cNvGrpSpPr/>
            <p:nvPr/>
          </p:nvGrpSpPr>
          <p:grpSpPr>
            <a:xfrm>
              <a:off x="7814360" y="1110832"/>
              <a:ext cx="2195988" cy="1780012"/>
              <a:chOff x="7814360" y="1110832"/>
              <a:chExt cx="2195988" cy="1780012"/>
            </a:xfrm>
          </p:grpSpPr>
          <p:sp>
            <p:nvSpPr>
              <p:cNvPr id="60" name="Rectángulo 59">
                <a:extLst>
                  <a:ext uri="{FF2B5EF4-FFF2-40B4-BE49-F238E27FC236}">
                    <a16:creationId xmlns:a16="http://schemas.microsoft.com/office/drawing/2014/main" id="{DAFDC446-2CCB-5179-3C8A-216C18C385E9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61" name="Grupo 60">
                <a:extLst>
                  <a:ext uri="{FF2B5EF4-FFF2-40B4-BE49-F238E27FC236}">
                    <a16:creationId xmlns:a16="http://schemas.microsoft.com/office/drawing/2014/main" id="{CF66885D-0583-36FC-EB1A-0978969DCC89}"/>
                  </a:ext>
                </a:extLst>
              </p:cNvPr>
              <p:cNvGrpSpPr/>
              <p:nvPr/>
            </p:nvGrpSpPr>
            <p:grpSpPr>
              <a:xfrm>
                <a:off x="7814361" y="1223137"/>
                <a:ext cx="2083693" cy="1630468"/>
                <a:chOff x="3249940" y="1229837"/>
                <a:chExt cx="2083693" cy="1630468"/>
              </a:xfrm>
            </p:grpSpPr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65B3DE04-FCFE-3FEB-3647-E6A476A4D22B}"/>
                    </a:ext>
                  </a:extLst>
                </p:cNvPr>
                <p:cNvSpPr txBox="1"/>
                <p:nvPr/>
              </p:nvSpPr>
              <p:spPr>
                <a:xfrm>
                  <a:off x="3552927" y="1229837"/>
                  <a:ext cx="1780706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Rango Edad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EEEE4F44-C80F-731A-65CA-2D7D62FD4FFE}"/>
                    </a:ext>
                  </a:extLst>
                </p:cNvPr>
                <p:cNvSpPr txBox="1"/>
                <p:nvPr/>
              </p:nvSpPr>
              <p:spPr>
                <a:xfrm>
                  <a:off x="3249940" y="2306307"/>
                  <a:ext cx="1172909" cy="5539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15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20 a 35 años</a:t>
                  </a:r>
                </a:p>
              </p:txBody>
            </p:sp>
          </p:grpSp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3809BD6E-6B2F-73EC-ADB6-E10D401FCDA7}"/>
                  </a:ext>
                </a:extLst>
              </p:cNvPr>
              <p:cNvSpPr txBox="1"/>
              <p:nvPr/>
            </p:nvSpPr>
            <p:spPr>
              <a:xfrm>
                <a:off x="8837439" y="2289285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40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36 a 45 años</a:t>
                </a:r>
              </a:p>
            </p:txBody>
          </p:sp>
        </p:grpSp>
        <p:pic>
          <p:nvPicPr>
            <p:cNvPr id="128" name="Imagen 127">
              <a:extLst>
                <a:ext uri="{FF2B5EF4-FFF2-40B4-BE49-F238E27FC236}">
                  <a16:creationId xmlns:a16="http://schemas.microsoft.com/office/drawing/2014/main" id="{5CB6528D-48C5-FF12-BC20-96E9461CD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17644" y="1602912"/>
              <a:ext cx="655473" cy="655473"/>
            </a:xfrm>
            <a:prstGeom prst="rect">
              <a:avLst/>
            </a:prstGeom>
          </p:spPr>
        </p:pic>
      </p:grpSp>
      <p:grpSp>
        <p:nvGrpSpPr>
          <p:cNvPr id="189" name="Grupo 188">
            <a:extLst>
              <a:ext uri="{FF2B5EF4-FFF2-40B4-BE49-F238E27FC236}">
                <a16:creationId xmlns:a16="http://schemas.microsoft.com/office/drawing/2014/main" id="{25BC7559-23FB-5BCB-8CF8-769E9E9BE47C}"/>
              </a:ext>
            </a:extLst>
          </p:cNvPr>
          <p:cNvGrpSpPr/>
          <p:nvPr/>
        </p:nvGrpSpPr>
        <p:grpSpPr>
          <a:xfrm>
            <a:off x="-114768" y="4837223"/>
            <a:ext cx="3758502" cy="1933541"/>
            <a:chOff x="435340" y="4837223"/>
            <a:chExt cx="4854517" cy="1933541"/>
          </a:xfrm>
        </p:grpSpPr>
        <p:grpSp>
          <p:nvGrpSpPr>
            <p:cNvPr id="138" name="Grupo 137">
              <a:extLst>
                <a:ext uri="{FF2B5EF4-FFF2-40B4-BE49-F238E27FC236}">
                  <a16:creationId xmlns:a16="http://schemas.microsoft.com/office/drawing/2014/main" id="{0B476E05-FC95-571A-C369-1D9895394544}"/>
                </a:ext>
              </a:extLst>
            </p:cNvPr>
            <p:cNvGrpSpPr/>
            <p:nvPr/>
          </p:nvGrpSpPr>
          <p:grpSpPr>
            <a:xfrm>
              <a:off x="435340" y="4837223"/>
              <a:ext cx="4854517" cy="1933541"/>
              <a:chOff x="9135236" y="3127128"/>
              <a:chExt cx="3830051" cy="1933541"/>
            </a:xfrm>
          </p:grpSpPr>
          <p:grpSp>
            <p:nvGrpSpPr>
              <p:cNvPr id="139" name="Grupo 138">
                <a:extLst>
                  <a:ext uri="{FF2B5EF4-FFF2-40B4-BE49-F238E27FC236}">
                    <a16:creationId xmlns:a16="http://schemas.microsoft.com/office/drawing/2014/main" id="{B04E9363-0381-1B6D-A2AC-0B02AC04F4C7}"/>
                  </a:ext>
                </a:extLst>
              </p:cNvPr>
              <p:cNvGrpSpPr/>
              <p:nvPr/>
            </p:nvGrpSpPr>
            <p:grpSpPr>
              <a:xfrm>
                <a:off x="9229918" y="3127128"/>
                <a:ext cx="3735369" cy="1933541"/>
                <a:chOff x="7739695" y="1110832"/>
                <a:chExt cx="3735369" cy="1780012"/>
              </a:xfrm>
            </p:grpSpPr>
            <p:sp>
              <p:nvSpPr>
                <p:cNvPr id="143" name="Rectángulo 142">
                  <a:extLst>
                    <a:ext uri="{FF2B5EF4-FFF2-40B4-BE49-F238E27FC236}">
                      <a16:creationId xmlns:a16="http://schemas.microsoft.com/office/drawing/2014/main" id="{C80111CE-BE74-2417-07EE-117C247F9AD4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3246650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44" name="Grupo 143">
                  <a:extLst>
                    <a:ext uri="{FF2B5EF4-FFF2-40B4-BE49-F238E27FC236}">
                      <a16:creationId xmlns:a16="http://schemas.microsoft.com/office/drawing/2014/main" id="{BF29CC2D-7E26-4055-A690-3E73D8437D81}"/>
                    </a:ext>
                  </a:extLst>
                </p:cNvPr>
                <p:cNvGrpSpPr/>
                <p:nvPr/>
              </p:nvGrpSpPr>
              <p:grpSpPr>
                <a:xfrm>
                  <a:off x="7739695" y="1236316"/>
                  <a:ext cx="3735369" cy="1532075"/>
                  <a:chOff x="3175274" y="1243016"/>
                  <a:chExt cx="3735369" cy="1532075"/>
                </a:xfrm>
              </p:grpSpPr>
              <p:sp>
                <p:nvSpPr>
                  <p:cNvPr id="146" name="CuadroTexto 145">
                    <a:extLst>
                      <a:ext uri="{FF2B5EF4-FFF2-40B4-BE49-F238E27FC236}">
                        <a16:creationId xmlns:a16="http://schemas.microsoft.com/office/drawing/2014/main" id="{9BE79384-1681-C0F4-463E-248BDC4ED816}"/>
                      </a:ext>
                    </a:extLst>
                  </p:cNvPr>
                  <p:cNvSpPr txBox="1"/>
                  <p:nvPr/>
                </p:nvSpPr>
                <p:spPr>
                  <a:xfrm>
                    <a:off x="3854322" y="1243016"/>
                    <a:ext cx="3056321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Segmento Empresas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47" name="CuadroTexto 146">
                    <a:extLst>
                      <a:ext uri="{FF2B5EF4-FFF2-40B4-BE49-F238E27FC236}">
                        <a16:creationId xmlns:a16="http://schemas.microsoft.com/office/drawing/2014/main" id="{115B2E94-D705-CA5B-EBBF-C1523F8DEA92}"/>
                      </a:ext>
                    </a:extLst>
                  </p:cNvPr>
                  <p:cNvSpPr txBox="1"/>
                  <p:nvPr/>
                </p:nvSpPr>
                <p:spPr>
                  <a:xfrm>
                    <a:off x="3175274" y="2208415"/>
                    <a:ext cx="1945898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16%</a:t>
                    </a:r>
                    <a:endParaRPr lang="es-CO" sz="1400" b="1" dirty="0">
                      <a:solidFill>
                        <a:schemeClr val="bg1"/>
                      </a:solidFill>
                    </a:endParaRP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Medianas</a:t>
                    </a:r>
                  </a:p>
                </p:txBody>
              </p:sp>
            </p:grpSp>
            <p:sp>
              <p:nvSpPr>
                <p:cNvPr id="145" name="CuadroTexto 144">
                  <a:extLst>
                    <a:ext uri="{FF2B5EF4-FFF2-40B4-BE49-F238E27FC236}">
                      <a16:creationId xmlns:a16="http://schemas.microsoft.com/office/drawing/2014/main" id="{77ED7C4F-19EC-C72F-03EA-06F34D2947EC}"/>
                    </a:ext>
                  </a:extLst>
                </p:cNvPr>
                <p:cNvSpPr txBox="1"/>
                <p:nvPr/>
              </p:nvSpPr>
              <p:spPr>
                <a:xfrm>
                  <a:off x="9864249" y="1523867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33%</a:t>
                  </a:r>
                </a:p>
                <a:p>
                  <a:r>
                    <a:rPr lang="es-CO" sz="1400" b="1">
                      <a:solidFill>
                        <a:schemeClr val="bg1"/>
                      </a:solidFill>
                    </a:rPr>
                    <a:t>       Grandes</a:t>
                  </a:r>
                </a:p>
              </p:txBody>
            </p:sp>
          </p:grpSp>
          <p:sp>
            <p:nvSpPr>
              <p:cNvPr id="140" name="CuadroTexto 139">
                <a:extLst>
                  <a:ext uri="{FF2B5EF4-FFF2-40B4-BE49-F238E27FC236}">
                    <a16:creationId xmlns:a16="http://schemas.microsoft.com/office/drawing/2014/main" id="{BF105C82-F068-D221-D0FC-A8B63DF30C53}"/>
                  </a:ext>
                </a:extLst>
              </p:cNvPr>
              <p:cNvSpPr txBox="1"/>
              <p:nvPr/>
            </p:nvSpPr>
            <p:spPr>
              <a:xfrm>
                <a:off x="9135236" y="3565727"/>
                <a:ext cx="145027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7%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</a:t>
                </a:r>
                <a:r>
                  <a:rPr lang="es-CO" sz="1400" b="1" dirty="0" err="1">
                    <a:solidFill>
                      <a:schemeClr val="bg1"/>
                    </a:solidFill>
                  </a:rPr>
                  <a:t>Emp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Top</a:t>
                </a:r>
              </a:p>
            </p:txBody>
          </p:sp>
          <p:sp>
            <p:nvSpPr>
              <p:cNvPr id="141" name="CuadroTexto 140">
                <a:extLst>
                  <a:ext uri="{FF2B5EF4-FFF2-40B4-BE49-F238E27FC236}">
                    <a16:creationId xmlns:a16="http://schemas.microsoft.com/office/drawing/2014/main" id="{1DC91B83-6BE7-0AE6-6025-BFE8800F3FC5}"/>
                  </a:ext>
                </a:extLst>
              </p:cNvPr>
              <p:cNvSpPr txBox="1"/>
              <p:nvPr/>
            </p:nvSpPr>
            <p:spPr>
              <a:xfrm>
                <a:off x="10055645" y="3580594"/>
                <a:ext cx="152651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35%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    Micro    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Transaccional</a:t>
                </a:r>
              </a:p>
            </p:txBody>
          </p:sp>
        </p:grpSp>
        <p:pic>
          <p:nvPicPr>
            <p:cNvPr id="149" name="Imagen 148">
              <a:extLst>
                <a:ext uri="{FF2B5EF4-FFF2-40B4-BE49-F238E27FC236}">
                  <a16:creationId xmlns:a16="http://schemas.microsoft.com/office/drawing/2014/main" id="{4C2AE278-5F5E-268C-0851-8B1823E07B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325932" y="6027593"/>
              <a:ext cx="677562" cy="677562"/>
            </a:xfrm>
            <a:prstGeom prst="rect">
              <a:avLst/>
            </a:prstGeom>
          </p:spPr>
        </p:pic>
      </p:grp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44793E8B-9EEF-6D3A-72B4-61AA822BF974}"/>
              </a:ext>
            </a:extLst>
          </p:cNvPr>
          <p:cNvSpPr txBox="1"/>
          <p:nvPr/>
        </p:nvSpPr>
        <p:spPr>
          <a:xfrm>
            <a:off x="2015030" y="5976448"/>
            <a:ext cx="128594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9%</a:t>
            </a:r>
          </a:p>
          <a:p>
            <a:r>
              <a:rPr lang="es-CO" sz="1200" b="1" dirty="0">
                <a:solidFill>
                  <a:schemeClr val="bg1"/>
                </a:solidFill>
              </a:rPr>
              <a:t>Pensionados</a:t>
            </a:r>
          </a:p>
          <a:p>
            <a:r>
              <a:rPr lang="es-CO" sz="1200" b="1" dirty="0">
                <a:solidFill>
                  <a:schemeClr val="bg1"/>
                </a:solidFill>
              </a:rPr>
              <a:t>Independientes</a:t>
            </a:r>
          </a:p>
        </p:txBody>
      </p:sp>
      <p:grpSp>
        <p:nvGrpSpPr>
          <p:cNvPr id="151" name="Grupo 150">
            <a:extLst>
              <a:ext uri="{FF2B5EF4-FFF2-40B4-BE49-F238E27FC236}">
                <a16:creationId xmlns:a16="http://schemas.microsoft.com/office/drawing/2014/main" id="{95AC6ABF-5256-8A4E-C2E5-DCB18895AE71}"/>
              </a:ext>
            </a:extLst>
          </p:cNvPr>
          <p:cNvGrpSpPr/>
          <p:nvPr/>
        </p:nvGrpSpPr>
        <p:grpSpPr>
          <a:xfrm>
            <a:off x="3321003" y="4852302"/>
            <a:ext cx="2195987" cy="1933541"/>
            <a:chOff x="9304583" y="3127128"/>
            <a:chExt cx="2195987" cy="1933541"/>
          </a:xfrm>
        </p:grpSpPr>
        <p:grpSp>
          <p:nvGrpSpPr>
            <p:cNvPr id="152" name="Grupo 151">
              <a:extLst>
                <a:ext uri="{FF2B5EF4-FFF2-40B4-BE49-F238E27FC236}">
                  <a16:creationId xmlns:a16="http://schemas.microsoft.com/office/drawing/2014/main" id="{2E1CCF76-5500-09F4-8FEF-6E00519C522A}"/>
                </a:ext>
              </a:extLst>
            </p:cNvPr>
            <p:cNvGrpSpPr/>
            <p:nvPr/>
          </p:nvGrpSpPr>
          <p:grpSpPr>
            <a:xfrm>
              <a:off x="9304583" y="3127128"/>
              <a:ext cx="2195987" cy="1933541"/>
              <a:chOff x="7814360" y="1110832"/>
              <a:chExt cx="2195987" cy="1780012"/>
            </a:xfrm>
          </p:grpSpPr>
          <p:sp>
            <p:nvSpPr>
              <p:cNvPr id="157" name="Rectángulo 156">
                <a:extLst>
                  <a:ext uri="{FF2B5EF4-FFF2-40B4-BE49-F238E27FC236}">
                    <a16:creationId xmlns:a16="http://schemas.microsoft.com/office/drawing/2014/main" id="{95AD69BE-8CCC-60CE-2102-8086429CBF55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60" name="CuadroTexto 159">
                <a:extLst>
                  <a:ext uri="{FF2B5EF4-FFF2-40B4-BE49-F238E27FC236}">
                    <a16:creationId xmlns:a16="http://schemas.microsoft.com/office/drawing/2014/main" id="{C0B86E68-C7BC-7B3D-4F93-545281FF9330}"/>
                  </a:ext>
                </a:extLst>
              </p:cNvPr>
              <p:cNvSpPr txBox="1"/>
              <p:nvPr/>
            </p:nvSpPr>
            <p:spPr>
              <a:xfrm>
                <a:off x="7973412" y="1206227"/>
                <a:ext cx="1949604" cy="3116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Departamento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</p:grpSp>
        <p:sp>
          <p:nvSpPr>
            <p:cNvPr id="154" name="CuadroTexto 153">
              <a:extLst>
                <a:ext uri="{FF2B5EF4-FFF2-40B4-BE49-F238E27FC236}">
                  <a16:creationId xmlns:a16="http://schemas.microsoft.com/office/drawing/2014/main" id="{F1F0E774-7933-8866-7B09-44C1651D6252}"/>
                </a:ext>
              </a:extLst>
            </p:cNvPr>
            <p:cNvSpPr txBox="1"/>
            <p:nvPr/>
          </p:nvSpPr>
          <p:spPr>
            <a:xfrm>
              <a:off x="9707501" y="3828099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76%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Bogotá</a:t>
              </a:r>
            </a:p>
          </p:txBody>
        </p:sp>
      </p:grpSp>
      <p:grpSp>
        <p:nvGrpSpPr>
          <p:cNvPr id="201" name="Grupo 200">
            <a:extLst>
              <a:ext uri="{FF2B5EF4-FFF2-40B4-BE49-F238E27FC236}">
                <a16:creationId xmlns:a16="http://schemas.microsoft.com/office/drawing/2014/main" id="{8C63FB0C-F9FB-3D69-CD85-DACBC888A15E}"/>
              </a:ext>
            </a:extLst>
          </p:cNvPr>
          <p:cNvGrpSpPr/>
          <p:nvPr/>
        </p:nvGrpSpPr>
        <p:grpSpPr>
          <a:xfrm>
            <a:off x="5243196" y="4842106"/>
            <a:ext cx="2857789" cy="1985915"/>
            <a:chOff x="5319396" y="4842106"/>
            <a:chExt cx="2857789" cy="1985915"/>
          </a:xfrm>
        </p:grpSpPr>
        <p:grpSp>
          <p:nvGrpSpPr>
            <p:cNvPr id="164" name="Grupo 163">
              <a:extLst>
                <a:ext uri="{FF2B5EF4-FFF2-40B4-BE49-F238E27FC236}">
                  <a16:creationId xmlns:a16="http://schemas.microsoft.com/office/drawing/2014/main" id="{89341FCE-1CBA-8108-C0CA-5BF833636C38}"/>
                </a:ext>
              </a:extLst>
            </p:cNvPr>
            <p:cNvGrpSpPr/>
            <p:nvPr/>
          </p:nvGrpSpPr>
          <p:grpSpPr>
            <a:xfrm>
              <a:off x="5319396" y="4842106"/>
              <a:ext cx="2857789" cy="1957609"/>
              <a:chOff x="8885120" y="3127128"/>
              <a:chExt cx="2857789" cy="1957609"/>
            </a:xfrm>
          </p:grpSpPr>
          <p:grpSp>
            <p:nvGrpSpPr>
              <p:cNvPr id="165" name="Grupo 164">
                <a:extLst>
                  <a:ext uri="{FF2B5EF4-FFF2-40B4-BE49-F238E27FC236}">
                    <a16:creationId xmlns:a16="http://schemas.microsoft.com/office/drawing/2014/main" id="{8F1640F7-A69E-1C56-BF2B-E3108B861E85}"/>
                  </a:ext>
                </a:extLst>
              </p:cNvPr>
              <p:cNvGrpSpPr/>
              <p:nvPr/>
            </p:nvGrpSpPr>
            <p:grpSpPr>
              <a:xfrm>
                <a:off x="9049330" y="3127128"/>
                <a:ext cx="2655911" cy="1957609"/>
                <a:chOff x="7559107" y="1110832"/>
                <a:chExt cx="2655911" cy="1802169"/>
              </a:xfrm>
            </p:grpSpPr>
            <p:sp>
              <p:nvSpPr>
                <p:cNvPr id="168" name="Rectángulo 167">
                  <a:extLst>
                    <a:ext uri="{FF2B5EF4-FFF2-40B4-BE49-F238E27FC236}">
                      <a16:creationId xmlns:a16="http://schemas.microsoft.com/office/drawing/2014/main" id="{75B286EB-1399-DEE5-5795-37BA00241059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195987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70" name="Grupo 169">
                  <a:extLst>
                    <a:ext uri="{FF2B5EF4-FFF2-40B4-BE49-F238E27FC236}">
                      <a16:creationId xmlns:a16="http://schemas.microsoft.com/office/drawing/2014/main" id="{F1562CA7-37D1-68BA-1FBA-F4641C17873F}"/>
                    </a:ext>
                  </a:extLst>
                </p:cNvPr>
                <p:cNvGrpSpPr/>
                <p:nvPr/>
              </p:nvGrpSpPr>
              <p:grpSpPr>
                <a:xfrm>
                  <a:off x="7559107" y="1207829"/>
                  <a:ext cx="2655911" cy="1705172"/>
                  <a:chOff x="2994686" y="1214529"/>
                  <a:chExt cx="2655911" cy="1705172"/>
                </a:xfrm>
              </p:grpSpPr>
              <p:sp>
                <p:nvSpPr>
                  <p:cNvPr id="171" name="CuadroTexto 170">
                    <a:extLst>
                      <a:ext uri="{FF2B5EF4-FFF2-40B4-BE49-F238E27FC236}">
                        <a16:creationId xmlns:a16="http://schemas.microsoft.com/office/drawing/2014/main" id="{36BAA30A-495A-194B-68CD-1D3C914C4EBB}"/>
                      </a:ext>
                    </a:extLst>
                  </p:cNvPr>
                  <p:cNvSpPr txBox="1"/>
                  <p:nvPr/>
                </p:nvSpPr>
                <p:spPr>
                  <a:xfrm>
                    <a:off x="3700993" y="1214529"/>
                    <a:ext cx="1949604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Localidad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72" name="CuadroTexto 171">
                    <a:extLst>
                      <a:ext uri="{FF2B5EF4-FFF2-40B4-BE49-F238E27FC236}">
                        <a16:creationId xmlns:a16="http://schemas.microsoft.com/office/drawing/2014/main" id="{F107B1B2-EC34-AD55-1015-3088C21E0CDB}"/>
                      </a:ext>
                    </a:extLst>
                  </p:cNvPr>
                  <p:cNvSpPr txBox="1"/>
                  <p:nvPr/>
                </p:nvSpPr>
                <p:spPr>
                  <a:xfrm>
                    <a:off x="2994686" y="2353025"/>
                    <a:ext cx="1449192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2%</a:t>
                    </a: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    Chapinero</a:t>
                    </a:r>
                  </a:p>
                </p:txBody>
              </p:sp>
            </p:grpSp>
          </p:grpSp>
          <p:sp>
            <p:nvSpPr>
              <p:cNvPr id="166" name="CuadroTexto 165">
                <a:extLst>
                  <a:ext uri="{FF2B5EF4-FFF2-40B4-BE49-F238E27FC236}">
                    <a16:creationId xmlns:a16="http://schemas.microsoft.com/office/drawing/2014/main" id="{231A1599-E818-C9E0-2707-CD3361BB2CCA}"/>
                  </a:ext>
                </a:extLst>
              </p:cNvPr>
              <p:cNvSpPr txBox="1"/>
              <p:nvPr/>
            </p:nvSpPr>
            <p:spPr>
              <a:xfrm>
                <a:off x="8885120" y="3565727"/>
                <a:ext cx="1692765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55%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 Engativá</a:t>
                </a:r>
              </a:p>
            </p:txBody>
          </p:sp>
          <p:sp>
            <p:nvSpPr>
              <p:cNvPr id="167" name="CuadroTexto 166">
                <a:extLst>
                  <a:ext uri="{FF2B5EF4-FFF2-40B4-BE49-F238E27FC236}">
                    <a16:creationId xmlns:a16="http://schemas.microsoft.com/office/drawing/2014/main" id="{9D6334CF-972C-7DCF-DB5B-87D2B09ED850}"/>
                  </a:ext>
                </a:extLst>
              </p:cNvPr>
              <p:cNvSpPr txBox="1"/>
              <p:nvPr/>
            </p:nvSpPr>
            <p:spPr>
              <a:xfrm>
                <a:off x="10498522" y="3549824"/>
                <a:ext cx="1244387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4%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</a:t>
                </a:r>
                <a:r>
                  <a:rPr lang="es-CO" sz="1400" b="1" dirty="0" err="1">
                    <a:solidFill>
                      <a:schemeClr val="bg1"/>
                    </a:solidFill>
                  </a:rPr>
                  <a:t>Usaquen</a:t>
                </a:r>
                <a:endParaRPr lang="es-CO" sz="14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85" name="CuadroTexto 184">
              <a:extLst>
                <a:ext uri="{FF2B5EF4-FFF2-40B4-BE49-F238E27FC236}">
                  <a16:creationId xmlns:a16="http://schemas.microsoft.com/office/drawing/2014/main" id="{6436704C-8089-AAA5-BCD9-17064FCD2052}"/>
                </a:ext>
              </a:extLst>
            </p:cNvPr>
            <p:cNvSpPr txBox="1"/>
            <p:nvPr/>
          </p:nvSpPr>
          <p:spPr>
            <a:xfrm>
              <a:off x="6625166" y="6212468"/>
              <a:ext cx="1323041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55%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 Sin </a:t>
              </a:r>
              <a:r>
                <a:rPr lang="es-CO" sz="1400" b="1" dirty="0" err="1">
                  <a:solidFill>
                    <a:schemeClr val="bg1"/>
                  </a:solidFill>
                </a:rPr>
                <a:t>Infor</a:t>
              </a:r>
              <a:endParaRPr lang="es-CO" sz="1400" b="1" dirty="0">
                <a:solidFill>
                  <a:schemeClr val="bg1"/>
                </a:solidFill>
              </a:endParaRPr>
            </a:p>
          </p:txBody>
        </p:sp>
        <p:pic>
          <p:nvPicPr>
            <p:cNvPr id="187" name="Imagen 186">
              <a:extLst>
                <a:ext uri="{FF2B5EF4-FFF2-40B4-BE49-F238E27FC236}">
                  <a16:creationId xmlns:a16="http://schemas.microsoft.com/office/drawing/2014/main" id="{E2AB283F-EAFB-80DA-1F15-28462C2E54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401571" y="5793688"/>
              <a:ext cx="1266970" cy="620378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grpSp>
        <p:nvGrpSpPr>
          <p:cNvPr id="202" name="Grupo 201">
            <a:extLst>
              <a:ext uri="{FF2B5EF4-FFF2-40B4-BE49-F238E27FC236}">
                <a16:creationId xmlns:a16="http://schemas.microsoft.com/office/drawing/2014/main" id="{5B69C3BA-11A6-268E-CE9B-616C1A3491B0}"/>
              </a:ext>
            </a:extLst>
          </p:cNvPr>
          <p:cNvGrpSpPr/>
          <p:nvPr/>
        </p:nvGrpSpPr>
        <p:grpSpPr>
          <a:xfrm>
            <a:off x="7460740" y="4834201"/>
            <a:ext cx="2935007" cy="1958198"/>
            <a:chOff x="8000239" y="4834201"/>
            <a:chExt cx="3080060" cy="1958198"/>
          </a:xfrm>
        </p:grpSpPr>
        <p:grpSp>
          <p:nvGrpSpPr>
            <p:cNvPr id="190" name="Grupo 189">
              <a:extLst>
                <a:ext uri="{FF2B5EF4-FFF2-40B4-BE49-F238E27FC236}">
                  <a16:creationId xmlns:a16="http://schemas.microsoft.com/office/drawing/2014/main" id="{CF97771B-46A7-CFC3-79EF-1F56A684734E}"/>
                </a:ext>
              </a:extLst>
            </p:cNvPr>
            <p:cNvGrpSpPr/>
            <p:nvPr/>
          </p:nvGrpSpPr>
          <p:grpSpPr>
            <a:xfrm>
              <a:off x="8000239" y="4834201"/>
              <a:ext cx="3080060" cy="1958198"/>
              <a:chOff x="8774371" y="3127128"/>
              <a:chExt cx="3080060" cy="1958198"/>
            </a:xfrm>
          </p:grpSpPr>
          <p:grpSp>
            <p:nvGrpSpPr>
              <p:cNvPr id="191" name="Grupo 190">
                <a:extLst>
                  <a:ext uri="{FF2B5EF4-FFF2-40B4-BE49-F238E27FC236}">
                    <a16:creationId xmlns:a16="http://schemas.microsoft.com/office/drawing/2014/main" id="{A2CADD11-92EF-CFF2-E786-12CE6746DF58}"/>
                  </a:ext>
                </a:extLst>
              </p:cNvPr>
              <p:cNvGrpSpPr/>
              <p:nvPr/>
            </p:nvGrpSpPr>
            <p:grpSpPr>
              <a:xfrm>
                <a:off x="8774371" y="3127128"/>
                <a:ext cx="3080060" cy="1958198"/>
                <a:chOff x="7284148" y="1110832"/>
                <a:chExt cx="3080060" cy="1802711"/>
              </a:xfrm>
            </p:grpSpPr>
            <p:sp>
              <p:nvSpPr>
                <p:cNvPr id="194" name="Rectángulo 193">
                  <a:extLst>
                    <a:ext uri="{FF2B5EF4-FFF2-40B4-BE49-F238E27FC236}">
                      <a16:creationId xmlns:a16="http://schemas.microsoft.com/office/drawing/2014/main" id="{63A02704-AFB3-10BE-5C81-F9E4B5592294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368574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95" name="Grupo 194">
                  <a:extLst>
                    <a:ext uri="{FF2B5EF4-FFF2-40B4-BE49-F238E27FC236}">
                      <a16:creationId xmlns:a16="http://schemas.microsoft.com/office/drawing/2014/main" id="{A232F8A6-9EE6-3E80-6F43-1D149323AB45}"/>
                    </a:ext>
                  </a:extLst>
                </p:cNvPr>
                <p:cNvGrpSpPr/>
                <p:nvPr/>
              </p:nvGrpSpPr>
              <p:grpSpPr>
                <a:xfrm>
                  <a:off x="7284148" y="1207828"/>
                  <a:ext cx="3080060" cy="1705715"/>
                  <a:chOff x="2719727" y="1214528"/>
                  <a:chExt cx="3080060" cy="1705715"/>
                </a:xfrm>
              </p:grpSpPr>
              <p:sp>
                <p:nvSpPr>
                  <p:cNvPr id="197" name="CuadroTexto 196">
                    <a:extLst>
                      <a:ext uri="{FF2B5EF4-FFF2-40B4-BE49-F238E27FC236}">
                        <a16:creationId xmlns:a16="http://schemas.microsoft.com/office/drawing/2014/main" id="{88C4A376-F618-D0B3-5604-19669A2F1E37}"/>
                      </a:ext>
                    </a:extLst>
                  </p:cNvPr>
                  <p:cNvSpPr txBox="1"/>
                  <p:nvPr/>
                </p:nvSpPr>
                <p:spPr>
                  <a:xfrm>
                    <a:off x="3225997" y="1214528"/>
                    <a:ext cx="2573790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Entidad Financieras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98" name="CuadroTexto 197">
                    <a:extLst>
                      <a:ext uri="{FF2B5EF4-FFF2-40B4-BE49-F238E27FC236}">
                        <a16:creationId xmlns:a16="http://schemas.microsoft.com/office/drawing/2014/main" id="{193F1EC8-EF5D-2B6F-5F85-67FB7E4FEF15}"/>
                      </a:ext>
                    </a:extLst>
                  </p:cNvPr>
                  <p:cNvSpPr txBox="1"/>
                  <p:nvPr/>
                </p:nvSpPr>
                <p:spPr>
                  <a:xfrm>
                    <a:off x="2719727" y="2353567"/>
                    <a:ext cx="2440539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  18%</a:t>
                    </a: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           Bancolombia</a:t>
                    </a:r>
                  </a:p>
                </p:txBody>
              </p:sp>
            </p:grpSp>
          </p:grpSp>
          <p:sp>
            <p:nvSpPr>
              <p:cNvPr id="192" name="CuadroTexto 191">
                <a:extLst>
                  <a:ext uri="{FF2B5EF4-FFF2-40B4-BE49-F238E27FC236}">
                    <a16:creationId xmlns:a16="http://schemas.microsoft.com/office/drawing/2014/main" id="{CEF766CC-5239-1D8D-25B8-B666383E732D}"/>
                  </a:ext>
                </a:extLst>
              </p:cNvPr>
              <p:cNvSpPr txBox="1"/>
              <p:nvPr/>
            </p:nvSpPr>
            <p:spPr>
              <a:xfrm>
                <a:off x="9302943" y="3551346"/>
                <a:ext cx="1337256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4%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    Colsubsidio</a:t>
                </a:r>
              </a:p>
            </p:txBody>
          </p:sp>
          <p:sp>
            <p:nvSpPr>
              <p:cNvPr id="193" name="CuadroTexto 192">
                <a:extLst>
                  <a:ext uri="{FF2B5EF4-FFF2-40B4-BE49-F238E27FC236}">
                    <a16:creationId xmlns:a16="http://schemas.microsoft.com/office/drawing/2014/main" id="{16D913B8-7924-D513-C3F4-95D2E7C27C1E}"/>
                  </a:ext>
                </a:extLst>
              </p:cNvPr>
              <p:cNvSpPr txBox="1"/>
              <p:nvPr/>
            </p:nvSpPr>
            <p:spPr>
              <a:xfrm>
                <a:off x="10419868" y="3549824"/>
                <a:ext cx="1323041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40%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 Davivienda</a:t>
                </a:r>
              </a:p>
            </p:txBody>
          </p:sp>
        </p:grpSp>
        <p:sp>
          <p:nvSpPr>
            <p:cNvPr id="199" name="CuadroTexto 198">
              <a:extLst>
                <a:ext uri="{FF2B5EF4-FFF2-40B4-BE49-F238E27FC236}">
                  <a16:creationId xmlns:a16="http://schemas.microsoft.com/office/drawing/2014/main" id="{285978D8-4745-C5BE-F9C9-3B89A1317ACD}"/>
                </a:ext>
              </a:extLst>
            </p:cNvPr>
            <p:cNvSpPr txBox="1"/>
            <p:nvPr/>
          </p:nvSpPr>
          <p:spPr>
            <a:xfrm>
              <a:off x="9366872" y="6140046"/>
              <a:ext cx="1323041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  38%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      Otros</a:t>
              </a:r>
            </a:p>
          </p:txBody>
        </p:sp>
      </p:grpSp>
      <p:pic>
        <p:nvPicPr>
          <p:cNvPr id="205" name="Imagen 204">
            <a:extLst>
              <a:ext uri="{FF2B5EF4-FFF2-40B4-BE49-F238E27FC236}">
                <a16:creationId xmlns:a16="http://schemas.microsoft.com/office/drawing/2014/main" id="{F231F2DF-6EF3-2043-0CA9-1C34103EAA7E}"/>
              </a:ext>
            </a:extLst>
          </p:cNvPr>
          <p:cNvPicPr>
            <a:picLocks noChangeAspect="1"/>
          </p:cNvPicPr>
          <p:nvPr/>
        </p:nvPicPr>
        <p:blipFill>
          <a:blip r:embed="rId22">
            <a:duotone>
              <a:prstClr val="black"/>
              <a:schemeClr val="tx1">
                <a:lumMod val="75000"/>
                <a:lumOff val="2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4538" y="5846263"/>
            <a:ext cx="673981" cy="673981"/>
          </a:xfrm>
          <a:prstGeom prst="rect">
            <a:avLst/>
          </a:prstGeom>
        </p:spPr>
      </p:pic>
      <p:grpSp>
        <p:nvGrpSpPr>
          <p:cNvPr id="208" name="Grupo 207">
            <a:extLst>
              <a:ext uri="{FF2B5EF4-FFF2-40B4-BE49-F238E27FC236}">
                <a16:creationId xmlns:a16="http://schemas.microsoft.com/office/drawing/2014/main" id="{D71F6C1B-75BB-DD7E-3080-4E7516BE98DA}"/>
              </a:ext>
            </a:extLst>
          </p:cNvPr>
          <p:cNvGrpSpPr/>
          <p:nvPr/>
        </p:nvGrpSpPr>
        <p:grpSpPr>
          <a:xfrm>
            <a:off x="10245555" y="853892"/>
            <a:ext cx="1956550" cy="5540381"/>
            <a:chOff x="7793864" y="1110832"/>
            <a:chExt cx="1816602" cy="1780012"/>
          </a:xfrm>
        </p:grpSpPr>
        <p:sp>
          <p:nvSpPr>
            <p:cNvPr id="212" name="Rectángulo 211">
              <a:extLst>
                <a:ext uri="{FF2B5EF4-FFF2-40B4-BE49-F238E27FC236}">
                  <a16:creationId xmlns:a16="http://schemas.microsoft.com/office/drawing/2014/main" id="{5984EFD8-C774-8AAB-AB2F-491C5AFBAAF8}"/>
                </a:ext>
              </a:extLst>
            </p:cNvPr>
            <p:cNvSpPr/>
            <p:nvPr/>
          </p:nvSpPr>
          <p:spPr>
            <a:xfrm>
              <a:off x="7814360" y="1110832"/>
              <a:ext cx="1666611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5" name="CuadroTexto 214">
              <a:extLst>
                <a:ext uri="{FF2B5EF4-FFF2-40B4-BE49-F238E27FC236}">
                  <a16:creationId xmlns:a16="http://schemas.microsoft.com/office/drawing/2014/main" id="{FC04BEA5-6F93-619D-84EB-6618CC3BAFAD}"/>
                </a:ext>
              </a:extLst>
            </p:cNvPr>
            <p:cNvSpPr txBox="1"/>
            <p:nvPr/>
          </p:nvSpPr>
          <p:spPr>
            <a:xfrm>
              <a:off x="7793864" y="1161252"/>
              <a:ext cx="1816602" cy="1141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1600">
                  <a:solidFill>
                    <a:srgbClr val="FFC000"/>
                  </a:solidFill>
                  <a:latin typeface="KG Red Hands" panose="02000505000000020004" pitchFamily="2" charset="0"/>
                </a:rPr>
                <a:t>Top Empresas</a:t>
              </a:r>
              <a:endParaRPr lang="es-ES" sz="1600">
                <a:solidFill>
                  <a:srgbClr val="FFC000"/>
                </a:solidFill>
              </a:endParaRPr>
            </a:p>
          </p:txBody>
        </p:sp>
        <p:sp>
          <p:nvSpPr>
            <p:cNvPr id="214" name="CuadroTexto 213">
              <a:extLst>
                <a:ext uri="{FF2B5EF4-FFF2-40B4-BE49-F238E27FC236}">
                  <a16:creationId xmlns:a16="http://schemas.microsoft.com/office/drawing/2014/main" id="{6183EB14-C497-1EDC-F0BD-F1CF2AFFA7F2}"/>
                </a:ext>
              </a:extLst>
            </p:cNvPr>
            <p:cNvSpPr txBox="1"/>
            <p:nvPr/>
          </p:nvSpPr>
          <p:spPr>
            <a:xfrm>
              <a:off x="7830402" y="1354030"/>
              <a:ext cx="1689688" cy="3263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500" b="1" dirty="0">
                  <a:solidFill>
                    <a:schemeClr val="bg1"/>
                  </a:solidFill>
                </a:rPr>
                <a:t>COLSUBSIDIO	4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MERCADOLIBRE	3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CIMMA CONSTRUCTORA SAS	2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IMPUESTOS Y ADUANAS	2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SIEMENS ENERGY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NEC DE COLOMBIA S A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MARISOL  ROJAS ROMERO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ADECCO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PROCREACION MEDICAM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CENTRAL DE DISOLVENTES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BRIZGA CORPORATION SAS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	                               </a:t>
              </a: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78B6FA78-3053-D6B8-A35F-D546D656A9F5}"/>
              </a:ext>
            </a:extLst>
          </p:cNvPr>
          <p:cNvSpPr txBox="1"/>
          <p:nvPr/>
        </p:nvSpPr>
        <p:spPr>
          <a:xfrm>
            <a:off x="6773529" y="4056451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2%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 cuatro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633E295-4946-2289-AA06-2607602F0ED6}"/>
              </a:ext>
            </a:extLst>
          </p:cNvPr>
          <p:cNvSpPr txBox="1"/>
          <p:nvPr/>
        </p:nvSpPr>
        <p:spPr>
          <a:xfrm>
            <a:off x="2346960" y="3971063"/>
            <a:ext cx="154680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22</a:t>
            </a:r>
            <a:r>
              <a:rPr lang="es-CO" sz="1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%</a:t>
            </a:r>
          </a:p>
          <a:p>
            <a:r>
              <a:rPr lang="es-CO" sz="1200" b="1" dirty="0">
                <a:solidFill>
                  <a:schemeClr val="bg1"/>
                </a:solidFill>
              </a:rPr>
              <a:t>  Pareja Conyugal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D3FCAD4-B5FC-1912-A0B3-7D1AA10D78D8}"/>
              </a:ext>
            </a:extLst>
          </p:cNvPr>
          <p:cNvSpPr txBox="1"/>
          <p:nvPr/>
        </p:nvSpPr>
        <p:spPr>
          <a:xfrm>
            <a:off x="10330342" y="6461181"/>
            <a:ext cx="14292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100" dirty="0">
                <a:solidFill>
                  <a:srgbClr val="FFC000"/>
                </a:solidFill>
                <a:latin typeface="KG Red Hands" panose="02000505000000020004" pitchFamily="2" charset="0"/>
              </a:rPr>
              <a:t>*Corte 15/01/2026</a:t>
            </a:r>
            <a:endParaRPr lang="es-ES" sz="11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2151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589DF-600D-7DE5-61D7-D732095FA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3F9A943A-8F09-1FEF-5FF0-2F5F8E80AB5D}"/>
              </a:ext>
            </a:extLst>
          </p:cNvPr>
          <p:cNvCxnSpPr>
            <a:cxnSpLocks/>
          </p:cNvCxnSpPr>
          <p:nvPr/>
        </p:nvCxnSpPr>
        <p:spPr>
          <a:xfrm flipH="1">
            <a:off x="0" y="645614"/>
            <a:ext cx="10809007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uadroTexto 85">
            <a:extLst>
              <a:ext uri="{FF2B5EF4-FFF2-40B4-BE49-F238E27FC236}">
                <a16:creationId xmlns:a16="http://schemas.microsoft.com/office/drawing/2014/main" id="{60E2102C-A617-179A-3949-399641B42850}"/>
              </a:ext>
            </a:extLst>
          </p:cNvPr>
          <p:cNvSpPr txBox="1"/>
          <p:nvPr/>
        </p:nvSpPr>
        <p:spPr>
          <a:xfrm>
            <a:off x="-128399" y="120715"/>
            <a:ext cx="95771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>
                <a:solidFill>
                  <a:schemeClr val="bg1"/>
                </a:solidFill>
                <a:latin typeface="KG Red Hands" panose="02000505000000020004" pitchFamily="2" charset="0"/>
              </a:rPr>
              <a:t>      </a:t>
            </a:r>
            <a:r>
              <a:rPr lang="es-CO" sz="2400" err="1">
                <a:solidFill>
                  <a:schemeClr val="bg1"/>
                </a:solidFill>
                <a:latin typeface="KG Red Hands" panose="02000505000000020004" pitchFamily="2" charset="0"/>
              </a:rPr>
              <a:t>karakali</a:t>
            </a:r>
            <a:endParaRPr lang="es-ES" sz="240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65B30A5-789A-F368-96C4-BC7654363676}"/>
              </a:ext>
              <a:ext uri="{147F2762-F138-4A5C-976F-8EAC2B608ADB}">
                <a16:predDERef xmlns:a16="http://schemas.microsoft.com/office/drawing/2014/main" pred="{95DEFF95-1524-40DB-8538-DE0C2D5BEC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3398838"/>
            <a:ext cx="555625" cy="49371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5278ED5C-0ED8-889C-1F62-61BB86215779}"/>
              </a:ext>
              <a:ext uri="{147F2762-F138-4A5C-976F-8EAC2B608ADB}">
                <a16:predDERef xmlns:a16="http://schemas.microsoft.com/office/drawing/2014/main" pred="{95FFDEC5-E647-4E60-9FB8-32349ACC1E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087813"/>
            <a:ext cx="555625" cy="46196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0B35B942-FBA4-2B38-CE0D-817902A85AB6}"/>
              </a:ext>
              <a:ext uri="{147F2762-F138-4A5C-976F-8EAC2B608ADB}">
                <a16:predDERef xmlns:a16="http://schemas.microsoft.com/office/drawing/2014/main" pred="{D53D0C4A-FE71-44C0-97B3-1EA296D3DCE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814888"/>
            <a:ext cx="555625" cy="41116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891D741C-FCBB-CFE5-0DFD-3432DCAC6C73}"/>
              </a:ext>
              <a:ext uri="{147F2762-F138-4A5C-976F-8EAC2B608ADB}">
                <a16:predDERef xmlns:a16="http://schemas.microsoft.com/office/drawing/2014/main" pred="{7008BA42-7365-4AD1-B913-F26820CE47E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1775" y="5427663"/>
            <a:ext cx="465138" cy="433387"/>
          </a:xfrm>
          <a:prstGeom prst="rect">
            <a:avLst/>
          </a:prstGeom>
        </p:spPr>
      </p:pic>
      <p:grpSp>
        <p:nvGrpSpPr>
          <p:cNvPr id="135" name="Grupo 134">
            <a:extLst>
              <a:ext uri="{FF2B5EF4-FFF2-40B4-BE49-F238E27FC236}">
                <a16:creationId xmlns:a16="http://schemas.microsoft.com/office/drawing/2014/main" id="{D810210D-2171-9987-4C6D-F43DEAEAD318}"/>
              </a:ext>
            </a:extLst>
          </p:cNvPr>
          <p:cNvGrpSpPr/>
          <p:nvPr/>
        </p:nvGrpSpPr>
        <p:grpSpPr>
          <a:xfrm>
            <a:off x="5564187" y="853892"/>
            <a:ext cx="2195988" cy="1780012"/>
            <a:chOff x="5353656" y="1110832"/>
            <a:chExt cx="2195988" cy="1780012"/>
          </a:xfrm>
        </p:grpSpPr>
        <p:sp>
          <p:nvSpPr>
            <p:cNvPr id="58" name="Rectángulo 57">
              <a:extLst>
                <a:ext uri="{FF2B5EF4-FFF2-40B4-BE49-F238E27FC236}">
                  <a16:creationId xmlns:a16="http://schemas.microsoft.com/office/drawing/2014/main" id="{A5298BAF-E0F1-4ED1-7ABF-588CC9D57DF7}"/>
                </a:ext>
              </a:extLst>
            </p:cNvPr>
            <p:cNvSpPr/>
            <p:nvPr/>
          </p:nvSpPr>
          <p:spPr>
            <a:xfrm>
              <a:off x="5353656" y="1110832"/>
              <a:ext cx="2195987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43" name="Grupo 42">
              <a:extLst>
                <a:ext uri="{FF2B5EF4-FFF2-40B4-BE49-F238E27FC236}">
                  <a16:creationId xmlns:a16="http://schemas.microsoft.com/office/drawing/2014/main" id="{F3BFC707-93BF-D6E3-B0E7-E28281196FAF}"/>
                </a:ext>
              </a:extLst>
            </p:cNvPr>
            <p:cNvGrpSpPr/>
            <p:nvPr/>
          </p:nvGrpSpPr>
          <p:grpSpPr>
            <a:xfrm>
              <a:off x="5353657" y="1223137"/>
              <a:ext cx="2083693" cy="1630468"/>
              <a:chOff x="3249940" y="1229837"/>
              <a:chExt cx="2083693" cy="1630468"/>
            </a:xfrm>
          </p:grpSpPr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228B7ED1-CDA5-A0E2-4D52-8AF28CFB6AAB}"/>
                  </a:ext>
                </a:extLst>
              </p:cNvPr>
              <p:cNvSpPr txBox="1"/>
              <p:nvPr/>
            </p:nvSpPr>
            <p:spPr>
              <a:xfrm>
                <a:off x="3552927" y="1229837"/>
                <a:ext cx="178070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Rango Salario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9B07DA36-467E-D4C4-AF8F-7CC603EE0C1B}"/>
                  </a:ext>
                </a:extLst>
              </p:cNvPr>
              <p:cNvSpPr txBox="1"/>
              <p:nvPr/>
            </p:nvSpPr>
            <p:spPr>
              <a:xfrm>
                <a:off x="3249940" y="2306307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47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Hasta 2 </a:t>
                </a:r>
                <a:r>
                  <a:rPr lang="es-CO" sz="1200" b="1" dirty="0" err="1">
                    <a:solidFill>
                      <a:schemeClr val="bg1"/>
                    </a:solidFill>
                  </a:rPr>
                  <a:t>smlv</a:t>
                </a:r>
                <a:endParaRPr lang="es-CO" sz="12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53" name="Imagen 52">
              <a:extLst>
                <a:ext uri="{FF2B5EF4-FFF2-40B4-BE49-F238E27FC236}">
                  <a16:creationId xmlns:a16="http://schemas.microsoft.com/office/drawing/2014/main" id="{B6068D71-98CF-947D-DC02-D06AD8658CF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12042" y="1623254"/>
              <a:ext cx="641350" cy="641350"/>
            </a:xfrm>
            <a:prstGeom prst="rect">
              <a:avLst/>
            </a:prstGeom>
          </p:spPr>
        </p:pic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2320C18D-8D91-4235-B43C-D7DCDA6BBB5B}"/>
                </a:ext>
              </a:extLst>
            </p:cNvPr>
            <p:cNvSpPr txBox="1"/>
            <p:nvPr/>
          </p:nvSpPr>
          <p:spPr>
            <a:xfrm>
              <a:off x="6376735" y="2289285"/>
              <a:ext cx="1172909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53</a:t>
              </a:r>
              <a:r>
                <a:rPr lang="es-CO" sz="18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Mas de 2 </a:t>
              </a:r>
              <a:r>
                <a:rPr lang="es-CO" sz="1200" b="1" dirty="0" err="1">
                  <a:solidFill>
                    <a:schemeClr val="bg1"/>
                  </a:solidFill>
                </a:rPr>
                <a:t>smlv</a:t>
              </a:r>
              <a:endParaRPr lang="es-CO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61662EAD-5459-079D-49C8-F44CB958EFBE}"/>
              </a:ext>
            </a:extLst>
          </p:cNvPr>
          <p:cNvGrpSpPr/>
          <p:nvPr/>
        </p:nvGrpSpPr>
        <p:grpSpPr>
          <a:xfrm>
            <a:off x="3320687" y="874756"/>
            <a:ext cx="1941094" cy="1759148"/>
            <a:chOff x="3224463" y="1110832"/>
            <a:chExt cx="1941094" cy="1759148"/>
          </a:xfrm>
        </p:grpSpPr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98047392-0E71-FDA8-8664-6EC6A4C7DE2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36596" y="1677993"/>
              <a:ext cx="721895" cy="721895"/>
            </a:xfrm>
            <a:prstGeom prst="rect">
              <a:avLst/>
            </a:prstGeom>
          </p:spPr>
        </p:pic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A8AF88A8-13A3-A4AD-FCBC-FFA591BAC7F4}"/>
                </a:ext>
              </a:extLst>
            </p:cNvPr>
            <p:cNvGrpSpPr/>
            <p:nvPr/>
          </p:nvGrpSpPr>
          <p:grpSpPr>
            <a:xfrm>
              <a:off x="3420553" y="1223137"/>
              <a:ext cx="1609350" cy="1516670"/>
              <a:chOff x="3420553" y="1223137"/>
              <a:chExt cx="1609350" cy="1516670"/>
            </a:xfrm>
          </p:grpSpPr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E22CDE54-8ED8-3352-C5B8-05A288E97E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74608" y="1613811"/>
                <a:ext cx="723600" cy="723600"/>
              </a:xfrm>
              <a:prstGeom prst="rect">
                <a:avLst/>
              </a:prstGeom>
            </p:spPr>
          </p:pic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E2D99E0A-CD38-A448-725F-7C98E83E1FA8}"/>
                  </a:ext>
                </a:extLst>
              </p:cNvPr>
              <p:cNvSpPr txBox="1"/>
              <p:nvPr/>
            </p:nvSpPr>
            <p:spPr>
              <a:xfrm>
                <a:off x="3685253" y="1223137"/>
                <a:ext cx="1098946" cy="345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Género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369F0FA1-0148-0294-E54D-2080632CCA5E}"/>
                  </a:ext>
                </a:extLst>
              </p:cNvPr>
              <p:cNvSpPr txBox="1"/>
              <p:nvPr/>
            </p:nvSpPr>
            <p:spPr>
              <a:xfrm>
                <a:off x="3420553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51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26E838A9-6E3D-E7D2-49BF-1925105269AA}"/>
                  </a:ext>
                </a:extLst>
              </p:cNvPr>
              <p:cNvSpPr txBox="1"/>
              <p:nvPr/>
            </p:nvSpPr>
            <p:spPr>
              <a:xfrm>
                <a:off x="4308008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49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</p:grp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6806D6B4-E2E6-7281-2F0B-0B1C892BE93A}"/>
                </a:ext>
              </a:extLst>
            </p:cNvPr>
            <p:cNvSpPr/>
            <p:nvPr/>
          </p:nvSpPr>
          <p:spPr>
            <a:xfrm>
              <a:off x="3224463" y="1110832"/>
              <a:ext cx="1941094" cy="175914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78" name="CuadroTexto 77">
            <a:extLst>
              <a:ext uri="{FF2B5EF4-FFF2-40B4-BE49-F238E27FC236}">
                <a16:creationId xmlns:a16="http://schemas.microsoft.com/office/drawing/2014/main" id="{598453FD-267B-F168-C1A3-4007E13A5629}"/>
              </a:ext>
            </a:extLst>
          </p:cNvPr>
          <p:cNvSpPr txBox="1"/>
          <p:nvPr/>
        </p:nvSpPr>
        <p:spPr>
          <a:xfrm>
            <a:off x="1376075" y="3222417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37%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Joven</a:t>
            </a:r>
          </a:p>
        </p:txBody>
      </p: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0871B6D1-323C-F1DA-7DC0-BF975EE91EC5}"/>
              </a:ext>
            </a:extLst>
          </p:cNvPr>
          <p:cNvGrpSpPr/>
          <p:nvPr/>
        </p:nvGrpSpPr>
        <p:grpSpPr>
          <a:xfrm>
            <a:off x="-155207" y="2771278"/>
            <a:ext cx="2688149" cy="1998661"/>
            <a:chOff x="435343" y="3108160"/>
            <a:chExt cx="2688149" cy="1998661"/>
          </a:xfrm>
        </p:grpSpPr>
        <p:grpSp>
          <p:nvGrpSpPr>
            <p:cNvPr id="69" name="Grupo 68">
              <a:extLst>
                <a:ext uri="{FF2B5EF4-FFF2-40B4-BE49-F238E27FC236}">
                  <a16:creationId xmlns:a16="http://schemas.microsoft.com/office/drawing/2014/main" id="{03CDC741-6967-3489-51BC-91C1E1968F3F}"/>
                </a:ext>
              </a:extLst>
            </p:cNvPr>
            <p:cNvGrpSpPr/>
            <p:nvPr/>
          </p:nvGrpSpPr>
          <p:grpSpPr>
            <a:xfrm>
              <a:off x="457829" y="3108160"/>
              <a:ext cx="2665663" cy="1998661"/>
              <a:chOff x="7590765" y="1110832"/>
              <a:chExt cx="2665663" cy="1822499"/>
            </a:xfrm>
          </p:grpSpPr>
          <p:sp>
            <p:nvSpPr>
              <p:cNvPr id="70" name="Rectángulo 69">
                <a:extLst>
                  <a:ext uri="{FF2B5EF4-FFF2-40B4-BE49-F238E27FC236}">
                    <a16:creationId xmlns:a16="http://schemas.microsoft.com/office/drawing/2014/main" id="{C880AD96-F589-4C61-C3AE-32D7A91E70CC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71" name="Grupo 70">
                <a:extLst>
                  <a:ext uri="{FF2B5EF4-FFF2-40B4-BE49-F238E27FC236}">
                    <a16:creationId xmlns:a16="http://schemas.microsoft.com/office/drawing/2014/main" id="{AD28028B-E236-D2FE-117E-77A047607571}"/>
                  </a:ext>
                </a:extLst>
              </p:cNvPr>
              <p:cNvGrpSpPr/>
              <p:nvPr/>
            </p:nvGrpSpPr>
            <p:grpSpPr>
              <a:xfrm>
                <a:off x="7590765" y="1223137"/>
                <a:ext cx="2024519" cy="1655939"/>
                <a:chOff x="3026344" y="1229837"/>
                <a:chExt cx="2024519" cy="1655939"/>
              </a:xfrm>
            </p:grpSpPr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5164D4D4-2723-29EF-B6FC-6EE71707A608}"/>
                    </a:ext>
                  </a:extLst>
                </p:cNvPr>
                <p:cNvSpPr txBox="1"/>
                <p:nvPr/>
              </p:nvSpPr>
              <p:spPr>
                <a:xfrm>
                  <a:off x="3645002" y="1229837"/>
                  <a:ext cx="1405861" cy="3087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Segmento 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9DF9FD1B-C478-3767-53FC-9F58F0AD6012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12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28%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Básico</a:t>
                  </a:r>
                </a:p>
              </p:txBody>
            </p:sp>
          </p:grpSp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C74F54ED-6909-A858-BE8D-890D13FF3854}"/>
                  </a:ext>
                </a:extLst>
              </p:cNvPr>
              <p:cNvSpPr txBox="1"/>
              <p:nvPr/>
            </p:nvSpPr>
            <p:spPr>
              <a:xfrm>
                <a:off x="9083519" y="231777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0%</a:t>
                </a:r>
              </a:p>
              <a:p>
                <a:r>
                  <a:rPr lang="es-CO" sz="1400" b="1">
                    <a:solidFill>
                      <a:schemeClr val="bg1"/>
                    </a:solidFill>
                  </a:rPr>
                  <a:t>       Alto</a:t>
                </a:r>
              </a:p>
            </p:txBody>
          </p:sp>
        </p:grpSp>
        <p:sp>
          <p:nvSpPr>
            <p:cNvPr id="77" name="CuadroTexto 76">
              <a:extLst>
                <a:ext uri="{FF2B5EF4-FFF2-40B4-BE49-F238E27FC236}">
                  <a16:creationId xmlns:a16="http://schemas.microsoft.com/office/drawing/2014/main" id="{22DA9396-8122-A6F4-6C49-6556E645707E}"/>
                </a:ext>
              </a:extLst>
            </p:cNvPr>
            <p:cNvSpPr txBox="1"/>
            <p:nvPr/>
          </p:nvSpPr>
          <p:spPr>
            <a:xfrm>
              <a:off x="435343" y="3559299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35%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Medio</a:t>
              </a:r>
            </a:p>
          </p:txBody>
        </p:sp>
        <p:pic>
          <p:nvPicPr>
            <p:cNvPr id="80" name="Imagen 79">
              <a:extLst>
                <a:ext uri="{FF2B5EF4-FFF2-40B4-BE49-F238E27FC236}">
                  <a16:creationId xmlns:a16="http://schemas.microsoft.com/office/drawing/2014/main" id="{8955926B-F008-4B2F-C5C0-A179822E7A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LineDrawing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90862" y="3871141"/>
              <a:ext cx="680857" cy="680857"/>
            </a:xfrm>
            <a:prstGeom prst="rect">
              <a:avLst/>
            </a:prstGeom>
          </p:spPr>
        </p:pic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5A9542E7-48CF-59FF-1418-F88D349C616F}"/>
              </a:ext>
            </a:extLst>
          </p:cNvPr>
          <p:cNvGrpSpPr/>
          <p:nvPr/>
        </p:nvGrpSpPr>
        <p:grpSpPr>
          <a:xfrm>
            <a:off x="2169335" y="2774370"/>
            <a:ext cx="3284086" cy="1963483"/>
            <a:chOff x="2759885" y="3111252"/>
            <a:chExt cx="3284086" cy="1963483"/>
          </a:xfrm>
        </p:grpSpPr>
        <p:sp>
          <p:nvSpPr>
            <p:cNvPr id="88" name="CuadroTexto 87">
              <a:extLst>
                <a:ext uri="{FF2B5EF4-FFF2-40B4-BE49-F238E27FC236}">
                  <a16:creationId xmlns:a16="http://schemas.microsoft.com/office/drawing/2014/main" id="{E2B5A3FA-479E-6B81-FB93-F00A25C9E6E2}"/>
                </a:ext>
              </a:extLst>
            </p:cNvPr>
            <p:cNvSpPr txBox="1"/>
            <p:nvPr/>
          </p:nvSpPr>
          <p:spPr>
            <a:xfrm>
              <a:off x="2759885" y="3531697"/>
              <a:ext cx="154680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   68%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             Sin Grupo</a:t>
              </a:r>
            </a:p>
          </p:txBody>
        </p:sp>
        <p:grpSp>
          <p:nvGrpSpPr>
            <p:cNvPr id="124" name="Grupo 123">
              <a:extLst>
                <a:ext uri="{FF2B5EF4-FFF2-40B4-BE49-F238E27FC236}">
                  <a16:creationId xmlns:a16="http://schemas.microsoft.com/office/drawing/2014/main" id="{7C18B384-7B24-58D2-D9E0-8C3A4E562885}"/>
                </a:ext>
              </a:extLst>
            </p:cNvPr>
            <p:cNvGrpSpPr/>
            <p:nvPr/>
          </p:nvGrpSpPr>
          <p:grpSpPr>
            <a:xfrm>
              <a:off x="3048286" y="3111252"/>
              <a:ext cx="2995685" cy="1963483"/>
              <a:chOff x="3048286" y="3111252"/>
              <a:chExt cx="2995685" cy="1963483"/>
            </a:xfrm>
          </p:grpSpPr>
          <p:grpSp>
            <p:nvGrpSpPr>
              <p:cNvPr id="81" name="Grupo 80">
                <a:extLst>
                  <a:ext uri="{FF2B5EF4-FFF2-40B4-BE49-F238E27FC236}">
                    <a16:creationId xmlns:a16="http://schemas.microsoft.com/office/drawing/2014/main" id="{576DDBEE-7630-E7BE-2E52-618E7DC271D2}"/>
                  </a:ext>
                </a:extLst>
              </p:cNvPr>
              <p:cNvGrpSpPr/>
              <p:nvPr/>
            </p:nvGrpSpPr>
            <p:grpSpPr>
              <a:xfrm>
                <a:off x="3048286" y="3111252"/>
                <a:ext cx="2995685" cy="1963483"/>
                <a:chOff x="7814360" y="1110832"/>
                <a:chExt cx="2995685" cy="1780012"/>
              </a:xfrm>
            </p:grpSpPr>
            <p:sp>
              <p:nvSpPr>
                <p:cNvPr id="82" name="Rectángulo 81">
                  <a:extLst>
                    <a:ext uri="{FF2B5EF4-FFF2-40B4-BE49-F238E27FC236}">
                      <a16:creationId xmlns:a16="http://schemas.microsoft.com/office/drawing/2014/main" id="{8027F774-FC2B-A2C3-B9C6-552F6F0CA64B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808386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5" name="CuadroTexto 84">
                  <a:extLst>
                    <a:ext uri="{FF2B5EF4-FFF2-40B4-BE49-F238E27FC236}">
                      <a16:creationId xmlns:a16="http://schemas.microsoft.com/office/drawing/2014/main" id="{F0A49B94-3BDD-6677-BC1B-3BA6246EB3CA}"/>
                    </a:ext>
                  </a:extLst>
                </p:cNvPr>
                <p:cNvSpPr txBox="1"/>
                <p:nvPr/>
              </p:nvSpPr>
              <p:spPr>
                <a:xfrm>
                  <a:off x="8199228" y="1166870"/>
                  <a:ext cx="2143266" cy="3069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Segmento Familia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84" name="CuadroTexto 83">
                  <a:extLst>
                    <a:ext uri="{FF2B5EF4-FFF2-40B4-BE49-F238E27FC236}">
                      <a16:creationId xmlns:a16="http://schemas.microsoft.com/office/drawing/2014/main" id="{E3D68FE7-A236-81B6-4EE4-876CF14165A3}"/>
                    </a:ext>
                  </a:extLst>
                </p:cNvPr>
                <p:cNvSpPr txBox="1"/>
                <p:nvPr/>
              </p:nvSpPr>
              <p:spPr>
                <a:xfrm>
                  <a:off x="9185077" y="2002589"/>
                  <a:ext cx="1624968" cy="5022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        9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 Nuclear Integrada</a:t>
                  </a:r>
                </a:p>
              </p:txBody>
            </p:sp>
          </p:grpSp>
          <p:sp>
            <p:nvSpPr>
              <p:cNvPr id="89" name="CuadroTexto 88">
                <a:extLst>
                  <a:ext uri="{FF2B5EF4-FFF2-40B4-BE49-F238E27FC236}">
                    <a16:creationId xmlns:a16="http://schemas.microsoft.com/office/drawing/2014/main" id="{78F665C4-30E9-19D5-1587-0F04158FDB66}"/>
                  </a:ext>
                </a:extLst>
              </p:cNvPr>
              <p:cNvSpPr txBox="1"/>
              <p:nvPr/>
            </p:nvSpPr>
            <p:spPr>
              <a:xfrm>
                <a:off x="4771770" y="3534141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10%</a:t>
                </a:r>
                <a:r>
                  <a:rPr lang="es-CO" sz="1200" b="1" dirty="0">
                    <a:solidFill>
                      <a:schemeClr val="bg1"/>
                    </a:solidFill>
                  </a:rPr>
                  <a:t> Monoparental</a:t>
                </a:r>
              </a:p>
            </p:txBody>
          </p:sp>
          <p:pic>
            <p:nvPicPr>
              <p:cNvPr id="92" name="Imagen 91">
                <a:extLst>
                  <a:ext uri="{FF2B5EF4-FFF2-40B4-BE49-F238E27FC236}">
                    <a16:creationId xmlns:a16="http://schemas.microsoft.com/office/drawing/2014/main" id="{84BC50FA-4781-BAF0-36E8-80AC2AFA8D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artisticGlowDiffused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075298" y="3683026"/>
                <a:ext cx="754362" cy="754362"/>
              </a:xfrm>
              <a:prstGeom prst="rect">
                <a:avLst/>
              </a:prstGeom>
            </p:spPr>
          </p:pic>
        </p:grp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A73DC5CB-412C-9365-2A68-80BB6F598994}"/>
              </a:ext>
            </a:extLst>
          </p:cNvPr>
          <p:cNvGrpSpPr/>
          <p:nvPr/>
        </p:nvGrpSpPr>
        <p:grpSpPr>
          <a:xfrm>
            <a:off x="90873" y="847081"/>
            <a:ext cx="3094159" cy="1780012"/>
            <a:chOff x="681423" y="1183963"/>
            <a:chExt cx="3094159" cy="1780012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E58B06D9-8C68-D6D1-6244-0ADD44020182}"/>
                </a:ext>
              </a:extLst>
            </p:cNvPr>
            <p:cNvSpPr txBox="1"/>
            <p:nvPr/>
          </p:nvSpPr>
          <p:spPr>
            <a:xfrm>
              <a:off x="942955" y="1217834"/>
              <a:ext cx="2376943" cy="16927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s-CO" sz="2000" b="1" dirty="0">
                <a:solidFill>
                  <a:srgbClr val="FFC000"/>
                </a:solidFill>
              </a:endParaRP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Afiliado     </a:t>
              </a:r>
              <a:r>
                <a:rPr lang="es-CO" sz="2800" b="1" dirty="0">
                  <a:solidFill>
                    <a:srgbClr val="FFC000"/>
                  </a:solidFill>
                </a:rPr>
                <a:t>   </a:t>
              </a:r>
              <a:r>
                <a:rPr lang="es-CO" sz="2800" b="1" dirty="0">
                  <a:solidFill>
                    <a:schemeClr val="bg1"/>
                  </a:solidFill>
                </a:rPr>
                <a:t>59%</a:t>
              </a: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No Afilado   </a:t>
              </a:r>
              <a:r>
                <a:rPr lang="es-CO" sz="2800" b="1" dirty="0">
                  <a:solidFill>
                    <a:schemeClr val="bg1"/>
                  </a:solidFill>
                </a:rPr>
                <a:t>41%</a:t>
              </a:r>
            </a:p>
            <a:p>
              <a:endParaRPr lang="es-ES" sz="28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05" name="Rectángulo 104">
              <a:extLst>
                <a:ext uri="{FF2B5EF4-FFF2-40B4-BE49-F238E27FC236}">
                  <a16:creationId xmlns:a16="http://schemas.microsoft.com/office/drawing/2014/main" id="{2D427F8E-3EF1-81C7-5D38-08DBBF801E14}"/>
                </a:ext>
              </a:extLst>
            </p:cNvPr>
            <p:cNvSpPr/>
            <p:nvPr/>
          </p:nvSpPr>
          <p:spPr>
            <a:xfrm>
              <a:off x="681423" y="1183963"/>
              <a:ext cx="3094159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20" name="Grupo 119">
            <a:extLst>
              <a:ext uri="{FF2B5EF4-FFF2-40B4-BE49-F238E27FC236}">
                <a16:creationId xmlns:a16="http://schemas.microsoft.com/office/drawing/2014/main" id="{3633FD83-5610-06AB-B3E8-04721D4621B9}"/>
              </a:ext>
            </a:extLst>
          </p:cNvPr>
          <p:cNvGrpSpPr/>
          <p:nvPr/>
        </p:nvGrpSpPr>
        <p:grpSpPr>
          <a:xfrm>
            <a:off x="7777183" y="2775745"/>
            <a:ext cx="2623981" cy="1933541"/>
            <a:chOff x="9059295" y="3127128"/>
            <a:chExt cx="2623981" cy="1933541"/>
          </a:xfrm>
        </p:grpSpPr>
        <p:grpSp>
          <p:nvGrpSpPr>
            <p:cNvPr id="106" name="Grupo 105">
              <a:extLst>
                <a:ext uri="{FF2B5EF4-FFF2-40B4-BE49-F238E27FC236}">
                  <a16:creationId xmlns:a16="http://schemas.microsoft.com/office/drawing/2014/main" id="{AF705D60-82F2-6A91-0C3C-5B5A37E01FE8}"/>
                </a:ext>
              </a:extLst>
            </p:cNvPr>
            <p:cNvGrpSpPr/>
            <p:nvPr/>
          </p:nvGrpSpPr>
          <p:grpSpPr>
            <a:xfrm>
              <a:off x="9080988" y="3127128"/>
              <a:ext cx="2601495" cy="1933541"/>
              <a:chOff x="7590765" y="1110832"/>
              <a:chExt cx="2601495" cy="1780012"/>
            </a:xfrm>
          </p:grpSpPr>
          <p:sp>
            <p:nvSpPr>
              <p:cNvPr id="107" name="Rectángulo 106">
                <a:extLst>
                  <a:ext uri="{FF2B5EF4-FFF2-40B4-BE49-F238E27FC236}">
                    <a16:creationId xmlns:a16="http://schemas.microsoft.com/office/drawing/2014/main" id="{489B2C06-00B4-67EA-78EB-0D64B8EE65E5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108" name="Grupo 107">
                <a:extLst>
                  <a:ext uri="{FF2B5EF4-FFF2-40B4-BE49-F238E27FC236}">
                    <a16:creationId xmlns:a16="http://schemas.microsoft.com/office/drawing/2014/main" id="{66582B9A-DDC7-EE5A-E3E9-FABC5C702526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2191150" cy="1678227"/>
                <a:chOff x="3026344" y="1212927"/>
                <a:chExt cx="2191150" cy="1678227"/>
              </a:xfrm>
            </p:grpSpPr>
            <p:sp>
              <p:nvSpPr>
                <p:cNvPr id="110" name="CuadroTexto 109">
                  <a:extLst>
                    <a:ext uri="{FF2B5EF4-FFF2-40B4-BE49-F238E27FC236}">
                      <a16:creationId xmlns:a16="http://schemas.microsoft.com/office/drawing/2014/main" id="{B4048261-39DE-6D4C-6E28-22854765AFBC}"/>
                    </a:ext>
                  </a:extLst>
                </p:cNvPr>
                <p:cNvSpPr txBox="1"/>
                <p:nvPr/>
              </p:nvSpPr>
              <p:spPr>
                <a:xfrm>
                  <a:off x="3811633" y="1212927"/>
                  <a:ext cx="140586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Estrato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11" name="CuadroTexto 110">
                  <a:extLst>
                    <a:ext uri="{FF2B5EF4-FFF2-40B4-BE49-F238E27FC236}">
                      <a16:creationId xmlns:a16="http://schemas.microsoft.com/office/drawing/2014/main" id="{5B602599-E578-754E-4A8A-0ECB2864CBBD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22%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  <p:sp>
            <p:nvSpPr>
              <p:cNvPr id="109" name="CuadroTexto 108">
                <a:extLst>
                  <a:ext uri="{FF2B5EF4-FFF2-40B4-BE49-F238E27FC236}">
                    <a16:creationId xmlns:a16="http://schemas.microsoft.com/office/drawing/2014/main" id="{D4DBDFB4-A46C-A64F-0E70-99366D065F35}"/>
                  </a:ext>
                </a:extLst>
              </p:cNvPr>
              <p:cNvSpPr txBox="1"/>
              <p:nvPr/>
            </p:nvSpPr>
            <p:spPr>
              <a:xfrm>
                <a:off x="9019351" y="2317778"/>
                <a:ext cx="1172909" cy="566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4%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Cuatro</a:t>
                </a:r>
              </a:p>
            </p:txBody>
          </p:sp>
        </p:grpSp>
        <p:sp>
          <p:nvSpPr>
            <p:cNvPr id="112" name="CuadroTexto 111">
              <a:extLst>
                <a:ext uri="{FF2B5EF4-FFF2-40B4-BE49-F238E27FC236}">
                  <a16:creationId xmlns:a16="http://schemas.microsoft.com/office/drawing/2014/main" id="{25A55D93-A9C2-E473-F08E-54F03FCCAF4E}"/>
                </a:ext>
              </a:extLst>
            </p:cNvPr>
            <p:cNvSpPr txBox="1"/>
            <p:nvPr/>
          </p:nvSpPr>
          <p:spPr>
            <a:xfrm>
              <a:off x="9059295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3%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Uno</a:t>
              </a:r>
            </a:p>
          </p:txBody>
        </p:sp>
        <p:sp>
          <p:nvSpPr>
            <p:cNvPr id="113" name="CuadroTexto 112">
              <a:extLst>
                <a:ext uri="{FF2B5EF4-FFF2-40B4-BE49-F238E27FC236}">
                  <a16:creationId xmlns:a16="http://schemas.microsoft.com/office/drawing/2014/main" id="{A1918488-08E6-73C1-3D41-E2B5F617C305}"/>
                </a:ext>
              </a:extLst>
            </p:cNvPr>
            <p:cNvSpPr txBox="1"/>
            <p:nvPr/>
          </p:nvSpPr>
          <p:spPr>
            <a:xfrm>
              <a:off x="10510367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3%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Dos</a:t>
              </a:r>
            </a:p>
          </p:txBody>
        </p:sp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F2C995FA-4682-A13D-5E47-D0844E116F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artisticPencilGrayscale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043317" y="3855923"/>
              <a:ext cx="655939" cy="655939"/>
            </a:xfrm>
            <a:prstGeom prst="rect">
              <a:avLst/>
            </a:prstGeom>
          </p:spPr>
        </p:pic>
      </p:grp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241C5570-B754-25DB-EF7F-DED6693E11B0}"/>
              </a:ext>
            </a:extLst>
          </p:cNvPr>
          <p:cNvSpPr txBox="1"/>
          <p:nvPr/>
        </p:nvSpPr>
        <p:spPr>
          <a:xfrm>
            <a:off x="5289967" y="3228845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68%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 Cero</a:t>
            </a:r>
          </a:p>
        </p:txBody>
      </p:sp>
      <p:grpSp>
        <p:nvGrpSpPr>
          <p:cNvPr id="123" name="Grupo 122">
            <a:extLst>
              <a:ext uri="{FF2B5EF4-FFF2-40B4-BE49-F238E27FC236}">
                <a16:creationId xmlns:a16="http://schemas.microsoft.com/office/drawing/2014/main" id="{754D1466-105E-EF3C-0384-449B42636010}"/>
              </a:ext>
            </a:extLst>
          </p:cNvPr>
          <p:cNvGrpSpPr/>
          <p:nvPr/>
        </p:nvGrpSpPr>
        <p:grpSpPr>
          <a:xfrm>
            <a:off x="5340592" y="2790246"/>
            <a:ext cx="2602288" cy="1933541"/>
            <a:chOff x="5931142" y="3127128"/>
            <a:chExt cx="2602288" cy="1933541"/>
          </a:xfrm>
        </p:grpSpPr>
        <p:grpSp>
          <p:nvGrpSpPr>
            <p:cNvPr id="93" name="Grupo 92">
              <a:extLst>
                <a:ext uri="{FF2B5EF4-FFF2-40B4-BE49-F238E27FC236}">
                  <a16:creationId xmlns:a16="http://schemas.microsoft.com/office/drawing/2014/main" id="{E62D5803-5D73-3E3F-6E03-491F0165CAF2}"/>
                </a:ext>
              </a:extLst>
            </p:cNvPr>
            <p:cNvGrpSpPr/>
            <p:nvPr/>
          </p:nvGrpSpPr>
          <p:grpSpPr>
            <a:xfrm>
              <a:off x="5931142" y="3127128"/>
              <a:ext cx="2419582" cy="1933541"/>
              <a:chOff x="7590765" y="1110832"/>
              <a:chExt cx="2419582" cy="1780012"/>
            </a:xfrm>
          </p:grpSpPr>
          <p:sp>
            <p:nvSpPr>
              <p:cNvPr id="94" name="Rectángulo 93">
                <a:extLst>
                  <a:ext uri="{FF2B5EF4-FFF2-40B4-BE49-F238E27FC236}">
                    <a16:creationId xmlns:a16="http://schemas.microsoft.com/office/drawing/2014/main" id="{285F5CA0-6571-798A-A7F7-9AE93F33EED5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95" name="Grupo 94">
                <a:extLst>
                  <a:ext uri="{FF2B5EF4-FFF2-40B4-BE49-F238E27FC236}">
                    <a16:creationId xmlns:a16="http://schemas.microsoft.com/office/drawing/2014/main" id="{A329BDD0-A7D2-48C2-2CDD-D5F1B99AC89B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1922369" cy="1647802"/>
                <a:chOff x="3026344" y="1212927"/>
                <a:chExt cx="1922369" cy="1647802"/>
              </a:xfrm>
            </p:grpSpPr>
            <p:sp>
              <p:nvSpPr>
                <p:cNvPr id="97" name="CuadroTexto 96">
                  <a:extLst>
                    <a:ext uri="{FF2B5EF4-FFF2-40B4-BE49-F238E27FC236}">
                      <a16:creationId xmlns:a16="http://schemas.microsoft.com/office/drawing/2014/main" id="{525CE8B0-C1DB-A480-A2DB-30774B597CE7}"/>
                    </a:ext>
                  </a:extLst>
                </p:cNvPr>
                <p:cNvSpPr txBox="1"/>
                <p:nvPr/>
              </p:nvSpPr>
              <p:spPr>
                <a:xfrm>
                  <a:off x="4021092" y="1212927"/>
                  <a:ext cx="92762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PAC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98" name="CuadroTexto 97">
                  <a:extLst>
                    <a:ext uri="{FF2B5EF4-FFF2-40B4-BE49-F238E27FC236}">
                      <a16:creationId xmlns:a16="http://schemas.microsoft.com/office/drawing/2014/main" id="{3629F461-B7D1-0D75-76E8-353366F6C98B}"/>
                    </a:ext>
                  </a:extLst>
                </p:cNvPr>
                <p:cNvSpPr txBox="1"/>
                <p:nvPr/>
              </p:nvSpPr>
              <p:spPr>
                <a:xfrm>
                  <a:off x="3026344" y="2294053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7%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</p:grpSp>
        <p:grpSp>
          <p:nvGrpSpPr>
            <p:cNvPr id="121" name="Grupo 120">
              <a:extLst>
                <a:ext uri="{FF2B5EF4-FFF2-40B4-BE49-F238E27FC236}">
                  <a16:creationId xmlns:a16="http://schemas.microsoft.com/office/drawing/2014/main" id="{9DCBC6B4-0839-E1C4-63B9-ADC0F68594E0}"/>
                </a:ext>
              </a:extLst>
            </p:cNvPr>
            <p:cNvGrpSpPr/>
            <p:nvPr/>
          </p:nvGrpSpPr>
          <p:grpSpPr>
            <a:xfrm>
              <a:off x="6649678" y="3565727"/>
              <a:ext cx="1883752" cy="1414028"/>
              <a:chOff x="6649678" y="3565727"/>
              <a:chExt cx="1883752" cy="1414028"/>
            </a:xfrm>
          </p:grpSpPr>
          <p:sp>
            <p:nvSpPr>
              <p:cNvPr id="99" name="CuadroTexto 98">
                <a:extLst>
                  <a:ext uri="{FF2B5EF4-FFF2-40B4-BE49-F238E27FC236}">
                    <a16:creationId xmlns:a16="http://schemas.microsoft.com/office/drawing/2014/main" id="{12733E5F-27C6-3F50-F1A2-C775ECD36EAA}"/>
                  </a:ext>
                </a:extLst>
              </p:cNvPr>
              <p:cNvSpPr txBox="1"/>
              <p:nvPr/>
            </p:nvSpPr>
            <p:spPr>
              <a:xfrm>
                <a:off x="6649678" y="358240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16%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Uno</a:t>
                </a:r>
              </a:p>
            </p:txBody>
          </p:sp>
          <p:sp>
            <p:nvSpPr>
              <p:cNvPr id="101" name="CuadroTexto 100">
                <a:extLst>
                  <a:ext uri="{FF2B5EF4-FFF2-40B4-BE49-F238E27FC236}">
                    <a16:creationId xmlns:a16="http://schemas.microsoft.com/office/drawing/2014/main" id="{C5328469-E1C5-AE04-04E0-05E0CBD4BAED}"/>
                  </a:ext>
                </a:extLst>
              </p:cNvPr>
              <p:cNvSpPr txBox="1"/>
              <p:nvPr/>
            </p:nvSpPr>
            <p:spPr>
              <a:xfrm>
                <a:off x="7360521" y="3565727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9%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Dos</a:t>
                </a:r>
              </a:p>
            </p:txBody>
          </p:sp>
          <p:pic>
            <p:nvPicPr>
              <p:cNvPr id="118" name="Imagen 117">
                <a:extLst>
                  <a:ext uri="{FF2B5EF4-FFF2-40B4-BE49-F238E27FC236}">
                    <a16:creationId xmlns:a16="http://schemas.microsoft.com/office/drawing/2014/main" id="{505BC0BC-DFEC-15E8-1CE5-57EF0965D8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artisticPaintStrokes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886925" y="4205951"/>
                <a:ext cx="773804" cy="773804"/>
              </a:xfrm>
              <a:prstGeom prst="rect">
                <a:avLst/>
              </a:prstGeom>
            </p:spPr>
          </p:pic>
        </p:grpSp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B4A8BD76-1D5F-F64D-B072-3437982CFE91}"/>
              </a:ext>
            </a:extLst>
          </p:cNvPr>
          <p:cNvGrpSpPr/>
          <p:nvPr/>
        </p:nvGrpSpPr>
        <p:grpSpPr>
          <a:xfrm>
            <a:off x="8022470" y="853892"/>
            <a:ext cx="2195988" cy="1780012"/>
            <a:chOff x="7814360" y="1110832"/>
            <a:chExt cx="2195988" cy="1780012"/>
          </a:xfrm>
        </p:grpSpPr>
        <p:grpSp>
          <p:nvGrpSpPr>
            <p:cNvPr id="66" name="Grupo 65">
              <a:extLst>
                <a:ext uri="{FF2B5EF4-FFF2-40B4-BE49-F238E27FC236}">
                  <a16:creationId xmlns:a16="http://schemas.microsoft.com/office/drawing/2014/main" id="{696950B5-8F9E-A885-9717-4B2515FBAC48}"/>
                </a:ext>
              </a:extLst>
            </p:cNvPr>
            <p:cNvGrpSpPr/>
            <p:nvPr/>
          </p:nvGrpSpPr>
          <p:grpSpPr>
            <a:xfrm>
              <a:off x="7814360" y="1110832"/>
              <a:ext cx="2195988" cy="1780012"/>
              <a:chOff x="7814360" y="1110832"/>
              <a:chExt cx="2195988" cy="1780012"/>
            </a:xfrm>
          </p:grpSpPr>
          <p:sp>
            <p:nvSpPr>
              <p:cNvPr id="60" name="Rectángulo 59">
                <a:extLst>
                  <a:ext uri="{FF2B5EF4-FFF2-40B4-BE49-F238E27FC236}">
                    <a16:creationId xmlns:a16="http://schemas.microsoft.com/office/drawing/2014/main" id="{AA587E18-4DF3-3643-7101-20A44B431E61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61" name="Grupo 60">
                <a:extLst>
                  <a:ext uri="{FF2B5EF4-FFF2-40B4-BE49-F238E27FC236}">
                    <a16:creationId xmlns:a16="http://schemas.microsoft.com/office/drawing/2014/main" id="{DB5DAD01-C909-A80C-2071-7368C0E0EDD1}"/>
                  </a:ext>
                </a:extLst>
              </p:cNvPr>
              <p:cNvGrpSpPr/>
              <p:nvPr/>
            </p:nvGrpSpPr>
            <p:grpSpPr>
              <a:xfrm>
                <a:off x="7814361" y="1223137"/>
                <a:ext cx="2083693" cy="1630468"/>
                <a:chOff x="3249940" y="1229837"/>
                <a:chExt cx="2083693" cy="1630468"/>
              </a:xfrm>
            </p:grpSpPr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A6B4EC8F-C2D7-73FE-CAC8-02D5752927A7}"/>
                    </a:ext>
                  </a:extLst>
                </p:cNvPr>
                <p:cNvSpPr txBox="1"/>
                <p:nvPr/>
              </p:nvSpPr>
              <p:spPr>
                <a:xfrm>
                  <a:off x="3552927" y="1229837"/>
                  <a:ext cx="1780706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Rango Edad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B9FC1A8E-D141-A77D-5DA7-EBA478B89D6D}"/>
                    </a:ext>
                  </a:extLst>
                </p:cNvPr>
                <p:cNvSpPr txBox="1"/>
                <p:nvPr/>
              </p:nvSpPr>
              <p:spPr>
                <a:xfrm>
                  <a:off x="3249940" y="2306307"/>
                  <a:ext cx="1172909" cy="5539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57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20 a 35 años</a:t>
                  </a:r>
                </a:p>
              </p:txBody>
            </p:sp>
          </p:grpSp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5C69B03D-7EA4-C8A7-BE0D-D9EF29FA9F36}"/>
                  </a:ext>
                </a:extLst>
              </p:cNvPr>
              <p:cNvSpPr txBox="1"/>
              <p:nvPr/>
            </p:nvSpPr>
            <p:spPr>
              <a:xfrm>
                <a:off x="8837439" y="2289285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21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36 a 45 años</a:t>
                </a:r>
              </a:p>
            </p:txBody>
          </p:sp>
        </p:grpSp>
        <p:pic>
          <p:nvPicPr>
            <p:cNvPr id="128" name="Imagen 127">
              <a:extLst>
                <a:ext uri="{FF2B5EF4-FFF2-40B4-BE49-F238E27FC236}">
                  <a16:creationId xmlns:a16="http://schemas.microsoft.com/office/drawing/2014/main" id="{9B7A5CD4-C5C3-14F8-D22D-31D733402E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17644" y="1602912"/>
              <a:ext cx="655473" cy="655473"/>
            </a:xfrm>
            <a:prstGeom prst="rect">
              <a:avLst/>
            </a:prstGeom>
          </p:spPr>
        </p:pic>
      </p:grpSp>
      <p:grpSp>
        <p:nvGrpSpPr>
          <p:cNvPr id="189" name="Grupo 188">
            <a:extLst>
              <a:ext uri="{FF2B5EF4-FFF2-40B4-BE49-F238E27FC236}">
                <a16:creationId xmlns:a16="http://schemas.microsoft.com/office/drawing/2014/main" id="{1A86BD77-0344-5A67-8C6B-F71A88727F38}"/>
              </a:ext>
            </a:extLst>
          </p:cNvPr>
          <p:cNvGrpSpPr/>
          <p:nvPr/>
        </p:nvGrpSpPr>
        <p:grpSpPr>
          <a:xfrm>
            <a:off x="-114768" y="4837223"/>
            <a:ext cx="3758502" cy="1933541"/>
            <a:chOff x="435340" y="4837223"/>
            <a:chExt cx="4854517" cy="1933541"/>
          </a:xfrm>
        </p:grpSpPr>
        <p:grpSp>
          <p:nvGrpSpPr>
            <p:cNvPr id="138" name="Grupo 137">
              <a:extLst>
                <a:ext uri="{FF2B5EF4-FFF2-40B4-BE49-F238E27FC236}">
                  <a16:creationId xmlns:a16="http://schemas.microsoft.com/office/drawing/2014/main" id="{0EDA462B-841A-08F8-BA03-D1DF5ED87B20}"/>
                </a:ext>
              </a:extLst>
            </p:cNvPr>
            <p:cNvGrpSpPr/>
            <p:nvPr/>
          </p:nvGrpSpPr>
          <p:grpSpPr>
            <a:xfrm>
              <a:off x="435340" y="4837223"/>
              <a:ext cx="4854517" cy="1933541"/>
              <a:chOff x="9135236" y="3127128"/>
              <a:chExt cx="3830051" cy="1933541"/>
            </a:xfrm>
          </p:grpSpPr>
          <p:grpSp>
            <p:nvGrpSpPr>
              <p:cNvPr id="139" name="Grupo 138">
                <a:extLst>
                  <a:ext uri="{FF2B5EF4-FFF2-40B4-BE49-F238E27FC236}">
                    <a16:creationId xmlns:a16="http://schemas.microsoft.com/office/drawing/2014/main" id="{B5126763-5ACB-DBFF-3662-F0671D7AAE13}"/>
                  </a:ext>
                </a:extLst>
              </p:cNvPr>
              <p:cNvGrpSpPr/>
              <p:nvPr/>
            </p:nvGrpSpPr>
            <p:grpSpPr>
              <a:xfrm>
                <a:off x="9229918" y="3127128"/>
                <a:ext cx="3735369" cy="1933541"/>
                <a:chOff x="7739695" y="1110832"/>
                <a:chExt cx="3735369" cy="1780012"/>
              </a:xfrm>
            </p:grpSpPr>
            <p:sp>
              <p:nvSpPr>
                <p:cNvPr id="143" name="Rectángulo 142">
                  <a:extLst>
                    <a:ext uri="{FF2B5EF4-FFF2-40B4-BE49-F238E27FC236}">
                      <a16:creationId xmlns:a16="http://schemas.microsoft.com/office/drawing/2014/main" id="{52EF89A2-488B-628D-366A-FA2C910C125B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3246650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44" name="Grupo 143">
                  <a:extLst>
                    <a:ext uri="{FF2B5EF4-FFF2-40B4-BE49-F238E27FC236}">
                      <a16:creationId xmlns:a16="http://schemas.microsoft.com/office/drawing/2014/main" id="{7C8BB437-9BD6-2844-8A43-CD9612E4CFA4}"/>
                    </a:ext>
                  </a:extLst>
                </p:cNvPr>
                <p:cNvGrpSpPr/>
                <p:nvPr/>
              </p:nvGrpSpPr>
              <p:grpSpPr>
                <a:xfrm>
                  <a:off x="7739695" y="1236316"/>
                  <a:ext cx="3735369" cy="1532075"/>
                  <a:chOff x="3175274" y="1243016"/>
                  <a:chExt cx="3735369" cy="1532075"/>
                </a:xfrm>
              </p:grpSpPr>
              <p:sp>
                <p:nvSpPr>
                  <p:cNvPr id="146" name="CuadroTexto 145">
                    <a:extLst>
                      <a:ext uri="{FF2B5EF4-FFF2-40B4-BE49-F238E27FC236}">
                        <a16:creationId xmlns:a16="http://schemas.microsoft.com/office/drawing/2014/main" id="{46360795-14C5-8D87-C86E-E9847F92A305}"/>
                      </a:ext>
                    </a:extLst>
                  </p:cNvPr>
                  <p:cNvSpPr txBox="1"/>
                  <p:nvPr/>
                </p:nvSpPr>
                <p:spPr>
                  <a:xfrm>
                    <a:off x="3854322" y="1243016"/>
                    <a:ext cx="3056321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Segmento Empresas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47" name="CuadroTexto 146">
                    <a:extLst>
                      <a:ext uri="{FF2B5EF4-FFF2-40B4-BE49-F238E27FC236}">
                        <a16:creationId xmlns:a16="http://schemas.microsoft.com/office/drawing/2014/main" id="{504ADABC-CABA-9CA6-C230-E045A6C57EE1}"/>
                      </a:ext>
                    </a:extLst>
                  </p:cNvPr>
                  <p:cNvSpPr txBox="1"/>
                  <p:nvPr/>
                </p:nvSpPr>
                <p:spPr>
                  <a:xfrm>
                    <a:off x="3175274" y="2208415"/>
                    <a:ext cx="1945898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16%</a:t>
                    </a:r>
                    <a:endParaRPr lang="es-CO" sz="1400" b="1" dirty="0">
                      <a:solidFill>
                        <a:schemeClr val="bg1"/>
                      </a:solidFill>
                    </a:endParaRP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Medianas</a:t>
                    </a:r>
                  </a:p>
                </p:txBody>
              </p:sp>
            </p:grpSp>
            <p:sp>
              <p:nvSpPr>
                <p:cNvPr id="145" name="CuadroTexto 144">
                  <a:extLst>
                    <a:ext uri="{FF2B5EF4-FFF2-40B4-BE49-F238E27FC236}">
                      <a16:creationId xmlns:a16="http://schemas.microsoft.com/office/drawing/2014/main" id="{29C99990-B4E9-AA3B-3B78-B13029643D40}"/>
                    </a:ext>
                  </a:extLst>
                </p:cNvPr>
                <p:cNvSpPr txBox="1"/>
                <p:nvPr/>
              </p:nvSpPr>
              <p:spPr>
                <a:xfrm>
                  <a:off x="9864249" y="1523867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19%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Grandes</a:t>
                  </a:r>
                </a:p>
              </p:txBody>
            </p:sp>
          </p:grpSp>
          <p:sp>
            <p:nvSpPr>
              <p:cNvPr id="140" name="CuadroTexto 139">
                <a:extLst>
                  <a:ext uri="{FF2B5EF4-FFF2-40B4-BE49-F238E27FC236}">
                    <a16:creationId xmlns:a16="http://schemas.microsoft.com/office/drawing/2014/main" id="{7FDF23E6-890C-3238-C454-9DB90C15785E}"/>
                  </a:ext>
                </a:extLst>
              </p:cNvPr>
              <p:cNvSpPr txBox="1"/>
              <p:nvPr/>
            </p:nvSpPr>
            <p:spPr>
              <a:xfrm>
                <a:off x="9135236" y="3565727"/>
                <a:ext cx="145027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7%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</a:t>
                </a:r>
                <a:r>
                  <a:rPr lang="es-CO" sz="1400" b="1" dirty="0" err="1">
                    <a:solidFill>
                      <a:schemeClr val="bg1"/>
                    </a:solidFill>
                  </a:rPr>
                  <a:t>Emp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Top</a:t>
                </a:r>
              </a:p>
            </p:txBody>
          </p:sp>
          <p:sp>
            <p:nvSpPr>
              <p:cNvPr id="141" name="CuadroTexto 140">
                <a:extLst>
                  <a:ext uri="{FF2B5EF4-FFF2-40B4-BE49-F238E27FC236}">
                    <a16:creationId xmlns:a16="http://schemas.microsoft.com/office/drawing/2014/main" id="{CBD7BBD7-FEC3-D1A3-B008-BB1F70B6C57D}"/>
                  </a:ext>
                </a:extLst>
              </p:cNvPr>
              <p:cNvSpPr txBox="1"/>
              <p:nvPr/>
            </p:nvSpPr>
            <p:spPr>
              <a:xfrm>
                <a:off x="10055645" y="3580594"/>
                <a:ext cx="152651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53%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    Micro    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Transaccional</a:t>
                </a:r>
              </a:p>
            </p:txBody>
          </p:sp>
        </p:grpSp>
        <p:pic>
          <p:nvPicPr>
            <p:cNvPr id="149" name="Imagen 148">
              <a:extLst>
                <a:ext uri="{FF2B5EF4-FFF2-40B4-BE49-F238E27FC236}">
                  <a16:creationId xmlns:a16="http://schemas.microsoft.com/office/drawing/2014/main" id="{6C64752D-0F1D-402C-DB57-3AE76646FF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325932" y="6027593"/>
              <a:ext cx="677562" cy="677562"/>
            </a:xfrm>
            <a:prstGeom prst="rect">
              <a:avLst/>
            </a:prstGeom>
          </p:spPr>
        </p:pic>
      </p:grp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98C495C1-C749-BDAC-9E54-73CEA34905A0}"/>
              </a:ext>
            </a:extLst>
          </p:cNvPr>
          <p:cNvSpPr txBox="1"/>
          <p:nvPr/>
        </p:nvSpPr>
        <p:spPr>
          <a:xfrm>
            <a:off x="2093411" y="5976448"/>
            <a:ext cx="128594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3%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Estándar</a:t>
            </a:r>
          </a:p>
        </p:txBody>
      </p:sp>
      <p:grpSp>
        <p:nvGrpSpPr>
          <p:cNvPr id="151" name="Grupo 150">
            <a:extLst>
              <a:ext uri="{FF2B5EF4-FFF2-40B4-BE49-F238E27FC236}">
                <a16:creationId xmlns:a16="http://schemas.microsoft.com/office/drawing/2014/main" id="{428F86F7-534F-A86E-B5FC-4814CB67ECA4}"/>
              </a:ext>
            </a:extLst>
          </p:cNvPr>
          <p:cNvGrpSpPr/>
          <p:nvPr/>
        </p:nvGrpSpPr>
        <p:grpSpPr>
          <a:xfrm>
            <a:off x="3321003" y="4852302"/>
            <a:ext cx="2195987" cy="1933541"/>
            <a:chOff x="9304583" y="3127128"/>
            <a:chExt cx="2195987" cy="1933541"/>
          </a:xfrm>
        </p:grpSpPr>
        <p:grpSp>
          <p:nvGrpSpPr>
            <p:cNvPr id="152" name="Grupo 151">
              <a:extLst>
                <a:ext uri="{FF2B5EF4-FFF2-40B4-BE49-F238E27FC236}">
                  <a16:creationId xmlns:a16="http://schemas.microsoft.com/office/drawing/2014/main" id="{73D126C3-0CD7-8B2F-B459-C2B8CDE6359F}"/>
                </a:ext>
              </a:extLst>
            </p:cNvPr>
            <p:cNvGrpSpPr/>
            <p:nvPr/>
          </p:nvGrpSpPr>
          <p:grpSpPr>
            <a:xfrm>
              <a:off x="9304583" y="3127128"/>
              <a:ext cx="2195987" cy="1933541"/>
              <a:chOff x="7814360" y="1110832"/>
              <a:chExt cx="2195987" cy="1780012"/>
            </a:xfrm>
          </p:grpSpPr>
          <p:sp>
            <p:nvSpPr>
              <p:cNvPr id="157" name="Rectángulo 156">
                <a:extLst>
                  <a:ext uri="{FF2B5EF4-FFF2-40B4-BE49-F238E27FC236}">
                    <a16:creationId xmlns:a16="http://schemas.microsoft.com/office/drawing/2014/main" id="{D84C6199-FF5E-D20E-E2AB-A215D4273F46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60" name="CuadroTexto 159">
                <a:extLst>
                  <a:ext uri="{FF2B5EF4-FFF2-40B4-BE49-F238E27FC236}">
                    <a16:creationId xmlns:a16="http://schemas.microsoft.com/office/drawing/2014/main" id="{0B6F2CA6-8FCE-ABC2-C9FC-1407E5EA5C0B}"/>
                  </a:ext>
                </a:extLst>
              </p:cNvPr>
              <p:cNvSpPr txBox="1"/>
              <p:nvPr/>
            </p:nvSpPr>
            <p:spPr>
              <a:xfrm>
                <a:off x="7973412" y="1206227"/>
                <a:ext cx="1949604" cy="3116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Departamento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</p:grpSp>
        <p:sp>
          <p:nvSpPr>
            <p:cNvPr id="154" name="CuadroTexto 153">
              <a:extLst>
                <a:ext uri="{FF2B5EF4-FFF2-40B4-BE49-F238E27FC236}">
                  <a16:creationId xmlns:a16="http://schemas.microsoft.com/office/drawing/2014/main" id="{FBD477D6-B7D7-4107-CBC7-3B8FDA2A14C0}"/>
                </a:ext>
              </a:extLst>
            </p:cNvPr>
            <p:cNvSpPr txBox="1"/>
            <p:nvPr/>
          </p:nvSpPr>
          <p:spPr>
            <a:xfrm>
              <a:off x="9543303" y="3844094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49%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Bogotá</a:t>
              </a:r>
            </a:p>
          </p:txBody>
        </p:sp>
      </p:grpSp>
      <p:grpSp>
        <p:nvGrpSpPr>
          <p:cNvPr id="201" name="Grupo 200">
            <a:extLst>
              <a:ext uri="{FF2B5EF4-FFF2-40B4-BE49-F238E27FC236}">
                <a16:creationId xmlns:a16="http://schemas.microsoft.com/office/drawing/2014/main" id="{C13E66D5-E1DE-0A0A-D4ED-CD454DCF6A85}"/>
              </a:ext>
            </a:extLst>
          </p:cNvPr>
          <p:cNvGrpSpPr/>
          <p:nvPr/>
        </p:nvGrpSpPr>
        <p:grpSpPr>
          <a:xfrm>
            <a:off x="5243196" y="4842106"/>
            <a:ext cx="2857789" cy="1985915"/>
            <a:chOff x="5319396" y="4842106"/>
            <a:chExt cx="2857789" cy="1985915"/>
          </a:xfrm>
        </p:grpSpPr>
        <p:grpSp>
          <p:nvGrpSpPr>
            <p:cNvPr id="164" name="Grupo 163">
              <a:extLst>
                <a:ext uri="{FF2B5EF4-FFF2-40B4-BE49-F238E27FC236}">
                  <a16:creationId xmlns:a16="http://schemas.microsoft.com/office/drawing/2014/main" id="{4E57B922-648E-D5DA-07F7-D169C1B52504}"/>
                </a:ext>
              </a:extLst>
            </p:cNvPr>
            <p:cNvGrpSpPr/>
            <p:nvPr/>
          </p:nvGrpSpPr>
          <p:grpSpPr>
            <a:xfrm>
              <a:off x="5319396" y="4842106"/>
              <a:ext cx="2857789" cy="1957609"/>
              <a:chOff x="8885120" y="3127128"/>
              <a:chExt cx="2857789" cy="1957609"/>
            </a:xfrm>
          </p:grpSpPr>
          <p:grpSp>
            <p:nvGrpSpPr>
              <p:cNvPr id="165" name="Grupo 164">
                <a:extLst>
                  <a:ext uri="{FF2B5EF4-FFF2-40B4-BE49-F238E27FC236}">
                    <a16:creationId xmlns:a16="http://schemas.microsoft.com/office/drawing/2014/main" id="{5DA3B78A-ABFC-B82A-06B0-60463456183A}"/>
                  </a:ext>
                </a:extLst>
              </p:cNvPr>
              <p:cNvGrpSpPr/>
              <p:nvPr/>
            </p:nvGrpSpPr>
            <p:grpSpPr>
              <a:xfrm>
                <a:off x="9049330" y="3127128"/>
                <a:ext cx="2655911" cy="1957609"/>
                <a:chOff x="7559107" y="1110832"/>
                <a:chExt cx="2655911" cy="1802169"/>
              </a:xfrm>
            </p:grpSpPr>
            <p:sp>
              <p:nvSpPr>
                <p:cNvPr id="168" name="Rectángulo 167">
                  <a:extLst>
                    <a:ext uri="{FF2B5EF4-FFF2-40B4-BE49-F238E27FC236}">
                      <a16:creationId xmlns:a16="http://schemas.microsoft.com/office/drawing/2014/main" id="{4CE907B6-EA62-7FF8-184A-60E417DA7985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195987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70" name="Grupo 169">
                  <a:extLst>
                    <a:ext uri="{FF2B5EF4-FFF2-40B4-BE49-F238E27FC236}">
                      <a16:creationId xmlns:a16="http://schemas.microsoft.com/office/drawing/2014/main" id="{B2FF19D3-7D96-D323-332A-4B99C46D56D5}"/>
                    </a:ext>
                  </a:extLst>
                </p:cNvPr>
                <p:cNvGrpSpPr/>
                <p:nvPr/>
              </p:nvGrpSpPr>
              <p:grpSpPr>
                <a:xfrm>
                  <a:off x="7559107" y="1207829"/>
                  <a:ext cx="2655911" cy="1705172"/>
                  <a:chOff x="2994686" y="1214529"/>
                  <a:chExt cx="2655911" cy="1705172"/>
                </a:xfrm>
              </p:grpSpPr>
              <p:sp>
                <p:nvSpPr>
                  <p:cNvPr id="171" name="CuadroTexto 170">
                    <a:extLst>
                      <a:ext uri="{FF2B5EF4-FFF2-40B4-BE49-F238E27FC236}">
                        <a16:creationId xmlns:a16="http://schemas.microsoft.com/office/drawing/2014/main" id="{0C5D31C4-D8AC-4576-6762-21B7066716C4}"/>
                      </a:ext>
                    </a:extLst>
                  </p:cNvPr>
                  <p:cNvSpPr txBox="1"/>
                  <p:nvPr/>
                </p:nvSpPr>
                <p:spPr>
                  <a:xfrm>
                    <a:off x="3700993" y="1214529"/>
                    <a:ext cx="1949604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Localidad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72" name="CuadroTexto 171">
                    <a:extLst>
                      <a:ext uri="{FF2B5EF4-FFF2-40B4-BE49-F238E27FC236}">
                        <a16:creationId xmlns:a16="http://schemas.microsoft.com/office/drawing/2014/main" id="{9886EC82-5EB2-49DA-86A7-362233526570}"/>
                      </a:ext>
                    </a:extLst>
                  </p:cNvPr>
                  <p:cNvSpPr txBox="1"/>
                  <p:nvPr/>
                </p:nvSpPr>
                <p:spPr>
                  <a:xfrm>
                    <a:off x="2994686" y="2353025"/>
                    <a:ext cx="1556517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3%</a:t>
                    </a: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    Teusaquillo</a:t>
                    </a:r>
                  </a:p>
                </p:txBody>
              </p:sp>
            </p:grpSp>
          </p:grpSp>
          <p:sp>
            <p:nvSpPr>
              <p:cNvPr id="166" name="CuadroTexto 165">
                <a:extLst>
                  <a:ext uri="{FF2B5EF4-FFF2-40B4-BE49-F238E27FC236}">
                    <a16:creationId xmlns:a16="http://schemas.microsoft.com/office/drawing/2014/main" id="{F7B4877E-0960-B51D-745A-7D01A0F5D300}"/>
                  </a:ext>
                </a:extLst>
              </p:cNvPr>
              <p:cNvSpPr txBox="1"/>
              <p:nvPr/>
            </p:nvSpPr>
            <p:spPr>
              <a:xfrm>
                <a:off x="8885120" y="3565727"/>
                <a:ext cx="1692765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9%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 Engativá</a:t>
                </a:r>
              </a:p>
            </p:txBody>
          </p:sp>
          <p:sp>
            <p:nvSpPr>
              <p:cNvPr id="167" name="CuadroTexto 166">
                <a:extLst>
                  <a:ext uri="{FF2B5EF4-FFF2-40B4-BE49-F238E27FC236}">
                    <a16:creationId xmlns:a16="http://schemas.microsoft.com/office/drawing/2014/main" id="{EDF642E3-6EDF-0410-174C-58538059556E}"/>
                  </a:ext>
                </a:extLst>
              </p:cNvPr>
              <p:cNvSpPr txBox="1"/>
              <p:nvPr/>
            </p:nvSpPr>
            <p:spPr>
              <a:xfrm>
                <a:off x="10498522" y="3549824"/>
                <a:ext cx="1244387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4%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Kennedy</a:t>
                </a:r>
              </a:p>
            </p:txBody>
          </p:sp>
        </p:grpSp>
        <p:sp>
          <p:nvSpPr>
            <p:cNvPr id="185" name="CuadroTexto 184">
              <a:extLst>
                <a:ext uri="{FF2B5EF4-FFF2-40B4-BE49-F238E27FC236}">
                  <a16:creationId xmlns:a16="http://schemas.microsoft.com/office/drawing/2014/main" id="{6953FB91-3B99-C0AC-1032-E873669BF52B}"/>
                </a:ext>
              </a:extLst>
            </p:cNvPr>
            <p:cNvSpPr txBox="1"/>
            <p:nvPr/>
          </p:nvSpPr>
          <p:spPr>
            <a:xfrm>
              <a:off x="6625166" y="6212468"/>
              <a:ext cx="1323041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62%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 Sin </a:t>
              </a:r>
              <a:r>
                <a:rPr lang="es-CO" sz="1400" b="1" dirty="0" err="1">
                  <a:solidFill>
                    <a:schemeClr val="bg1"/>
                  </a:solidFill>
                </a:rPr>
                <a:t>Infor</a:t>
              </a:r>
              <a:endParaRPr lang="es-CO" sz="1400" b="1" dirty="0">
                <a:solidFill>
                  <a:schemeClr val="bg1"/>
                </a:solidFill>
              </a:endParaRPr>
            </a:p>
          </p:txBody>
        </p:sp>
        <p:pic>
          <p:nvPicPr>
            <p:cNvPr id="187" name="Imagen 186">
              <a:extLst>
                <a:ext uri="{FF2B5EF4-FFF2-40B4-BE49-F238E27FC236}">
                  <a16:creationId xmlns:a16="http://schemas.microsoft.com/office/drawing/2014/main" id="{826D7FAC-64CE-CBE5-2CE9-B007E62FCB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401571" y="5793688"/>
              <a:ext cx="1266970" cy="620378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grpSp>
        <p:nvGrpSpPr>
          <p:cNvPr id="202" name="Grupo 201">
            <a:extLst>
              <a:ext uri="{FF2B5EF4-FFF2-40B4-BE49-F238E27FC236}">
                <a16:creationId xmlns:a16="http://schemas.microsoft.com/office/drawing/2014/main" id="{FBCA3202-42F8-5931-2DE8-B6303F0A20D6}"/>
              </a:ext>
            </a:extLst>
          </p:cNvPr>
          <p:cNvGrpSpPr/>
          <p:nvPr/>
        </p:nvGrpSpPr>
        <p:grpSpPr>
          <a:xfrm>
            <a:off x="7528734" y="4834201"/>
            <a:ext cx="2867011" cy="1957609"/>
            <a:chOff x="8071595" y="4834201"/>
            <a:chExt cx="3008704" cy="1957609"/>
          </a:xfrm>
        </p:grpSpPr>
        <p:grpSp>
          <p:nvGrpSpPr>
            <p:cNvPr id="190" name="Grupo 189">
              <a:extLst>
                <a:ext uri="{FF2B5EF4-FFF2-40B4-BE49-F238E27FC236}">
                  <a16:creationId xmlns:a16="http://schemas.microsoft.com/office/drawing/2014/main" id="{418E41E8-6F41-DF2A-C2F1-4AF2F672E794}"/>
                </a:ext>
              </a:extLst>
            </p:cNvPr>
            <p:cNvGrpSpPr/>
            <p:nvPr/>
          </p:nvGrpSpPr>
          <p:grpSpPr>
            <a:xfrm>
              <a:off x="8071595" y="4834201"/>
              <a:ext cx="3008704" cy="1957609"/>
              <a:chOff x="8845727" y="3127128"/>
              <a:chExt cx="3008704" cy="1957609"/>
            </a:xfrm>
          </p:grpSpPr>
          <p:grpSp>
            <p:nvGrpSpPr>
              <p:cNvPr id="191" name="Grupo 190">
                <a:extLst>
                  <a:ext uri="{FF2B5EF4-FFF2-40B4-BE49-F238E27FC236}">
                    <a16:creationId xmlns:a16="http://schemas.microsoft.com/office/drawing/2014/main" id="{DBE3B5E4-85B3-C646-C08A-334C902040CF}"/>
                  </a:ext>
                </a:extLst>
              </p:cNvPr>
              <p:cNvGrpSpPr/>
              <p:nvPr/>
            </p:nvGrpSpPr>
            <p:grpSpPr>
              <a:xfrm>
                <a:off x="8845727" y="3127128"/>
                <a:ext cx="3008704" cy="1957609"/>
                <a:chOff x="7355504" y="1110832"/>
                <a:chExt cx="3008704" cy="1802169"/>
              </a:xfrm>
            </p:grpSpPr>
            <p:sp>
              <p:nvSpPr>
                <p:cNvPr id="194" name="Rectángulo 193">
                  <a:extLst>
                    <a:ext uri="{FF2B5EF4-FFF2-40B4-BE49-F238E27FC236}">
                      <a16:creationId xmlns:a16="http://schemas.microsoft.com/office/drawing/2014/main" id="{0EC7918D-23E0-BA74-D58B-32955195152F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368574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95" name="Grupo 194">
                  <a:extLst>
                    <a:ext uri="{FF2B5EF4-FFF2-40B4-BE49-F238E27FC236}">
                      <a16:creationId xmlns:a16="http://schemas.microsoft.com/office/drawing/2014/main" id="{43628AE9-61FC-F5DD-498E-B005A29558C2}"/>
                    </a:ext>
                  </a:extLst>
                </p:cNvPr>
                <p:cNvGrpSpPr/>
                <p:nvPr/>
              </p:nvGrpSpPr>
              <p:grpSpPr>
                <a:xfrm>
                  <a:off x="7355504" y="1207828"/>
                  <a:ext cx="3008704" cy="1705173"/>
                  <a:chOff x="2791083" y="1214528"/>
                  <a:chExt cx="3008704" cy="1705173"/>
                </a:xfrm>
              </p:grpSpPr>
              <p:sp>
                <p:nvSpPr>
                  <p:cNvPr id="197" name="CuadroTexto 196">
                    <a:extLst>
                      <a:ext uri="{FF2B5EF4-FFF2-40B4-BE49-F238E27FC236}">
                        <a16:creationId xmlns:a16="http://schemas.microsoft.com/office/drawing/2014/main" id="{2D895B9D-BEFF-A584-33A3-2A11B0DA547C}"/>
                      </a:ext>
                    </a:extLst>
                  </p:cNvPr>
                  <p:cNvSpPr txBox="1"/>
                  <p:nvPr/>
                </p:nvSpPr>
                <p:spPr>
                  <a:xfrm>
                    <a:off x="3225997" y="1214528"/>
                    <a:ext cx="2573790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Entidad Financieras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98" name="CuadroTexto 197">
                    <a:extLst>
                      <a:ext uri="{FF2B5EF4-FFF2-40B4-BE49-F238E27FC236}">
                        <a16:creationId xmlns:a16="http://schemas.microsoft.com/office/drawing/2014/main" id="{5CBBBA70-1367-7E88-3817-E509DBA38365}"/>
                      </a:ext>
                    </a:extLst>
                  </p:cNvPr>
                  <p:cNvSpPr txBox="1"/>
                  <p:nvPr/>
                </p:nvSpPr>
                <p:spPr>
                  <a:xfrm>
                    <a:off x="2791083" y="2353025"/>
                    <a:ext cx="2440539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  16%</a:t>
                    </a: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      Bancolombia</a:t>
                    </a:r>
                  </a:p>
                </p:txBody>
              </p:sp>
            </p:grpSp>
          </p:grpSp>
          <p:sp>
            <p:nvSpPr>
              <p:cNvPr id="192" name="CuadroTexto 191">
                <a:extLst>
                  <a:ext uri="{FF2B5EF4-FFF2-40B4-BE49-F238E27FC236}">
                    <a16:creationId xmlns:a16="http://schemas.microsoft.com/office/drawing/2014/main" id="{D481808C-BF94-ED32-32B6-DC6D412F5ED4}"/>
                  </a:ext>
                </a:extLst>
              </p:cNvPr>
              <p:cNvSpPr txBox="1"/>
              <p:nvPr/>
            </p:nvSpPr>
            <p:spPr>
              <a:xfrm>
                <a:off x="9418597" y="3567846"/>
                <a:ext cx="1337256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28%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    Colsubsidio</a:t>
                </a:r>
              </a:p>
            </p:txBody>
          </p:sp>
          <p:sp>
            <p:nvSpPr>
              <p:cNvPr id="193" name="CuadroTexto 192">
                <a:extLst>
                  <a:ext uri="{FF2B5EF4-FFF2-40B4-BE49-F238E27FC236}">
                    <a16:creationId xmlns:a16="http://schemas.microsoft.com/office/drawing/2014/main" id="{3DDFF1F5-B103-332C-1C3C-FF7D4A70FB6D}"/>
                  </a:ext>
                </a:extLst>
              </p:cNvPr>
              <p:cNvSpPr txBox="1"/>
              <p:nvPr/>
            </p:nvSpPr>
            <p:spPr>
              <a:xfrm>
                <a:off x="10498522" y="3549824"/>
                <a:ext cx="1244387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31%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Davivienda</a:t>
                </a:r>
              </a:p>
            </p:txBody>
          </p:sp>
        </p:grpSp>
        <p:sp>
          <p:nvSpPr>
            <p:cNvPr id="199" name="CuadroTexto 198">
              <a:extLst>
                <a:ext uri="{FF2B5EF4-FFF2-40B4-BE49-F238E27FC236}">
                  <a16:creationId xmlns:a16="http://schemas.microsoft.com/office/drawing/2014/main" id="{6801A2A4-842B-8ABB-5EA7-91E583716447}"/>
                </a:ext>
              </a:extLst>
            </p:cNvPr>
            <p:cNvSpPr txBox="1"/>
            <p:nvPr/>
          </p:nvSpPr>
          <p:spPr>
            <a:xfrm>
              <a:off x="9366872" y="6140046"/>
              <a:ext cx="1323041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  25%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      Otros</a:t>
              </a:r>
            </a:p>
          </p:txBody>
        </p:sp>
      </p:grpSp>
      <p:pic>
        <p:nvPicPr>
          <p:cNvPr id="205" name="Imagen 204">
            <a:extLst>
              <a:ext uri="{FF2B5EF4-FFF2-40B4-BE49-F238E27FC236}">
                <a16:creationId xmlns:a16="http://schemas.microsoft.com/office/drawing/2014/main" id="{C15722DB-D283-F595-7896-D9346BBD6FF0}"/>
              </a:ext>
            </a:extLst>
          </p:cNvPr>
          <p:cNvPicPr>
            <a:picLocks noChangeAspect="1"/>
          </p:cNvPicPr>
          <p:nvPr/>
        </p:nvPicPr>
        <p:blipFill>
          <a:blip r:embed="rId22">
            <a:duotone>
              <a:prstClr val="black"/>
              <a:schemeClr val="tx1">
                <a:lumMod val="75000"/>
                <a:lumOff val="2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4538" y="5846263"/>
            <a:ext cx="673981" cy="673981"/>
          </a:xfrm>
          <a:prstGeom prst="rect">
            <a:avLst/>
          </a:prstGeom>
        </p:spPr>
      </p:pic>
      <p:grpSp>
        <p:nvGrpSpPr>
          <p:cNvPr id="208" name="Grupo 207">
            <a:extLst>
              <a:ext uri="{FF2B5EF4-FFF2-40B4-BE49-F238E27FC236}">
                <a16:creationId xmlns:a16="http://schemas.microsoft.com/office/drawing/2014/main" id="{C8D88A10-D7B8-F9E0-A34B-E3B0B56794D1}"/>
              </a:ext>
            </a:extLst>
          </p:cNvPr>
          <p:cNvGrpSpPr/>
          <p:nvPr/>
        </p:nvGrpSpPr>
        <p:grpSpPr>
          <a:xfrm>
            <a:off x="10245555" y="853892"/>
            <a:ext cx="1956550" cy="5540381"/>
            <a:chOff x="7793864" y="1110832"/>
            <a:chExt cx="1816602" cy="1780012"/>
          </a:xfrm>
        </p:grpSpPr>
        <p:sp>
          <p:nvSpPr>
            <p:cNvPr id="212" name="Rectángulo 211">
              <a:extLst>
                <a:ext uri="{FF2B5EF4-FFF2-40B4-BE49-F238E27FC236}">
                  <a16:creationId xmlns:a16="http://schemas.microsoft.com/office/drawing/2014/main" id="{A9B3EB8D-E5D9-2858-7F66-4F501CD8B555}"/>
                </a:ext>
              </a:extLst>
            </p:cNvPr>
            <p:cNvSpPr/>
            <p:nvPr/>
          </p:nvSpPr>
          <p:spPr>
            <a:xfrm>
              <a:off x="7814360" y="1110832"/>
              <a:ext cx="1666611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5" name="CuadroTexto 214">
              <a:extLst>
                <a:ext uri="{FF2B5EF4-FFF2-40B4-BE49-F238E27FC236}">
                  <a16:creationId xmlns:a16="http://schemas.microsoft.com/office/drawing/2014/main" id="{AEA6C237-C3E6-0AB1-37B4-CEA3EEDE2E51}"/>
                </a:ext>
              </a:extLst>
            </p:cNvPr>
            <p:cNvSpPr txBox="1"/>
            <p:nvPr/>
          </p:nvSpPr>
          <p:spPr>
            <a:xfrm>
              <a:off x="7793864" y="1161252"/>
              <a:ext cx="1816602" cy="1141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1600">
                  <a:solidFill>
                    <a:srgbClr val="FFC000"/>
                  </a:solidFill>
                  <a:latin typeface="KG Red Hands" panose="02000505000000020004" pitchFamily="2" charset="0"/>
                </a:rPr>
                <a:t>Top Empresas</a:t>
              </a:r>
              <a:endParaRPr lang="es-ES" sz="1600">
                <a:solidFill>
                  <a:srgbClr val="FFC000"/>
                </a:solidFill>
              </a:endParaRPr>
            </a:p>
          </p:txBody>
        </p:sp>
        <p:sp>
          <p:nvSpPr>
            <p:cNvPr id="214" name="CuadroTexto 213">
              <a:extLst>
                <a:ext uri="{FF2B5EF4-FFF2-40B4-BE49-F238E27FC236}">
                  <a16:creationId xmlns:a16="http://schemas.microsoft.com/office/drawing/2014/main" id="{3296128D-A011-CEDC-4343-625A1470A221}"/>
                </a:ext>
              </a:extLst>
            </p:cNvPr>
            <p:cNvSpPr txBox="1"/>
            <p:nvPr/>
          </p:nvSpPr>
          <p:spPr>
            <a:xfrm>
              <a:off x="7830402" y="1354030"/>
              <a:ext cx="1689688" cy="3263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500" b="1" dirty="0">
                  <a:solidFill>
                    <a:schemeClr val="bg1"/>
                  </a:solidFill>
                </a:rPr>
                <a:t>COLSUBSIDIO	7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TELEPERFORMANCE	3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PROYECTA SOLUCIONES ELITE	2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PERFILES Y SOLUCIONES LOGI	2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IMPUESTOS Y ADUANAS	2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MEDIAWISE SOLUTIONS SAS	1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AUTOGERMANA S A S	1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ARIDE S.A.S	1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A M ELECTRICISTAS	1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JOSE JOAQUIN GOMEZ C  Y CIA	1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CAPGEMINI COLOMBIA S.A.S.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	                               </a:t>
              </a: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E45126F4-A260-218E-188C-FEAF53C275A3}"/>
              </a:ext>
            </a:extLst>
          </p:cNvPr>
          <p:cNvSpPr txBox="1"/>
          <p:nvPr/>
        </p:nvSpPr>
        <p:spPr>
          <a:xfrm>
            <a:off x="6773529" y="4056451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0%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 Cuatro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29566E1-0B9B-CE38-B14E-CDAFA5518546}"/>
              </a:ext>
            </a:extLst>
          </p:cNvPr>
          <p:cNvSpPr txBox="1"/>
          <p:nvPr/>
        </p:nvSpPr>
        <p:spPr>
          <a:xfrm>
            <a:off x="2446074" y="3853817"/>
            <a:ext cx="117290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7%</a:t>
            </a:r>
            <a:r>
              <a:rPr lang="es-CO" sz="1200" b="1" dirty="0">
                <a:solidFill>
                  <a:schemeClr val="bg1"/>
                </a:solidFill>
              </a:rPr>
              <a:t> Monoparental</a:t>
            </a:r>
          </a:p>
          <a:p>
            <a:r>
              <a:rPr lang="es-CO" sz="1200" b="1" dirty="0">
                <a:solidFill>
                  <a:schemeClr val="bg1"/>
                </a:solidFill>
              </a:rPr>
              <a:t>Ampliada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4A3BAA1-B94B-EFF0-E9D7-EC9861B32ED5}"/>
              </a:ext>
            </a:extLst>
          </p:cNvPr>
          <p:cNvSpPr txBox="1"/>
          <p:nvPr/>
        </p:nvSpPr>
        <p:spPr>
          <a:xfrm>
            <a:off x="3218372" y="4258748"/>
            <a:ext cx="154680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6</a:t>
            </a:r>
            <a:r>
              <a:rPr lang="es-CO" sz="1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%</a:t>
            </a:r>
          </a:p>
          <a:p>
            <a:r>
              <a:rPr lang="es-CO" sz="1200" b="1" dirty="0">
                <a:solidFill>
                  <a:schemeClr val="bg1"/>
                </a:solidFill>
              </a:rPr>
              <a:t>  Pareja Conyugal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75447B7-0330-7357-645F-7085111D2C57}"/>
              </a:ext>
            </a:extLst>
          </p:cNvPr>
          <p:cNvSpPr txBox="1"/>
          <p:nvPr/>
        </p:nvSpPr>
        <p:spPr>
          <a:xfrm>
            <a:off x="10330342" y="6461181"/>
            <a:ext cx="14292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100" dirty="0">
                <a:solidFill>
                  <a:srgbClr val="FFC000"/>
                </a:solidFill>
                <a:latin typeface="KG Red Hands" panose="02000505000000020004" pitchFamily="2" charset="0"/>
              </a:rPr>
              <a:t>*Corte 15/01/2026</a:t>
            </a:r>
            <a:endParaRPr lang="es-ES" sz="11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015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CF384-3D04-3769-5D6F-BD289FEBC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511D8C13-F313-A4CA-AE0C-63FE26B72317}"/>
              </a:ext>
            </a:extLst>
          </p:cNvPr>
          <p:cNvCxnSpPr>
            <a:cxnSpLocks/>
          </p:cNvCxnSpPr>
          <p:nvPr/>
        </p:nvCxnSpPr>
        <p:spPr>
          <a:xfrm flipH="1">
            <a:off x="0" y="645614"/>
            <a:ext cx="10809007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uadroTexto 85">
            <a:extLst>
              <a:ext uri="{FF2B5EF4-FFF2-40B4-BE49-F238E27FC236}">
                <a16:creationId xmlns:a16="http://schemas.microsoft.com/office/drawing/2014/main" id="{AA9B7243-88B9-FAE7-CB79-E158F29BD644}"/>
              </a:ext>
            </a:extLst>
          </p:cNvPr>
          <p:cNvSpPr txBox="1"/>
          <p:nvPr/>
        </p:nvSpPr>
        <p:spPr>
          <a:xfrm>
            <a:off x="-128399" y="120715"/>
            <a:ext cx="95771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>
                <a:solidFill>
                  <a:schemeClr val="bg1"/>
                </a:solidFill>
                <a:latin typeface="KG Red Hands" panose="02000505000000020004" pitchFamily="2" charset="0"/>
              </a:rPr>
              <a:t>      Versalles</a:t>
            </a:r>
            <a:endParaRPr lang="es-ES" sz="240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51BAAF2-D3D1-08BE-32F4-B17DCD569A2D}"/>
              </a:ext>
              <a:ext uri="{147F2762-F138-4A5C-976F-8EAC2B608ADB}">
                <a16:predDERef xmlns:a16="http://schemas.microsoft.com/office/drawing/2014/main" pred="{95DEFF95-1524-40DB-8538-DE0C2D5BEC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3398838"/>
            <a:ext cx="555625" cy="49371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D6B1718-3033-F45A-CAF5-DD568DAD00BF}"/>
              </a:ext>
              <a:ext uri="{147F2762-F138-4A5C-976F-8EAC2B608ADB}">
                <a16:predDERef xmlns:a16="http://schemas.microsoft.com/office/drawing/2014/main" pred="{95FFDEC5-E647-4E60-9FB8-32349ACC1E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087813"/>
            <a:ext cx="555625" cy="46196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8E6D5ACE-AADB-5C35-8DB7-6E0E48FAA314}"/>
              </a:ext>
              <a:ext uri="{147F2762-F138-4A5C-976F-8EAC2B608ADB}">
                <a16:predDERef xmlns:a16="http://schemas.microsoft.com/office/drawing/2014/main" pred="{D53D0C4A-FE71-44C0-97B3-1EA296D3DCE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814888"/>
            <a:ext cx="555625" cy="41116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24E51447-92DD-D947-471A-68E6CE33923E}"/>
              </a:ext>
              <a:ext uri="{147F2762-F138-4A5C-976F-8EAC2B608ADB}">
                <a16:predDERef xmlns:a16="http://schemas.microsoft.com/office/drawing/2014/main" pred="{7008BA42-7365-4AD1-B913-F26820CE47E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1775" y="5427663"/>
            <a:ext cx="465138" cy="433387"/>
          </a:xfrm>
          <a:prstGeom prst="rect">
            <a:avLst/>
          </a:prstGeom>
        </p:spPr>
      </p:pic>
      <p:grpSp>
        <p:nvGrpSpPr>
          <p:cNvPr id="135" name="Grupo 134">
            <a:extLst>
              <a:ext uri="{FF2B5EF4-FFF2-40B4-BE49-F238E27FC236}">
                <a16:creationId xmlns:a16="http://schemas.microsoft.com/office/drawing/2014/main" id="{62509DF1-F749-2F89-A325-D8C5A210B202}"/>
              </a:ext>
            </a:extLst>
          </p:cNvPr>
          <p:cNvGrpSpPr/>
          <p:nvPr/>
        </p:nvGrpSpPr>
        <p:grpSpPr>
          <a:xfrm>
            <a:off x="5564187" y="853892"/>
            <a:ext cx="2195988" cy="1780012"/>
            <a:chOff x="5353656" y="1110832"/>
            <a:chExt cx="2195988" cy="1780012"/>
          </a:xfrm>
        </p:grpSpPr>
        <p:sp>
          <p:nvSpPr>
            <p:cNvPr id="58" name="Rectángulo 57">
              <a:extLst>
                <a:ext uri="{FF2B5EF4-FFF2-40B4-BE49-F238E27FC236}">
                  <a16:creationId xmlns:a16="http://schemas.microsoft.com/office/drawing/2014/main" id="{D019E342-D4B6-BE4C-EAE3-099B1F015685}"/>
                </a:ext>
              </a:extLst>
            </p:cNvPr>
            <p:cNvSpPr/>
            <p:nvPr/>
          </p:nvSpPr>
          <p:spPr>
            <a:xfrm>
              <a:off x="5353656" y="1110832"/>
              <a:ext cx="2195987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43" name="Grupo 42">
              <a:extLst>
                <a:ext uri="{FF2B5EF4-FFF2-40B4-BE49-F238E27FC236}">
                  <a16:creationId xmlns:a16="http://schemas.microsoft.com/office/drawing/2014/main" id="{9190CB84-05D9-DA1B-7CB9-0F98A5836692}"/>
                </a:ext>
              </a:extLst>
            </p:cNvPr>
            <p:cNvGrpSpPr/>
            <p:nvPr/>
          </p:nvGrpSpPr>
          <p:grpSpPr>
            <a:xfrm>
              <a:off x="5353657" y="1223137"/>
              <a:ext cx="2083693" cy="1630468"/>
              <a:chOff x="3249940" y="1229837"/>
              <a:chExt cx="2083693" cy="1630468"/>
            </a:xfrm>
          </p:grpSpPr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944214AA-D132-D082-1CEB-C731A9673316}"/>
                  </a:ext>
                </a:extLst>
              </p:cNvPr>
              <p:cNvSpPr txBox="1"/>
              <p:nvPr/>
            </p:nvSpPr>
            <p:spPr>
              <a:xfrm>
                <a:off x="3552927" y="1229837"/>
                <a:ext cx="178070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Rango Salario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FEB39E4B-7AC1-C43F-2F3C-EBEA44DC1055}"/>
                  </a:ext>
                </a:extLst>
              </p:cNvPr>
              <p:cNvSpPr txBox="1"/>
              <p:nvPr/>
            </p:nvSpPr>
            <p:spPr>
              <a:xfrm>
                <a:off x="3249940" y="2306307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100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Hasta 2 </a:t>
                </a:r>
                <a:r>
                  <a:rPr lang="es-CO" sz="1200" b="1" dirty="0" err="1">
                    <a:solidFill>
                      <a:schemeClr val="bg1"/>
                    </a:solidFill>
                  </a:rPr>
                  <a:t>smlv</a:t>
                </a:r>
                <a:endParaRPr lang="es-CO" sz="12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53" name="Imagen 52">
              <a:extLst>
                <a:ext uri="{FF2B5EF4-FFF2-40B4-BE49-F238E27FC236}">
                  <a16:creationId xmlns:a16="http://schemas.microsoft.com/office/drawing/2014/main" id="{2619F8E7-6527-32D4-A61D-55FA43EC1A1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12042" y="1623254"/>
              <a:ext cx="641350" cy="641350"/>
            </a:xfrm>
            <a:prstGeom prst="rect">
              <a:avLst/>
            </a:prstGeom>
          </p:spPr>
        </p:pic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36851490-C174-18A8-358D-BF0C422D7F3F}"/>
                </a:ext>
              </a:extLst>
            </p:cNvPr>
            <p:cNvSpPr txBox="1"/>
            <p:nvPr/>
          </p:nvSpPr>
          <p:spPr>
            <a:xfrm>
              <a:off x="6376735" y="2289285"/>
              <a:ext cx="1172909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0</a:t>
              </a:r>
              <a:r>
                <a:rPr lang="es-CO" sz="18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Mas de 2 </a:t>
              </a:r>
              <a:r>
                <a:rPr lang="es-CO" sz="1200" b="1" dirty="0" err="1">
                  <a:solidFill>
                    <a:schemeClr val="bg1"/>
                  </a:solidFill>
                </a:rPr>
                <a:t>smlv</a:t>
              </a:r>
              <a:endParaRPr lang="es-CO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76BEC8E9-A247-74ED-DF20-B1D8CD47CB70}"/>
              </a:ext>
            </a:extLst>
          </p:cNvPr>
          <p:cNvGrpSpPr/>
          <p:nvPr/>
        </p:nvGrpSpPr>
        <p:grpSpPr>
          <a:xfrm>
            <a:off x="3320687" y="874756"/>
            <a:ext cx="1941094" cy="1759148"/>
            <a:chOff x="3224463" y="1110832"/>
            <a:chExt cx="1941094" cy="1759148"/>
          </a:xfrm>
        </p:grpSpPr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1392F3A0-C165-3FCE-DEB1-DE142224E66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36596" y="1677993"/>
              <a:ext cx="721895" cy="721895"/>
            </a:xfrm>
            <a:prstGeom prst="rect">
              <a:avLst/>
            </a:prstGeom>
          </p:spPr>
        </p:pic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20BCE3B4-FABF-2A28-207B-393A61F2562E}"/>
                </a:ext>
              </a:extLst>
            </p:cNvPr>
            <p:cNvGrpSpPr/>
            <p:nvPr/>
          </p:nvGrpSpPr>
          <p:grpSpPr>
            <a:xfrm>
              <a:off x="3420553" y="1223137"/>
              <a:ext cx="1609350" cy="1516670"/>
              <a:chOff x="3420553" y="1223137"/>
              <a:chExt cx="1609350" cy="1516670"/>
            </a:xfrm>
          </p:grpSpPr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3569881F-76F1-B572-5A98-52040A73BD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74608" y="1613811"/>
                <a:ext cx="723600" cy="723600"/>
              </a:xfrm>
              <a:prstGeom prst="rect">
                <a:avLst/>
              </a:prstGeom>
            </p:spPr>
          </p:pic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3530DB05-6E6E-8B7F-59AF-703BB0A67450}"/>
                  </a:ext>
                </a:extLst>
              </p:cNvPr>
              <p:cNvSpPr txBox="1"/>
              <p:nvPr/>
            </p:nvSpPr>
            <p:spPr>
              <a:xfrm>
                <a:off x="3685253" y="1223137"/>
                <a:ext cx="1098946" cy="345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Género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BBDE7063-7FAC-8BEF-71E2-90E14A32CBE8}"/>
                  </a:ext>
                </a:extLst>
              </p:cNvPr>
              <p:cNvSpPr txBox="1"/>
              <p:nvPr/>
            </p:nvSpPr>
            <p:spPr>
              <a:xfrm>
                <a:off x="3420553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45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21F4865C-F2E2-5DAC-6F6E-691A4491E2A2}"/>
                  </a:ext>
                </a:extLst>
              </p:cNvPr>
              <p:cNvSpPr txBox="1"/>
              <p:nvPr/>
            </p:nvSpPr>
            <p:spPr>
              <a:xfrm>
                <a:off x="4308008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55%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</p:grp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CEAC8B50-1102-F407-B8F0-79B668F39F42}"/>
                </a:ext>
              </a:extLst>
            </p:cNvPr>
            <p:cNvSpPr/>
            <p:nvPr/>
          </p:nvSpPr>
          <p:spPr>
            <a:xfrm>
              <a:off x="3224463" y="1110832"/>
              <a:ext cx="1941094" cy="175914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78" name="CuadroTexto 77">
            <a:extLst>
              <a:ext uri="{FF2B5EF4-FFF2-40B4-BE49-F238E27FC236}">
                <a16:creationId xmlns:a16="http://schemas.microsoft.com/office/drawing/2014/main" id="{8AF33F1B-6EB5-466F-5A8C-572190EC467C}"/>
              </a:ext>
            </a:extLst>
          </p:cNvPr>
          <p:cNvSpPr txBox="1"/>
          <p:nvPr/>
        </p:nvSpPr>
        <p:spPr>
          <a:xfrm>
            <a:off x="1376075" y="3222417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20%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Joven</a:t>
            </a:r>
          </a:p>
        </p:txBody>
      </p: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6D3E71E6-54E4-CF72-AF16-7F86F81C2D0D}"/>
              </a:ext>
            </a:extLst>
          </p:cNvPr>
          <p:cNvGrpSpPr/>
          <p:nvPr/>
        </p:nvGrpSpPr>
        <p:grpSpPr>
          <a:xfrm>
            <a:off x="-155207" y="2771278"/>
            <a:ext cx="2688149" cy="1998661"/>
            <a:chOff x="435343" y="3108160"/>
            <a:chExt cx="2688149" cy="1998661"/>
          </a:xfrm>
        </p:grpSpPr>
        <p:grpSp>
          <p:nvGrpSpPr>
            <p:cNvPr id="69" name="Grupo 68">
              <a:extLst>
                <a:ext uri="{FF2B5EF4-FFF2-40B4-BE49-F238E27FC236}">
                  <a16:creationId xmlns:a16="http://schemas.microsoft.com/office/drawing/2014/main" id="{5D14B6B9-8CDB-03F2-ECB9-E72FBB6216E4}"/>
                </a:ext>
              </a:extLst>
            </p:cNvPr>
            <p:cNvGrpSpPr/>
            <p:nvPr/>
          </p:nvGrpSpPr>
          <p:grpSpPr>
            <a:xfrm>
              <a:off x="457829" y="3108160"/>
              <a:ext cx="2665663" cy="1998661"/>
              <a:chOff x="7590765" y="1110832"/>
              <a:chExt cx="2665663" cy="1822499"/>
            </a:xfrm>
          </p:grpSpPr>
          <p:sp>
            <p:nvSpPr>
              <p:cNvPr id="70" name="Rectángulo 69">
                <a:extLst>
                  <a:ext uri="{FF2B5EF4-FFF2-40B4-BE49-F238E27FC236}">
                    <a16:creationId xmlns:a16="http://schemas.microsoft.com/office/drawing/2014/main" id="{86E4237C-0134-0EB7-E589-EC089CB8755F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71" name="Grupo 70">
                <a:extLst>
                  <a:ext uri="{FF2B5EF4-FFF2-40B4-BE49-F238E27FC236}">
                    <a16:creationId xmlns:a16="http://schemas.microsoft.com/office/drawing/2014/main" id="{B9DD0E2C-0D13-A206-13A9-DDB4C77321C0}"/>
                  </a:ext>
                </a:extLst>
              </p:cNvPr>
              <p:cNvGrpSpPr/>
              <p:nvPr/>
            </p:nvGrpSpPr>
            <p:grpSpPr>
              <a:xfrm>
                <a:off x="7590765" y="1223137"/>
                <a:ext cx="2024519" cy="1655939"/>
                <a:chOff x="3026344" y="1229837"/>
                <a:chExt cx="2024519" cy="1655939"/>
              </a:xfrm>
            </p:grpSpPr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E7907745-09E3-AA61-2BA6-BA5ED27FF818}"/>
                    </a:ext>
                  </a:extLst>
                </p:cNvPr>
                <p:cNvSpPr txBox="1"/>
                <p:nvPr/>
              </p:nvSpPr>
              <p:spPr>
                <a:xfrm>
                  <a:off x="3645002" y="1229837"/>
                  <a:ext cx="1405861" cy="3087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Segmento 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D238C640-4559-64F1-6427-BE48072F469C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12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38%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Básico</a:t>
                  </a:r>
                </a:p>
              </p:txBody>
            </p:sp>
          </p:grpSp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176B989B-092A-6FB2-C03B-670B70B328A4}"/>
                  </a:ext>
                </a:extLst>
              </p:cNvPr>
              <p:cNvSpPr txBox="1"/>
              <p:nvPr/>
            </p:nvSpPr>
            <p:spPr>
              <a:xfrm>
                <a:off x="9083519" y="231777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0%</a:t>
                </a:r>
              </a:p>
              <a:p>
                <a:r>
                  <a:rPr lang="es-CO" sz="1400" b="1">
                    <a:solidFill>
                      <a:schemeClr val="bg1"/>
                    </a:solidFill>
                  </a:rPr>
                  <a:t>       Alto</a:t>
                </a:r>
              </a:p>
            </p:txBody>
          </p:sp>
        </p:grpSp>
        <p:sp>
          <p:nvSpPr>
            <p:cNvPr id="77" name="CuadroTexto 76">
              <a:extLst>
                <a:ext uri="{FF2B5EF4-FFF2-40B4-BE49-F238E27FC236}">
                  <a16:creationId xmlns:a16="http://schemas.microsoft.com/office/drawing/2014/main" id="{D06E3F4E-1E4B-3AE0-DF8F-F883973901B3}"/>
                </a:ext>
              </a:extLst>
            </p:cNvPr>
            <p:cNvSpPr txBox="1"/>
            <p:nvPr/>
          </p:nvSpPr>
          <p:spPr>
            <a:xfrm>
              <a:off x="435343" y="3559299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42%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Medio</a:t>
              </a:r>
            </a:p>
          </p:txBody>
        </p:sp>
        <p:pic>
          <p:nvPicPr>
            <p:cNvPr id="80" name="Imagen 79">
              <a:extLst>
                <a:ext uri="{FF2B5EF4-FFF2-40B4-BE49-F238E27FC236}">
                  <a16:creationId xmlns:a16="http://schemas.microsoft.com/office/drawing/2014/main" id="{52E30C0F-F4AA-E3A4-3C91-A81CE5AD6C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LineDrawing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90862" y="3871141"/>
              <a:ext cx="680857" cy="680857"/>
            </a:xfrm>
            <a:prstGeom prst="rect">
              <a:avLst/>
            </a:prstGeom>
          </p:spPr>
        </p:pic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25D5A6C2-C277-69A1-D344-CA35318FCA74}"/>
              </a:ext>
            </a:extLst>
          </p:cNvPr>
          <p:cNvGrpSpPr/>
          <p:nvPr/>
        </p:nvGrpSpPr>
        <p:grpSpPr>
          <a:xfrm>
            <a:off x="2169335" y="2774370"/>
            <a:ext cx="3295059" cy="1963483"/>
            <a:chOff x="2759885" y="3111252"/>
            <a:chExt cx="3295059" cy="1963483"/>
          </a:xfrm>
        </p:grpSpPr>
        <p:sp>
          <p:nvSpPr>
            <p:cNvPr id="88" name="CuadroTexto 87">
              <a:extLst>
                <a:ext uri="{FF2B5EF4-FFF2-40B4-BE49-F238E27FC236}">
                  <a16:creationId xmlns:a16="http://schemas.microsoft.com/office/drawing/2014/main" id="{075BF98F-70D7-F535-D362-0729A94E2D4E}"/>
                </a:ext>
              </a:extLst>
            </p:cNvPr>
            <p:cNvSpPr txBox="1"/>
            <p:nvPr/>
          </p:nvSpPr>
          <p:spPr>
            <a:xfrm>
              <a:off x="2759885" y="3531697"/>
              <a:ext cx="154680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   34%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             Sin Grupo</a:t>
              </a:r>
            </a:p>
          </p:txBody>
        </p:sp>
        <p:grpSp>
          <p:nvGrpSpPr>
            <p:cNvPr id="124" name="Grupo 123">
              <a:extLst>
                <a:ext uri="{FF2B5EF4-FFF2-40B4-BE49-F238E27FC236}">
                  <a16:creationId xmlns:a16="http://schemas.microsoft.com/office/drawing/2014/main" id="{E467E312-6837-507C-78C2-139E7FE1D7E0}"/>
                </a:ext>
              </a:extLst>
            </p:cNvPr>
            <p:cNvGrpSpPr/>
            <p:nvPr/>
          </p:nvGrpSpPr>
          <p:grpSpPr>
            <a:xfrm>
              <a:off x="3048286" y="3111252"/>
              <a:ext cx="3006658" cy="1963483"/>
              <a:chOff x="3048286" y="3111252"/>
              <a:chExt cx="3006658" cy="1963483"/>
            </a:xfrm>
          </p:grpSpPr>
          <p:grpSp>
            <p:nvGrpSpPr>
              <p:cNvPr id="81" name="Grupo 80">
                <a:extLst>
                  <a:ext uri="{FF2B5EF4-FFF2-40B4-BE49-F238E27FC236}">
                    <a16:creationId xmlns:a16="http://schemas.microsoft.com/office/drawing/2014/main" id="{FA7658AB-1F0C-0F39-240F-DC4BBB3EC8F4}"/>
                  </a:ext>
                </a:extLst>
              </p:cNvPr>
              <p:cNvGrpSpPr/>
              <p:nvPr/>
            </p:nvGrpSpPr>
            <p:grpSpPr>
              <a:xfrm>
                <a:off x="3048286" y="3111252"/>
                <a:ext cx="3006658" cy="1963483"/>
                <a:chOff x="7814360" y="1110832"/>
                <a:chExt cx="3006658" cy="1780012"/>
              </a:xfrm>
            </p:grpSpPr>
            <p:sp>
              <p:nvSpPr>
                <p:cNvPr id="82" name="Rectángulo 81">
                  <a:extLst>
                    <a:ext uri="{FF2B5EF4-FFF2-40B4-BE49-F238E27FC236}">
                      <a16:creationId xmlns:a16="http://schemas.microsoft.com/office/drawing/2014/main" id="{69FCEBC9-EB92-6F17-BE02-0BE8613BA291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808386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85" name="CuadroTexto 84">
                  <a:extLst>
                    <a:ext uri="{FF2B5EF4-FFF2-40B4-BE49-F238E27FC236}">
                      <a16:creationId xmlns:a16="http://schemas.microsoft.com/office/drawing/2014/main" id="{1B5C6F31-0CEF-B96B-8ED2-2F2B69FC114B}"/>
                    </a:ext>
                  </a:extLst>
                </p:cNvPr>
                <p:cNvSpPr txBox="1"/>
                <p:nvPr/>
              </p:nvSpPr>
              <p:spPr>
                <a:xfrm>
                  <a:off x="8199228" y="1166870"/>
                  <a:ext cx="2143266" cy="30691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Segmento Familia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84" name="CuadroTexto 83">
                  <a:extLst>
                    <a:ext uri="{FF2B5EF4-FFF2-40B4-BE49-F238E27FC236}">
                      <a16:creationId xmlns:a16="http://schemas.microsoft.com/office/drawing/2014/main" id="{A0BA92D2-9872-97FF-B5FA-1C67E7EF53AC}"/>
                    </a:ext>
                  </a:extLst>
                </p:cNvPr>
                <p:cNvSpPr txBox="1"/>
                <p:nvPr/>
              </p:nvSpPr>
              <p:spPr>
                <a:xfrm>
                  <a:off x="9196050" y="2288220"/>
                  <a:ext cx="1624968" cy="5022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        13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 Nuclear Integrada</a:t>
                  </a:r>
                </a:p>
              </p:txBody>
            </p:sp>
          </p:grpSp>
          <p:sp>
            <p:nvSpPr>
              <p:cNvPr id="89" name="CuadroTexto 88">
                <a:extLst>
                  <a:ext uri="{FF2B5EF4-FFF2-40B4-BE49-F238E27FC236}">
                    <a16:creationId xmlns:a16="http://schemas.microsoft.com/office/drawing/2014/main" id="{26EE4AC6-3D66-1089-7882-439097038015}"/>
                  </a:ext>
                </a:extLst>
              </p:cNvPr>
              <p:cNvSpPr txBox="1"/>
              <p:nvPr/>
            </p:nvSpPr>
            <p:spPr>
              <a:xfrm>
                <a:off x="4771770" y="3534141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51%</a:t>
                </a:r>
                <a:r>
                  <a:rPr lang="es-CO" sz="1200" b="1" dirty="0">
                    <a:solidFill>
                      <a:schemeClr val="bg1"/>
                    </a:solidFill>
                  </a:rPr>
                  <a:t> Monoparental</a:t>
                </a:r>
              </a:p>
            </p:txBody>
          </p:sp>
          <p:pic>
            <p:nvPicPr>
              <p:cNvPr id="92" name="Imagen 91">
                <a:extLst>
                  <a:ext uri="{FF2B5EF4-FFF2-40B4-BE49-F238E27FC236}">
                    <a16:creationId xmlns:a16="http://schemas.microsoft.com/office/drawing/2014/main" id="{FC4CCAD7-3DC0-E060-6AF8-227D58EF15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artisticGlowDiffused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075298" y="3683026"/>
                <a:ext cx="754362" cy="754362"/>
              </a:xfrm>
              <a:prstGeom prst="rect">
                <a:avLst/>
              </a:prstGeom>
            </p:spPr>
          </p:pic>
        </p:grp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C5D2F224-9BD6-901D-10B1-50FBB0D0D00A}"/>
              </a:ext>
            </a:extLst>
          </p:cNvPr>
          <p:cNvGrpSpPr/>
          <p:nvPr/>
        </p:nvGrpSpPr>
        <p:grpSpPr>
          <a:xfrm>
            <a:off x="90873" y="847081"/>
            <a:ext cx="3094159" cy="1780012"/>
            <a:chOff x="681423" y="1183963"/>
            <a:chExt cx="3094159" cy="1780012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B80C91FD-DC28-633A-19CA-0662CD3C80E6}"/>
                </a:ext>
              </a:extLst>
            </p:cNvPr>
            <p:cNvSpPr txBox="1"/>
            <p:nvPr/>
          </p:nvSpPr>
          <p:spPr>
            <a:xfrm>
              <a:off x="942955" y="1217834"/>
              <a:ext cx="2376943" cy="16927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s-CO" sz="2000" b="1" dirty="0">
                <a:solidFill>
                  <a:srgbClr val="FFC000"/>
                </a:solidFill>
              </a:endParaRP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Afiliado     </a:t>
              </a:r>
              <a:r>
                <a:rPr lang="es-CO" sz="2800" b="1" dirty="0">
                  <a:solidFill>
                    <a:srgbClr val="FFC000"/>
                  </a:solidFill>
                </a:rPr>
                <a:t>   </a:t>
              </a:r>
              <a:r>
                <a:rPr lang="es-CO" sz="2800" b="1" dirty="0">
                  <a:solidFill>
                    <a:schemeClr val="bg1"/>
                  </a:solidFill>
                </a:rPr>
                <a:t>71%</a:t>
              </a: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No Afilado   </a:t>
              </a:r>
              <a:r>
                <a:rPr lang="es-CO" sz="2800" b="1" dirty="0">
                  <a:solidFill>
                    <a:schemeClr val="bg1"/>
                  </a:solidFill>
                </a:rPr>
                <a:t>29%</a:t>
              </a:r>
            </a:p>
            <a:p>
              <a:endParaRPr lang="es-ES" sz="28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05" name="Rectángulo 104">
              <a:extLst>
                <a:ext uri="{FF2B5EF4-FFF2-40B4-BE49-F238E27FC236}">
                  <a16:creationId xmlns:a16="http://schemas.microsoft.com/office/drawing/2014/main" id="{6ACF7D1E-B5D1-8E99-696F-F1B6BA8A5AB5}"/>
                </a:ext>
              </a:extLst>
            </p:cNvPr>
            <p:cNvSpPr/>
            <p:nvPr/>
          </p:nvSpPr>
          <p:spPr>
            <a:xfrm>
              <a:off x="681423" y="1183963"/>
              <a:ext cx="3094159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20" name="Grupo 119">
            <a:extLst>
              <a:ext uri="{FF2B5EF4-FFF2-40B4-BE49-F238E27FC236}">
                <a16:creationId xmlns:a16="http://schemas.microsoft.com/office/drawing/2014/main" id="{B4938F80-74CD-A352-DB92-63AD78322AB1}"/>
              </a:ext>
            </a:extLst>
          </p:cNvPr>
          <p:cNvGrpSpPr/>
          <p:nvPr/>
        </p:nvGrpSpPr>
        <p:grpSpPr>
          <a:xfrm>
            <a:off x="7777183" y="2775745"/>
            <a:ext cx="2623981" cy="1933541"/>
            <a:chOff x="9059295" y="3127128"/>
            <a:chExt cx="2623981" cy="1933541"/>
          </a:xfrm>
        </p:grpSpPr>
        <p:grpSp>
          <p:nvGrpSpPr>
            <p:cNvPr id="106" name="Grupo 105">
              <a:extLst>
                <a:ext uri="{FF2B5EF4-FFF2-40B4-BE49-F238E27FC236}">
                  <a16:creationId xmlns:a16="http://schemas.microsoft.com/office/drawing/2014/main" id="{A6B97C55-1D5D-50A4-5CC4-6E903AA04E86}"/>
                </a:ext>
              </a:extLst>
            </p:cNvPr>
            <p:cNvGrpSpPr/>
            <p:nvPr/>
          </p:nvGrpSpPr>
          <p:grpSpPr>
            <a:xfrm>
              <a:off x="9080988" y="3127128"/>
              <a:ext cx="2601495" cy="1933541"/>
              <a:chOff x="7590765" y="1110832"/>
              <a:chExt cx="2601495" cy="1780012"/>
            </a:xfrm>
          </p:grpSpPr>
          <p:sp>
            <p:nvSpPr>
              <p:cNvPr id="107" name="Rectángulo 106">
                <a:extLst>
                  <a:ext uri="{FF2B5EF4-FFF2-40B4-BE49-F238E27FC236}">
                    <a16:creationId xmlns:a16="http://schemas.microsoft.com/office/drawing/2014/main" id="{EDD3805C-5E10-F403-1CAB-DC4919B3450D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108" name="Grupo 107">
                <a:extLst>
                  <a:ext uri="{FF2B5EF4-FFF2-40B4-BE49-F238E27FC236}">
                    <a16:creationId xmlns:a16="http://schemas.microsoft.com/office/drawing/2014/main" id="{4D4EFCDE-E78A-6978-D72B-5C373F4630A7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2191150" cy="1678227"/>
                <a:chOff x="3026344" y="1212927"/>
                <a:chExt cx="2191150" cy="1678227"/>
              </a:xfrm>
            </p:grpSpPr>
            <p:sp>
              <p:nvSpPr>
                <p:cNvPr id="110" name="CuadroTexto 109">
                  <a:extLst>
                    <a:ext uri="{FF2B5EF4-FFF2-40B4-BE49-F238E27FC236}">
                      <a16:creationId xmlns:a16="http://schemas.microsoft.com/office/drawing/2014/main" id="{2BED237B-7D89-9AF6-52A4-9EF2A2636143}"/>
                    </a:ext>
                  </a:extLst>
                </p:cNvPr>
                <p:cNvSpPr txBox="1"/>
                <p:nvPr/>
              </p:nvSpPr>
              <p:spPr>
                <a:xfrm>
                  <a:off x="3811633" y="1212927"/>
                  <a:ext cx="140586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Estrato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11" name="CuadroTexto 110">
                  <a:extLst>
                    <a:ext uri="{FF2B5EF4-FFF2-40B4-BE49-F238E27FC236}">
                      <a16:creationId xmlns:a16="http://schemas.microsoft.com/office/drawing/2014/main" id="{E368E743-6A2E-A5CF-1FEE-065124BC91AA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8%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  <p:sp>
            <p:nvSpPr>
              <p:cNvPr id="109" name="CuadroTexto 108">
                <a:extLst>
                  <a:ext uri="{FF2B5EF4-FFF2-40B4-BE49-F238E27FC236}">
                    <a16:creationId xmlns:a16="http://schemas.microsoft.com/office/drawing/2014/main" id="{7A7777B3-CB27-42C7-36E8-5E3D8F986C44}"/>
                  </a:ext>
                </a:extLst>
              </p:cNvPr>
              <p:cNvSpPr txBox="1"/>
              <p:nvPr/>
            </p:nvSpPr>
            <p:spPr>
              <a:xfrm>
                <a:off x="9019351" y="2317778"/>
                <a:ext cx="1172909" cy="566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2%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Cuatro</a:t>
                </a:r>
              </a:p>
            </p:txBody>
          </p:sp>
        </p:grpSp>
        <p:sp>
          <p:nvSpPr>
            <p:cNvPr id="112" name="CuadroTexto 111">
              <a:extLst>
                <a:ext uri="{FF2B5EF4-FFF2-40B4-BE49-F238E27FC236}">
                  <a16:creationId xmlns:a16="http://schemas.microsoft.com/office/drawing/2014/main" id="{A96539BB-C6C9-806D-1D9C-A08BE2A20C1A}"/>
                </a:ext>
              </a:extLst>
            </p:cNvPr>
            <p:cNvSpPr txBox="1"/>
            <p:nvPr/>
          </p:nvSpPr>
          <p:spPr>
            <a:xfrm>
              <a:off x="9059295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4%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Uno</a:t>
              </a:r>
            </a:p>
          </p:txBody>
        </p:sp>
        <p:sp>
          <p:nvSpPr>
            <p:cNvPr id="113" name="CuadroTexto 112">
              <a:extLst>
                <a:ext uri="{FF2B5EF4-FFF2-40B4-BE49-F238E27FC236}">
                  <a16:creationId xmlns:a16="http://schemas.microsoft.com/office/drawing/2014/main" id="{ACD952DA-A11A-BF52-9762-263BB899D5A5}"/>
                </a:ext>
              </a:extLst>
            </p:cNvPr>
            <p:cNvSpPr txBox="1"/>
            <p:nvPr/>
          </p:nvSpPr>
          <p:spPr>
            <a:xfrm>
              <a:off x="10510367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11%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Dos</a:t>
              </a:r>
            </a:p>
          </p:txBody>
        </p:sp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9B771A7E-EADF-D4E6-A7A6-FD084067F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artisticPencilGrayscale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043317" y="3855923"/>
              <a:ext cx="655939" cy="655939"/>
            </a:xfrm>
            <a:prstGeom prst="rect">
              <a:avLst/>
            </a:prstGeom>
          </p:spPr>
        </p:pic>
      </p:grp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39F800AB-2D36-7A98-1A82-4FEC9F67EE4B}"/>
              </a:ext>
            </a:extLst>
          </p:cNvPr>
          <p:cNvSpPr txBox="1"/>
          <p:nvPr/>
        </p:nvSpPr>
        <p:spPr>
          <a:xfrm>
            <a:off x="5289967" y="3228845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34%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 Cero</a:t>
            </a:r>
          </a:p>
        </p:txBody>
      </p:sp>
      <p:grpSp>
        <p:nvGrpSpPr>
          <p:cNvPr id="123" name="Grupo 122">
            <a:extLst>
              <a:ext uri="{FF2B5EF4-FFF2-40B4-BE49-F238E27FC236}">
                <a16:creationId xmlns:a16="http://schemas.microsoft.com/office/drawing/2014/main" id="{BA1F6683-139E-F647-306E-130D82C5E548}"/>
              </a:ext>
            </a:extLst>
          </p:cNvPr>
          <p:cNvGrpSpPr/>
          <p:nvPr/>
        </p:nvGrpSpPr>
        <p:grpSpPr>
          <a:xfrm>
            <a:off x="5340592" y="2790246"/>
            <a:ext cx="2602288" cy="1933541"/>
            <a:chOff x="5931142" y="3127128"/>
            <a:chExt cx="2602288" cy="1933541"/>
          </a:xfrm>
        </p:grpSpPr>
        <p:grpSp>
          <p:nvGrpSpPr>
            <p:cNvPr id="93" name="Grupo 92">
              <a:extLst>
                <a:ext uri="{FF2B5EF4-FFF2-40B4-BE49-F238E27FC236}">
                  <a16:creationId xmlns:a16="http://schemas.microsoft.com/office/drawing/2014/main" id="{7AAAEE2E-BFDF-FAD1-183A-CE8D579D7D5E}"/>
                </a:ext>
              </a:extLst>
            </p:cNvPr>
            <p:cNvGrpSpPr/>
            <p:nvPr/>
          </p:nvGrpSpPr>
          <p:grpSpPr>
            <a:xfrm>
              <a:off x="5931142" y="3127128"/>
              <a:ext cx="2419582" cy="1933541"/>
              <a:chOff x="7590765" y="1110832"/>
              <a:chExt cx="2419582" cy="1780012"/>
            </a:xfrm>
          </p:grpSpPr>
          <p:sp>
            <p:nvSpPr>
              <p:cNvPr id="94" name="Rectángulo 93">
                <a:extLst>
                  <a:ext uri="{FF2B5EF4-FFF2-40B4-BE49-F238E27FC236}">
                    <a16:creationId xmlns:a16="http://schemas.microsoft.com/office/drawing/2014/main" id="{87B1018C-5911-769C-5380-0AD578D072AA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95" name="Grupo 94">
                <a:extLst>
                  <a:ext uri="{FF2B5EF4-FFF2-40B4-BE49-F238E27FC236}">
                    <a16:creationId xmlns:a16="http://schemas.microsoft.com/office/drawing/2014/main" id="{D024DADD-002B-4293-2961-1F7A3A6B2BA6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1922369" cy="1647802"/>
                <a:chOff x="3026344" y="1212927"/>
                <a:chExt cx="1922369" cy="1647802"/>
              </a:xfrm>
            </p:grpSpPr>
            <p:sp>
              <p:nvSpPr>
                <p:cNvPr id="97" name="CuadroTexto 96">
                  <a:extLst>
                    <a:ext uri="{FF2B5EF4-FFF2-40B4-BE49-F238E27FC236}">
                      <a16:creationId xmlns:a16="http://schemas.microsoft.com/office/drawing/2014/main" id="{D494AB50-4CD5-87E6-F92E-149C892F42B9}"/>
                    </a:ext>
                  </a:extLst>
                </p:cNvPr>
                <p:cNvSpPr txBox="1"/>
                <p:nvPr/>
              </p:nvSpPr>
              <p:spPr>
                <a:xfrm>
                  <a:off x="4021092" y="1212927"/>
                  <a:ext cx="92762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PAC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98" name="CuadroTexto 97">
                  <a:extLst>
                    <a:ext uri="{FF2B5EF4-FFF2-40B4-BE49-F238E27FC236}">
                      <a16:creationId xmlns:a16="http://schemas.microsoft.com/office/drawing/2014/main" id="{AFE87CA4-BB7D-7F14-3F1D-5C69CB570D0E}"/>
                    </a:ext>
                  </a:extLst>
                </p:cNvPr>
                <p:cNvSpPr txBox="1"/>
                <p:nvPr/>
              </p:nvSpPr>
              <p:spPr>
                <a:xfrm>
                  <a:off x="3026344" y="2294053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9%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</p:grpSp>
        <p:grpSp>
          <p:nvGrpSpPr>
            <p:cNvPr id="121" name="Grupo 120">
              <a:extLst>
                <a:ext uri="{FF2B5EF4-FFF2-40B4-BE49-F238E27FC236}">
                  <a16:creationId xmlns:a16="http://schemas.microsoft.com/office/drawing/2014/main" id="{D6FA0CBF-C9CF-CC26-B0B0-DF7BA976A6FD}"/>
                </a:ext>
              </a:extLst>
            </p:cNvPr>
            <p:cNvGrpSpPr/>
            <p:nvPr/>
          </p:nvGrpSpPr>
          <p:grpSpPr>
            <a:xfrm>
              <a:off x="6649678" y="3565727"/>
              <a:ext cx="1883752" cy="1414028"/>
              <a:chOff x="6649678" y="3565727"/>
              <a:chExt cx="1883752" cy="1414028"/>
            </a:xfrm>
          </p:grpSpPr>
          <p:sp>
            <p:nvSpPr>
              <p:cNvPr id="99" name="CuadroTexto 98">
                <a:extLst>
                  <a:ext uri="{FF2B5EF4-FFF2-40B4-BE49-F238E27FC236}">
                    <a16:creationId xmlns:a16="http://schemas.microsoft.com/office/drawing/2014/main" id="{2C7A03FD-4810-CF9D-0EED-E133C6211C01}"/>
                  </a:ext>
                </a:extLst>
              </p:cNvPr>
              <p:cNvSpPr txBox="1"/>
              <p:nvPr/>
            </p:nvSpPr>
            <p:spPr>
              <a:xfrm>
                <a:off x="6649678" y="358240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31%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Uno</a:t>
                </a:r>
              </a:p>
            </p:txBody>
          </p:sp>
          <p:sp>
            <p:nvSpPr>
              <p:cNvPr id="101" name="CuadroTexto 100">
                <a:extLst>
                  <a:ext uri="{FF2B5EF4-FFF2-40B4-BE49-F238E27FC236}">
                    <a16:creationId xmlns:a16="http://schemas.microsoft.com/office/drawing/2014/main" id="{40A02500-DC4B-B300-BB97-00EF3DB7CEBE}"/>
                  </a:ext>
                </a:extLst>
              </p:cNvPr>
              <p:cNvSpPr txBox="1"/>
              <p:nvPr/>
            </p:nvSpPr>
            <p:spPr>
              <a:xfrm>
                <a:off x="7360521" y="3565727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22%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Dos</a:t>
                </a:r>
              </a:p>
            </p:txBody>
          </p:sp>
          <p:pic>
            <p:nvPicPr>
              <p:cNvPr id="118" name="Imagen 117">
                <a:extLst>
                  <a:ext uri="{FF2B5EF4-FFF2-40B4-BE49-F238E27FC236}">
                    <a16:creationId xmlns:a16="http://schemas.microsoft.com/office/drawing/2014/main" id="{3FC8DC8E-FD2E-5A18-35C2-0DB6775657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artisticPaintStrokes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886925" y="4205951"/>
                <a:ext cx="773804" cy="773804"/>
              </a:xfrm>
              <a:prstGeom prst="rect">
                <a:avLst/>
              </a:prstGeom>
            </p:spPr>
          </p:pic>
        </p:grpSp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F1188186-5298-8C2D-C4B3-A2EAC88BB79D}"/>
              </a:ext>
            </a:extLst>
          </p:cNvPr>
          <p:cNvGrpSpPr/>
          <p:nvPr/>
        </p:nvGrpSpPr>
        <p:grpSpPr>
          <a:xfrm>
            <a:off x="8022470" y="853892"/>
            <a:ext cx="2195988" cy="1780012"/>
            <a:chOff x="7814360" y="1110832"/>
            <a:chExt cx="2195988" cy="1780012"/>
          </a:xfrm>
        </p:grpSpPr>
        <p:grpSp>
          <p:nvGrpSpPr>
            <p:cNvPr id="66" name="Grupo 65">
              <a:extLst>
                <a:ext uri="{FF2B5EF4-FFF2-40B4-BE49-F238E27FC236}">
                  <a16:creationId xmlns:a16="http://schemas.microsoft.com/office/drawing/2014/main" id="{00EEA8EB-9F7D-C249-12CF-4935ECCEB72C}"/>
                </a:ext>
              </a:extLst>
            </p:cNvPr>
            <p:cNvGrpSpPr/>
            <p:nvPr/>
          </p:nvGrpSpPr>
          <p:grpSpPr>
            <a:xfrm>
              <a:off x="7814360" y="1110832"/>
              <a:ext cx="2195988" cy="1780012"/>
              <a:chOff x="7814360" y="1110832"/>
              <a:chExt cx="2195988" cy="1780012"/>
            </a:xfrm>
          </p:grpSpPr>
          <p:sp>
            <p:nvSpPr>
              <p:cNvPr id="60" name="Rectángulo 59">
                <a:extLst>
                  <a:ext uri="{FF2B5EF4-FFF2-40B4-BE49-F238E27FC236}">
                    <a16:creationId xmlns:a16="http://schemas.microsoft.com/office/drawing/2014/main" id="{C9067F7B-5A07-5542-9C50-173BBB388BE9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61" name="Grupo 60">
                <a:extLst>
                  <a:ext uri="{FF2B5EF4-FFF2-40B4-BE49-F238E27FC236}">
                    <a16:creationId xmlns:a16="http://schemas.microsoft.com/office/drawing/2014/main" id="{423C28D6-E6C1-1E66-B6CC-4EE2BFAEA6C5}"/>
                  </a:ext>
                </a:extLst>
              </p:cNvPr>
              <p:cNvGrpSpPr/>
              <p:nvPr/>
            </p:nvGrpSpPr>
            <p:grpSpPr>
              <a:xfrm>
                <a:off x="7814361" y="1223137"/>
                <a:ext cx="2083693" cy="1630468"/>
                <a:chOff x="3249940" y="1229837"/>
                <a:chExt cx="2083693" cy="1630468"/>
              </a:xfrm>
            </p:grpSpPr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5E79E2D1-583E-93B0-3027-0F40CA8791BE}"/>
                    </a:ext>
                  </a:extLst>
                </p:cNvPr>
                <p:cNvSpPr txBox="1"/>
                <p:nvPr/>
              </p:nvSpPr>
              <p:spPr>
                <a:xfrm>
                  <a:off x="3552927" y="1229837"/>
                  <a:ext cx="1780706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Rango Edad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15BE0DC7-E8D5-73CD-21D6-AB72EE099354}"/>
                    </a:ext>
                  </a:extLst>
                </p:cNvPr>
                <p:cNvSpPr txBox="1"/>
                <p:nvPr/>
              </p:nvSpPr>
              <p:spPr>
                <a:xfrm>
                  <a:off x="3249940" y="2306307"/>
                  <a:ext cx="1172909" cy="5539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61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20 a 35 años</a:t>
                  </a:r>
                </a:p>
              </p:txBody>
            </p:sp>
          </p:grpSp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5569ED60-0CFC-1E4D-A57B-06F9B24CE467}"/>
                  </a:ext>
                </a:extLst>
              </p:cNvPr>
              <p:cNvSpPr txBox="1"/>
              <p:nvPr/>
            </p:nvSpPr>
            <p:spPr>
              <a:xfrm>
                <a:off x="8837439" y="2289285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29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36 a 45 años</a:t>
                </a:r>
              </a:p>
            </p:txBody>
          </p:sp>
        </p:grpSp>
        <p:pic>
          <p:nvPicPr>
            <p:cNvPr id="128" name="Imagen 127">
              <a:extLst>
                <a:ext uri="{FF2B5EF4-FFF2-40B4-BE49-F238E27FC236}">
                  <a16:creationId xmlns:a16="http://schemas.microsoft.com/office/drawing/2014/main" id="{90BB1E33-2003-61DB-E6D3-1AA144473C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17644" y="1602912"/>
              <a:ext cx="655473" cy="655473"/>
            </a:xfrm>
            <a:prstGeom prst="rect">
              <a:avLst/>
            </a:prstGeom>
          </p:spPr>
        </p:pic>
      </p:grpSp>
      <p:grpSp>
        <p:nvGrpSpPr>
          <p:cNvPr id="189" name="Grupo 188">
            <a:extLst>
              <a:ext uri="{FF2B5EF4-FFF2-40B4-BE49-F238E27FC236}">
                <a16:creationId xmlns:a16="http://schemas.microsoft.com/office/drawing/2014/main" id="{55C6BDB1-D187-AA89-4485-4E48A40E34EB}"/>
              </a:ext>
            </a:extLst>
          </p:cNvPr>
          <p:cNvGrpSpPr/>
          <p:nvPr/>
        </p:nvGrpSpPr>
        <p:grpSpPr>
          <a:xfrm>
            <a:off x="-114768" y="4837223"/>
            <a:ext cx="3758502" cy="1933541"/>
            <a:chOff x="435340" y="4837223"/>
            <a:chExt cx="4854517" cy="1933541"/>
          </a:xfrm>
        </p:grpSpPr>
        <p:grpSp>
          <p:nvGrpSpPr>
            <p:cNvPr id="138" name="Grupo 137">
              <a:extLst>
                <a:ext uri="{FF2B5EF4-FFF2-40B4-BE49-F238E27FC236}">
                  <a16:creationId xmlns:a16="http://schemas.microsoft.com/office/drawing/2014/main" id="{3B858811-6639-8989-80AB-04EB4AD0D5E9}"/>
                </a:ext>
              </a:extLst>
            </p:cNvPr>
            <p:cNvGrpSpPr/>
            <p:nvPr/>
          </p:nvGrpSpPr>
          <p:grpSpPr>
            <a:xfrm>
              <a:off x="435340" y="4837223"/>
              <a:ext cx="4854517" cy="1933541"/>
              <a:chOff x="9135236" y="3127128"/>
              <a:chExt cx="3830051" cy="1933541"/>
            </a:xfrm>
          </p:grpSpPr>
          <p:grpSp>
            <p:nvGrpSpPr>
              <p:cNvPr id="139" name="Grupo 138">
                <a:extLst>
                  <a:ext uri="{FF2B5EF4-FFF2-40B4-BE49-F238E27FC236}">
                    <a16:creationId xmlns:a16="http://schemas.microsoft.com/office/drawing/2014/main" id="{8AA2617D-9DE4-5A4D-9B61-ABB502FB512B}"/>
                  </a:ext>
                </a:extLst>
              </p:cNvPr>
              <p:cNvGrpSpPr/>
              <p:nvPr/>
            </p:nvGrpSpPr>
            <p:grpSpPr>
              <a:xfrm>
                <a:off x="9229918" y="3127128"/>
                <a:ext cx="3735369" cy="1933541"/>
                <a:chOff x="7739695" y="1110832"/>
                <a:chExt cx="3735369" cy="1780012"/>
              </a:xfrm>
            </p:grpSpPr>
            <p:sp>
              <p:nvSpPr>
                <p:cNvPr id="143" name="Rectángulo 142">
                  <a:extLst>
                    <a:ext uri="{FF2B5EF4-FFF2-40B4-BE49-F238E27FC236}">
                      <a16:creationId xmlns:a16="http://schemas.microsoft.com/office/drawing/2014/main" id="{C692BCEB-EAB7-DFD3-1E4A-DA3C2EEC935A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3246650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44" name="Grupo 143">
                  <a:extLst>
                    <a:ext uri="{FF2B5EF4-FFF2-40B4-BE49-F238E27FC236}">
                      <a16:creationId xmlns:a16="http://schemas.microsoft.com/office/drawing/2014/main" id="{0DD07139-8F3C-680D-AA8B-7AF87695B715}"/>
                    </a:ext>
                  </a:extLst>
                </p:cNvPr>
                <p:cNvGrpSpPr/>
                <p:nvPr/>
              </p:nvGrpSpPr>
              <p:grpSpPr>
                <a:xfrm>
                  <a:off x="7739695" y="1236316"/>
                  <a:ext cx="3735369" cy="1532075"/>
                  <a:chOff x="3175274" y="1243016"/>
                  <a:chExt cx="3735369" cy="1532075"/>
                </a:xfrm>
              </p:grpSpPr>
              <p:sp>
                <p:nvSpPr>
                  <p:cNvPr id="146" name="CuadroTexto 145">
                    <a:extLst>
                      <a:ext uri="{FF2B5EF4-FFF2-40B4-BE49-F238E27FC236}">
                        <a16:creationId xmlns:a16="http://schemas.microsoft.com/office/drawing/2014/main" id="{4B5F0760-85C5-52A2-8803-8682453F1775}"/>
                      </a:ext>
                    </a:extLst>
                  </p:cNvPr>
                  <p:cNvSpPr txBox="1"/>
                  <p:nvPr/>
                </p:nvSpPr>
                <p:spPr>
                  <a:xfrm>
                    <a:off x="3854322" y="1243016"/>
                    <a:ext cx="3056321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Segmento Empresas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47" name="CuadroTexto 146">
                    <a:extLst>
                      <a:ext uri="{FF2B5EF4-FFF2-40B4-BE49-F238E27FC236}">
                        <a16:creationId xmlns:a16="http://schemas.microsoft.com/office/drawing/2014/main" id="{7026BB37-EC51-9D11-3C86-AC345F45384B}"/>
                      </a:ext>
                    </a:extLst>
                  </p:cNvPr>
                  <p:cNvSpPr txBox="1"/>
                  <p:nvPr/>
                </p:nvSpPr>
                <p:spPr>
                  <a:xfrm>
                    <a:off x="3175274" y="2208415"/>
                    <a:ext cx="1945898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29%</a:t>
                    </a:r>
                    <a:endParaRPr lang="es-CO" sz="1400" b="1" dirty="0">
                      <a:solidFill>
                        <a:schemeClr val="bg1"/>
                      </a:solidFill>
                    </a:endParaRP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Medianas</a:t>
                    </a:r>
                  </a:p>
                </p:txBody>
              </p:sp>
            </p:grpSp>
            <p:sp>
              <p:nvSpPr>
                <p:cNvPr id="145" name="CuadroTexto 144">
                  <a:extLst>
                    <a:ext uri="{FF2B5EF4-FFF2-40B4-BE49-F238E27FC236}">
                      <a16:creationId xmlns:a16="http://schemas.microsoft.com/office/drawing/2014/main" id="{C45AFFA1-9053-ADA3-B98A-5BAA65EDB787}"/>
                    </a:ext>
                  </a:extLst>
                </p:cNvPr>
                <p:cNvSpPr txBox="1"/>
                <p:nvPr/>
              </p:nvSpPr>
              <p:spPr>
                <a:xfrm>
                  <a:off x="9864249" y="1523867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20%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Grandes</a:t>
                  </a:r>
                </a:p>
              </p:txBody>
            </p:sp>
          </p:grpSp>
          <p:sp>
            <p:nvSpPr>
              <p:cNvPr id="140" name="CuadroTexto 139">
                <a:extLst>
                  <a:ext uri="{FF2B5EF4-FFF2-40B4-BE49-F238E27FC236}">
                    <a16:creationId xmlns:a16="http://schemas.microsoft.com/office/drawing/2014/main" id="{BD91ED6D-4B79-C8B6-3DE3-866B36D0FE24}"/>
                  </a:ext>
                </a:extLst>
              </p:cNvPr>
              <p:cNvSpPr txBox="1"/>
              <p:nvPr/>
            </p:nvSpPr>
            <p:spPr>
              <a:xfrm>
                <a:off x="9135236" y="3565727"/>
                <a:ext cx="145027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13%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</a:t>
                </a:r>
                <a:r>
                  <a:rPr lang="es-CO" sz="1400" b="1" dirty="0" err="1">
                    <a:solidFill>
                      <a:schemeClr val="bg1"/>
                    </a:solidFill>
                  </a:rPr>
                  <a:t>Emp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Top</a:t>
                </a:r>
              </a:p>
            </p:txBody>
          </p:sp>
          <p:sp>
            <p:nvSpPr>
              <p:cNvPr id="141" name="CuadroTexto 140">
                <a:extLst>
                  <a:ext uri="{FF2B5EF4-FFF2-40B4-BE49-F238E27FC236}">
                    <a16:creationId xmlns:a16="http://schemas.microsoft.com/office/drawing/2014/main" id="{08083E18-0517-6B14-F745-718DAB0A222C}"/>
                  </a:ext>
                </a:extLst>
              </p:cNvPr>
              <p:cNvSpPr txBox="1"/>
              <p:nvPr/>
            </p:nvSpPr>
            <p:spPr>
              <a:xfrm>
                <a:off x="10055645" y="3580594"/>
                <a:ext cx="152651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29%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    Micro    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Transaccional</a:t>
                </a:r>
              </a:p>
            </p:txBody>
          </p:sp>
        </p:grpSp>
        <p:pic>
          <p:nvPicPr>
            <p:cNvPr id="149" name="Imagen 148">
              <a:extLst>
                <a:ext uri="{FF2B5EF4-FFF2-40B4-BE49-F238E27FC236}">
                  <a16:creationId xmlns:a16="http://schemas.microsoft.com/office/drawing/2014/main" id="{B5B328B6-9E7E-B105-98B2-477DA077DB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325932" y="6027593"/>
              <a:ext cx="677562" cy="677562"/>
            </a:xfrm>
            <a:prstGeom prst="rect">
              <a:avLst/>
            </a:prstGeom>
          </p:spPr>
        </p:pic>
      </p:grp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D2095205-E82E-A2BF-2C12-6D38AC3FF89A}"/>
              </a:ext>
            </a:extLst>
          </p:cNvPr>
          <p:cNvSpPr txBox="1"/>
          <p:nvPr/>
        </p:nvSpPr>
        <p:spPr>
          <a:xfrm>
            <a:off x="2093411" y="5976448"/>
            <a:ext cx="128594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7%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Estándar</a:t>
            </a:r>
          </a:p>
        </p:txBody>
      </p:sp>
      <p:grpSp>
        <p:nvGrpSpPr>
          <p:cNvPr id="151" name="Grupo 150">
            <a:extLst>
              <a:ext uri="{FF2B5EF4-FFF2-40B4-BE49-F238E27FC236}">
                <a16:creationId xmlns:a16="http://schemas.microsoft.com/office/drawing/2014/main" id="{1A384090-DF7B-F320-5C49-5D7527EA83BF}"/>
              </a:ext>
            </a:extLst>
          </p:cNvPr>
          <p:cNvGrpSpPr/>
          <p:nvPr/>
        </p:nvGrpSpPr>
        <p:grpSpPr>
          <a:xfrm>
            <a:off x="3075715" y="4852302"/>
            <a:ext cx="2636557" cy="1933541"/>
            <a:chOff x="9059295" y="3127128"/>
            <a:chExt cx="2636557" cy="1933541"/>
          </a:xfrm>
        </p:grpSpPr>
        <p:grpSp>
          <p:nvGrpSpPr>
            <p:cNvPr id="152" name="Grupo 151">
              <a:extLst>
                <a:ext uri="{FF2B5EF4-FFF2-40B4-BE49-F238E27FC236}">
                  <a16:creationId xmlns:a16="http://schemas.microsoft.com/office/drawing/2014/main" id="{CE96CCC7-574D-F3AA-1159-A00805AAC9C9}"/>
                </a:ext>
              </a:extLst>
            </p:cNvPr>
            <p:cNvGrpSpPr/>
            <p:nvPr/>
          </p:nvGrpSpPr>
          <p:grpSpPr>
            <a:xfrm>
              <a:off x="9304583" y="3127128"/>
              <a:ext cx="2195987" cy="1933541"/>
              <a:chOff x="7814360" y="1110832"/>
              <a:chExt cx="2195987" cy="1780012"/>
            </a:xfrm>
          </p:grpSpPr>
          <p:sp>
            <p:nvSpPr>
              <p:cNvPr id="157" name="Rectángulo 156">
                <a:extLst>
                  <a:ext uri="{FF2B5EF4-FFF2-40B4-BE49-F238E27FC236}">
                    <a16:creationId xmlns:a16="http://schemas.microsoft.com/office/drawing/2014/main" id="{7284C2A1-4640-3D95-9EA2-BB01FC8BA850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60" name="CuadroTexto 159">
                <a:extLst>
                  <a:ext uri="{FF2B5EF4-FFF2-40B4-BE49-F238E27FC236}">
                    <a16:creationId xmlns:a16="http://schemas.microsoft.com/office/drawing/2014/main" id="{61743FC2-23C2-E3C7-13BE-3ED3537B7672}"/>
                  </a:ext>
                </a:extLst>
              </p:cNvPr>
              <p:cNvSpPr txBox="1"/>
              <p:nvPr/>
            </p:nvSpPr>
            <p:spPr>
              <a:xfrm>
                <a:off x="7973412" y="1206227"/>
                <a:ext cx="1949604" cy="3116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Departamento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</p:grpSp>
        <p:sp>
          <p:nvSpPr>
            <p:cNvPr id="154" name="CuadroTexto 153">
              <a:extLst>
                <a:ext uri="{FF2B5EF4-FFF2-40B4-BE49-F238E27FC236}">
                  <a16:creationId xmlns:a16="http://schemas.microsoft.com/office/drawing/2014/main" id="{50230534-8DC0-29C3-CF6E-228C673DE96F}"/>
                </a:ext>
              </a:extLst>
            </p:cNvPr>
            <p:cNvSpPr txBox="1"/>
            <p:nvPr/>
          </p:nvSpPr>
          <p:spPr>
            <a:xfrm>
              <a:off x="9059295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41%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Bogotá</a:t>
              </a:r>
            </a:p>
          </p:txBody>
        </p:sp>
        <p:sp>
          <p:nvSpPr>
            <p:cNvPr id="155" name="CuadroTexto 154">
              <a:extLst>
                <a:ext uri="{FF2B5EF4-FFF2-40B4-BE49-F238E27FC236}">
                  <a16:creationId xmlns:a16="http://schemas.microsoft.com/office/drawing/2014/main" id="{0DA2FA0E-7962-4172-CF3A-A66F15C1F13E}"/>
                </a:ext>
              </a:extLst>
            </p:cNvPr>
            <p:cNvSpPr txBox="1"/>
            <p:nvPr/>
          </p:nvSpPr>
          <p:spPr>
            <a:xfrm>
              <a:off x="10477437" y="3565504"/>
              <a:ext cx="1218415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7%</a:t>
              </a:r>
              <a:r>
                <a:rPr lang="es-CO" sz="1400" b="1" dirty="0">
                  <a:solidFill>
                    <a:schemeClr val="bg1"/>
                  </a:solidFill>
                </a:rPr>
                <a:t>                           Soacha</a:t>
              </a:r>
            </a:p>
          </p:txBody>
        </p:sp>
      </p:grpSp>
      <p:grpSp>
        <p:nvGrpSpPr>
          <p:cNvPr id="201" name="Grupo 200">
            <a:extLst>
              <a:ext uri="{FF2B5EF4-FFF2-40B4-BE49-F238E27FC236}">
                <a16:creationId xmlns:a16="http://schemas.microsoft.com/office/drawing/2014/main" id="{0B6AE3FC-3718-D069-21BC-B48B5134D7E5}"/>
              </a:ext>
            </a:extLst>
          </p:cNvPr>
          <p:cNvGrpSpPr/>
          <p:nvPr/>
        </p:nvGrpSpPr>
        <p:grpSpPr>
          <a:xfrm>
            <a:off x="5243196" y="4842106"/>
            <a:ext cx="2857789" cy="1985915"/>
            <a:chOff x="5319396" y="4842106"/>
            <a:chExt cx="2857789" cy="1985915"/>
          </a:xfrm>
        </p:grpSpPr>
        <p:grpSp>
          <p:nvGrpSpPr>
            <p:cNvPr id="164" name="Grupo 163">
              <a:extLst>
                <a:ext uri="{FF2B5EF4-FFF2-40B4-BE49-F238E27FC236}">
                  <a16:creationId xmlns:a16="http://schemas.microsoft.com/office/drawing/2014/main" id="{C64662A8-91B5-B7E5-3E59-183322B8CAD3}"/>
                </a:ext>
              </a:extLst>
            </p:cNvPr>
            <p:cNvGrpSpPr/>
            <p:nvPr/>
          </p:nvGrpSpPr>
          <p:grpSpPr>
            <a:xfrm>
              <a:off x="5319396" y="4842106"/>
              <a:ext cx="2857789" cy="1957609"/>
              <a:chOff x="8885120" y="3127128"/>
              <a:chExt cx="2857789" cy="1957609"/>
            </a:xfrm>
          </p:grpSpPr>
          <p:grpSp>
            <p:nvGrpSpPr>
              <p:cNvPr id="165" name="Grupo 164">
                <a:extLst>
                  <a:ext uri="{FF2B5EF4-FFF2-40B4-BE49-F238E27FC236}">
                    <a16:creationId xmlns:a16="http://schemas.microsoft.com/office/drawing/2014/main" id="{9C854965-04B9-50DB-D809-45FDB94A6C2F}"/>
                  </a:ext>
                </a:extLst>
              </p:cNvPr>
              <p:cNvGrpSpPr/>
              <p:nvPr/>
            </p:nvGrpSpPr>
            <p:grpSpPr>
              <a:xfrm>
                <a:off x="9049330" y="3127128"/>
                <a:ext cx="2655911" cy="1957609"/>
                <a:chOff x="7559107" y="1110832"/>
                <a:chExt cx="2655911" cy="1802169"/>
              </a:xfrm>
            </p:grpSpPr>
            <p:sp>
              <p:nvSpPr>
                <p:cNvPr id="168" name="Rectángulo 167">
                  <a:extLst>
                    <a:ext uri="{FF2B5EF4-FFF2-40B4-BE49-F238E27FC236}">
                      <a16:creationId xmlns:a16="http://schemas.microsoft.com/office/drawing/2014/main" id="{65378F48-B4AE-F10C-4223-E1EA0EA170BC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195987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70" name="Grupo 169">
                  <a:extLst>
                    <a:ext uri="{FF2B5EF4-FFF2-40B4-BE49-F238E27FC236}">
                      <a16:creationId xmlns:a16="http://schemas.microsoft.com/office/drawing/2014/main" id="{3569F99F-B681-3597-BDD2-3E936B3A55D6}"/>
                    </a:ext>
                  </a:extLst>
                </p:cNvPr>
                <p:cNvGrpSpPr/>
                <p:nvPr/>
              </p:nvGrpSpPr>
              <p:grpSpPr>
                <a:xfrm>
                  <a:off x="7559107" y="1207829"/>
                  <a:ext cx="2655911" cy="1705172"/>
                  <a:chOff x="2994686" y="1214529"/>
                  <a:chExt cx="2655911" cy="1705172"/>
                </a:xfrm>
              </p:grpSpPr>
              <p:sp>
                <p:nvSpPr>
                  <p:cNvPr id="171" name="CuadroTexto 170">
                    <a:extLst>
                      <a:ext uri="{FF2B5EF4-FFF2-40B4-BE49-F238E27FC236}">
                        <a16:creationId xmlns:a16="http://schemas.microsoft.com/office/drawing/2014/main" id="{B3183CBF-C15E-94FF-246B-D79A8839BD73}"/>
                      </a:ext>
                    </a:extLst>
                  </p:cNvPr>
                  <p:cNvSpPr txBox="1"/>
                  <p:nvPr/>
                </p:nvSpPr>
                <p:spPr>
                  <a:xfrm>
                    <a:off x="3700993" y="1214529"/>
                    <a:ext cx="1949604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Localidad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72" name="CuadroTexto 171">
                    <a:extLst>
                      <a:ext uri="{FF2B5EF4-FFF2-40B4-BE49-F238E27FC236}">
                        <a16:creationId xmlns:a16="http://schemas.microsoft.com/office/drawing/2014/main" id="{A41C6052-AF26-67D4-A41E-4F624BCE23B6}"/>
                      </a:ext>
                    </a:extLst>
                  </p:cNvPr>
                  <p:cNvSpPr txBox="1"/>
                  <p:nvPr/>
                </p:nvSpPr>
                <p:spPr>
                  <a:xfrm>
                    <a:off x="2994686" y="2353025"/>
                    <a:ext cx="1362565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2%</a:t>
                    </a: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    Chapinero</a:t>
                    </a:r>
                  </a:p>
                </p:txBody>
              </p:sp>
            </p:grpSp>
          </p:grpSp>
          <p:sp>
            <p:nvSpPr>
              <p:cNvPr id="166" name="CuadroTexto 165">
                <a:extLst>
                  <a:ext uri="{FF2B5EF4-FFF2-40B4-BE49-F238E27FC236}">
                    <a16:creationId xmlns:a16="http://schemas.microsoft.com/office/drawing/2014/main" id="{A09F9C3E-60DF-BC93-C270-BFDF7B038FE0}"/>
                  </a:ext>
                </a:extLst>
              </p:cNvPr>
              <p:cNvSpPr txBox="1"/>
              <p:nvPr/>
            </p:nvSpPr>
            <p:spPr>
              <a:xfrm>
                <a:off x="8885120" y="3565727"/>
                <a:ext cx="1692765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5%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 Engativá</a:t>
                </a:r>
              </a:p>
            </p:txBody>
          </p:sp>
          <p:sp>
            <p:nvSpPr>
              <p:cNvPr id="167" name="CuadroTexto 166">
                <a:extLst>
                  <a:ext uri="{FF2B5EF4-FFF2-40B4-BE49-F238E27FC236}">
                    <a16:creationId xmlns:a16="http://schemas.microsoft.com/office/drawing/2014/main" id="{6C9B7A6C-9B68-B742-3708-B78CDAD57DF9}"/>
                  </a:ext>
                </a:extLst>
              </p:cNvPr>
              <p:cNvSpPr txBox="1"/>
              <p:nvPr/>
            </p:nvSpPr>
            <p:spPr>
              <a:xfrm>
                <a:off x="10498522" y="3549824"/>
                <a:ext cx="1244387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4%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R Uribe</a:t>
                </a:r>
              </a:p>
            </p:txBody>
          </p:sp>
        </p:grpSp>
        <p:sp>
          <p:nvSpPr>
            <p:cNvPr id="185" name="CuadroTexto 184">
              <a:extLst>
                <a:ext uri="{FF2B5EF4-FFF2-40B4-BE49-F238E27FC236}">
                  <a16:creationId xmlns:a16="http://schemas.microsoft.com/office/drawing/2014/main" id="{AF4D72EB-7BC0-F62F-CF96-07946A64DAEF}"/>
                </a:ext>
              </a:extLst>
            </p:cNvPr>
            <p:cNvSpPr txBox="1"/>
            <p:nvPr/>
          </p:nvSpPr>
          <p:spPr>
            <a:xfrm>
              <a:off x="6625166" y="6212468"/>
              <a:ext cx="1323041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68%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 Sin </a:t>
              </a:r>
              <a:r>
                <a:rPr lang="es-CO" sz="1400" b="1" dirty="0" err="1">
                  <a:solidFill>
                    <a:schemeClr val="bg1"/>
                  </a:solidFill>
                </a:rPr>
                <a:t>Infor</a:t>
              </a:r>
              <a:endParaRPr lang="es-CO" sz="1400" b="1" dirty="0">
                <a:solidFill>
                  <a:schemeClr val="bg1"/>
                </a:solidFill>
              </a:endParaRPr>
            </a:p>
          </p:txBody>
        </p:sp>
        <p:pic>
          <p:nvPicPr>
            <p:cNvPr id="187" name="Imagen 186">
              <a:extLst>
                <a:ext uri="{FF2B5EF4-FFF2-40B4-BE49-F238E27FC236}">
                  <a16:creationId xmlns:a16="http://schemas.microsoft.com/office/drawing/2014/main" id="{3DDC5C65-0E0A-A77C-BFA0-1F7C0B9D0F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401571" y="5793688"/>
              <a:ext cx="1266970" cy="620378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grpSp>
        <p:nvGrpSpPr>
          <p:cNvPr id="202" name="Grupo 201">
            <a:extLst>
              <a:ext uri="{FF2B5EF4-FFF2-40B4-BE49-F238E27FC236}">
                <a16:creationId xmlns:a16="http://schemas.microsoft.com/office/drawing/2014/main" id="{1ECA8307-3DE2-6291-8587-777B16B62BBB}"/>
              </a:ext>
            </a:extLst>
          </p:cNvPr>
          <p:cNvGrpSpPr/>
          <p:nvPr/>
        </p:nvGrpSpPr>
        <p:grpSpPr>
          <a:xfrm>
            <a:off x="7528734" y="4834201"/>
            <a:ext cx="2867011" cy="1957609"/>
            <a:chOff x="8071595" y="4834201"/>
            <a:chExt cx="3008704" cy="1957609"/>
          </a:xfrm>
        </p:grpSpPr>
        <p:grpSp>
          <p:nvGrpSpPr>
            <p:cNvPr id="190" name="Grupo 189">
              <a:extLst>
                <a:ext uri="{FF2B5EF4-FFF2-40B4-BE49-F238E27FC236}">
                  <a16:creationId xmlns:a16="http://schemas.microsoft.com/office/drawing/2014/main" id="{EDBBD4C9-FFA4-C6E5-FED7-8F602345B1BC}"/>
                </a:ext>
              </a:extLst>
            </p:cNvPr>
            <p:cNvGrpSpPr/>
            <p:nvPr/>
          </p:nvGrpSpPr>
          <p:grpSpPr>
            <a:xfrm>
              <a:off x="8071595" y="4834201"/>
              <a:ext cx="3008704" cy="1957609"/>
              <a:chOff x="8845727" y="3127128"/>
              <a:chExt cx="3008704" cy="1957609"/>
            </a:xfrm>
          </p:grpSpPr>
          <p:grpSp>
            <p:nvGrpSpPr>
              <p:cNvPr id="191" name="Grupo 190">
                <a:extLst>
                  <a:ext uri="{FF2B5EF4-FFF2-40B4-BE49-F238E27FC236}">
                    <a16:creationId xmlns:a16="http://schemas.microsoft.com/office/drawing/2014/main" id="{48E66DCB-D258-3DB1-AC5C-9585AF9E841A}"/>
                  </a:ext>
                </a:extLst>
              </p:cNvPr>
              <p:cNvGrpSpPr/>
              <p:nvPr/>
            </p:nvGrpSpPr>
            <p:grpSpPr>
              <a:xfrm>
                <a:off x="8845727" y="3127128"/>
                <a:ext cx="3008704" cy="1957609"/>
                <a:chOff x="7355504" y="1110832"/>
                <a:chExt cx="3008704" cy="1802169"/>
              </a:xfrm>
            </p:grpSpPr>
            <p:sp>
              <p:nvSpPr>
                <p:cNvPr id="194" name="Rectángulo 193">
                  <a:extLst>
                    <a:ext uri="{FF2B5EF4-FFF2-40B4-BE49-F238E27FC236}">
                      <a16:creationId xmlns:a16="http://schemas.microsoft.com/office/drawing/2014/main" id="{1E5BD6DB-06BD-6A9D-DF32-29F94F3170C6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368574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95" name="Grupo 194">
                  <a:extLst>
                    <a:ext uri="{FF2B5EF4-FFF2-40B4-BE49-F238E27FC236}">
                      <a16:creationId xmlns:a16="http://schemas.microsoft.com/office/drawing/2014/main" id="{B91FA493-45B0-D889-77C0-CE7037436D7D}"/>
                    </a:ext>
                  </a:extLst>
                </p:cNvPr>
                <p:cNvGrpSpPr/>
                <p:nvPr/>
              </p:nvGrpSpPr>
              <p:grpSpPr>
                <a:xfrm>
                  <a:off x="7355504" y="1207828"/>
                  <a:ext cx="3008704" cy="1705173"/>
                  <a:chOff x="2791083" y="1214528"/>
                  <a:chExt cx="3008704" cy="1705173"/>
                </a:xfrm>
              </p:grpSpPr>
              <p:sp>
                <p:nvSpPr>
                  <p:cNvPr id="197" name="CuadroTexto 196">
                    <a:extLst>
                      <a:ext uri="{FF2B5EF4-FFF2-40B4-BE49-F238E27FC236}">
                        <a16:creationId xmlns:a16="http://schemas.microsoft.com/office/drawing/2014/main" id="{BD31319E-42AC-02DD-FB47-3B5DD867819E}"/>
                      </a:ext>
                    </a:extLst>
                  </p:cNvPr>
                  <p:cNvSpPr txBox="1"/>
                  <p:nvPr/>
                </p:nvSpPr>
                <p:spPr>
                  <a:xfrm>
                    <a:off x="3225997" y="1214528"/>
                    <a:ext cx="2573790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Entidad Financieras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98" name="CuadroTexto 197">
                    <a:extLst>
                      <a:ext uri="{FF2B5EF4-FFF2-40B4-BE49-F238E27FC236}">
                        <a16:creationId xmlns:a16="http://schemas.microsoft.com/office/drawing/2014/main" id="{220BD7FB-4E33-2573-F094-831B3D75FE4E}"/>
                      </a:ext>
                    </a:extLst>
                  </p:cNvPr>
                  <p:cNvSpPr txBox="1"/>
                  <p:nvPr/>
                </p:nvSpPr>
                <p:spPr>
                  <a:xfrm>
                    <a:off x="2791083" y="2353025"/>
                    <a:ext cx="2440539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  15%</a:t>
                    </a: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      Hipoteca</a:t>
                    </a:r>
                  </a:p>
                </p:txBody>
              </p:sp>
            </p:grpSp>
          </p:grpSp>
          <p:sp>
            <p:nvSpPr>
              <p:cNvPr id="192" name="CuadroTexto 191">
                <a:extLst>
                  <a:ext uri="{FF2B5EF4-FFF2-40B4-BE49-F238E27FC236}">
                    <a16:creationId xmlns:a16="http://schemas.microsoft.com/office/drawing/2014/main" id="{5AB43C60-C0BD-6BA3-88DB-A4D9484F0508}"/>
                  </a:ext>
                </a:extLst>
              </p:cNvPr>
              <p:cNvSpPr txBox="1"/>
              <p:nvPr/>
            </p:nvSpPr>
            <p:spPr>
              <a:xfrm>
                <a:off x="9418597" y="3567846"/>
                <a:ext cx="1337256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28%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    Colsubsidio</a:t>
                </a:r>
              </a:p>
            </p:txBody>
          </p:sp>
          <p:sp>
            <p:nvSpPr>
              <p:cNvPr id="193" name="CuadroTexto 192">
                <a:extLst>
                  <a:ext uri="{FF2B5EF4-FFF2-40B4-BE49-F238E27FC236}">
                    <a16:creationId xmlns:a16="http://schemas.microsoft.com/office/drawing/2014/main" id="{7D52B503-F92B-50B5-81B2-581855E37D13}"/>
                  </a:ext>
                </a:extLst>
              </p:cNvPr>
              <p:cNvSpPr txBox="1"/>
              <p:nvPr/>
            </p:nvSpPr>
            <p:spPr>
              <a:xfrm>
                <a:off x="10498522" y="3549824"/>
                <a:ext cx="1244387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25%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Davivienda</a:t>
                </a:r>
              </a:p>
            </p:txBody>
          </p:sp>
        </p:grpSp>
        <p:sp>
          <p:nvSpPr>
            <p:cNvPr id="199" name="CuadroTexto 198">
              <a:extLst>
                <a:ext uri="{FF2B5EF4-FFF2-40B4-BE49-F238E27FC236}">
                  <a16:creationId xmlns:a16="http://schemas.microsoft.com/office/drawing/2014/main" id="{C2437CCE-CF3A-48FB-1E30-3784E868C610}"/>
                </a:ext>
              </a:extLst>
            </p:cNvPr>
            <p:cNvSpPr txBox="1"/>
            <p:nvPr/>
          </p:nvSpPr>
          <p:spPr>
            <a:xfrm>
              <a:off x="9366872" y="6140046"/>
              <a:ext cx="1323041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  32%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      Otros</a:t>
              </a:r>
            </a:p>
          </p:txBody>
        </p:sp>
      </p:grpSp>
      <p:pic>
        <p:nvPicPr>
          <p:cNvPr id="205" name="Imagen 204">
            <a:extLst>
              <a:ext uri="{FF2B5EF4-FFF2-40B4-BE49-F238E27FC236}">
                <a16:creationId xmlns:a16="http://schemas.microsoft.com/office/drawing/2014/main" id="{F3D74CCB-65E4-F783-B5B8-2B3115B5D8FC}"/>
              </a:ext>
            </a:extLst>
          </p:cNvPr>
          <p:cNvPicPr>
            <a:picLocks noChangeAspect="1"/>
          </p:cNvPicPr>
          <p:nvPr/>
        </p:nvPicPr>
        <p:blipFill>
          <a:blip r:embed="rId22">
            <a:duotone>
              <a:prstClr val="black"/>
              <a:schemeClr val="tx1">
                <a:lumMod val="75000"/>
                <a:lumOff val="2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4538" y="5846263"/>
            <a:ext cx="673981" cy="673981"/>
          </a:xfrm>
          <a:prstGeom prst="rect">
            <a:avLst/>
          </a:prstGeom>
        </p:spPr>
      </p:pic>
      <p:grpSp>
        <p:nvGrpSpPr>
          <p:cNvPr id="208" name="Grupo 207">
            <a:extLst>
              <a:ext uri="{FF2B5EF4-FFF2-40B4-BE49-F238E27FC236}">
                <a16:creationId xmlns:a16="http://schemas.microsoft.com/office/drawing/2014/main" id="{22FC83E3-BAFA-6F7D-20DC-616AC149F3DE}"/>
              </a:ext>
            </a:extLst>
          </p:cNvPr>
          <p:cNvGrpSpPr/>
          <p:nvPr/>
        </p:nvGrpSpPr>
        <p:grpSpPr>
          <a:xfrm>
            <a:off x="10245555" y="853892"/>
            <a:ext cx="1956550" cy="5540381"/>
            <a:chOff x="7793864" y="1110832"/>
            <a:chExt cx="1816602" cy="1780012"/>
          </a:xfrm>
        </p:grpSpPr>
        <p:sp>
          <p:nvSpPr>
            <p:cNvPr id="212" name="Rectángulo 211">
              <a:extLst>
                <a:ext uri="{FF2B5EF4-FFF2-40B4-BE49-F238E27FC236}">
                  <a16:creationId xmlns:a16="http://schemas.microsoft.com/office/drawing/2014/main" id="{A7AEEDF2-6E83-585D-77AB-F2093BB82A19}"/>
                </a:ext>
              </a:extLst>
            </p:cNvPr>
            <p:cNvSpPr/>
            <p:nvPr/>
          </p:nvSpPr>
          <p:spPr>
            <a:xfrm>
              <a:off x="7814360" y="1110832"/>
              <a:ext cx="1666611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5" name="CuadroTexto 214">
              <a:extLst>
                <a:ext uri="{FF2B5EF4-FFF2-40B4-BE49-F238E27FC236}">
                  <a16:creationId xmlns:a16="http://schemas.microsoft.com/office/drawing/2014/main" id="{8CF9B6D8-70AF-281F-F215-A5258E6A9EEA}"/>
                </a:ext>
              </a:extLst>
            </p:cNvPr>
            <p:cNvSpPr txBox="1"/>
            <p:nvPr/>
          </p:nvSpPr>
          <p:spPr>
            <a:xfrm>
              <a:off x="7793864" y="1161252"/>
              <a:ext cx="1816602" cy="1141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1600">
                  <a:solidFill>
                    <a:srgbClr val="FFC000"/>
                  </a:solidFill>
                  <a:latin typeface="KG Red Hands" panose="02000505000000020004" pitchFamily="2" charset="0"/>
                </a:rPr>
                <a:t>Top Empresas</a:t>
              </a:r>
              <a:endParaRPr lang="es-ES" sz="1600">
                <a:solidFill>
                  <a:srgbClr val="FFC000"/>
                </a:solidFill>
              </a:endParaRPr>
            </a:p>
          </p:txBody>
        </p:sp>
        <p:sp>
          <p:nvSpPr>
            <p:cNvPr id="214" name="CuadroTexto 213">
              <a:extLst>
                <a:ext uri="{FF2B5EF4-FFF2-40B4-BE49-F238E27FC236}">
                  <a16:creationId xmlns:a16="http://schemas.microsoft.com/office/drawing/2014/main" id="{2B126812-258F-963A-73DF-8A8B343757E6}"/>
                </a:ext>
              </a:extLst>
            </p:cNvPr>
            <p:cNvSpPr txBox="1"/>
            <p:nvPr/>
          </p:nvSpPr>
          <p:spPr>
            <a:xfrm>
              <a:off x="7830402" y="1354030"/>
              <a:ext cx="1689688" cy="3263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500" b="1" dirty="0">
                  <a:solidFill>
                    <a:schemeClr val="bg1"/>
                  </a:solidFill>
                </a:rPr>
                <a:t>JERONIMO MARTINS COLOMBI	2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COLOMBIANA DE COMERCIO	2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MEDICALL TALENTO HUMANO	2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COLSUBSIDIO	2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GMOVIL S A S	2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SANIMAX DE COLOMBIA SAS	1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MODANOVA S A S	1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JUAN DAVID GRACIA CUBILLOS	1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ALIANZA FIDUCIARIA S A	1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PINABEN MOVIL CARGO SAS	1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ALPINA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	                               </a:t>
              </a: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4E086717-901B-66BD-F4CE-C871D8526CB4}"/>
              </a:ext>
            </a:extLst>
          </p:cNvPr>
          <p:cNvSpPr txBox="1"/>
          <p:nvPr/>
        </p:nvSpPr>
        <p:spPr>
          <a:xfrm>
            <a:off x="6773529" y="4056451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2%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 Cinco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AF28E94-37A1-EE40-D101-68216B2EFCE6}"/>
              </a:ext>
            </a:extLst>
          </p:cNvPr>
          <p:cNvSpPr txBox="1"/>
          <p:nvPr/>
        </p:nvSpPr>
        <p:spPr>
          <a:xfrm>
            <a:off x="2430412" y="3951848"/>
            <a:ext cx="117290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2%</a:t>
            </a:r>
            <a:r>
              <a:rPr lang="es-CO" sz="1200" b="1" dirty="0">
                <a:solidFill>
                  <a:schemeClr val="bg1"/>
                </a:solidFill>
              </a:rPr>
              <a:t> Monoparental</a:t>
            </a:r>
          </a:p>
          <a:p>
            <a:r>
              <a:rPr lang="es-CO" sz="1200" b="1" dirty="0">
                <a:solidFill>
                  <a:schemeClr val="bg1"/>
                </a:solidFill>
              </a:rPr>
              <a:t>Ampliada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E4A2F20-C801-0EC4-80AD-51557C55A533}"/>
              </a:ext>
            </a:extLst>
          </p:cNvPr>
          <p:cNvSpPr txBox="1"/>
          <p:nvPr/>
        </p:nvSpPr>
        <p:spPr>
          <a:xfrm>
            <a:off x="3036371" y="5882432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1%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  Sibaté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ECF0082-3C9B-3DA6-0FFC-EEC09202CBE3}"/>
              </a:ext>
            </a:extLst>
          </p:cNvPr>
          <p:cNvSpPr txBox="1"/>
          <p:nvPr/>
        </p:nvSpPr>
        <p:spPr>
          <a:xfrm>
            <a:off x="10330342" y="6461181"/>
            <a:ext cx="14292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100" dirty="0">
                <a:solidFill>
                  <a:srgbClr val="FFC000"/>
                </a:solidFill>
                <a:latin typeface="KG Red Hands" panose="02000505000000020004" pitchFamily="2" charset="0"/>
              </a:rPr>
              <a:t>*Corte 15/01/2026</a:t>
            </a:r>
            <a:endParaRPr lang="es-ES" sz="11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2073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EFC87-EC32-749A-B483-272926916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83A5E095-A5CF-2763-21A5-23B162FD2277}"/>
              </a:ext>
            </a:extLst>
          </p:cNvPr>
          <p:cNvCxnSpPr>
            <a:cxnSpLocks/>
          </p:cNvCxnSpPr>
          <p:nvPr/>
        </p:nvCxnSpPr>
        <p:spPr>
          <a:xfrm flipH="1">
            <a:off x="0" y="645614"/>
            <a:ext cx="10809007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uadroTexto 85">
            <a:extLst>
              <a:ext uri="{FF2B5EF4-FFF2-40B4-BE49-F238E27FC236}">
                <a16:creationId xmlns:a16="http://schemas.microsoft.com/office/drawing/2014/main" id="{9CF8FAC8-5053-8E07-009E-37AEDDAE701D}"/>
              </a:ext>
            </a:extLst>
          </p:cNvPr>
          <p:cNvSpPr txBox="1"/>
          <p:nvPr/>
        </p:nvSpPr>
        <p:spPr>
          <a:xfrm>
            <a:off x="-128399" y="120715"/>
            <a:ext cx="95771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dirty="0">
                <a:solidFill>
                  <a:schemeClr val="bg1"/>
                </a:solidFill>
                <a:latin typeface="KG Red Hands" panose="02000505000000020004" pitchFamily="2" charset="0"/>
              </a:rPr>
              <a:t>      Abeto</a:t>
            </a:r>
            <a:endParaRPr lang="es-ES" sz="24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AAE5ED7-1DB7-4E3D-D0F5-F71A0D41C73C}"/>
              </a:ext>
              <a:ext uri="{147F2762-F138-4A5C-976F-8EAC2B608ADB}">
                <a16:predDERef xmlns:a16="http://schemas.microsoft.com/office/drawing/2014/main" pred="{95DEFF95-1524-40DB-8538-DE0C2D5BEC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3398838"/>
            <a:ext cx="555625" cy="49371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1004921-1BBA-CF04-523D-CDD4DE976410}"/>
              </a:ext>
              <a:ext uri="{147F2762-F138-4A5C-976F-8EAC2B608ADB}">
                <a16:predDERef xmlns:a16="http://schemas.microsoft.com/office/drawing/2014/main" pred="{95FFDEC5-E647-4E60-9FB8-32349ACC1E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087813"/>
            <a:ext cx="555625" cy="46196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338F71FC-1FF1-C1CC-BE41-5630200FC03B}"/>
              </a:ext>
              <a:ext uri="{147F2762-F138-4A5C-976F-8EAC2B608ADB}">
                <a16:predDERef xmlns:a16="http://schemas.microsoft.com/office/drawing/2014/main" pred="{D53D0C4A-FE71-44C0-97B3-1EA296D3DCE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814888"/>
            <a:ext cx="555625" cy="41116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065CF0A8-702D-5B8B-3623-83BF63E8CCEA}"/>
              </a:ext>
              <a:ext uri="{147F2762-F138-4A5C-976F-8EAC2B608ADB}">
                <a16:predDERef xmlns:a16="http://schemas.microsoft.com/office/drawing/2014/main" pred="{7008BA42-7365-4AD1-B913-F26820CE47E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1775" y="5427663"/>
            <a:ext cx="465138" cy="433387"/>
          </a:xfrm>
          <a:prstGeom prst="rect">
            <a:avLst/>
          </a:prstGeom>
        </p:spPr>
      </p:pic>
      <p:grpSp>
        <p:nvGrpSpPr>
          <p:cNvPr id="135" name="Grupo 134">
            <a:extLst>
              <a:ext uri="{FF2B5EF4-FFF2-40B4-BE49-F238E27FC236}">
                <a16:creationId xmlns:a16="http://schemas.microsoft.com/office/drawing/2014/main" id="{A61005EB-0F72-61AE-668B-AA799DE2230B}"/>
              </a:ext>
            </a:extLst>
          </p:cNvPr>
          <p:cNvGrpSpPr/>
          <p:nvPr/>
        </p:nvGrpSpPr>
        <p:grpSpPr>
          <a:xfrm>
            <a:off x="5564187" y="853892"/>
            <a:ext cx="2195988" cy="1780012"/>
            <a:chOff x="5353656" y="1110832"/>
            <a:chExt cx="2195988" cy="1780012"/>
          </a:xfrm>
        </p:grpSpPr>
        <p:sp>
          <p:nvSpPr>
            <p:cNvPr id="58" name="Rectángulo 57">
              <a:extLst>
                <a:ext uri="{FF2B5EF4-FFF2-40B4-BE49-F238E27FC236}">
                  <a16:creationId xmlns:a16="http://schemas.microsoft.com/office/drawing/2014/main" id="{D1AA2E32-FE55-679A-B71B-F4D605D023E0}"/>
                </a:ext>
              </a:extLst>
            </p:cNvPr>
            <p:cNvSpPr/>
            <p:nvPr/>
          </p:nvSpPr>
          <p:spPr>
            <a:xfrm>
              <a:off x="5353656" y="1110832"/>
              <a:ext cx="2195987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43" name="Grupo 42">
              <a:extLst>
                <a:ext uri="{FF2B5EF4-FFF2-40B4-BE49-F238E27FC236}">
                  <a16:creationId xmlns:a16="http://schemas.microsoft.com/office/drawing/2014/main" id="{948C6B1C-CA6D-6449-7650-16590748992A}"/>
                </a:ext>
              </a:extLst>
            </p:cNvPr>
            <p:cNvGrpSpPr/>
            <p:nvPr/>
          </p:nvGrpSpPr>
          <p:grpSpPr>
            <a:xfrm>
              <a:off x="5353657" y="1223137"/>
              <a:ext cx="2083693" cy="1630468"/>
              <a:chOff x="3249940" y="1229837"/>
              <a:chExt cx="2083693" cy="1630468"/>
            </a:xfrm>
          </p:grpSpPr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1F8F853E-5FFD-AAF3-B210-66723D0A0A46}"/>
                  </a:ext>
                </a:extLst>
              </p:cNvPr>
              <p:cNvSpPr txBox="1"/>
              <p:nvPr/>
            </p:nvSpPr>
            <p:spPr>
              <a:xfrm>
                <a:off x="3552927" y="1229837"/>
                <a:ext cx="178070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Rango Salario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0251EDAF-F1CC-AB97-6435-C113F9D03558}"/>
                  </a:ext>
                </a:extLst>
              </p:cNvPr>
              <p:cNvSpPr txBox="1"/>
              <p:nvPr/>
            </p:nvSpPr>
            <p:spPr>
              <a:xfrm>
                <a:off x="3249940" y="2306307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0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Hasta 2 </a:t>
                </a:r>
                <a:r>
                  <a:rPr lang="es-CO" sz="1200" b="1" dirty="0" err="1">
                    <a:solidFill>
                      <a:schemeClr val="bg1"/>
                    </a:solidFill>
                  </a:rPr>
                  <a:t>smlv</a:t>
                </a:r>
                <a:endParaRPr lang="es-CO" sz="12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53" name="Imagen 52">
              <a:extLst>
                <a:ext uri="{FF2B5EF4-FFF2-40B4-BE49-F238E27FC236}">
                  <a16:creationId xmlns:a16="http://schemas.microsoft.com/office/drawing/2014/main" id="{9F8EE858-1E36-E087-E4E1-817989F9C20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12042" y="1623254"/>
              <a:ext cx="641350" cy="641350"/>
            </a:xfrm>
            <a:prstGeom prst="rect">
              <a:avLst/>
            </a:prstGeom>
          </p:spPr>
        </p:pic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1F12470A-7E36-9798-7EE8-79F439286225}"/>
                </a:ext>
              </a:extLst>
            </p:cNvPr>
            <p:cNvSpPr txBox="1"/>
            <p:nvPr/>
          </p:nvSpPr>
          <p:spPr>
            <a:xfrm>
              <a:off x="6376735" y="2289285"/>
              <a:ext cx="1172909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50</a:t>
              </a:r>
              <a:r>
                <a:rPr lang="es-CO" sz="18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Mas de 2 </a:t>
              </a:r>
              <a:r>
                <a:rPr lang="es-CO" sz="1200" b="1" dirty="0" err="1">
                  <a:solidFill>
                    <a:schemeClr val="bg1"/>
                  </a:solidFill>
                </a:rPr>
                <a:t>smlv</a:t>
              </a:r>
              <a:endParaRPr lang="es-CO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2FDDFC89-3206-3179-6FA0-C121C61DF058}"/>
              </a:ext>
            </a:extLst>
          </p:cNvPr>
          <p:cNvGrpSpPr/>
          <p:nvPr/>
        </p:nvGrpSpPr>
        <p:grpSpPr>
          <a:xfrm>
            <a:off x="3320687" y="874756"/>
            <a:ext cx="1941094" cy="1759148"/>
            <a:chOff x="3224463" y="1110832"/>
            <a:chExt cx="1941094" cy="1759148"/>
          </a:xfrm>
        </p:grpSpPr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0DAA708E-F656-C114-9F3B-3B099E34BFA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36596" y="1677993"/>
              <a:ext cx="721895" cy="721895"/>
            </a:xfrm>
            <a:prstGeom prst="rect">
              <a:avLst/>
            </a:prstGeom>
          </p:spPr>
        </p:pic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26B65881-FDAC-F652-6620-01831DC48D8D}"/>
                </a:ext>
              </a:extLst>
            </p:cNvPr>
            <p:cNvGrpSpPr/>
            <p:nvPr/>
          </p:nvGrpSpPr>
          <p:grpSpPr>
            <a:xfrm>
              <a:off x="3420553" y="1223137"/>
              <a:ext cx="1609350" cy="1516670"/>
              <a:chOff x="3420553" y="1223137"/>
              <a:chExt cx="1609350" cy="1516670"/>
            </a:xfrm>
          </p:grpSpPr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E5AAE3B2-4F12-E2E0-CF09-53969776EC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74608" y="1613811"/>
                <a:ext cx="723600" cy="723600"/>
              </a:xfrm>
              <a:prstGeom prst="rect">
                <a:avLst/>
              </a:prstGeom>
            </p:spPr>
          </p:pic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101E8155-8A7C-0EC0-733C-A1372F9134A0}"/>
                  </a:ext>
                </a:extLst>
              </p:cNvPr>
              <p:cNvSpPr txBox="1"/>
              <p:nvPr/>
            </p:nvSpPr>
            <p:spPr>
              <a:xfrm>
                <a:off x="3685253" y="1223137"/>
                <a:ext cx="1098946" cy="345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Género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CF4FADD5-FB48-681C-75E2-6BFADB92AC4F}"/>
                  </a:ext>
                </a:extLst>
              </p:cNvPr>
              <p:cNvSpPr txBox="1"/>
              <p:nvPr/>
            </p:nvSpPr>
            <p:spPr>
              <a:xfrm>
                <a:off x="3420553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50%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9C141843-991D-2954-8752-1B051B778A1C}"/>
                  </a:ext>
                </a:extLst>
              </p:cNvPr>
              <p:cNvSpPr txBox="1"/>
              <p:nvPr/>
            </p:nvSpPr>
            <p:spPr>
              <a:xfrm>
                <a:off x="4308008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</a:t>
                </a:r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0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</p:grp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582D0B4F-7BC7-5B4C-725A-DDF9B436FEEB}"/>
                </a:ext>
              </a:extLst>
            </p:cNvPr>
            <p:cNvSpPr/>
            <p:nvPr/>
          </p:nvSpPr>
          <p:spPr>
            <a:xfrm>
              <a:off x="3224463" y="1110832"/>
              <a:ext cx="1941094" cy="175914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78" name="CuadroTexto 77">
            <a:extLst>
              <a:ext uri="{FF2B5EF4-FFF2-40B4-BE49-F238E27FC236}">
                <a16:creationId xmlns:a16="http://schemas.microsoft.com/office/drawing/2014/main" id="{A2469BCE-B723-A261-8A30-72DE4EFCA40E}"/>
              </a:ext>
            </a:extLst>
          </p:cNvPr>
          <p:cNvSpPr txBox="1"/>
          <p:nvPr/>
        </p:nvSpPr>
        <p:spPr>
          <a:xfrm>
            <a:off x="1376075" y="3222417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50%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Joven</a:t>
            </a:r>
          </a:p>
        </p:txBody>
      </p: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15299A91-D150-25D8-DDC1-FDFAD985977B}"/>
              </a:ext>
            </a:extLst>
          </p:cNvPr>
          <p:cNvGrpSpPr/>
          <p:nvPr/>
        </p:nvGrpSpPr>
        <p:grpSpPr>
          <a:xfrm>
            <a:off x="-155207" y="2771278"/>
            <a:ext cx="2688149" cy="1998661"/>
            <a:chOff x="435343" y="3108160"/>
            <a:chExt cx="2688149" cy="1998661"/>
          </a:xfrm>
        </p:grpSpPr>
        <p:grpSp>
          <p:nvGrpSpPr>
            <p:cNvPr id="69" name="Grupo 68">
              <a:extLst>
                <a:ext uri="{FF2B5EF4-FFF2-40B4-BE49-F238E27FC236}">
                  <a16:creationId xmlns:a16="http://schemas.microsoft.com/office/drawing/2014/main" id="{F38FDB42-BDD3-03D5-8B76-BE022ED87A0B}"/>
                </a:ext>
              </a:extLst>
            </p:cNvPr>
            <p:cNvGrpSpPr/>
            <p:nvPr/>
          </p:nvGrpSpPr>
          <p:grpSpPr>
            <a:xfrm>
              <a:off x="457829" y="3108160"/>
              <a:ext cx="2665663" cy="1998661"/>
              <a:chOff x="7590765" y="1110832"/>
              <a:chExt cx="2665663" cy="1822499"/>
            </a:xfrm>
          </p:grpSpPr>
          <p:sp>
            <p:nvSpPr>
              <p:cNvPr id="70" name="Rectángulo 69">
                <a:extLst>
                  <a:ext uri="{FF2B5EF4-FFF2-40B4-BE49-F238E27FC236}">
                    <a16:creationId xmlns:a16="http://schemas.microsoft.com/office/drawing/2014/main" id="{E47841F9-0D3B-788F-789B-CFAD3BD9642D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71" name="Grupo 70">
                <a:extLst>
                  <a:ext uri="{FF2B5EF4-FFF2-40B4-BE49-F238E27FC236}">
                    <a16:creationId xmlns:a16="http://schemas.microsoft.com/office/drawing/2014/main" id="{0DB65300-E2E3-4334-D73E-EA4EA4015C1E}"/>
                  </a:ext>
                </a:extLst>
              </p:cNvPr>
              <p:cNvGrpSpPr/>
              <p:nvPr/>
            </p:nvGrpSpPr>
            <p:grpSpPr>
              <a:xfrm>
                <a:off x="7590765" y="1223137"/>
                <a:ext cx="2024519" cy="1655939"/>
                <a:chOff x="3026344" y="1229837"/>
                <a:chExt cx="2024519" cy="1655939"/>
              </a:xfrm>
            </p:grpSpPr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58E12674-A573-4CE0-1674-CEFAD5B95DD3}"/>
                    </a:ext>
                  </a:extLst>
                </p:cNvPr>
                <p:cNvSpPr txBox="1"/>
                <p:nvPr/>
              </p:nvSpPr>
              <p:spPr>
                <a:xfrm>
                  <a:off x="3645002" y="1229837"/>
                  <a:ext cx="1405861" cy="3087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Segmento 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323AC1C5-FFD4-B545-F17C-8D9D16A99EFF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12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0%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Básico</a:t>
                  </a:r>
                </a:p>
              </p:txBody>
            </p:sp>
          </p:grpSp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F7238E32-34CE-8195-21C4-91AD650AD84F}"/>
                  </a:ext>
                </a:extLst>
              </p:cNvPr>
              <p:cNvSpPr txBox="1"/>
              <p:nvPr/>
            </p:nvSpPr>
            <p:spPr>
              <a:xfrm>
                <a:off x="9083519" y="231777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0%</a:t>
                </a:r>
              </a:p>
              <a:p>
                <a:r>
                  <a:rPr lang="es-CO" sz="1400" b="1">
                    <a:solidFill>
                      <a:schemeClr val="bg1"/>
                    </a:solidFill>
                  </a:rPr>
                  <a:t>       Alto</a:t>
                </a:r>
              </a:p>
            </p:txBody>
          </p:sp>
        </p:grpSp>
        <p:sp>
          <p:nvSpPr>
            <p:cNvPr id="77" name="CuadroTexto 76">
              <a:extLst>
                <a:ext uri="{FF2B5EF4-FFF2-40B4-BE49-F238E27FC236}">
                  <a16:creationId xmlns:a16="http://schemas.microsoft.com/office/drawing/2014/main" id="{ACE770C6-AA1D-EC8F-6D1E-3AD691BA6F60}"/>
                </a:ext>
              </a:extLst>
            </p:cNvPr>
            <p:cNvSpPr txBox="1"/>
            <p:nvPr/>
          </p:nvSpPr>
          <p:spPr>
            <a:xfrm>
              <a:off x="435343" y="3559299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50%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Medio</a:t>
              </a:r>
            </a:p>
          </p:txBody>
        </p:sp>
        <p:pic>
          <p:nvPicPr>
            <p:cNvPr id="80" name="Imagen 79">
              <a:extLst>
                <a:ext uri="{FF2B5EF4-FFF2-40B4-BE49-F238E27FC236}">
                  <a16:creationId xmlns:a16="http://schemas.microsoft.com/office/drawing/2014/main" id="{51EF8416-C923-0FCB-053B-6DA83982F3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LineDrawing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90862" y="3871141"/>
              <a:ext cx="680857" cy="680857"/>
            </a:xfrm>
            <a:prstGeom prst="rect">
              <a:avLst/>
            </a:prstGeom>
          </p:spPr>
        </p:pic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CC4257FF-D377-2971-7EB2-99EB0BF8B7F9}"/>
              </a:ext>
            </a:extLst>
          </p:cNvPr>
          <p:cNvGrpSpPr/>
          <p:nvPr/>
        </p:nvGrpSpPr>
        <p:grpSpPr>
          <a:xfrm>
            <a:off x="2169335" y="2774370"/>
            <a:ext cx="3284086" cy="1982993"/>
            <a:chOff x="2759885" y="3111252"/>
            <a:chExt cx="3284086" cy="1982993"/>
          </a:xfrm>
        </p:grpSpPr>
        <p:sp>
          <p:nvSpPr>
            <p:cNvPr id="88" name="CuadroTexto 87">
              <a:extLst>
                <a:ext uri="{FF2B5EF4-FFF2-40B4-BE49-F238E27FC236}">
                  <a16:creationId xmlns:a16="http://schemas.microsoft.com/office/drawing/2014/main" id="{DD1EDC35-C226-D17F-EC8B-C6FF692BC139}"/>
                </a:ext>
              </a:extLst>
            </p:cNvPr>
            <p:cNvSpPr txBox="1"/>
            <p:nvPr/>
          </p:nvSpPr>
          <p:spPr>
            <a:xfrm>
              <a:off x="2759885" y="3531697"/>
              <a:ext cx="154680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   100%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             Sin Grupo</a:t>
              </a:r>
            </a:p>
          </p:txBody>
        </p:sp>
        <p:grpSp>
          <p:nvGrpSpPr>
            <p:cNvPr id="124" name="Grupo 123">
              <a:extLst>
                <a:ext uri="{FF2B5EF4-FFF2-40B4-BE49-F238E27FC236}">
                  <a16:creationId xmlns:a16="http://schemas.microsoft.com/office/drawing/2014/main" id="{BEBF9B7D-1C49-DFB1-B846-AF00046C7628}"/>
                </a:ext>
              </a:extLst>
            </p:cNvPr>
            <p:cNvGrpSpPr/>
            <p:nvPr/>
          </p:nvGrpSpPr>
          <p:grpSpPr>
            <a:xfrm>
              <a:off x="2827705" y="3111252"/>
              <a:ext cx="3216266" cy="1982993"/>
              <a:chOff x="2827705" y="3111252"/>
              <a:chExt cx="3216266" cy="1982993"/>
            </a:xfrm>
          </p:grpSpPr>
          <p:grpSp>
            <p:nvGrpSpPr>
              <p:cNvPr id="81" name="Grupo 80">
                <a:extLst>
                  <a:ext uri="{FF2B5EF4-FFF2-40B4-BE49-F238E27FC236}">
                    <a16:creationId xmlns:a16="http://schemas.microsoft.com/office/drawing/2014/main" id="{DCB45F87-137C-FDD2-FF1E-68DB10D2ED6F}"/>
                  </a:ext>
                </a:extLst>
              </p:cNvPr>
              <p:cNvGrpSpPr/>
              <p:nvPr/>
            </p:nvGrpSpPr>
            <p:grpSpPr>
              <a:xfrm>
                <a:off x="2827705" y="3111252"/>
                <a:ext cx="3216266" cy="1963483"/>
                <a:chOff x="7593779" y="1110832"/>
                <a:chExt cx="3216266" cy="1780012"/>
              </a:xfrm>
            </p:grpSpPr>
            <p:sp>
              <p:nvSpPr>
                <p:cNvPr id="82" name="Rectángulo 81">
                  <a:extLst>
                    <a:ext uri="{FF2B5EF4-FFF2-40B4-BE49-F238E27FC236}">
                      <a16:creationId xmlns:a16="http://schemas.microsoft.com/office/drawing/2014/main" id="{1A6B77EF-DEDA-2C8F-9D68-3E29751083F9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808386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83" name="Grupo 82">
                  <a:extLst>
                    <a:ext uri="{FF2B5EF4-FFF2-40B4-BE49-F238E27FC236}">
                      <a16:creationId xmlns:a16="http://schemas.microsoft.com/office/drawing/2014/main" id="{6954D190-77A6-2562-B3EE-0F6C794DB063}"/>
                    </a:ext>
                  </a:extLst>
                </p:cNvPr>
                <p:cNvGrpSpPr/>
                <p:nvPr/>
              </p:nvGrpSpPr>
              <p:grpSpPr>
                <a:xfrm>
                  <a:off x="7593779" y="1166870"/>
                  <a:ext cx="2748715" cy="1491072"/>
                  <a:chOff x="3029358" y="1173570"/>
                  <a:chExt cx="2748715" cy="1491072"/>
                </a:xfrm>
              </p:grpSpPr>
              <p:sp>
                <p:nvSpPr>
                  <p:cNvPr id="85" name="CuadroTexto 84">
                    <a:extLst>
                      <a:ext uri="{FF2B5EF4-FFF2-40B4-BE49-F238E27FC236}">
                        <a16:creationId xmlns:a16="http://schemas.microsoft.com/office/drawing/2014/main" id="{29994129-2340-EAA8-8D7C-15F12356E313}"/>
                      </a:ext>
                    </a:extLst>
                  </p:cNvPr>
                  <p:cNvSpPr txBox="1"/>
                  <p:nvPr/>
                </p:nvSpPr>
                <p:spPr>
                  <a:xfrm>
                    <a:off x="3634807" y="1173570"/>
                    <a:ext cx="2143266" cy="30691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Segmento Familia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87" name="CuadroTexto 86">
                    <a:extLst>
                      <a:ext uri="{FF2B5EF4-FFF2-40B4-BE49-F238E27FC236}">
                        <a16:creationId xmlns:a16="http://schemas.microsoft.com/office/drawing/2014/main" id="{5ECC3576-BEAB-8908-3A8D-827A33338DEE}"/>
                      </a:ext>
                    </a:extLst>
                  </p:cNvPr>
                  <p:cNvSpPr txBox="1"/>
                  <p:nvPr/>
                </p:nvSpPr>
                <p:spPr>
                  <a:xfrm>
                    <a:off x="3029358" y="1995000"/>
                    <a:ext cx="1923771" cy="66964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 0</a:t>
                    </a:r>
                    <a:r>
                      <a:rPr lang="es-CO" sz="18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%</a:t>
                    </a:r>
                  </a:p>
                  <a:p>
                    <a:r>
                      <a:rPr lang="es-CO" sz="1200" b="1" dirty="0">
                        <a:solidFill>
                          <a:schemeClr val="bg1"/>
                        </a:solidFill>
                      </a:rPr>
                      <a:t>      Monoparental</a:t>
                    </a:r>
                  </a:p>
                  <a:p>
                    <a:r>
                      <a:rPr lang="es-CO" sz="1200" b="1" dirty="0">
                        <a:solidFill>
                          <a:schemeClr val="bg1"/>
                        </a:solidFill>
                      </a:rPr>
                      <a:t>      Ampliada</a:t>
                    </a:r>
                  </a:p>
                </p:txBody>
              </p:sp>
            </p:grpSp>
            <p:sp>
              <p:nvSpPr>
                <p:cNvPr id="84" name="CuadroTexto 83">
                  <a:extLst>
                    <a:ext uri="{FF2B5EF4-FFF2-40B4-BE49-F238E27FC236}">
                      <a16:creationId xmlns:a16="http://schemas.microsoft.com/office/drawing/2014/main" id="{23D39514-5C3F-CE05-DC75-8163A4254A13}"/>
                    </a:ext>
                  </a:extLst>
                </p:cNvPr>
                <p:cNvSpPr txBox="1"/>
                <p:nvPr/>
              </p:nvSpPr>
              <p:spPr>
                <a:xfrm>
                  <a:off x="9185077" y="1973757"/>
                  <a:ext cx="1624968" cy="5022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        0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 Nuclear Integrada</a:t>
                  </a:r>
                </a:p>
              </p:txBody>
            </p:sp>
          </p:grpSp>
          <p:sp>
            <p:nvSpPr>
              <p:cNvPr id="89" name="CuadroTexto 88">
                <a:extLst>
                  <a:ext uri="{FF2B5EF4-FFF2-40B4-BE49-F238E27FC236}">
                    <a16:creationId xmlns:a16="http://schemas.microsoft.com/office/drawing/2014/main" id="{7A01486C-BED6-1821-6774-A974D422C221}"/>
                  </a:ext>
                </a:extLst>
              </p:cNvPr>
              <p:cNvSpPr txBox="1"/>
              <p:nvPr/>
            </p:nvSpPr>
            <p:spPr>
              <a:xfrm>
                <a:off x="4771770" y="3534141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0%</a:t>
                </a:r>
                <a:r>
                  <a:rPr lang="es-CO" sz="1200" b="1" dirty="0">
                    <a:solidFill>
                      <a:schemeClr val="bg1"/>
                    </a:solidFill>
                  </a:rPr>
                  <a:t> Monoparental</a:t>
                </a:r>
              </a:p>
            </p:txBody>
          </p:sp>
          <p:sp>
            <p:nvSpPr>
              <p:cNvPr id="90" name="CuadroTexto 89">
                <a:extLst>
                  <a:ext uri="{FF2B5EF4-FFF2-40B4-BE49-F238E27FC236}">
                    <a16:creationId xmlns:a16="http://schemas.microsoft.com/office/drawing/2014/main" id="{10912F43-48A6-ABD7-4BB5-5FBC8E59B28D}"/>
                  </a:ext>
                </a:extLst>
              </p:cNvPr>
              <p:cNvSpPr txBox="1"/>
              <p:nvPr/>
            </p:nvSpPr>
            <p:spPr>
              <a:xfrm>
                <a:off x="3737744" y="4540247"/>
                <a:ext cx="1546807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0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  Pareja Conyugal</a:t>
                </a:r>
              </a:p>
            </p:txBody>
          </p:sp>
          <p:pic>
            <p:nvPicPr>
              <p:cNvPr id="92" name="Imagen 91">
                <a:extLst>
                  <a:ext uri="{FF2B5EF4-FFF2-40B4-BE49-F238E27FC236}">
                    <a16:creationId xmlns:a16="http://schemas.microsoft.com/office/drawing/2014/main" id="{F7FF2B27-8EB0-6A29-E0DC-E1FED2FF28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artisticGlowDiffused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075298" y="3571709"/>
                <a:ext cx="754362" cy="754362"/>
              </a:xfrm>
              <a:prstGeom prst="rect">
                <a:avLst/>
              </a:prstGeom>
            </p:spPr>
          </p:pic>
        </p:grp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C85F40E9-141A-896B-1ECC-4285DD6457DA}"/>
              </a:ext>
            </a:extLst>
          </p:cNvPr>
          <p:cNvGrpSpPr/>
          <p:nvPr/>
        </p:nvGrpSpPr>
        <p:grpSpPr>
          <a:xfrm>
            <a:off x="90873" y="847081"/>
            <a:ext cx="3094159" cy="1780012"/>
            <a:chOff x="681423" y="1183963"/>
            <a:chExt cx="3094159" cy="1780012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67D5D627-56E8-FB71-A9E3-B0BCAE776461}"/>
                </a:ext>
              </a:extLst>
            </p:cNvPr>
            <p:cNvSpPr txBox="1"/>
            <p:nvPr/>
          </p:nvSpPr>
          <p:spPr>
            <a:xfrm>
              <a:off x="942955" y="1217834"/>
              <a:ext cx="2376943" cy="16927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s-CO" sz="2000" b="1" dirty="0">
                <a:solidFill>
                  <a:srgbClr val="FFC000"/>
                </a:solidFill>
              </a:endParaRP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Afiliado     </a:t>
              </a:r>
              <a:r>
                <a:rPr lang="es-CO" sz="2800" b="1" dirty="0">
                  <a:solidFill>
                    <a:srgbClr val="FFC000"/>
                  </a:solidFill>
                </a:rPr>
                <a:t>   </a:t>
              </a:r>
              <a:r>
                <a:rPr lang="es-CO" sz="2800" b="1" dirty="0">
                  <a:solidFill>
                    <a:schemeClr val="bg1"/>
                  </a:solidFill>
                </a:rPr>
                <a:t>40%</a:t>
              </a: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No Afilado   </a:t>
              </a:r>
              <a:r>
                <a:rPr lang="es-CO" sz="2800" b="1" dirty="0">
                  <a:solidFill>
                    <a:schemeClr val="bg1"/>
                  </a:solidFill>
                </a:rPr>
                <a:t>60%</a:t>
              </a:r>
            </a:p>
            <a:p>
              <a:endParaRPr lang="es-ES" sz="28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05" name="Rectángulo 104">
              <a:extLst>
                <a:ext uri="{FF2B5EF4-FFF2-40B4-BE49-F238E27FC236}">
                  <a16:creationId xmlns:a16="http://schemas.microsoft.com/office/drawing/2014/main" id="{62901E7C-F95A-9724-9A61-B345455F3FD9}"/>
                </a:ext>
              </a:extLst>
            </p:cNvPr>
            <p:cNvSpPr/>
            <p:nvPr/>
          </p:nvSpPr>
          <p:spPr>
            <a:xfrm>
              <a:off x="681423" y="1183963"/>
              <a:ext cx="3094159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20" name="Grupo 119">
            <a:extLst>
              <a:ext uri="{FF2B5EF4-FFF2-40B4-BE49-F238E27FC236}">
                <a16:creationId xmlns:a16="http://schemas.microsoft.com/office/drawing/2014/main" id="{5C6B17B4-6E8A-237A-E389-CA65E4A73CC0}"/>
              </a:ext>
            </a:extLst>
          </p:cNvPr>
          <p:cNvGrpSpPr/>
          <p:nvPr/>
        </p:nvGrpSpPr>
        <p:grpSpPr>
          <a:xfrm>
            <a:off x="7777183" y="2775745"/>
            <a:ext cx="2623981" cy="1933541"/>
            <a:chOff x="9059295" y="3127128"/>
            <a:chExt cx="2623981" cy="1933541"/>
          </a:xfrm>
        </p:grpSpPr>
        <p:grpSp>
          <p:nvGrpSpPr>
            <p:cNvPr id="106" name="Grupo 105">
              <a:extLst>
                <a:ext uri="{FF2B5EF4-FFF2-40B4-BE49-F238E27FC236}">
                  <a16:creationId xmlns:a16="http://schemas.microsoft.com/office/drawing/2014/main" id="{D095F977-E6AB-C1AA-0CDF-1B91D284E946}"/>
                </a:ext>
              </a:extLst>
            </p:cNvPr>
            <p:cNvGrpSpPr/>
            <p:nvPr/>
          </p:nvGrpSpPr>
          <p:grpSpPr>
            <a:xfrm>
              <a:off x="9080988" y="3127128"/>
              <a:ext cx="2601495" cy="1933541"/>
              <a:chOff x="7590765" y="1110832"/>
              <a:chExt cx="2601495" cy="1780012"/>
            </a:xfrm>
          </p:grpSpPr>
          <p:sp>
            <p:nvSpPr>
              <p:cNvPr id="107" name="Rectángulo 106">
                <a:extLst>
                  <a:ext uri="{FF2B5EF4-FFF2-40B4-BE49-F238E27FC236}">
                    <a16:creationId xmlns:a16="http://schemas.microsoft.com/office/drawing/2014/main" id="{2AC91FBF-E6CE-D0FA-51FC-8E2CB2B12673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108" name="Grupo 107">
                <a:extLst>
                  <a:ext uri="{FF2B5EF4-FFF2-40B4-BE49-F238E27FC236}">
                    <a16:creationId xmlns:a16="http://schemas.microsoft.com/office/drawing/2014/main" id="{9E035105-B454-A4D3-E780-6FAF74042A17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2191150" cy="1678227"/>
                <a:chOff x="3026344" y="1212927"/>
                <a:chExt cx="2191150" cy="1678227"/>
              </a:xfrm>
            </p:grpSpPr>
            <p:sp>
              <p:nvSpPr>
                <p:cNvPr id="110" name="CuadroTexto 109">
                  <a:extLst>
                    <a:ext uri="{FF2B5EF4-FFF2-40B4-BE49-F238E27FC236}">
                      <a16:creationId xmlns:a16="http://schemas.microsoft.com/office/drawing/2014/main" id="{F349B2BE-822B-ACD1-774C-340014769228}"/>
                    </a:ext>
                  </a:extLst>
                </p:cNvPr>
                <p:cNvSpPr txBox="1"/>
                <p:nvPr/>
              </p:nvSpPr>
              <p:spPr>
                <a:xfrm>
                  <a:off x="3811633" y="1212927"/>
                  <a:ext cx="140586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Estrato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11" name="CuadroTexto 110">
                  <a:extLst>
                    <a:ext uri="{FF2B5EF4-FFF2-40B4-BE49-F238E27FC236}">
                      <a16:creationId xmlns:a16="http://schemas.microsoft.com/office/drawing/2014/main" id="{AD66118D-7F84-2669-54DF-F22919D7229D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50%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  <p:sp>
            <p:nvSpPr>
              <p:cNvPr id="109" name="CuadroTexto 108">
                <a:extLst>
                  <a:ext uri="{FF2B5EF4-FFF2-40B4-BE49-F238E27FC236}">
                    <a16:creationId xmlns:a16="http://schemas.microsoft.com/office/drawing/2014/main" id="{7A02F123-0FD8-C2D6-504E-B54E1CBB24A0}"/>
                  </a:ext>
                </a:extLst>
              </p:cNvPr>
              <p:cNvSpPr txBox="1"/>
              <p:nvPr/>
            </p:nvSpPr>
            <p:spPr>
              <a:xfrm>
                <a:off x="9019351" y="2317778"/>
                <a:ext cx="1172909" cy="566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0%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Cuatro</a:t>
                </a:r>
              </a:p>
            </p:txBody>
          </p:sp>
        </p:grpSp>
        <p:sp>
          <p:nvSpPr>
            <p:cNvPr id="112" name="CuadroTexto 111">
              <a:extLst>
                <a:ext uri="{FF2B5EF4-FFF2-40B4-BE49-F238E27FC236}">
                  <a16:creationId xmlns:a16="http://schemas.microsoft.com/office/drawing/2014/main" id="{601C0103-2F58-935E-DEC0-E1AFAF20F50B}"/>
                </a:ext>
              </a:extLst>
            </p:cNvPr>
            <p:cNvSpPr txBox="1"/>
            <p:nvPr/>
          </p:nvSpPr>
          <p:spPr>
            <a:xfrm>
              <a:off x="9059295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0%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Uno</a:t>
              </a:r>
            </a:p>
          </p:txBody>
        </p:sp>
        <p:sp>
          <p:nvSpPr>
            <p:cNvPr id="113" name="CuadroTexto 112">
              <a:extLst>
                <a:ext uri="{FF2B5EF4-FFF2-40B4-BE49-F238E27FC236}">
                  <a16:creationId xmlns:a16="http://schemas.microsoft.com/office/drawing/2014/main" id="{201EBD04-1C56-0431-EEF6-1243D419C0A0}"/>
                </a:ext>
              </a:extLst>
            </p:cNvPr>
            <p:cNvSpPr txBox="1"/>
            <p:nvPr/>
          </p:nvSpPr>
          <p:spPr>
            <a:xfrm>
              <a:off x="10510367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0%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Dos</a:t>
              </a:r>
            </a:p>
          </p:txBody>
        </p:sp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CA623807-DE84-435D-AB99-7CC09DBCF2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artisticPencilGrayscale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043317" y="3855923"/>
              <a:ext cx="655939" cy="655939"/>
            </a:xfrm>
            <a:prstGeom prst="rect">
              <a:avLst/>
            </a:prstGeom>
          </p:spPr>
        </p:pic>
      </p:grp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11E9A762-47A5-9E38-03A1-3D0DD208AB5C}"/>
              </a:ext>
            </a:extLst>
          </p:cNvPr>
          <p:cNvSpPr txBox="1"/>
          <p:nvPr/>
        </p:nvSpPr>
        <p:spPr>
          <a:xfrm>
            <a:off x="5289967" y="3228845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100%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 Cero</a:t>
            </a:r>
          </a:p>
        </p:txBody>
      </p:sp>
      <p:grpSp>
        <p:nvGrpSpPr>
          <p:cNvPr id="123" name="Grupo 122">
            <a:extLst>
              <a:ext uri="{FF2B5EF4-FFF2-40B4-BE49-F238E27FC236}">
                <a16:creationId xmlns:a16="http://schemas.microsoft.com/office/drawing/2014/main" id="{1643D246-70F3-8F99-C25B-2556280D5B5B}"/>
              </a:ext>
            </a:extLst>
          </p:cNvPr>
          <p:cNvGrpSpPr/>
          <p:nvPr/>
        </p:nvGrpSpPr>
        <p:grpSpPr>
          <a:xfrm>
            <a:off x="5340592" y="2790246"/>
            <a:ext cx="2602288" cy="1933542"/>
            <a:chOff x="5931142" y="3127128"/>
            <a:chExt cx="2602288" cy="1933542"/>
          </a:xfrm>
        </p:grpSpPr>
        <p:grpSp>
          <p:nvGrpSpPr>
            <p:cNvPr id="93" name="Grupo 92">
              <a:extLst>
                <a:ext uri="{FF2B5EF4-FFF2-40B4-BE49-F238E27FC236}">
                  <a16:creationId xmlns:a16="http://schemas.microsoft.com/office/drawing/2014/main" id="{965BD600-ADC5-DF4C-9F00-0CE172D648D8}"/>
                </a:ext>
              </a:extLst>
            </p:cNvPr>
            <p:cNvGrpSpPr/>
            <p:nvPr/>
          </p:nvGrpSpPr>
          <p:grpSpPr>
            <a:xfrm>
              <a:off x="5931142" y="3127128"/>
              <a:ext cx="2601495" cy="1933542"/>
              <a:chOff x="7590765" y="1110832"/>
              <a:chExt cx="2601495" cy="1780012"/>
            </a:xfrm>
          </p:grpSpPr>
          <p:sp>
            <p:nvSpPr>
              <p:cNvPr id="94" name="Rectángulo 93">
                <a:extLst>
                  <a:ext uri="{FF2B5EF4-FFF2-40B4-BE49-F238E27FC236}">
                    <a16:creationId xmlns:a16="http://schemas.microsoft.com/office/drawing/2014/main" id="{5CCFFE75-F312-DF07-FD83-026E00E11787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95" name="Grupo 94">
                <a:extLst>
                  <a:ext uri="{FF2B5EF4-FFF2-40B4-BE49-F238E27FC236}">
                    <a16:creationId xmlns:a16="http://schemas.microsoft.com/office/drawing/2014/main" id="{62EEFA11-6B67-A069-F5BF-91B76FD02D43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1922369" cy="1647802"/>
                <a:chOff x="3026344" y="1212927"/>
                <a:chExt cx="1922369" cy="1647802"/>
              </a:xfrm>
            </p:grpSpPr>
            <p:sp>
              <p:nvSpPr>
                <p:cNvPr id="97" name="CuadroTexto 96">
                  <a:extLst>
                    <a:ext uri="{FF2B5EF4-FFF2-40B4-BE49-F238E27FC236}">
                      <a16:creationId xmlns:a16="http://schemas.microsoft.com/office/drawing/2014/main" id="{C7C0A484-2099-22AD-4658-03B4D18DE2C1}"/>
                    </a:ext>
                  </a:extLst>
                </p:cNvPr>
                <p:cNvSpPr txBox="1"/>
                <p:nvPr/>
              </p:nvSpPr>
              <p:spPr>
                <a:xfrm>
                  <a:off x="4021092" y="1212927"/>
                  <a:ext cx="92762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 dirty="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PAC</a:t>
                  </a:r>
                  <a:endParaRPr lang="es-ES" sz="1600" dirty="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98" name="CuadroTexto 97">
                  <a:extLst>
                    <a:ext uri="{FF2B5EF4-FFF2-40B4-BE49-F238E27FC236}">
                      <a16:creationId xmlns:a16="http://schemas.microsoft.com/office/drawing/2014/main" id="{8B52F8B8-4257-3935-57A7-3D66CF29CDF8}"/>
                    </a:ext>
                  </a:extLst>
                </p:cNvPr>
                <p:cNvSpPr txBox="1"/>
                <p:nvPr/>
              </p:nvSpPr>
              <p:spPr>
                <a:xfrm>
                  <a:off x="3026344" y="2294053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0%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  <p:sp>
            <p:nvSpPr>
              <p:cNvPr id="96" name="CuadroTexto 95">
                <a:extLst>
                  <a:ext uri="{FF2B5EF4-FFF2-40B4-BE49-F238E27FC236}">
                    <a16:creationId xmlns:a16="http://schemas.microsoft.com/office/drawing/2014/main" id="{25756B29-DB23-A294-C450-26C2F2CADDEB}"/>
                  </a:ext>
                </a:extLst>
              </p:cNvPr>
              <p:cNvSpPr txBox="1"/>
              <p:nvPr/>
            </p:nvSpPr>
            <p:spPr>
              <a:xfrm>
                <a:off x="9019351" y="2317778"/>
                <a:ext cx="1172909" cy="566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0%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Cuatro</a:t>
                </a:r>
              </a:p>
            </p:txBody>
          </p:sp>
        </p:grpSp>
        <p:grpSp>
          <p:nvGrpSpPr>
            <p:cNvPr id="121" name="Grupo 120">
              <a:extLst>
                <a:ext uri="{FF2B5EF4-FFF2-40B4-BE49-F238E27FC236}">
                  <a16:creationId xmlns:a16="http://schemas.microsoft.com/office/drawing/2014/main" id="{846C614F-B272-C840-D6E3-F060A1E6E75B}"/>
                </a:ext>
              </a:extLst>
            </p:cNvPr>
            <p:cNvGrpSpPr/>
            <p:nvPr/>
          </p:nvGrpSpPr>
          <p:grpSpPr>
            <a:xfrm>
              <a:off x="6649678" y="3565727"/>
              <a:ext cx="1883752" cy="1414028"/>
              <a:chOff x="6649678" y="3565727"/>
              <a:chExt cx="1883752" cy="1414028"/>
            </a:xfrm>
          </p:grpSpPr>
          <p:sp>
            <p:nvSpPr>
              <p:cNvPr id="99" name="CuadroTexto 98">
                <a:extLst>
                  <a:ext uri="{FF2B5EF4-FFF2-40B4-BE49-F238E27FC236}">
                    <a16:creationId xmlns:a16="http://schemas.microsoft.com/office/drawing/2014/main" id="{EACD7370-3A7E-039A-7D1B-164399682F06}"/>
                  </a:ext>
                </a:extLst>
              </p:cNvPr>
              <p:cNvSpPr txBox="1"/>
              <p:nvPr/>
            </p:nvSpPr>
            <p:spPr>
              <a:xfrm>
                <a:off x="6649678" y="358240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0%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Uno</a:t>
                </a:r>
              </a:p>
            </p:txBody>
          </p:sp>
          <p:sp>
            <p:nvSpPr>
              <p:cNvPr id="101" name="CuadroTexto 100">
                <a:extLst>
                  <a:ext uri="{FF2B5EF4-FFF2-40B4-BE49-F238E27FC236}">
                    <a16:creationId xmlns:a16="http://schemas.microsoft.com/office/drawing/2014/main" id="{B9C5DBF8-36EF-9112-34FD-9F2E47D41096}"/>
                  </a:ext>
                </a:extLst>
              </p:cNvPr>
              <p:cNvSpPr txBox="1"/>
              <p:nvPr/>
            </p:nvSpPr>
            <p:spPr>
              <a:xfrm>
                <a:off x="7360521" y="3565727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0%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Dos</a:t>
                </a:r>
              </a:p>
            </p:txBody>
          </p:sp>
          <p:pic>
            <p:nvPicPr>
              <p:cNvPr id="118" name="Imagen 117">
                <a:extLst>
                  <a:ext uri="{FF2B5EF4-FFF2-40B4-BE49-F238E27FC236}">
                    <a16:creationId xmlns:a16="http://schemas.microsoft.com/office/drawing/2014/main" id="{D902AB94-B52F-8397-04E6-E07574F651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artisticPaintStrokes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886925" y="4205951"/>
                <a:ext cx="773804" cy="773804"/>
              </a:xfrm>
              <a:prstGeom prst="rect">
                <a:avLst/>
              </a:prstGeom>
            </p:spPr>
          </p:pic>
        </p:grpSp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4945B757-97BD-D36A-E037-DAEEE0C2B685}"/>
              </a:ext>
            </a:extLst>
          </p:cNvPr>
          <p:cNvGrpSpPr/>
          <p:nvPr/>
        </p:nvGrpSpPr>
        <p:grpSpPr>
          <a:xfrm>
            <a:off x="8022470" y="853892"/>
            <a:ext cx="2195988" cy="1780012"/>
            <a:chOff x="7814360" y="1110832"/>
            <a:chExt cx="2195988" cy="1780012"/>
          </a:xfrm>
        </p:grpSpPr>
        <p:grpSp>
          <p:nvGrpSpPr>
            <p:cNvPr id="66" name="Grupo 65">
              <a:extLst>
                <a:ext uri="{FF2B5EF4-FFF2-40B4-BE49-F238E27FC236}">
                  <a16:creationId xmlns:a16="http://schemas.microsoft.com/office/drawing/2014/main" id="{1B34A318-85F9-A342-7292-8E5C8867834C}"/>
                </a:ext>
              </a:extLst>
            </p:cNvPr>
            <p:cNvGrpSpPr/>
            <p:nvPr/>
          </p:nvGrpSpPr>
          <p:grpSpPr>
            <a:xfrm>
              <a:off x="7814360" y="1110832"/>
              <a:ext cx="2195988" cy="1780012"/>
              <a:chOff x="7814360" y="1110832"/>
              <a:chExt cx="2195988" cy="1780012"/>
            </a:xfrm>
          </p:grpSpPr>
          <p:sp>
            <p:nvSpPr>
              <p:cNvPr id="60" name="Rectángulo 59">
                <a:extLst>
                  <a:ext uri="{FF2B5EF4-FFF2-40B4-BE49-F238E27FC236}">
                    <a16:creationId xmlns:a16="http://schemas.microsoft.com/office/drawing/2014/main" id="{96698688-D2AF-C36E-D038-2BDFD4D409FD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61" name="Grupo 60">
                <a:extLst>
                  <a:ext uri="{FF2B5EF4-FFF2-40B4-BE49-F238E27FC236}">
                    <a16:creationId xmlns:a16="http://schemas.microsoft.com/office/drawing/2014/main" id="{B1CB2118-5D19-F712-1B0E-7E714D496FEB}"/>
                  </a:ext>
                </a:extLst>
              </p:cNvPr>
              <p:cNvGrpSpPr/>
              <p:nvPr/>
            </p:nvGrpSpPr>
            <p:grpSpPr>
              <a:xfrm>
                <a:off x="7814361" y="1223137"/>
                <a:ext cx="2083693" cy="1630468"/>
                <a:chOff x="3249940" y="1229837"/>
                <a:chExt cx="2083693" cy="1630468"/>
              </a:xfrm>
            </p:grpSpPr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C6256F17-CAB3-1B50-750F-DD3630817B0E}"/>
                    </a:ext>
                  </a:extLst>
                </p:cNvPr>
                <p:cNvSpPr txBox="1"/>
                <p:nvPr/>
              </p:nvSpPr>
              <p:spPr>
                <a:xfrm>
                  <a:off x="3552927" y="1229837"/>
                  <a:ext cx="1780706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Rango Edad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C3751E1D-FD57-B78E-F42A-DB25DD1968B5}"/>
                    </a:ext>
                  </a:extLst>
                </p:cNvPr>
                <p:cNvSpPr txBox="1"/>
                <p:nvPr/>
              </p:nvSpPr>
              <p:spPr>
                <a:xfrm>
                  <a:off x="3249940" y="2306307"/>
                  <a:ext cx="1172909" cy="5539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50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20 a 35 años</a:t>
                  </a:r>
                </a:p>
              </p:txBody>
            </p:sp>
          </p:grpSp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10DA9CBF-D7D1-97D5-CA02-ABB6FEEE58D3}"/>
                  </a:ext>
                </a:extLst>
              </p:cNvPr>
              <p:cNvSpPr txBox="1"/>
              <p:nvPr/>
            </p:nvSpPr>
            <p:spPr>
              <a:xfrm>
                <a:off x="8837439" y="2289285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0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36 a 45 años</a:t>
                </a:r>
              </a:p>
            </p:txBody>
          </p:sp>
        </p:grpSp>
        <p:pic>
          <p:nvPicPr>
            <p:cNvPr id="128" name="Imagen 127">
              <a:extLst>
                <a:ext uri="{FF2B5EF4-FFF2-40B4-BE49-F238E27FC236}">
                  <a16:creationId xmlns:a16="http://schemas.microsoft.com/office/drawing/2014/main" id="{AAD2B3F6-2DAA-A34A-6AE6-8C5E1FFB7A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17644" y="1602912"/>
              <a:ext cx="655473" cy="655473"/>
            </a:xfrm>
            <a:prstGeom prst="rect">
              <a:avLst/>
            </a:prstGeom>
          </p:spPr>
        </p:pic>
      </p:grpSp>
      <p:grpSp>
        <p:nvGrpSpPr>
          <p:cNvPr id="189" name="Grupo 188">
            <a:extLst>
              <a:ext uri="{FF2B5EF4-FFF2-40B4-BE49-F238E27FC236}">
                <a16:creationId xmlns:a16="http://schemas.microsoft.com/office/drawing/2014/main" id="{68B0C703-E660-CDE3-4BE9-DA90CDFEEBD5}"/>
              </a:ext>
            </a:extLst>
          </p:cNvPr>
          <p:cNvGrpSpPr/>
          <p:nvPr/>
        </p:nvGrpSpPr>
        <p:grpSpPr>
          <a:xfrm>
            <a:off x="-114768" y="4837223"/>
            <a:ext cx="3758502" cy="1933541"/>
            <a:chOff x="435340" y="4837223"/>
            <a:chExt cx="4854517" cy="1933541"/>
          </a:xfrm>
        </p:grpSpPr>
        <p:grpSp>
          <p:nvGrpSpPr>
            <p:cNvPr id="138" name="Grupo 137">
              <a:extLst>
                <a:ext uri="{FF2B5EF4-FFF2-40B4-BE49-F238E27FC236}">
                  <a16:creationId xmlns:a16="http://schemas.microsoft.com/office/drawing/2014/main" id="{F03613E9-E191-912E-B503-8628BE693305}"/>
                </a:ext>
              </a:extLst>
            </p:cNvPr>
            <p:cNvGrpSpPr/>
            <p:nvPr/>
          </p:nvGrpSpPr>
          <p:grpSpPr>
            <a:xfrm>
              <a:off x="435340" y="4837223"/>
              <a:ext cx="4854517" cy="1933541"/>
              <a:chOff x="9135236" y="3127128"/>
              <a:chExt cx="3830051" cy="1933541"/>
            </a:xfrm>
          </p:grpSpPr>
          <p:grpSp>
            <p:nvGrpSpPr>
              <p:cNvPr id="139" name="Grupo 138">
                <a:extLst>
                  <a:ext uri="{FF2B5EF4-FFF2-40B4-BE49-F238E27FC236}">
                    <a16:creationId xmlns:a16="http://schemas.microsoft.com/office/drawing/2014/main" id="{CD9F5FA9-42F0-7A17-FE41-69F3D78659DD}"/>
                  </a:ext>
                </a:extLst>
              </p:cNvPr>
              <p:cNvGrpSpPr/>
              <p:nvPr/>
            </p:nvGrpSpPr>
            <p:grpSpPr>
              <a:xfrm>
                <a:off x="9229918" y="3127128"/>
                <a:ext cx="3735369" cy="1933541"/>
                <a:chOff x="7739695" y="1110832"/>
                <a:chExt cx="3735369" cy="1780012"/>
              </a:xfrm>
            </p:grpSpPr>
            <p:sp>
              <p:nvSpPr>
                <p:cNvPr id="143" name="Rectángulo 142">
                  <a:extLst>
                    <a:ext uri="{FF2B5EF4-FFF2-40B4-BE49-F238E27FC236}">
                      <a16:creationId xmlns:a16="http://schemas.microsoft.com/office/drawing/2014/main" id="{527BFB45-DDCA-09E4-7167-A203B0C7DE54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3246650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44" name="Grupo 143">
                  <a:extLst>
                    <a:ext uri="{FF2B5EF4-FFF2-40B4-BE49-F238E27FC236}">
                      <a16:creationId xmlns:a16="http://schemas.microsoft.com/office/drawing/2014/main" id="{002722AE-D0D8-9DC2-D649-533FE693D1C7}"/>
                    </a:ext>
                  </a:extLst>
                </p:cNvPr>
                <p:cNvGrpSpPr/>
                <p:nvPr/>
              </p:nvGrpSpPr>
              <p:grpSpPr>
                <a:xfrm>
                  <a:off x="7739695" y="1236316"/>
                  <a:ext cx="3735369" cy="1532075"/>
                  <a:chOff x="3175274" y="1243016"/>
                  <a:chExt cx="3735369" cy="1532075"/>
                </a:xfrm>
              </p:grpSpPr>
              <p:sp>
                <p:nvSpPr>
                  <p:cNvPr id="146" name="CuadroTexto 145">
                    <a:extLst>
                      <a:ext uri="{FF2B5EF4-FFF2-40B4-BE49-F238E27FC236}">
                        <a16:creationId xmlns:a16="http://schemas.microsoft.com/office/drawing/2014/main" id="{B0846CAA-0A1E-94FF-14E8-D4F225BAA054}"/>
                      </a:ext>
                    </a:extLst>
                  </p:cNvPr>
                  <p:cNvSpPr txBox="1"/>
                  <p:nvPr/>
                </p:nvSpPr>
                <p:spPr>
                  <a:xfrm>
                    <a:off x="3854322" y="1243016"/>
                    <a:ext cx="3056321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Segmento Empresas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47" name="CuadroTexto 146">
                    <a:extLst>
                      <a:ext uri="{FF2B5EF4-FFF2-40B4-BE49-F238E27FC236}">
                        <a16:creationId xmlns:a16="http://schemas.microsoft.com/office/drawing/2014/main" id="{B2099802-0777-18AD-393F-22622751F6D7}"/>
                      </a:ext>
                    </a:extLst>
                  </p:cNvPr>
                  <p:cNvSpPr txBox="1"/>
                  <p:nvPr/>
                </p:nvSpPr>
                <p:spPr>
                  <a:xfrm>
                    <a:off x="3175274" y="2208415"/>
                    <a:ext cx="1173399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0%</a:t>
                    </a:r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            Medianas</a:t>
                    </a:r>
                  </a:p>
                </p:txBody>
              </p:sp>
            </p:grpSp>
            <p:sp>
              <p:nvSpPr>
                <p:cNvPr id="145" name="CuadroTexto 144">
                  <a:extLst>
                    <a:ext uri="{FF2B5EF4-FFF2-40B4-BE49-F238E27FC236}">
                      <a16:creationId xmlns:a16="http://schemas.microsoft.com/office/drawing/2014/main" id="{7BDADF3D-2391-F160-6E81-EBB617B78C04}"/>
                    </a:ext>
                  </a:extLst>
                </p:cNvPr>
                <p:cNvSpPr txBox="1"/>
                <p:nvPr/>
              </p:nvSpPr>
              <p:spPr>
                <a:xfrm>
                  <a:off x="9784433" y="1520057"/>
                  <a:ext cx="1334643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50%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   Grandes</a:t>
                  </a:r>
                </a:p>
              </p:txBody>
            </p:sp>
          </p:grpSp>
          <p:sp>
            <p:nvSpPr>
              <p:cNvPr id="140" name="CuadroTexto 139">
                <a:extLst>
                  <a:ext uri="{FF2B5EF4-FFF2-40B4-BE49-F238E27FC236}">
                    <a16:creationId xmlns:a16="http://schemas.microsoft.com/office/drawing/2014/main" id="{7BDDC936-1126-86DA-E4FA-E29FBE6E4E92}"/>
                  </a:ext>
                </a:extLst>
              </p:cNvPr>
              <p:cNvSpPr txBox="1"/>
              <p:nvPr/>
            </p:nvSpPr>
            <p:spPr>
              <a:xfrm>
                <a:off x="9135236" y="3565727"/>
                <a:ext cx="145027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0%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</a:t>
                </a:r>
                <a:r>
                  <a:rPr lang="es-CO" sz="1400" b="1" dirty="0" err="1">
                    <a:solidFill>
                      <a:schemeClr val="bg1"/>
                    </a:solidFill>
                  </a:rPr>
                  <a:t>Emp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Top</a:t>
                </a:r>
              </a:p>
            </p:txBody>
          </p:sp>
          <p:sp>
            <p:nvSpPr>
              <p:cNvPr id="141" name="CuadroTexto 140">
                <a:extLst>
                  <a:ext uri="{FF2B5EF4-FFF2-40B4-BE49-F238E27FC236}">
                    <a16:creationId xmlns:a16="http://schemas.microsoft.com/office/drawing/2014/main" id="{8B1524E2-9FBF-0FC9-3197-57ACE4712DB1}"/>
                  </a:ext>
                </a:extLst>
              </p:cNvPr>
              <p:cNvSpPr txBox="1"/>
              <p:nvPr/>
            </p:nvSpPr>
            <p:spPr>
              <a:xfrm>
                <a:off x="10055645" y="3580594"/>
                <a:ext cx="1905211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50%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    Micro 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Transaccional</a:t>
                </a:r>
              </a:p>
            </p:txBody>
          </p:sp>
        </p:grpSp>
        <p:pic>
          <p:nvPicPr>
            <p:cNvPr id="149" name="Imagen 148">
              <a:extLst>
                <a:ext uri="{FF2B5EF4-FFF2-40B4-BE49-F238E27FC236}">
                  <a16:creationId xmlns:a16="http://schemas.microsoft.com/office/drawing/2014/main" id="{4FF2517F-830E-4A7C-6AB4-7F026A339D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315662" y="6011691"/>
              <a:ext cx="677562" cy="677562"/>
            </a:xfrm>
            <a:prstGeom prst="rect">
              <a:avLst/>
            </a:prstGeom>
          </p:spPr>
        </p:pic>
      </p:grp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7F760825-2588-3968-9198-C114B878DCE8}"/>
              </a:ext>
            </a:extLst>
          </p:cNvPr>
          <p:cNvSpPr txBox="1"/>
          <p:nvPr/>
        </p:nvSpPr>
        <p:spPr>
          <a:xfrm>
            <a:off x="2053655" y="5976448"/>
            <a:ext cx="128594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0%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Estándar</a:t>
            </a:r>
          </a:p>
        </p:txBody>
      </p:sp>
      <p:grpSp>
        <p:nvGrpSpPr>
          <p:cNvPr id="151" name="Grupo 150">
            <a:extLst>
              <a:ext uri="{FF2B5EF4-FFF2-40B4-BE49-F238E27FC236}">
                <a16:creationId xmlns:a16="http://schemas.microsoft.com/office/drawing/2014/main" id="{0043299B-A2F1-1A2B-5AFA-8FFDDE947CA1}"/>
              </a:ext>
            </a:extLst>
          </p:cNvPr>
          <p:cNvGrpSpPr/>
          <p:nvPr/>
        </p:nvGrpSpPr>
        <p:grpSpPr>
          <a:xfrm>
            <a:off x="3321003" y="4852302"/>
            <a:ext cx="2195987" cy="1933541"/>
            <a:chOff x="9304583" y="3127128"/>
            <a:chExt cx="2195987" cy="1933541"/>
          </a:xfrm>
        </p:grpSpPr>
        <p:grpSp>
          <p:nvGrpSpPr>
            <p:cNvPr id="152" name="Grupo 151">
              <a:extLst>
                <a:ext uri="{FF2B5EF4-FFF2-40B4-BE49-F238E27FC236}">
                  <a16:creationId xmlns:a16="http://schemas.microsoft.com/office/drawing/2014/main" id="{438E086F-8A1D-7835-3A43-8BA68E677BD3}"/>
                </a:ext>
              </a:extLst>
            </p:cNvPr>
            <p:cNvGrpSpPr/>
            <p:nvPr/>
          </p:nvGrpSpPr>
          <p:grpSpPr>
            <a:xfrm>
              <a:off x="9304583" y="3127128"/>
              <a:ext cx="2195987" cy="1933541"/>
              <a:chOff x="7814360" y="1110832"/>
              <a:chExt cx="2195987" cy="1780012"/>
            </a:xfrm>
          </p:grpSpPr>
          <p:sp>
            <p:nvSpPr>
              <p:cNvPr id="157" name="Rectángulo 156">
                <a:extLst>
                  <a:ext uri="{FF2B5EF4-FFF2-40B4-BE49-F238E27FC236}">
                    <a16:creationId xmlns:a16="http://schemas.microsoft.com/office/drawing/2014/main" id="{02FF39BE-EAB0-4261-F56F-F39CBA7D65BB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60" name="CuadroTexto 159">
                <a:extLst>
                  <a:ext uri="{FF2B5EF4-FFF2-40B4-BE49-F238E27FC236}">
                    <a16:creationId xmlns:a16="http://schemas.microsoft.com/office/drawing/2014/main" id="{639D99DA-4C30-194C-01C2-4A3E8E0A6718}"/>
                  </a:ext>
                </a:extLst>
              </p:cNvPr>
              <p:cNvSpPr txBox="1"/>
              <p:nvPr/>
            </p:nvSpPr>
            <p:spPr>
              <a:xfrm>
                <a:off x="7973412" y="1206227"/>
                <a:ext cx="1949604" cy="3116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Departamento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</p:grpSp>
        <p:sp>
          <p:nvSpPr>
            <p:cNvPr id="154" name="CuadroTexto 153">
              <a:extLst>
                <a:ext uri="{FF2B5EF4-FFF2-40B4-BE49-F238E27FC236}">
                  <a16:creationId xmlns:a16="http://schemas.microsoft.com/office/drawing/2014/main" id="{8448B0E0-FE6E-4F64-D6BD-43C923181BB0}"/>
                </a:ext>
              </a:extLst>
            </p:cNvPr>
            <p:cNvSpPr txBox="1"/>
            <p:nvPr/>
          </p:nvSpPr>
          <p:spPr>
            <a:xfrm>
              <a:off x="9652260" y="3892435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50%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Bogotá</a:t>
              </a:r>
            </a:p>
          </p:txBody>
        </p:sp>
      </p:grpSp>
      <p:grpSp>
        <p:nvGrpSpPr>
          <p:cNvPr id="201" name="Grupo 200">
            <a:extLst>
              <a:ext uri="{FF2B5EF4-FFF2-40B4-BE49-F238E27FC236}">
                <a16:creationId xmlns:a16="http://schemas.microsoft.com/office/drawing/2014/main" id="{316BA24E-DE12-F705-B392-7F704CD55277}"/>
              </a:ext>
            </a:extLst>
          </p:cNvPr>
          <p:cNvGrpSpPr/>
          <p:nvPr/>
        </p:nvGrpSpPr>
        <p:grpSpPr>
          <a:xfrm>
            <a:off x="5417371" y="4842106"/>
            <a:ext cx="2645946" cy="1985915"/>
            <a:chOff x="5493571" y="4842106"/>
            <a:chExt cx="2645946" cy="1985915"/>
          </a:xfrm>
        </p:grpSpPr>
        <p:grpSp>
          <p:nvGrpSpPr>
            <p:cNvPr id="164" name="Grupo 163">
              <a:extLst>
                <a:ext uri="{FF2B5EF4-FFF2-40B4-BE49-F238E27FC236}">
                  <a16:creationId xmlns:a16="http://schemas.microsoft.com/office/drawing/2014/main" id="{FC0DB9BF-9BB0-49AF-83DC-AEC5586C3425}"/>
                </a:ext>
              </a:extLst>
            </p:cNvPr>
            <p:cNvGrpSpPr/>
            <p:nvPr/>
          </p:nvGrpSpPr>
          <p:grpSpPr>
            <a:xfrm>
              <a:off x="5493571" y="4842106"/>
              <a:ext cx="2645946" cy="1933541"/>
              <a:chOff x="9059295" y="3127128"/>
              <a:chExt cx="2645946" cy="1933541"/>
            </a:xfrm>
          </p:grpSpPr>
          <p:grpSp>
            <p:nvGrpSpPr>
              <p:cNvPr id="165" name="Grupo 164">
                <a:extLst>
                  <a:ext uri="{FF2B5EF4-FFF2-40B4-BE49-F238E27FC236}">
                    <a16:creationId xmlns:a16="http://schemas.microsoft.com/office/drawing/2014/main" id="{FAABD4CF-D9E0-B06B-F798-DB914580D6F7}"/>
                  </a:ext>
                </a:extLst>
              </p:cNvPr>
              <p:cNvGrpSpPr/>
              <p:nvPr/>
            </p:nvGrpSpPr>
            <p:grpSpPr>
              <a:xfrm>
                <a:off x="9304583" y="3127128"/>
                <a:ext cx="2400658" cy="1933541"/>
                <a:chOff x="7814360" y="1110832"/>
                <a:chExt cx="2400658" cy="1780012"/>
              </a:xfrm>
            </p:grpSpPr>
            <p:sp>
              <p:nvSpPr>
                <p:cNvPr id="168" name="Rectángulo 167">
                  <a:extLst>
                    <a:ext uri="{FF2B5EF4-FFF2-40B4-BE49-F238E27FC236}">
                      <a16:creationId xmlns:a16="http://schemas.microsoft.com/office/drawing/2014/main" id="{FC31436A-D34B-0ECE-35DF-BBCBDE1469BA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195987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71" name="CuadroTexto 170">
                  <a:extLst>
                    <a:ext uri="{FF2B5EF4-FFF2-40B4-BE49-F238E27FC236}">
                      <a16:creationId xmlns:a16="http://schemas.microsoft.com/office/drawing/2014/main" id="{CB456BAF-97EA-BF3F-8E3F-AC16A2311F54}"/>
                    </a:ext>
                  </a:extLst>
                </p:cNvPr>
                <p:cNvSpPr txBox="1"/>
                <p:nvPr/>
              </p:nvSpPr>
              <p:spPr>
                <a:xfrm>
                  <a:off x="8265414" y="1207829"/>
                  <a:ext cx="1949604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Localidad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</p:grpSp>
          <p:sp>
            <p:nvSpPr>
              <p:cNvPr id="166" name="CuadroTexto 165">
                <a:extLst>
                  <a:ext uri="{FF2B5EF4-FFF2-40B4-BE49-F238E27FC236}">
                    <a16:creationId xmlns:a16="http://schemas.microsoft.com/office/drawing/2014/main" id="{37D36DE7-AC15-3F1F-B4FB-A30CC25911F3}"/>
                  </a:ext>
                </a:extLst>
              </p:cNvPr>
              <p:cNvSpPr txBox="1"/>
              <p:nvPr/>
            </p:nvSpPr>
            <p:spPr>
              <a:xfrm>
                <a:off x="9059295" y="3565727"/>
                <a:ext cx="1385955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50%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</a:t>
                </a:r>
                <a:r>
                  <a:rPr lang="es-CO" sz="1400" b="1" dirty="0" err="1">
                    <a:solidFill>
                      <a:schemeClr val="bg1"/>
                    </a:solidFill>
                  </a:rPr>
                  <a:t>Engativa</a:t>
                </a:r>
                <a:endParaRPr lang="es-CO" sz="14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85" name="CuadroTexto 184">
              <a:extLst>
                <a:ext uri="{FF2B5EF4-FFF2-40B4-BE49-F238E27FC236}">
                  <a16:creationId xmlns:a16="http://schemas.microsoft.com/office/drawing/2014/main" id="{3BFF904A-646A-63FC-85B0-CC09ED9FA827}"/>
                </a:ext>
              </a:extLst>
            </p:cNvPr>
            <p:cNvSpPr txBox="1"/>
            <p:nvPr/>
          </p:nvSpPr>
          <p:spPr>
            <a:xfrm>
              <a:off x="6625166" y="6212468"/>
              <a:ext cx="1323041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50%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 Sin </a:t>
              </a:r>
              <a:r>
                <a:rPr lang="es-CO" sz="1400" b="1" dirty="0" err="1">
                  <a:solidFill>
                    <a:schemeClr val="bg1"/>
                  </a:solidFill>
                </a:rPr>
                <a:t>Infor</a:t>
              </a:r>
              <a:endParaRPr lang="es-CO" sz="1400" b="1" dirty="0">
                <a:solidFill>
                  <a:schemeClr val="bg1"/>
                </a:solidFill>
              </a:endParaRPr>
            </a:p>
          </p:txBody>
        </p:sp>
        <p:pic>
          <p:nvPicPr>
            <p:cNvPr id="187" name="Imagen 186">
              <a:extLst>
                <a:ext uri="{FF2B5EF4-FFF2-40B4-BE49-F238E27FC236}">
                  <a16:creationId xmlns:a16="http://schemas.microsoft.com/office/drawing/2014/main" id="{8204EA98-894A-15C2-D90D-D46F9921DF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401571" y="5793688"/>
              <a:ext cx="1266970" cy="620378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grpSp>
        <p:nvGrpSpPr>
          <p:cNvPr id="190" name="Grupo 189">
            <a:extLst>
              <a:ext uri="{FF2B5EF4-FFF2-40B4-BE49-F238E27FC236}">
                <a16:creationId xmlns:a16="http://schemas.microsoft.com/office/drawing/2014/main" id="{B69F4A57-A02F-5C5B-07DF-BF54A410DDCE}"/>
              </a:ext>
            </a:extLst>
          </p:cNvPr>
          <p:cNvGrpSpPr/>
          <p:nvPr/>
        </p:nvGrpSpPr>
        <p:grpSpPr>
          <a:xfrm>
            <a:off x="7930970" y="4834201"/>
            <a:ext cx="2464777" cy="1933541"/>
            <a:chOff x="9267841" y="3127128"/>
            <a:chExt cx="2586590" cy="1933541"/>
          </a:xfrm>
        </p:grpSpPr>
        <p:grpSp>
          <p:nvGrpSpPr>
            <p:cNvPr id="191" name="Grupo 190">
              <a:extLst>
                <a:ext uri="{FF2B5EF4-FFF2-40B4-BE49-F238E27FC236}">
                  <a16:creationId xmlns:a16="http://schemas.microsoft.com/office/drawing/2014/main" id="{F85472FB-6483-DAEE-D310-E06E18282C39}"/>
                </a:ext>
              </a:extLst>
            </p:cNvPr>
            <p:cNvGrpSpPr/>
            <p:nvPr/>
          </p:nvGrpSpPr>
          <p:grpSpPr>
            <a:xfrm>
              <a:off x="9280641" y="3127128"/>
              <a:ext cx="2573790" cy="1933541"/>
              <a:chOff x="7790418" y="1110832"/>
              <a:chExt cx="2573790" cy="1780012"/>
            </a:xfrm>
          </p:grpSpPr>
          <p:sp>
            <p:nvSpPr>
              <p:cNvPr id="194" name="Rectángulo 193">
                <a:extLst>
                  <a:ext uri="{FF2B5EF4-FFF2-40B4-BE49-F238E27FC236}">
                    <a16:creationId xmlns:a16="http://schemas.microsoft.com/office/drawing/2014/main" id="{BEA21C83-F747-C94B-E898-78441251DE8C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368574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97" name="CuadroTexto 196">
                <a:extLst>
                  <a:ext uri="{FF2B5EF4-FFF2-40B4-BE49-F238E27FC236}">
                    <a16:creationId xmlns:a16="http://schemas.microsoft.com/office/drawing/2014/main" id="{EA818C95-4224-73FE-6371-C9D021B8F8A4}"/>
                  </a:ext>
                </a:extLst>
              </p:cNvPr>
              <p:cNvSpPr txBox="1"/>
              <p:nvPr/>
            </p:nvSpPr>
            <p:spPr>
              <a:xfrm>
                <a:off x="7790418" y="1207828"/>
                <a:ext cx="2573790" cy="3116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Entidad Financieras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</p:grpSp>
        <p:sp>
          <p:nvSpPr>
            <p:cNvPr id="192" name="CuadroTexto 191">
              <a:extLst>
                <a:ext uri="{FF2B5EF4-FFF2-40B4-BE49-F238E27FC236}">
                  <a16:creationId xmlns:a16="http://schemas.microsoft.com/office/drawing/2014/main" id="{85A9A973-22D1-837D-7B85-B78F030C09F8}"/>
                </a:ext>
              </a:extLst>
            </p:cNvPr>
            <p:cNvSpPr txBox="1"/>
            <p:nvPr/>
          </p:nvSpPr>
          <p:spPr>
            <a:xfrm>
              <a:off x="9267841" y="3565727"/>
              <a:ext cx="1337256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100%</a:t>
              </a:r>
              <a:r>
                <a:rPr lang="es-CO" sz="1400" b="1" dirty="0">
                  <a:solidFill>
                    <a:schemeClr val="bg1"/>
                  </a:solidFill>
                </a:rPr>
                <a:t>          Colsubsidio</a:t>
              </a:r>
            </a:p>
          </p:txBody>
        </p:sp>
      </p:grpSp>
      <p:pic>
        <p:nvPicPr>
          <p:cNvPr id="205" name="Imagen 204">
            <a:extLst>
              <a:ext uri="{FF2B5EF4-FFF2-40B4-BE49-F238E27FC236}">
                <a16:creationId xmlns:a16="http://schemas.microsoft.com/office/drawing/2014/main" id="{78279F98-3F62-7AD0-F562-65070E989F5A}"/>
              </a:ext>
            </a:extLst>
          </p:cNvPr>
          <p:cNvPicPr>
            <a:picLocks noChangeAspect="1"/>
          </p:cNvPicPr>
          <p:nvPr/>
        </p:nvPicPr>
        <p:blipFill>
          <a:blip r:embed="rId22">
            <a:duotone>
              <a:prstClr val="black"/>
              <a:schemeClr val="tx1">
                <a:lumMod val="75000"/>
                <a:lumOff val="2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4538" y="5846263"/>
            <a:ext cx="673981" cy="673981"/>
          </a:xfrm>
          <a:prstGeom prst="rect">
            <a:avLst/>
          </a:prstGeom>
        </p:spPr>
      </p:pic>
      <p:grpSp>
        <p:nvGrpSpPr>
          <p:cNvPr id="208" name="Grupo 207">
            <a:extLst>
              <a:ext uri="{FF2B5EF4-FFF2-40B4-BE49-F238E27FC236}">
                <a16:creationId xmlns:a16="http://schemas.microsoft.com/office/drawing/2014/main" id="{FCCE75DA-7D27-060E-88D9-FF6551AAC3B7}"/>
              </a:ext>
            </a:extLst>
          </p:cNvPr>
          <p:cNvGrpSpPr/>
          <p:nvPr/>
        </p:nvGrpSpPr>
        <p:grpSpPr>
          <a:xfrm>
            <a:off x="10245555" y="853892"/>
            <a:ext cx="1956550" cy="5540381"/>
            <a:chOff x="7793864" y="1110832"/>
            <a:chExt cx="1816602" cy="1780012"/>
          </a:xfrm>
        </p:grpSpPr>
        <p:sp>
          <p:nvSpPr>
            <p:cNvPr id="212" name="Rectángulo 211">
              <a:extLst>
                <a:ext uri="{FF2B5EF4-FFF2-40B4-BE49-F238E27FC236}">
                  <a16:creationId xmlns:a16="http://schemas.microsoft.com/office/drawing/2014/main" id="{ED25F9CF-BFFB-EF40-D5F2-17E1822329E4}"/>
                </a:ext>
              </a:extLst>
            </p:cNvPr>
            <p:cNvSpPr/>
            <p:nvPr/>
          </p:nvSpPr>
          <p:spPr>
            <a:xfrm>
              <a:off x="7814360" y="1110832"/>
              <a:ext cx="1666611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5" name="CuadroTexto 214">
              <a:extLst>
                <a:ext uri="{FF2B5EF4-FFF2-40B4-BE49-F238E27FC236}">
                  <a16:creationId xmlns:a16="http://schemas.microsoft.com/office/drawing/2014/main" id="{6B96B220-E342-1D6D-152C-70894DE3112C}"/>
                </a:ext>
              </a:extLst>
            </p:cNvPr>
            <p:cNvSpPr txBox="1"/>
            <p:nvPr/>
          </p:nvSpPr>
          <p:spPr>
            <a:xfrm>
              <a:off x="7793864" y="1161252"/>
              <a:ext cx="1816602" cy="1141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1600" dirty="0">
                  <a:solidFill>
                    <a:srgbClr val="FFC000"/>
                  </a:solidFill>
                  <a:latin typeface="KG Red Hands" panose="02000505000000020004" pitchFamily="2" charset="0"/>
                </a:rPr>
                <a:t>Top Empresas</a:t>
              </a:r>
              <a:endParaRPr lang="es-ES" sz="1600" dirty="0">
                <a:solidFill>
                  <a:srgbClr val="FFC000"/>
                </a:solidFill>
              </a:endParaRPr>
            </a:p>
          </p:txBody>
        </p:sp>
        <p:sp>
          <p:nvSpPr>
            <p:cNvPr id="214" name="CuadroTexto 213">
              <a:extLst>
                <a:ext uri="{FF2B5EF4-FFF2-40B4-BE49-F238E27FC236}">
                  <a16:creationId xmlns:a16="http://schemas.microsoft.com/office/drawing/2014/main" id="{5AD3F36C-3311-0535-F746-CAA1C5A2AA31}"/>
                </a:ext>
              </a:extLst>
            </p:cNvPr>
            <p:cNvSpPr txBox="1"/>
            <p:nvPr/>
          </p:nvSpPr>
          <p:spPr>
            <a:xfrm>
              <a:off x="7830402" y="1354030"/>
              <a:ext cx="1689689" cy="1038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500" b="1" dirty="0">
                  <a:solidFill>
                    <a:schemeClr val="bg1"/>
                  </a:solidFill>
                </a:rPr>
                <a:t>TELEPERFORMANCE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GESCO SAS	1	                                   </a:t>
              </a: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268FBC67-073D-6634-74BA-1EF5169BA734}"/>
              </a:ext>
            </a:extLst>
          </p:cNvPr>
          <p:cNvSpPr txBox="1"/>
          <p:nvPr/>
        </p:nvSpPr>
        <p:spPr>
          <a:xfrm>
            <a:off x="10330342" y="6461181"/>
            <a:ext cx="14292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100" dirty="0">
                <a:solidFill>
                  <a:srgbClr val="FFC000"/>
                </a:solidFill>
                <a:latin typeface="KG Red Hands" panose="02000505000000020004" pitchFamily="2" charset="0"/>
              </a:rPr>
              <a:t>*Corte 15/01/2026</a:t>
            </a:r>
            <a:endParaRPr lang="es-ES" sz="11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9233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CE15C-3616-A8B7-0F5C-81CF2CD33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FDAD0E3B-A602-A6B3-2DC5-7C1A8AB21567}"/>
              </a:ext>
            </a:extLst>
          </p:cNvPr>
          <p:cNvCxnSpPr>
            <a:cxnSpLocks/>
          </p:cNvCxnSpPr>
          <p:nvPr/>
        </p:nvCxnSpPr>
        <p:spPr>
          <a:xfrm flipH="1">
            <a:off x="0" y="645614"/>
            <a:ext cx="10809007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uadroTexto 85">
            <a:extLst>
              <a:ext uri="{FF2B5EF4-FFF2-40B4-BE49-F238E27FC236}">
                <a16:creationId xmlns:a16="http://schemas.microsoft.com/office/drawing/2014/main" id="{66A9A92B-6467-34D9-D910-D4DBEFA7B68C}"/>
              </a:ext>
            </a:extLst>
          </p:cNvPr>
          <p:cNvSpPr txBox="1"/>
          <p:nvPr/>
        </p:nvSpPr>
        <p:spPr>
          <a:xfrm>
            <a:off x="-128399" y="120715"/>
            <a:ext cx="95771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dirty="0">
                <a:solidFill>
                  <a:schemeClr val="bg1"/>
                </a:solidFill>
                <a:latin typeface="KG Red Hands" panose="02000505000000020004" pitchFamily="2" charset="0"/>
              </a:rPr>
              <a:t>      </a:t>
            </a:r>
            <a:r>
              <a:rPr lang="es-CO" sz="2400" dirty="0" err="1">
                <a:solidFill>
                  <a:schemeClr val="bg1"/>
                </a:solidFill>
                <a:latin typeface="KG Red Hands" panose="02000505000000020004" pitchFamily="2" charset="0"/>
              </a:rPr>
              <a:t>Payande</a:t>
            </a:r>
            <a:endParaRPr lang="es-ES" sz="24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704F4B2-3902-C939-D140-20A3350E3A82}"/>
              </a:ext>
              <a:ext uri="{147F2762-F138-4A5C-976F-8EAC2B608ADB}">
                <a16:predDERef xmlns:a16="http://schemas.microsoft.com/office/drawing/2014/main" pred="{95DEFF95-1524-40DB-8538-DE0C2D5BEC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3398838"/>
            <a:ext cx="555625" cy="49371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95500300-A146-9066-78F0-C34473AC66DD}"/>
              </a:ext>
              <a:ext uri="{147F2762-F138-4A5C-976F-8EAC2B608ADB}">
                <a16:predDERef xmlns:a16="http://schemas.microsoft.com/office/drawing/2014/main" pred="{95FFDEC5-E647-4E60-9FB8-32349ACC1E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087813"/>
            <a:ext cx="555625" cy="46196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759F3608-9851-3252-4EC2-FBC2D1F937A4}"/>
              </a:ext>
              <a:ext uri="{147F2762-F138-4A5C-976F-8EAC2B608ADB}">
                <a16:predDERef xmlns:a16="http://schemas.microsoft.com/office/drawing/2014/main" pred="{D53D0C4A-FE71-44C0-97B3-1EA296D3DCE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814888"/>
            <a:ext cx="555625" cy="41116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1E4936C7-1F90-6D71-5822-D308AF185BC1}"/>
              </a:ext>
              <a:ext uri="{147F2762-F138-4A5C-976F-8EAC2B608ADB}">
                <a16:predDERef xmlns:a16="http://schemas.microsoft.com/office/drawing/2014/main" pred="{7008BA42-7365-4AD1-B913-F26820CE47E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1775" y="5427663"/>
            <a:ext cx="465138" cy="433387"/>
          </a:xfrm>
          <a:prstGeom prst="rect">
            <a:avLst/>
          </a:prstGeom>
        </p:spPr>
      </p:pic>
      <p:grpSp>
        <p:nvGrpSpPr>
          <p:cNvPr id="135" name="Grupo 134">
            <a:extLst>
              <a:ext uri="{FF2B5EF4-FFF2-40B4-BE49-F238E27FC236}">
                <a16:creationId xmlns:a16="http://schemas.microsoft.com/office/drawing/2014/main" id="{0FF90F9E-B66A-388B-C22D-5586FBB799FE}"/>
              </a:ext>
            </a:extLst>
          </p:cNvPr>
          <p:cNvGrpSpPr/>
          <p:nvPr/>
        </p:nvGrpSpPr>
        <p:grpSpPr>
          <a:xfrm>
            <a:off x="5564187" y="853892"/>
            <a:ext cx="2195988" cy="1780012"/>
            <a:chOff x="5353656" y="1110832"/>
            <a:chExt cx="2195988" cy="1780012"/>
          </a:xfrm>
        </p:grpSpPr>
        <p:sp>
          <p:nvSpPr>
            <p:cNvPr id="58" name="Rectángulo 57">
              <a:extLst>
                <a:ext uri="{FF2B5EF4-FFF2-40B4-BE49-F238E27FC236}">
                  <a16:creationId xmlns:a16="http://schemas.microsoft.com/office/drawing/2014/main" id="{39D34DDF-36BB-45F1-5862-3084B0C6C98D}"/>
                </a:ext>
              </a:extLst>
            </p:cNvPr>
            <p:cNvSpPr/>
            <p:nvPr/>
          </p:nvSpPr>
          <p:spPr>
            <a:xfrm>
              <a:off x="5353656" y="1110832"/>
              <a:ext cx="2195987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43" name="Grupo 42">
              <a:extLst>
                <a:ext uri="{FF2B5EF4-FFF2-40B4-BE49-F238E27FC236}">
                  <a16:creationId xmlns:a16="http://schemas.microsoft.com/office/drawing/2014/main" id="{DAC4DFB1-C951-9FE2-7AA5-637D8DF04BDF}"/>
                </a:ext>
              </a:extLst>
            </p:cNvPr>
            <p:cNvGrpSpPr/>
            <p:nvPr/>
          </p:nvGrpSpPr>
          <p:grpSpPr>
            <a:xfrm>
              <a:off x="5353657" y="1223137"/>
              <a:ext cx="2083693" cy="1630468"/>
              <a:chOff x="3249940" y="1229837"/>
              <a:chExt cx="2083693" cy="1630468"/>
            </a:xfrm>
          </p:grpSpPr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F42ADBAB-9C41-5022-93CC-6C25DB19EF1F}"/>
                  </a:ext>
                </a:extLst>
              </p:cNvPr>
              <p:cNvSpPr txBox="1"/>
              <p:nvPr/>
            </p:nvSpPr>
            <p:spPr>
              <a:xfrm>
                <a:off x="3552927" y="1229837"/>
                <a:ext cx="178070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Rango Salario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1FC4AC30-A79D-CF4D-324A-BAEE3597A285}"/>
                  </a:ext>
                </a:extLst>
              </p:cNvPr>
              <p:cNvSpPr txBox="1"/>
              <p:nvPr/>
            </p:nvSpPr>
            <p:spPr>
              <a:xfrm>
                <a:off x="3249940" y="2306307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65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Hasta 2 </a:t>
                </a:r>
                <a:r>
                  <a:rPr lang="es-CO" sz="1200" b="1" dirty="0" err="1">
                    <a:solidFill>
                      <a:schemeClr val="bg1"/>
                    </a:solidFill>
                  </a:rPr>
                  <a:t>smlv</a:t>
                </a:r>
                <a:endParaRPr lang="es-CO" sz="12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53" name="Imagen 52">
              <a:extLst>
                <a:ext uri="{FF2B5EF4-FFF2-40B4-BE49-F238E27FC236}">
                  <a16:creationId xmlns:a16="http://schemas.microsoft.com/office/drawing/2014/main" id="{EB5B150D-91B3-C7C4-949D-569B75F4B41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12042" y="1623254"/>
              <a:ext cx="641350" cy="641350"/>
            </a:xfrm>
            <a:prstGeom prst="rect">
              <a:avLst/>
            </a:prstGeom>
          </p:spPr>
        </p:pic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BBB79B49-C6DC-491E-1BC8-4F8134091BBF}"/>
                </a:ext>
              </a:extLst>
            </p:cNvPr>
            <p:cNvSpPr txBox="1"/>
            <p:nvPr/>
          </p:nvSpPr>
          <p:spPr>
            <a:xfrm>
              <a:off x="6376735" y="2289285"/>
              <a:ext cx="1172909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35</a:t>
              </a:r>
              <a:r>
                <a:rPr lang="es-CO" sz="18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Mas de 2 </a:t>
              </a:r>
              <a:r>
                <a:rPr lang="es-CO" sz="1200" b="1" dirty="0" err="1">
                  <a:solidFill>
                    <a:schemeClr val="bg1"/>
                  </a:solidFill>
                </a:rPr>
                <a:t>smlv</a:t>
              </a:r>
              <a:endParaRPr lang="es-CO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96070848-EE35-A547-EA61-C3525AF3BA11}"/>
              </a:ext>
            </a:extLst>
          </p:cNvPr>
          <p:cNvGrpSpPr/>
          <p:nvPr/>
        </p:nvGrpSpPr>
        <p:grpSpPr>
          <a:xfrm>
            <a:off x="3320687" y="874756"/>
            <a:ext cx="1941094" cy="1759148"/>
            <a:chOff x="3224463" y="1110832"/>
            <a:chExt cx="1941094" cy="1759148"/>
          </a:xfrm>
        </p:grpSpPr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849ED799-A3F7-403E-B30F-009447BA1C2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36596" y="1677993"/>
              <a:ext cx="721895" cy="721895"/>
            </a:xfrm>
            <a:prstGeom prst="rect">
              <a:avLst/>
            </a:prstGeom>
          </p:spPr>
        </p:pic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E10C2969-DD78-6152-77DC-CF62B171D8C5}"/>
                </a:ext>
              </a:extLst>
            </p:cNvPr>
            <p:cNvGrpSpPr/>
            <p:nvPr/>
          </p:nvGrpSpPr>
          <p:grpSpPr>
            <a:xfrm>
              <a:off x="3420553" y="1223137"/>
              <a:ext cx="1609350" cy="1516670"/>
              <a:chOff x="3420553" y="1223137"/>
              <a:chExt cx="1609350" cy="1516670"/>
            </a:xfrm>
          </p:grpSpPr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943F7DC4-218D-9E4A-961D-07722DB9BC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74608" y="1613811"/>
                <a:ext cx="723600" cy="723600"/>
              </a:xfrm>
              <a:prstGeom prst="rect">
                <a:avLst/>
              </a:prstGeom>
            </p:spPr>
          </p:pic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F021D560-749A-A497-6DD9-30BF87B423C1}"/>
                  </a:ext>
                </a:extLst>
              </p:cNvPr>
              <p:cNvSpPr txBox="1"/>
              <p:nvPr/>
            </p:nvSpPr>
            <p:spPr>
              <a:xfrm>
                <a:off x="3685253" y="1223137"/>
                <a:ext cx="1098946" cy="345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Género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B5C0D200-2402-CABA-0935-4B704632204D}"/>
                  </a:ext>
                </a:extLst>
              </p:cNvPr>
              <p:cNvSpPr txBox="1"/>
              <p:nvPr/>
            </p:nvSpPr>
            <p:spPr>
              <a:xfrm>
                <a:off x="3420553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48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C15FA656-7787-A148-BC1F-7212FC34A61D}"/>
                  </a:ext>
                </a:extLst>
              </p:cNvPr>
              <p:cNvSpPr txBox="1"/>
              <p:nvPr/>
            </p:nvSpPr>
            <p:spPr>
              <a:xfrm>
                <a:off x="4308008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</a:t>
                </a:r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</p:grp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000F4A36-862D-0EB7-9870-2A753B0BBE37}"/>
                </a:ext>
              </a:extLst>
            </p:cNvPr>
            <p:cNvSpPr/>
            <p:nvPr/>
          </p:nvSpPr>
          <p:spPr>
            <a:xfrm>
              <a:off x="3224463" y="1110832"/>
              <a:ext cx="1941094" cy="175914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78" name="CuadroTexto 77">
            <a:extLst>
              <a:ext uri="{FF2B5EF4-FFF2-40B4-BE49-F238E27FC236}">
                <a16:creationId xmlns:a16="http://schemas.microsoft.com/office/drawing/2014/main" id="{73E2E40D-35F2-8BEE-EC8F-5C8849942FBB}"/>
              </a:ext>
            </a:extLst>
          </p:cNvPr>
          <p:cNvSpPr txBox="1"/>
          <p:nvPr/>
        </p:nvSpPr>
        <p:spPr>
          <a:xfrm>
            <a:off x="1376075" y="3222417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22%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Joven</a:t>
            </a:r>
          </a:p>
        </p:txBody>
      </p: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7A6AEEA2-EBAB-B7FF-B063-390F28AA6CB2}"/>
              </a:ext>
            </a:extLst>
          </p:cNvPr>
          <p:cNvGrpSpPr/>
          <p:nvPr/>
        </p:nvGrpSpPr>
        <p:grpSpPr>
          <a:xfrm>
            <a:off x="-155207" y="2771278"/>
            <a:ext cx="2688149" cy="1998661"/>
            <a:chOff x="435343" y="3108160"/>
            <a:chExt cx="2688149" cy="1998661"/>
          </a:xfrm>
        </p:grpSpPr>
        <p:grpSp>
          <p:nvGrpSpPr>
            <p:cNvPr id="69" name="Grupo 68">
              <a:extLst>
                <a:ext uri="{FF2B5EF4-FFF2-40B4-BE49-F238E27FC236}">
                  <a16:creationId xmlns:a16="http://schemas.microsoft.com/office/drawing/2014/main" id="{E980877F-5C5D-05C0-23A9-2F48C80AAFB9}"/>
                </a:ext>
              </a:extLst>
            </p:cNvPr>
            <p:cNvGrpSpPr/>
            <p:nvPr/>
          </p:nvGrpSpPr>
          <p:grpSpPr>
            <a:xfrm>
              <a:off x="457829" y="3108160"/>
              <a:ext cx="2665663" cy="1998661"/>
              <a:chOff x="7590765" y="1110832"/>
              <a:chExt cx="2665663" cy="1822499"/>
            </a:xfrm>
          </p:grpSpPr>
          <p:sp>
            <p:nvSpPr>
              <p:cNvPr id="70" name="Rectángulo 69">
                <a:extLst>
                  <a:ext uri="{FF2B5EF4-FFF2-40B4-BE49-F238E27FC236}">
                    <a16:creationId xmlns:a16="http://schemas.microsoft.com/office/drawing/2014/main" id="{7CBC4178-60C5-3762-EC3F-860AB7B9C902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71" name="Grupo 70">
                <a:extLst>
                  <a:ext uri="{FF2B5EF4-FFF2-40B4-BE49-F238E27FC236}">
                    <a16:creationId xmlns:a16="http://schemas.microsoft.com/office/drawing/2014/main" id="{0BA92B9A-B1B5-F036-93E8-912FD88EE5D1}"/>
                  </a:ext>
                </a:extLst>
              </p:cNvPr>
              <p:cNvGrpSpPr/>
              <p:nvPr/>
            </p:nvGrpSpPr>
            <p:grpSpPr>
              <a:xfrm>
                <a:off x="7590765" y="1223137"/>
                <a:ext cx="2024519" cy="1655939"/>
                <a:chOff x="3026344" y="1229837"/>
                <a:chExt cx="2024519" cy="1655939"/>
              </a:xfrm>
            </p:grpSpPr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D05D3883-12D1-19D9-1520-0AA5D433157B}"/>
                    </a:ext>
                  </a:extLst>
                </p:cNvPr>
                <p:cNvSpPr txBox="1"/>
                <p:nvPr/>
              </p:nvSpPr>
              <p:spPr>
                <a:xfrm>
                  <a:off x="3645002" y="1229837"/>
                  <a:ext cx="1405861" cy="3087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Segmento 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A9CB3350-C511-0449-C490-2CC729852CDB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12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29%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Básico</a:t>
                  </a:r>
                </a:p>
              </p:txBody>
            </p:sp>
          </p:grpSp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34C1CB65-C875-E8C6-43BD-C38308905A30}"/>
                  </a:ext>
                </a:extLst>
              </p:cNvPr>
              <p:cNvSpPr txBox="1"/>
              <p:nvPr/>
            </p:nvSpPr>
            <p:spPr>
              <a:xfrm>
                <a:off x="9083519" y="231777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0%</a:t>
                </a:r>
              </a:p>
              <a:p>
                <a:r>
                  <a:rPr lang="es-CO" sz="1400" b="1">
                    <a:solidFill>
                      <a:schemeClr val="bg1"/>
                    </a:solidFill>
                  </a:rPr>
                  <a:t>       Alto</a:t>
                </a:r>
              </a:p>
            </p:txBody>
          </p:sp>
        </p:grpSp>
        <p:sp>
          <p:nvSpPr>
            <p:cNvPr id="77" name="CuadroTexto 76">
              <a:extLst>
                <a:ext uri="{FF2B5EF4-FFF2-40B4-BE49-F238E27FC236}">
                  <a16:creationId xmlns:a16="http://schemas.microsoft.com/office/drawing/2014/main" id="{4FFBA595-6F46-A311-E703-F9B6EB22EE78}"/>
                </a:ext>
              </a:extLst>
            </p:cNvPr>
            <p:cNvSpPr txBox="1"/>
            <p:nvPr/>
          </p:nvSpPr>
          <p:spPr>
            <a:xfrm>
              <a:off x="435343" y="3559299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49%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Medio</a:t>
              </a:r>
            </a:p>
          </p:txBody>
        </p:sp>
        <p:pic>
          <p:nvPicPr>
            <p:cNvPr id="80" name="Imagen 79">
              <a:extLst>
                <a:ext uri="{FF2B5EF4-FFF2-40B4-BE49-F238E27FC236}">
                  <a16:creationId xmlns:a16="http://schemas.microsoft.com/office/drawing/2014/main" id="{7C84F686-8633-4E74-FDE0-1A05D6AA38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LineDrawing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90862" y="3871141"/>
              <a:ext cx="680857" cy="680857"/>
            </a:xfrm>
            <a:prstGeom prst="rect">
              <a:avLst/>
            </a:prstGeom>
          </p:spPr>
        </p:pic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DCB0114F-81B8-8A21-CDB0-4F08CA895DB7}"/>
              </a:ext>
            </a:extLst>
          </p:cNvPr>
          <p:cNvGrpSpPr/>
          <p:nvPr/>
        </p:nvGrpSpPr>
        <p:grpSpPr>
          <a:xfrm>
            <a:off x="2169335" y="2774370"/>
            <a:ext cx="3284086" cy="1963483"/>
            <a:chOff x="2759885" y="3111252"/>
            <a:chExt cx="3284086" cy="1963483"/>
          </a:xfrm>
        </p:grpSpPr>
        <p:sp>
          <p:nvSpPr>
            <p:cNvPr id="88" name="CuadroTexto 87">
              <a:extLst>
                <a:ext uri="{FF2B5EF4-FFF2-40B4-BE49-F238E27FC236}">
                  <a16:creationId xmlns:a16="http://schemas.microsoft.com/office/drawing/2014/main" id="{AC445CF3-AD9B-FE13-E3A6-79C5EF07F3BD}"/>
                </a:ext>
              </a:extLst>
            </p:cNvPr>
            <p:cNvSpPr txBox="1"/>
            <p:nvPr/>
          </p:nvSpPr>
          <p:spPr>
            <a:xfrm>
              <a:off x="2759885" y="3531697"/>
              <a:ext cx="154680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   51%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             Sin Grupo</a:t>
              </a:r>
            </a:p>
          </p:txBody>
        </p:sp>
        <p:grpSp>
          <p:nvGrpSpPr>
            <p:cNvPr id="124" name="Grupo 123">
              <a:extLst>
                <a:ext uri="{FF2B5EF4-FFF2-40B4-BE49-F238E27FC236}">
                  <a16:creationId xmlns:a16="http://schemas.microsoft.com/office/drawing/2014/main" id="{DAA75C92-043E-9EFB-8C5B-54821954AC00}"/>
                </a:ext>
              </a:extLst>
            </p:cNvPr>
            <p:cNvGrpSpPr/>
            <p:nvPr/>
          </p:nvGrpSpPr>
          <p:grpSpPr>
            <a:xfrm>
              <a:off x="2827705" y="3111252"/>
              <a:ext cx="3216266" cy="1963483"/>
              <a:chOff x="2827705" y="3111252"/>
              <a:chExt cx="3216266" cy="1963483"/>
            </a:xfrm>
          </p:grpSpPr>
          <p:grpSp>
            <p:nvGrpSpPr>
              <p:cNvPr id="81" name="Grupo 80">
                <a:extLst>
                  <a:ext uri="{FF2B5EF4-FFF2-40B4-BE49-F238E27FC236}">
                    <a16:creationId xmlns:a16="http://schemas.microsoft.com/office/drawing/2014/main" id="{96FAB55C-9B72-D772-5500-320F28E3B11F}"/>
                  </a:ext>
                </a:extLst>
              </p:cNvPr>
              <p:cNvGrpSpPr/>
              <p:nvPr/>
            </p:nvGrpSpPr>
            <p:grpSpPr>
              <a:xfrm>
                <a:off x="2827705" y="3111252"/>
                <a:ext cx="3216266" cy="1963483"/>
                <a:chOff x="7593779" y="1110832"/>
                <a:chExt cx="3216266" cy="1780012"/>
              </a:xfrm>
            </p:grpSpPr>
            <p:sp>
              <p:nvSpPr>
                <p:cNvPr id="82" name="Rectángulo 81">
                  <a:extLst>
                    <a:ext uri="{FF2B5EF4-FFF2-40B4-BE49-F238E27FC236}">
                      <a16:creationId xmlns:a16="http://schemas.microsoft.com/office/drawing/2014/main" id="{A59F53F6-D1FC-C398-F8E6-EB39A870DA14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808386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83" name="Grupo 82">
                  <a:extLst>
                    <a:ext uri="{FF2B5EF4-FFF2-40B4-BE49-F238E27FC236}">
                      <a16:creationId xmlns:a16="http://schemas.microsoft.com/office/drawing/2014/main" id="{D490E0FB-6BEE-99CD-65DB-AD39180B041B}"/>
                    </a:ext>
                  </a:extLst>
                </p:cNvPr>
                <p:cNvGrpSpPr/>
                <p:nvPr/>
              </p:nvGrpSpPr>
              <p:grpSpPr>
                <a:xfrm>
                  <a:off x="7593779" y="1166870"/>
                  <a:ext cx="2748715" cy="1628029"/>
                  <a:chOff x="3029358" y="1173570"/>
                  <a:chExt cx="2748715" cy="1628029"/>
                </a:xfrm>
              </p:grpSpPr>
              <p:sp>
                <p:nvSpPr>
                  <p:cNvPr id="85" name="CuadroTexto 84">
                    <a:extLst>
                      <a:ext uri="{FF2B5EF4-FFF2-40B4-BE49-F238E27FC236}">
                        <a16:creationId xmlns:a16="http://schemas.microsoft.com/office/drawing/2014/main" id="{905731E5-B2C0-2DA0-CACC-D09F5581CFEA}"/>
                      </a:ext>
                    </a:extLst>
                  </p:cNvPr>
                  <p:cNvSpPr txBox="1"/>
                  <p:nvPr/>
                </p:nvSpPr>
                <p:spPr>
                  <a:xfrm>
                    <a:off x="3634807" y="1173570"/>
                    <a:ext cx="2143266" cy="30691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 dirty="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Segmento Familia</a:t>
                    </a:r>
                    <a:endParaRPr lang="es-ES" sz="1600" dirty="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87" name="CuadroTexto 86">
                    <a:extLst>
                      <a:ext uri="{FF2B5EF4-FFF2-40B4-BE49-F238E27FC236}">
                        <a16:creationId xmlns:a16="http://schemas.microsoft.com/office/drawing/2014/main" id="{A223FA1B-7875-3189-4817-041DF46BB4AA}"/>
                      </a:ext>
                    </a:extLst>
                  </p:cNvPr>
                  <p:cNvSpPr txBox="1"/>
                  <p:nvPr/>
                </p:nvSpPr>
                <p:spPr>
                  <a:xfrm>
                    <a:off x="3029358" y="2131957"/>
                    <a:ext cx="1923771" cy="66964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 3</a:t>
                    </a:r>
                    <a:r>
                      <a:rPr lang="es-CO" sz="18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%</a:t>
                    </a:r>
                  </a:p>
                  <a:p>
                    <a:r>
                      <a:rPr lang="es-CO" sz="1200" b="1" dirty="0">
                        <a:solidFill>
                          <a:schemeClr val="bg1"/>
                        </a:solidFill>
                      </a:rPr>
                      <a:t>      Monoparental</a:t>
                    </a:r>
                  </a:p>
                  <a:p>
                    <a:r>
                      <a:rPr lang="es-CO" sz="1200" b="1" dirty="0">
                        <a:solidFill>
                          <a:schemeClr val="bg1"/>
                        </a:solidFill>
                      </a:rPr>
                      <a:t>      Ampliada</a:t>
                    </a:r>
                  </a:p>
                </p:txBody>
              </p:sp>
            </p:grpSp>
            <p:sp>
              <p:nvSpPr>
                <p:cNvPr id="84" name="CuadroTexto 83">
                  <a:extLst>
                    <a:ext uri="{FF2B5EF4-FFF2-40B4-BE49-F238E27FC236}">
                      <a16:creationId xmlns:a16="http://schemas.microsoft.com/office/drawing/2014/main" id="{2339FDD3-494E-D26F-25EF-321446FF8664}"/>
                    </a:ext>
                  </a:extLst>
                </p:cNvPr>
                <p:cNvSpPr txBox="1"/>
                <p:nvPr/>
              </p:nvSpPr>
              <p:spPr>
                <a:xfrm>
                  <a:off x="9185077" y="2110714"/>
                  <a:ext cx="1624968" cy="5022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        9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 Nuclear Integrada</a:t>
                  </a:r>
                </a:p>
              </p:txBody>
            </p:sp>
          </p:grpSp>
          <p:sp>
            <p:nvSpPr>
              <p:cNvPr id="89" name="CuadroTexto 88">
                <a:extLst>
                  <a:ext uri="{FF2B5EF4-FFF2-40B4-BE49-F238E27FC236}">
                    <a16:creationId xmlns:a16="http://schemas.microsoft.com/office/drawing/2014/main" id="{035CF6CE-7FED-DEF8-D43C-D52B59B87587}"/>
                  </a:ext>
                </a:extLst>
              </p:cNvPr>
              <p:cNvSpPr txBox="1"/>
              <p:nvPr/>
            </p:nvSpPr>
            <p:spPr>
              <a:xfrm>
                <a:off x="4771770" y="3534141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31%</a:t>
                </a:r>
                <a:r>
                  <a:rPr lang="es-CO" sz="1200" b="1" dirty="0">
                    <a:solidFill>
                      <a:schemeClr val="bg1"/>
                    </a:solidFill>
                  </a:rPr>
                  <a:t> Monoparental</a:t>
                </a:r>
              </a:p>
            </p:txBody>
          </p:sp>
          <p:pic>
            <p:nvPicPr>
              <p:cNvPr id="92" name="Imagen 91">
                <a:extLst>
                  <a:ext uri="{FF2B5EF4-FFF2-40B4-BE49-F238E27FC236}">
                    <a16:creationId xmlns:a16="http://schemas.microsoft.com/office/drawing/2014/main" id="{B4C6EB27-DB10-E922-425B-63047AEE1E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artisticGlowDiffused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075298" y="3683026"/>
                <a:ext cx="754362" cy="754362"/>
              </a:xfrm>
              <a:prstGeom prst="rect">
                <a:avLst/>
              </a:prstGeom>
            </p:spPr>
          </p:pic>
        </p:grp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F6B239A5-81E4-8030-BFD2-2FD4FD396686}"/>
              </a:ext>
            </a:extLst>
          </p:cNvPr>
          <p:cNvGrpSpPr/>
          <p:nvPr/>
        </p:nvGrpSpPr>
        <p:grpSpPr>
          <a:xfrm>
            <a:off x="90873" y="847081"/>
            <a:ext cx="3094159" cy="1780012"/>
            <a:chOff x="681423" y="1183963"/>
            <a:chExt cx="3094159" cy="1780012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FB9B3CB3-06B0-C27A-ABEA-53A4714EDF36}"/>
                </a:ext>
              </a:extLst>
            </p:cNvPr>
            <p:cNvSpPr txBox="1"/>
            <p:nvPr/>
          </p:nvSpPr>
          <p:spPr>
            <a:xfrm>
              <a:off x="942955" y="1217834"/>
              <a:ext cx="2376943" cy="16927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s-CO" sz="2000" b="1" dirty="0">
                <a:solidFill>
                  <a:srgbClr val="FFC000"/>
                </a:solidFill>
              </a:endParaRP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Afiliado     </a:t>
              </a:r>
              <a:r>
                <a:rPr lang="es-CO" sz="2800" b="1" dirty="0">
                  <a:solidFill>
                    <a:srgbClr val="FFC000"/>
                  </a:solidFill>
                </a:rPr>
                <a:t>   </a:t>
              </a:r>
              <a:r>
                <a:rPr lang="es-CO" sz="2800" b="1" dirty="0">
                  <a:solidFill>
                    <a:schemeClr val="bg1"/>
                  </a:solidFill>
                </a:rPr>
                <a:t>64%</a:t>
              </a: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No Afilado   </a:t>
              </a:r>
              <a:r>
                <a:rPr lang="es-CO" sz="2800" b="1" dirty="0">
                  <a:solidFill>
                    <a:schemeClr val="bg1"/>
                  </a:solidFill>
                </a:rPr>
                <a:t>36%</a:t>
              </a:r>
            </a:p>
            <a:p>
              <a:endParaRPr lang="es-ES" sz="28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05" name="Rectángulo 104">
              <a:extLst>
                <a:ext uri="{FF2B5EF4-FFF2-40B4-BE49-F238E27FC236}">
                  <a16:creationId xmlns:a16="http://schemas.microsoft.com/office/drawing/2014/main" id="{51E6AD5A-BCE8-8E1B-89AA-CA3A010E924F}"/>
                </a:ext>
              </a:extLst>
            </p:cNvPr>
            <p:cNvSpPr/>
            <p:nvPr/>
          </p:nvSpPr>
          <p:spPr>
            <a:xfrm>
              <a:off x="681423" y="1183963"/>
              <a:ext cx="3094159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20" name="Grupo 119">
            <a:extLst>
              <a:ext uri="{FF2B5EF4-FFF2-40B4-BE49-F238E27FC236}">
                <a16:creationId xmlns:a16="http://schemas.microsoft.com/office/drawing/2014/main" id="{6FE3A766-9A6F-AA3B-629A-A97EE206CF73}"/>
              </a:ext>
            </a:extLst>
          </p:cNvPr>
          <p:cNvGrpSpPr/>
          <p:nvPr/>
        </p:nvGrpSpPr>
        <p:grpSpPr>
          <a:xfrm>
            <a:off x="7777183" y="2775745"/>
            <a:ext cx="2623981" cy="1933541"/>
            <a:chOff x="9059295" y="3127128"/>
            <a:chExt cx="2623981" cy="1933541"/>
          </a:xfrm>
        </p:grpSpPr>
        <p:grpSp>
          <p:nvGrpSpPr>
            <p:cNvPr id="106" name="Grupo 105">
              <a:extLst>
                <a:ext uri="{FF2B5EF4-FFF2-40B4-BE49-F238E27FC236}">
                  <a16:creationId xmlns:a16="http://schemas.microsoft.com/office/drawing/2014/main" id="{DBDB4EB1-1A67-2D46-F670-0F1B89030CE1}"/>
                </a:ext>
              </a:extLst>
            </p:cNvPr>
            <p:cNvGrpSpPr/>
            <p:nvPr/>
          </p:nvGrpSpPr>
          <p:grpSpPr>
            <a:xfrm>
              <a:off x="9080988" y="3127128"/>
              <a:ext cx="2601495" cy="1933541"/>
              <a:chOff x="7590765" y="1110832"/>
              <a:chExt cx="2601495" cy="1780012"/>
            </a:xfrm>
          </p:grpSpPr>
          <p:sp>
            <p:nvSpPr>
              <p:cNvPr id="107" name="Rectángulo 106">
                <a:extLst>
                  <a:ext uri="{FF2B5EF4-FFF2-40B4-BE49-F238E27FC236}">
                    <a16:creationId xmlns:a16="http://schemas.microsoft.com/office/drawing/2014/main" id="{413BC0DB-98B4-1C1B-F95B-40996FEA5939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108" name="Grupo 107">
                <a:extLst>
                  <a:ext uri="{FF2B5EF4-FFF2-40B4-BE49-F238E27FC236}">
                    <a16:creationId xmlns:a16="http://schemas.microsoft.com/office/drawing/2014/main" id="{939E8DBF-AEC6-6E3A-B42A-96296460F210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2191150" cy="1678227"/>
                <a:chOff x="3026344" y="1212927"/>
                <a:chExt cx="2191150" cy="1678227"/>
              </a:xfrm>
            </p:grpSpPr>
            <p:sp>
              <p:nvSpPr>
                <p:cNvPr id="110" name="CuadroTexto 109">
                  <a:extLst>
                    <a:ext uri="{FF2B5EF4-FFF2-40B4-BE49-F238E27FC236}">
                      <a16:creationId xmlns:a16="http://schemas.microsoft.com/office/drawing/2014/main" id="{3E5AD39E-073C-2061-C41E-B9B756B2D162}"/>
                    </a:ext>
                  </a:extLst>
                </p:cNvPr>
                <p:cNvSpPr txBox="1"/>
                <p:nvPr/>
              </p:nvSpPr>
              <p:spPr>
                <a:xfrm>
                  <a:off x="3811633" y="1212927"/>
                  <a:ext cx="140586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Estrato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11" name="CuadroTexto 110">
                  <a:extLst>
                    <a:ext uri="{FF2B5EF4-FFF2-40B4-BE49-F238E27FC236}">
                      <a16:creationId xmlns:a16="http://schemas.microsoft.com/office/drawing/2014/main" id="{0B31B932-E867-9A01-A557-B75EFE9F0215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11%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  <p:sp>
            <p:nvSpPr>
              <p:cNvPr id="109" name="CuadroTexto 108">
                <a:extLst>
                  <a:ext uri="{FF2B5EF4-FFF2-40B4-BE49-F238E27FC236}">
                    <a16:creationId xmlns:a16="http://schemas.microsoft.com/office/drawing/2014/main" id="{E1F2F3C8-440F-42B1-8D83-A0926FA861E4}"/>
                  </a:ext>
                </a:extLst>
              </p:cNvPr>
              <p:cNvSpPr txBox="1"/>
              <p:nvPr/>
            </p:nvSpPr>
            <p:spPr>
              <a:xfrm>
                <a:off x="9019351" y="2317778"/>
                <a:ext cx="1172909" cy="566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4%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Cuatro</a:t>
                </a:r>
              </a:p>
            </p:txBody>
          </p:sp>
        </p:grpSp>
        <p:sp>
          <p:nvSpPr>
            <p:cNvPr id="112" name="CuadroTexto 111">
              <a:extLst>
                <a:ext uri="{FF2B5EF4-FFF2-40B4-BE49-F238E27FC236}">
                  <a16:creationId xmlns:a16="http://schemas.microsoft.com/office/drawing/2014/main" id="{1B30182D-B841-5BA2-94CA-323F22326D3D}"/>
                </a:ext>
              </a:extLst>
            </p:cNvPr>
            <p:cNvSpPr txBox="1"/>
            <p:nvPr/>
          </p:nvSpPr>
          <p:spPr>
            <a:xfrm>
              <a:off x="9059295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4%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Uno</a:t>
              </a:r>
            </a:p>
          </p:txBody>
        </p:sp>
        <p:sp>
          <p:nvSpPr>
            <p:cNvPr id="113" name="CuadroTexto 112">
              <a:extLst>
                <a:ext uri="{FF2B5EF4-FFF2-40B4-BE49-F238E27FC236}">
                  <a16:creationId xmlns:a16="http://schemas.microsoft.com/office/drawing/2014/main" id="{CC0B5963-1DB1-C1E0-18AA-143543825941}"/>
                </a:ext>
              </a:extLst>
            </p:cNvPr>
            <p:cNvSpPr txBox="1"/>
            <p:nvPr/>
          </p:nvSpPr>
          <p:spPr>
            <a:xfrm>
              <a:off x="10510367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11%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Dos</a:t>
              </a:r>
            </a:p>
          </p:txBody>
        </p:sp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A21B12B8-9AE0-136E-C8F9-C20857D44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artisticPencilGrayscale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043317" y="3855923"/>
              <a:ext cx="655939" cy="655939"/>
            </a:xfrm>
            <a:prstGeom prst="rect">
              <a:avLst/>
            </a:prstGeom>
          </p:spPr>
        </p:pic>
      </p:grp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3D191D96-1C5F-A581-21B4-76CB1DE9C75C}"/>
              </a:ext>
            </a:extLst>
          </p:cNvPr>
          <p:cNvSpPr txBox="1"/>
          <p:nvPr/>
        </p:nvSpPr>
        <p:spPr>
          <a:xfrm>
            <a:off x="5289967" y="3228845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51%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 Cero</a:t>
            </a:r>
          </a:p>
        </p:txBody>
      </p:sp>
      <p:grpSp>
        <p:nvGrpSpPr>
          <p:cNvPr id="123" name="Grupo 122">
            <a:extLst>
              <a:ext uri="{FF2B5EF4-FFF2-40B4-BE49-F238E27FC236}">
                <a16:creationId xmlns:a16="http://schemas.microsoft.com/office/drawing/2014/main" id="{72BDBCD3-D13B-4452-C29D-1C9EFA89CE71}"/>
              </a:ext>
            </a:extLst>
          </p:cNvPr>
          <p:cNvGrpSpPr/>
          <p:nvPr/>
        </p:nvGrpSpPr>
        <p:grpSpPr>
          <a:xfrm>
            <a:off x="5340592" y="2790246"/>
            <a:ext cx="2602288" cy="1933541"/>
            <a:chOff x="5931142" y="3127128"/>
            <a:chExt cx="2602288" cy="1933541"/>
          </a:xfrm>
        </p:grpSpPr>
        <p:grpSp>
          <p:nvGrpSpPr>
            <p:cNvPr id="93" name="Grupo 92">
              <a:extLst>
                <a:ext uri="{FF2B5EF4-FFF2-40B4-BE49-F238E27FC236}">
                  <a16:creationId xmlns:a16="http://schemas.microsoft.com/office/drawing/2014/main" id="{A945C4CF-9E97-3C45-0067-2BCC3AC9293A}"/>
                </a:ext>
              </a:extLst>
            </p:cNvPr>
            <p:cNvGrpSpPr/>
            <p:nvPr/>
          </p:nvGrpSpPr>
          <p:grpSpPr>
            <a:xfrm>
              <a:off x="5931142" y="3127128"/>
              <a:ext cx="2601495" cy="1933541"/>
              <a:chOff x="7590765" y="1110832"/>
              <a:chExt cx="2601495" cy="1780012"/>
            </a:xfrm>
          </p:grpSpPr>
          <p:sp>
            <p:nvSpPr>
              <p:cNvPr id="94" name="Rectángulo 93">
                <a:extLst>
                  <a:ext uri="{FF2B5EF4-FFF2-40B4-BE49-F238E27FC236}">
                    <a16:creationId xmlns:a16="http://schemas.microsoft.com/office/drawing/2014/main" id="{B22950A6-556E-9767-3E23-5BB0C7A025FB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95" name="Grupo 94">
                <a:extLst>
                  <a:ext uri="{FF2B5EF4-FFF2-40B4-BE49-F238E27FC236}">
                    <a16:creationId xmlns:a16="http://schemas.microsoft.com/office/drawing/2014/main" id="{8D54CF77-CA9B-24CB-CCDD-D141D066F856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1922369" cy="1647802"/>
                <a:chOff x="3026344" y="1212927"/>
                <a:chExt cx="1922369" cy="1647802"/>
              </a:xfrm>
            </p:grpSpPr>
            <p:sp>
              <p:nvSpPr>
                <p:cNvPr id="97" name="CuadroTexto 96">
                  <a:extLst>
                    <a:ext uri="{FF2B5EF4-FFF2-40B4-BE49-F238E27FC236}">
                      <a16:creationId xmlns:a16="http://schemas.microsoft.com/office/drawing/2014/main" id="{415C933B-6FF1-93DB-79AF-85FDABBA8D50}"/>
                    </a:ext>
                  </a:extLst>
                </p:cNvPr>
                <p:cNvSpPr txBox="1"/>
                <p:nvPr/>
              </p:nvSpPr>
              <p:spPr>
                <a:xfrm>
                  <a:off x="4021092" y="1212927"/>
                  <a:ext cx="92762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PAC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98" name="CuadroTexto 97">
                  <a:extLst>
                    <a:ext uri="{FF2B5EF4-FFF2-40B4-BE49-F238E27FC236}">
                      <a16:creationId xmlns:a16="http://schemas.microsoft.com/office/drawing/2014/main" id="{566AF2E3-711B-D890-EA4E-234573F7B27F}"/>
                    </a:ext>
                  </a:extLst>
                </p:cNvPr>
                <p:cNvSpPr txBox="1"/>
                <p:nvPr/>
              </p:nvSpPr>
              <p:spPr>
                <a:xfrm>
                  <a:off x="3026344" y="2294053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7%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  <p:sp>
            <p:nvSpPr>
              <p:cNvPr id="96" name="CuadroTexto 95">
                <a:extLst>
                  <a:ext uri="{FF2B5EF4-FFF2-40B4-BE49-F238E27FC236}">
                    <a16:creationId xmlns:a16="http://schemas.microsoft.com/office/drawing/2014/main" id="{203385F2-F92A-38DF-3038-1EDA64168921}"/>
                  </a:ext>
                </a:extLst>
              </p:cNvPr>
              <p:cNvSpPr txBox="1"/>
              <p:nvPr/>
            </p:nvSpPr>
            <p:spPr>
              <a:xfrm>
                <a:off x="9019351" y="2317778"/>
                <a:ext cx="1172909" cy="566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1%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Cuatro</a:t>
                </a:r>
              </a:p>
            </p:txBody>
          </p:sp>
        </p:grpSp>
        <p:grpSp>
          <p:nvGrpSpPr>
            <p:cNvPr id="121" name="Grupo 120">
              <a:extLst>
                <a:ext uri="{FF2B5EF4-FFF2-40B4-BE49-F238E27FC236}">
                  <a16:creationId xmlns:a16="http://schemas.microsoft.com/office/drawing/2014/main" id="{E3F4CED7-E492-E0AE-7360-9A2CE88A96A0}"/>
                </a:ext>
              </a:extLst>
            </p:cNvPr>
            <p:cNvGrpSpPr/>
            <p:nvPr/>
          </p:nvGrpSpPr>
          <p:grpSpPr>
            <a:xfrm>
              <a:off x="6649678" y="3565727"/>
              <a:ext cx="1883752" cy="1414028"/>
              <a:chOff x="6649678" y="3565727"/>
              <a:chExt cx="1883752" cy="1414028"/>
            </a:xfrm>
          </p:grpSpPr>
          <p:sp>
            <p:nvSpPr>
              <p:cNvPr id="99" name="CuadroTexto 98">
                <a:extLst>
                  <a:ext uri="{FF2B5EF4-FFF2-40B4-BE49-F238E27FC236}">
                    <a16:creationId xmlns:a16="http://schemas.microsoft.com/office/drawing/2014/main" id="{213B447F-8E0C-EA66-C773-43F04D6811AD}"/>
                  </a:ext>
                </a:extLst>
              </p:cNvPr>
              <p:cNvSpPr txBox="1"/>
              <p:nvPr/>
            </p:nvSpPr>
            <p:spPr>
              <a:xfrm>
                <a:off x="6649678" y="358240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26%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Uno</a:t>
                </a:r>
              </a:p>
            </p:txBody>
          </p:sp>
          <p:sp>
            <p:nvSpPr>
              <p:cNvPr id="101" name="CuadroTexto 100">
                <a:extLst>
                  <a:ext uri="{FF2B5EF4-FFF2-40B4-BE49-F238E27FC236}">
                    <a16:creationId xmlns:a16="http://schemas.microsoft.com/office/drawing/2014/main" id="{99B8F477-0EFA-751F-5766-988F8F180D20}"/>
                  </a:ext>
                </a:extLst>
              </p:cNvPr>
              <p:cNvSpPr txBox="1"/>
              <p:nvPr/>
            </p:nvSpPr>
            <p:spPr>
              <a:xfrm>
                <a:off x="7360521" y="3565727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15%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Dos</a:t>
                </a:r>
              </a:p>
            </p:txBody>
          </p:sp>
          <p:pic>
            <p:nvPicPr>
              <p:cNvPr id="118" name="Imagen 117">
                <a:extLst>
                  <a:ext uri="{FF2B5EF4-FFF2-40B4-BE49-F238E27FC236}">
                    <a16:creationId xmlns:a16="http://schemas.microsoft.com/office/drawing/2014/main" id="{B302C8CD-F9CC-D1DE-8215-CC8E88420B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artisticPaintStrokes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886925" y="4205951"/>
                <a:ext cx="773804" cy="773804"/>
              </a:xfrm>
              <a:prstGeom prst="rect">
                <a:avLst/>
              </a:prstGeom>
            </p:spPr>
          </p:pic>
        </p:grpSp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ECA47F81-DE29-7310-F484-261FBDEF45A2}"/>
              </a:ext>
            </a:extLst>
          </p:cNvPr>
          <p:cNvGrpSpPr/>
          <p:nvPr/>
        </p:nvGrpSpPr>
        <p:grpSpPr>
          <a:xfrm>
            <a:off x="8022470" y="853892"/>
            <a:ext cx="2195988" cy="1780012"/>
            <a:chOff x="7814360" y="1110832"/>
            <a:chExt cx="2195988" cy="1780012"/>
          </a:xfrm>
        </p:grpSpPr>
        <p:grpSp>
          <p:nvGrpSpPr>
            <p:cNvPr id="66" name="Grupo 65">
              <a:extLst>
                <a:ext uri="{FF2B5EF4-FFF2-40B4-BE49-F238E27FC236}">
                  <a16:creationId xmlns:a16="http://schemas.microsoft.com/office/drawing/2014/main" id="{227078BE-A7A0-4901-76E7-30DE987EFF00}"/>
                </a:ext>
              </a:extLst>
            </p:cNvPr>
            <p:cNvGrpSpPr/>
            <p:nvPr/>
          </p:nvGrpSpPr>
          <p:grpSpPr>
            <a:xfrm>
              <a:off x="7814360" y="1110832"/>
              <a:ext cx="2195988" cy="1780012"/>
              <a:chOff x="7814360" y="1110832"/>
              <a:chExt cx="2195988" cy="1780012"/>
            </a:xfrm>
          </p:grpSpPr>
          <p:sp>
            <p:nvSpPr>
              <p:cNvPr id="60" name="Rectángulo 59">
                <a:extLst>
                  <a:ext uri="{FF2B5EF4-FFF2-40B4-BE49-F238E27FC236}">
                    <a16:creationId xmlns:a16="http://schemas.microsoft.com/office/drawing/2014/main" id="{F91AB489-264A-1FCA-D09A-5C12991AF099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61" name="Grupo 60">
                <a:extLst>
                  <a:ext uri="{FF2B5EF4-FFF2-40B4-BE49-F238E27FC236}">
                    <a16:creationId xmlns:a16="http://schemas.microsoft.com/office/drawing/2014/main" id="{E936A3D8-A6F7-DF4B-56DB-0F61D0C798E0}"/>
                  </a:ext>
                </a:extLst>
              </p:cNvPr>
              <p:cNvGrpSpPr/>
              <p:nvPr/>
            </p:nvGrpSpPr>
            <p:grpSpPr>
              <a:xfrm>
                <a:off x="7814361" y="1223137"/>
                <a:ext cx="2083693" cy="1630468"/>
                <a:chOff x="3249940" y="1229837"/>
                <a:chExt cx="2083693" cy="1630468"/>
              </a:xfrm>
            </p:grpSpPr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15BFF72B-AC82-905F-CCA7-3E9BC2DED46A}"/>
                    </a:ext>
                  </a:extLst>
                </p:cNvPr>
                <p:cNvSpPr txBox="1"/>
                <p:nvPr/>
              </p:nvSpPr>
              <p:spPr>
                <a:xfrm>
                  <a:off x="3552927" y="1229837"/>
                  <a:ext cx="1780706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Rango Edad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7304987A-9F23-FF64-D92D-AA8FB4FEB381}"/>
                    </a:ext>
                  </a:extLst>
                </p:cNvPr>
                <p:cNvSpPr txBox="1"/>
                <p:nvPr/>
              </p:nvSpPr>
              <p:spPr>
                <a:xfrm>
                  <a:off x="3249940" y="2306307"/>
                  <a:ext cx="1172909" cy="5539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37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20 a 35 años</a:t>
                  </a:r>
                </a:p>
              </p:txBody>
            </p:sp>
          </p:grpSp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5C6D0CE0-EA5A-0258-B8DE-8F0F36AAB419}"/>
                  </a:ext>
                </a:extLst>
              </p:cNvPr>
              <p:cNvSpPr txBox="1"/>
              <p:nvPr/>
            </p:nvSpPr>
            <p:spPr>
              <a:xfrm>
                <a:off x="8837439" y="2289285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31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36 a 45 años</a:t>
                </a:r>
              </a:p>
            </p:txBody>
          </p:sp>
        </p:grpSp>
        <p:pic>
          <p:nvPicPr>
            <p:cNvPr id="128" name="Imagen 127">
              <a:extLst>
                <a:ext uri="{FF2B5EF4-FFF2-40B4-BE49-F238E27FC236}">
                  <a16:creationId xmlns:a16="http://schemas.microsoft.com/office/drawing/2014/main" id="{4F906D69-C182-9363-FECA-B86D7B481B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17644" y="1602912"/>
              <a:ext cx="655473" cy="655473"/>
            </a:xfrm>
            <a:prstGeom prst="rect">
              <a:avLst/>
            </a:prstGeom>
          </p:spPr>
        </p:pic>
      </p:grpSp>
      <p:grpSp>
        <p:nvGrpSpPr>
          <p:cNvPr id="189" name="Grupo 188">
            <a:extLst>
              <a:ext uri="{FF2B5EF4-FFF2-40B4-BE49-F238E27FC236}">
                <a16:creationId xmlns:a16="http://schemas.microsoft.com/office/drawing/2014/main" id="{DDAE0E47-2A7A-E127-D035-B4FBB285A952}"/>
              </a:ext>
            </a:extLst>
          </p:cNvPr>
          <p:cNvGrpSpPr/>
          <p:nvPr/>
        </p:nvGrpSpPr>
        <p:grpSpPr>
          <a:xfrm>
            <a:off x="-114768" y="4837223"/>
            <a:ext cx="3758502" cy="1933541"/>
            <a:chOff x="435340" y="4837223"/>
            <a:chExt cx="4854517" cy="1933541"/>
          </a:xfrm>
        </p:grpSpPr>
        <p:grpSp>
          <p:nvGrpSpPr>
            <p:cNvPr id="138" name="Grupo 137">
              <a:extLst>
                <a:ext uri="{FF2B5EF4-FFF2-40B4-BE49-F238E27FC236}">
                  <a16:creationId xmlns:a16="http://schemas.microsoft.com/office/drawing/2014/main" id="{3FCBD601-E137-90B9-88D1-E66CBB7E24E1}"/>
                </a:ext>
              </a:extLst>
            </p:cNvPr>
            <p:cNvGrpSpPr/>
            <p:nvPr/>
          </p:nvGrpSpPr>
          <p:grpSpPr>
            <a:xfrm>
              <a:off x="435340" y="4837223"/>
              <a:ext cx="4854517" cy="1933541"/>
              <a:chOff x="9135236" y="3127128"/>
              <a:chExt cx="3830051" cy="1933541"/>
            </a:xfrm>
          </p:grpSpPr>
          <p:grpSp>
            <p:nvGrpSpPr>
              <p:cNvPr id="139" name="Grupo 138">
                <a:extLst>
                  <a:ext uri="{FF2B5EF4-FFF2-40B4-BE49-F238E27FC236}">
                    <a16:creationId xmlns:a16="http://schemas.microsoft.com/office/drawing/2014/main" id="{52AB8DA0-1B52-541E-7D92-328852A13B3A}"/>
                  </a:ext>
                </a:extLst>
              </p:cNvPr>
              <p:cNvGrpSpPr/>
              <p:nvPr/>
            </p:nvGrpSpPr>
            <p:grpSpPr>
              <a:xfrm>
                <a:off x="9229918" y="3127128"/>
                <a:ext cx="3735369" cy="1933541"/>
                <a:chOff x="7739695" y="1110832"/>
                <a:chExt cx="3735369" cy="1780012"/>
              </a:xfrm>
            </p:grpSpPr>
            <p:sp>
              <p:nvSpPr>
                <p:cNvPr id="143" name="Rectángulo 142">
                  <a:extLst>
                    <a:ext uri="{FF2B5EF4-FFF2-40B4-BE49-F238E27FC236}">
                      <a16:creationId xmlns:a16="http://schemas.microsoft.com/office/drawing/2014/main" id="{D3758819-8B84-30E3-F8F7-AE7AB59D193F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3246650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44" name="Grupo 143">
                  <a:extLst>
                    <a:ext uri="{FF2B5EF4-FFF2-40B4-BE49-F238E27FC236}">
                      <a16:creationId xmlns:a16="http://schemas.microsoft.com/office/drawing/2014/main" id="{C2A3FF99-76BD-F9B6-C2B7-717F6C9E3963}"/>
                    </a:ext>
                  </a:extLst>
                </p:cNvPr>
                <p:cNvGrpSpPr/>
                <p:nvPr/>
              </p:nvGrpSpPr>
              <p:grpSpPr>
                <a:xfrm>
                  <a:off x="7739695" y="1236316"/>
                  <a:ext cx="3735369" cy="1532075"/>
                  <a:chOff x="3175274" y="1243016"/>
                  <a:chExt cx="3735369" cy="1532075"/>
                </a:xfrm>
              </p:grpSpPr>
              <p:sp>
                <p:nvSpPr>
                  <p:cNvPr id="146" name="CuadroTexto 145">
                    <a:extLst>
                      <a:ext uri="{FF2B5EF4-FFF2-40B4-BE49-F238E27FC236}">
                        <a16:creationId xmlns:a16="http://schemas.microsoft.com/office/drawing/2014/main" id="{7AEDA654-A7CA-9169-3C0D-24C66CF6F0EF}"/>
                      </a:ext>
                    </a:extLst>
                  </p:cNvPr>
                  <p:cNvSpPr txBox="1"/>
                  <p:nvPr/>
                </p:nvSpPr>
                <p:spPr>
                  <a:xfrm>
                    <a:off x="3854322" y="1243016"/>
                    <a:ext cx="3056321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Segmento Empresas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47" name="CuadroTexto 146">
                    <a:extLst>
                      <a:ext uri="{FF2B5EF4-FFF2-40B4-BE49-F238E27FC236}">
                        <a16:creationId xmlns:a16="http://schemas.microsoft.com/office/drawing/2014/main" id="{28A7FB1E-8151-7195-D212-52207BBC9AAC}"/>
                      </a:ext>
                    </a:extLst>
                  </p:cNvPr>
                  <p:cNvSpPr txBox="1"/>
                  <p:nvPr/>
                </p:nvSpPr>
                <p:spPr>
                  <a:xfrm>
                    <a:off x="3175274" y="2208415"/>
                    <a:ext cx="1945898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14%</a:t>
                    </a:r>
                    <a:endParaRPr lang="es-CO" sz="1400" b="1" dirty="0">
                      <a:solidFill>
                        <a:schemeClr val="bg1"/>
                      </a:solidFill>
                    </a:endParaRP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Medianas</a:t>
                    </a:r>
                  </a:p>
                </p:txBody>
              </p:sp>
            </p:grpSp>
            <p:sp>
              <p:nvSpPr>
                <p:cNvPr id="145" name="CuadroTexto 144">
                  <a:extLst>
                    <a:ext uri="{FF2B5EF4-FFF2-40B4-BE49-F238E27FC236}">
                      <a16:creationId xmlns:a16="http://schemas.microsoft.com/office/drawing/2014/main" id="{013EAB5D-C061-8191-ED99-A5152DA70CAB}"/>
                    </a:ext>
                  </a:extLst>
                </p:cNvPr>
                <p:cNvSpPr txBox="1"/>
                <p:nvPr/>
              </p:nvSpPr>
              <p:spPr>
                <a:xfrm>
                  <a:off x="9864249" y="1523867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23%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Grandes</a:t>
                  </a:r>
                </a:p>
              </p:txBody>
            </p:sp>
          </p:grpSp>
          <p:sp>
            <p:nvSpPr>
              <p:cNvPr id="140" name="CuadroTexto 139">
                <a:extLst>
                  <a:ext uri="{FF2B5EF4-FFF2-40B4-BE49-F238E27FC236}">
                    <a16:creationId xmlns:a16="http://schemas.microsoft.com/office/drawing/2014/main" id="{6B24E117-33A2-6F46-3A1E-8E4FCB5950DA}"/>
                  </a:ext>
                </a:extLst>
              </p:cNvPr>
              <p:cNvSpPr txBox="1"/>
              <p:nvPr/>
            </p:nvSpPr>
            <p:spPr>
              <a:xfrm>
                <a:off x="9135236" y="3565727"/>
                <a:ext cx="145027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8%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</a:t>
                </a:r>
                <a:r>
                  <a:rPr lang="es-CO" sz="1400" b="1" dirty="0" err="1">
                    <a:solidFill>
                      <a:schemeClr val="bg1"/>
                    </a:solidFill>
                  </a:rPr>
                  <a:t>Emp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Top</a:t>
                </a:r>
              </a:p>
            </p:txBody>
          </p:sp>
          <p:sp>
            <p:nvSpPr>
              <p:cNvPr id="141" name="CuadroTexto 140">
                <a:extLst>
                  <a:ext uri="{FF2B5EF4-FFF2-40B4-BE49-F238E27FC236}">
                    <a16:creationId xmlns:a16="http://schemas.microsoft.com/office/drawing/2014/main" id="{909CE94D-AF08-E1C1-6949-65799D30170C}"/>
                  </a:ext>
                </a:extLst>
              </p:cNvPr>
              <p:cNvSpPr txBox="1"/>
              <p:nvPr/>
            </p:nvSpPr>
            <p:spPr>
              <a:xfrm>
                <a:off x="10055645" y="3580594"/>
                <a:ext cx="152651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47%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    Micro    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Transaccional</a:t>
                </a:r>
              </a:p>
            </p:txBody>
          </p:sp>
        </p:grpSp>
        <p:pic>
          <p:nvPicPr>
            <p:cNvPr id="149" name="Imagen 148">
              <a:extLst>
                <a:ext uri="{FF2B5EF4-FFF2-40B4-BE49-F238E27FC236}">
                  <a16:creationId xmlns:a16="http://schemas.microsoft.com/office/drawing/2014/main" id="{4BDB2DBC-35AB-E0F6-4F86-541A5484D4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325932" y="6027593"/>
              <a:ext cx="677562" cy="677562"/>
            </a:xfrm>
            <a:prstGeom prst="rect">
              <a:avLst/>
            </a:prstGeom>
          </p:spPr>
        </p:pic>
      </p:grp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B3D747D2-D268-3C2C-5C6F-C0013D51880A}"/>
              </a:ext>
            </a:extLst>
          </p:cNvPr>
          <p:cNvSpPr txBox="1"/>
          <p:nvPr/>
        </p:nvSpPr>
        <p:spPr>
          <a:xfrm>
            <a:off x="2093411" y="5976448"/>
            <a:ext cx="128594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3%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Estándar</a:t>
            </a:r>
          </a:p>
        </p:txBody>
      </p:sp>
      <p:grpSp>
        <p:nvGrpSpPr>
          <p:cNvPr id="151" name="Grupo 150">
            <a:extLst>
              <a:ext uri="{FF2B5EF4-FFF2-40B4-BE49-F238E27FC236}">
                <a16:creationId xmlns:a16="http://schemas.microsoft.com/office/drawing/2014/main" id="{2DC763A5-C9E7-06D7-4F79-2319EDCD1B5C}"/>
              </a:ext>
            </a:extLst>
          </p:cNvPr>
          <p:cNvGrpSpPr/>
          <p:nvPr/>
        </p:nvGrpSpPr>
        <p:grpSpPr>
          <a:xfrm>
            <a:off x="3041036" y="4852302"/>
            <a:ext cx="2475954" cy="1933541"/>
            <a:chOff x="9024616" y="3127128"/>
            <a:chExt cx="2475954" cy="1933541"/>
          </a:xfrm>
        </p:grpSpPr>
        <p:grpSp>
          <p:nvGrpSpPr>
            <p:cNvPr id="152" name="Grupo 151">
              <a:extLst>
                <a:ext uri="{FF2B5EF4-FFF2-40B4-BE49-F238E27FC236}">
                  <a16:creationId xmlns:a16="http://schemas.microsoft.com/office/drawing/2014/main" id="{AB15C837-4120-6AD4-74CA-57E140F57196}"/>
                </a:ext>
              </a:extLst>
            </p:cNvPr>
            <p:cNvGrpSpPr/>
            <p:nvPr/>
          </p:nvGrpSpPr>
          <p:grpSpPr>
            <a:xfrm>
              <a:off x="9024616" y="3127128"/>
              <a:ext cx="2475954" cy="1933541"/>
              <a:chOff x="7534393" y="1110832"/>
              <a:chExt cx="2475954" cy="1780012"/>
            </a:xfrm>
          </p:grpSpPr>
          <p:sp>
            <p:nvSpPr>
              <p:cNvPr id="157" name="Rectángulo 156">
                <a:extLst>
                  <a:ext uri="{FF2B5EF4-FFF2-40B4-BE49-F238E27FC236}">
                    <a16:creationId xmlns:a16="http://schemas.microsoft.com/office/drawing/2014/main" id="{ECD959F9-07A1-566F-E943-DA143B6C3AB8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158" name="Grupo 157">
                <a:extLst>
                  <a:ext uri="{FF2B5EF4-FFF2-40B4-BE49-F238E27FC236}">
                    <a16:creationId xmlns:a16="http://schemas.microsoft.com/office/drawing/2014/main" id="{5EDDAD42-2BB6-941A-DE34-03017393AF94}"/>
                  </a:ext>
                </a:extLst>
              </p:cNvPr>
              <p:cNvGrpSpPr/>
              <p:nvPr/>
            </p:nvGrpSpPr>
            <p:grpSpPr>
              <a:xfrm>
                <a:off x="7534393" y="1206227"/>
                <a:ext cx="2388623" cy="1388251"/>
                <a:chOff x="2969972" y="1212927"/>
                <a:chExt cx="2388623" cy="1388251"/>
              </a:xfrm>
            </p:grpSpPr>
            <p:sp>
              <p:nvSpPr>
                <p:cNvPr id="160" name="CuadroTexto 159">
                  <a:extLst>
                    <a:ext uri="{FF2B5EF4-FFF2-40B4-BE49-F238E27FC236}">
                      <a16:creationId xmlns:a16="http://schemas.microsoft.com/office/drawing/2014/main" id="{E250CC86-936B-3286-5913-00C57B71042F}"/>
                    </a:ext>
                  </a:extLst>
                </p:cNvPr>
                <p:cNvSpPr txBox="1"/>
                <p:nvPr/>
              </p:nvSpPr>
              <p:spPr>
                <a:xfrm>
                  <a:off x="3408991" y="1212927"/>
                  <a:ext cx="1949604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 dirty="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Departamento</a:t>
                  </a:r>
                  <a:endParaRPr lang="es-ES" sz="1600" dirty="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61" name="CuadroTexto 160">
                  <a:extLst>
                    <a:ext uri="{FF2B5EF4-FFF2-40B4-BE49-F238E27FC236}">
                      <a16:creationId xmlns:a16="http://schemas.microsoft.com/office/drawing/2014/main" id="{10264A0C-136B-55E5-6DEF-4BFEB70EECCD}"/>
                    </a:ext>
                  </a:extLst>
                </p:cNvPr>
                <p:cNvSpPr txBox="1"/>
                <p:nvPr/>
              </p:nvSpPr>
              <p:spPr>
                <a:xfrm>
                  <a:off x="2969972" y="2034502"/>
                  <a:ext cx="128594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2%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Girardot</a:t>
                  </a:r>
                </a:p>
              </p:txBody>
            </p:sp>
          </p:grpSp>
        </p:grpSp>
        <p:sp>
          <p:nvSpPr>
            <p:cNvPr id="154" name="CuadroTexto 153">
              <a:extLst>
                <a:ext uri="{FF2B5EF4-FFF2-40B4-BE49-F238E27FC236}">
                  <a16:creationId xmlns:a16="http://schemas.microsoft.com/office/drawing/2014/main" id="{B3C76A94-F61E-20B8-8D8F-3B772AC982CC}"/>
                </a:ext>
              </a:extLst>
            </p:cNvPr>
            <p:cNvSpPr txBox="1"/>
            <p:nvPr/>
          </p:nvSpPr>
          <p:spPr>
            <a:xfrm>
              <a:off x="9059295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50%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Bogotá</a:t>
              </a:r>
            </a:p>
          </p:txBody>
        </p:sp>
        <p:sp>
          <p:nvSpPr>
            <p:cNvPr id="155" name="CuadroTexto 154">
              <a:extLst>
                <a:ext uri="{FF2B5EF4-FFF2-40B4-BE49-F238E27FC236}">
                  <a16:creationId xmlns:a16="http://schemas.microsoft.com/office/drawing/2014/main" id="{26AC050B-2878-DC08-C658-6B9BFC04B0D4}"/>
                </a:ext>
              </a:extLst>
            </p:cNvPr>
            <p:cNvSpPr txBox="1"/>
            <p:nvPr/>
          </p:nvSpPr>
          <p:spPr>
            <a:xfrm>
              <a:off x="10219600" y="3565504"/>
              <a:ext cx="1160334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2%</a:t>
              </a:r>
              <a:r>
                <a:rPr lang="es-CO" sz="1400" b="1" dirty="0">
                  <a:solidFill>
                    <a:schemeClr val="bg1"/>
                  </a:solidFill>
                </a:rPr>
                <a:t>     </a:t>
              </a:r>
              <a:r>
                <a:rPr lang="es-CO" sz="1400" b="1" dirty="0" err="1">
                  <a:solidFill>
                    <a:schemeClr val="bg1"/>
                  </a:solidFill>
                </a:rPr>
                <a:t>Fusagasuga</a:t>
              </a:r>
              <a:endParaRPr lang="es-CO" sz="1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01" name="Grupo 200">
            <a:extLst>
              <a:ext uri="{FF2B5EF4-FFF2-40B4-BE49-F238E27FC236}">
                <a16:creationId xmlns:a16="http://schemas.microsoft.com/office/drawing/2014/main" id="{3605C9FF-95FC-F7D6-B3D3-45E300B88E41}"/>
              </a:ext>
            </a:extLst>
          </p:cNvPr>
          <p:cNvGrpSpPr/>
          <p:nvPr/>
        </p:nvGrpSpPr>
        <p:grpSpPr>
          <a:xfrm>
            <a:off x="5407406" y="4842106"/>
            <a:ext cx="2693579" cy="1985915"/>
            <a:chOff x="5483606" y="4842106"/>
            <a:chExt cx="2693579" cy="1985915"/>
          </a:xfrm>
        </p:grpSpPr>
        <p:grpSp>
          <p:nvGrpSpPr>
            <p:cNvPr id="164" name="Grupo 163">
              <a:extLst>
                <a:ext uri="{FF2B5EF4-FFF2-40B4-BE49-F238E27FC236}">
                  <a16:creationId xmlns:a16="http://schemas.microsoft.com/office/drawing/2014/main" id="{AA2F9537-2005-18D1-D3C9-DFC7C4DB8A31}"/>
                </a:ext>
              </a:extLst>
            </p:cNvPr>
            <p:cNvGrpSpPr/>
            <p:nvPr/>
          </p:nvGrpSpPr>
          <p:grpSpPr>
            <a:xfrm>
              <a:off x="5483606" y="4842106"/>
              <a:ext cx="2693579" cy="1957609"/>
              <a:chOff x="9049330" y="3127128"/>
              <a:chExt cx="2693579" cy="1957609"/>
            </a:xfrm>
          </p:grpSpPr>
          <p:grpSp>
            <p:nvGrpSpPr>
              <p:cNvPr id="165" name="Grupo 164">
                <a:extLst>
                  <a:ext uri="{FF2B5EF4-FFF2-40B4-BE49-F238E27FC236}">
                    <a16:creationId xmlns:a16="http://schemas.microsoft.com/office/drawing/2014/main" id="{B0D59670-1616-4F86-35DB-9A33EA6AEE48}"/>
                  </a:ext>
                </a:extLst>
              </p:cNvPr>
              <p:cNvGrpSpPr/>
              <p:nvPr/>
            </p:nvGrpSpPr>
            <p:grpSpPr>
              <a:xfrm>
                <a:off x="9049330" y="3127128"/>
                <a:ext cx="2655911" cy="1957609"/>
                <a:chOff x="7559107" y="1110832"/>
                <a:chExt cx="2655911" cy="1802169"/>
              </a:xfrm>
            </p:grpSpPr>
            <p:sp>
              <p:nvSpPr>
                <p:cNvPr id="168" name="Rectángulo 167">
                  <a:extLst>
                    <a:ext uri="{FF2B5EF4-FFF2-40B4-BE49-F238E27FC236}">
                      <a16:creationId xmlns:a16="http://schemas.microsoft.com/office/drawing/2014/main" id="{745DC92B-14D1-0AAE-8EEC-EEA8ED68C68C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195987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70" name="Grupo 169">
                  <a:extLst>
                    <a:ext uri="{FF2B5EF4-FFF2-40B4-BE49-F238E27FC236}">
                      <a16:creationId xmlns:a16="http://schemas.microsoft.com/office/drawing/2014/main" id="{F982CDD3-A572-2005-BEBF-1747E1FA01E1}"/>
                    </a:ext>
                  </a:extLst>
                </p:cNvPr>
                <p:cNvGrpSpPr/>
                <p:nvPr/>
              </p:nvGrpSpPr>
              <p:grpSpPr>
                <a:xfrm>
                  <a:off x="7559107" y="1207829"/>
                  <a:ext cx="2655911" cy="1705172"/>
                  <a:chOff x="2994686" y="1214529"/>
                  <a:chExt cx="2655911" cy="1705172"/>
                </a:xfrm>
              </p:grpSpPr>
              <p:sp>
                <p:nvSpPr>
                  <p:cNvPr id="171" name="CuadroTexto 170">
                    <a:extLst>
                      <a:ext uri="{FF2B5EF4-FFF2-40B4-BE49-F238E27FC236}">
                        <a16:creationId xmlns:a16="http://schemas.microsoft.com/office/drawing/2014/main" id="{EBCD9D83-1EAF-9488-0F5F-B45EA47F1A30}"/>
                      </a:ext>
                    </a:extLst>
                  </p:cNvPr>
                  <p:cNvSpPr txBox="1"/>
                  <p:nvPr/>
                </p:nvSpPr>
                <p:spPr>
                  <a:xfrm>
                    <a:off x="3700993" y="1214529"/>
                    <a:ext cx="1949604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Localidad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72" name="CuadroTexto 171">
                    <a:extLst>
                      <a:ext uri="{FF2B5EF4-FFF2-40B4-BE49-F238E27FC236}">
                        <a16:creationId xmlns:a16="http://schemas.microsoft.com/office/drawing/2014/main" id="{B7631FDC-8545-3575-AA23-8534C0F98C63}"/>
                      </a:ext>
                    </a:extLst>
                  </p:cNvPr>
                  <p:cNvSpPr txBox="1"/>
                  <p:nvPr/>
                </p:nvSpPr>
                <p:spPr>
                  <a:xfrm>
                    <a:off x="2994686" y="2353025"/>
                    <a:ext cx="1323041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3%</a:t>
                    </a: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    P Aranda</a:t>
                    </a:r>
                  </a:p>
                </p:txBody>
              </p:sp>
            </p:grpSp>
          </p:grpSp>
          <p:sp>
            <p:nvSpPr>
              <p:cNvPr id="166" name="CuadroTexto 165">
                <a:extLst>
                  <a:ext uri="{FF2B5EF4-FFF2-40B4-BE49-F238E27FC236}">
                    <a16:creationId xmlns:a16="http://schemas.microsoft.com/office/drawing/2014/main" id="{C995BCAF-663D-DABC-6167-8BB2001A902A}"/>
                  </a:ext>
                </a:extLst>
              </p:cNvPr>
              <p:cNvSpPr txBox="1"/>
              <p:nvPr/>
            </p:nvSpPr>
            <p:spPr>
              <a:xfrm>
                <a:off x="9059295" y="3565727"/>
                <a:ext cx="128594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5%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Kennedy</a:t>
                </a:r>
              </a:p>
            </p:txBody>
          </p:sp>
          <p:sp>
            <p:nvSpPr>
              <p:cNvPr id="167" name="CuadroTexto 166">
                <a:extLst>
                  <a:ext uri="{FF2B5EF4-FFF2-40B4-BE49-F238E27FC236}">
                    <a16:creationId xmlns:a16="http://schemas.microsoft.com/office/drawing/2014/main" id="{2DC026A9-E870-1658-0303-E2AE387C1081}"/>
                  </a:ext>
                </a:extLst>
              </p:cNvPr>
              <p:cNvSpPr txBox="1"/>
              <p:nvPr/>
            </p:nvSpPr>
            <p:spPr>
              <a:xfrm>
                <a:off x="10498522" y="3549824"/>
                <a:ext cx="1244387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4%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</a:t>
                </a:r>
                <a:r>
                  <a:rPr lang="es-CO" sz="1400" b="1" dirty="0" err="1">
                    <a:solidFill>
                      <a:schemeClr val="bg1"/>
                    </a:solidFill>
                  </a:rPr>
                  <a:t>Engativa</a:t>
                </a:r>
                <a:endParaRPr lang="es-CO" sz="14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85" name="CuadroTexto 184">
              <a:extLst>
                <a:ext uri="{FF2B5EF4-FFF2-40B4-BE49-F238E27FC236}">
                  <a16:creationId xmlns:a16="http://schemas.microsoft.com/office/drawing/2014/main" id="{71B7C82D-03FF-FAFD-3697-27E88B37381B}"/>
                </a:ext>
              </a:extLst>
            </p:cNvPr>
            <p:cNvSpPr txBox="1"/>
            <p:nvPr/>
          </p:nvSpPr>
          <p:spPr>
            <a:xfrm>
              <a:off x="6625166" y="6212468"/>
              <a:ext cx="1323041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63%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 Sin </a:t>
              </a:r>
              <a:r>
                <a:rPr lang="es-CO" sz="1400" b="1" dirty="0" err="1">
                  <a:solidFill>
                    <a:schemeClr val="bg1"/>
                  </a:solidFill>
                </a:rPr>
                <a:t>Infor</a:t>
              </a:r>
              <a:endParaRPr lang="es-CO" sz="1400" b="1" dirty="0">
                <a:solidFill>
                  <a:schemeClr val="bg1"/>
                </a:solidFill>
              </a:endParaRPr>
            </a:p>
          </p:txBody>
        </p:sp>
        <p:pic>
          <p:nvPicPr>
            <p:cNvPr id="187" name="Imagen 186">
              <a:extLst>
                <a:ext uri="{FF2B5EF4-FFF2-40B4-BE49-F238E27FC236}">
                  <a16:creationId xmlns:a16="http://schemas.microsoft.com/office/drawing/2014/main" id="{04152BFC-7DEF-114E-C01B-02E9DE392A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401571" y="5793688"/>
              <a:ext cx="1266970" cy="620378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grpSp>
        <p:nvGrpSpPr>
          <p:cNvPr id="202" name="Grupo 201">
            <a:extLst>
              <a:ext uri="{FF2B5EF4-FFF2-40B4-BE49-F238E27FC236}">
                <a16:creationId xmlns:a16="http://schemas.microsoft.com/office/drawing/2014/main" id="{DBAFABCC-637C-743C-B4EA-5DFF97785563}"/>
              </a:ext>
            </a:extLst>
          </p:cNvPr>
          <p:cNvGrpSpPr/>
          <p:nvPr/>
        </p:nvGrpSpPr>
        <p:grpSpPr>
          <a:xfrm>
            <a:off x="7528734" y="4834201"/>
            <a:ext cx="2867011" cy="1957609"/>
            <a:chOff x="8071595" y="4834201"/>
            <a:chExt cx="3008704" cy="1957609"/>
          </a:xfrm>
        </p:grpSpPr>
        <p:grpSp>
          <p:nvGrpSpPr>
            <p:cNvPr id="190" name="Grupo 189">
              <a:extLst>
                <a:ext uri="{FF2B5EF4-FFF2-40B4-BE49-F238E27FC236}">
                  <a16:creationId xmlns:a16="http://schemas.microsoft.com/office/drawing/2014/main" id="{78181E13-2246-1EB4-1FE7-24D7B44989FD}"/>
                </a:ext>
              </a:extLst>
            </p:cNvPr>
            <p:cNvGrpSpPr/>
            <p:nvPr/>
          </p:nvGrpSpPr>
          <p:grpSpPr>
            <a:xfrm>
              <a:off x="8071595" y="4834201"/>
              <a:ext cx="3008704" cy="1957609"/>
              <a:chOff x="8845727" y="3127128"/>
              <a:chExt cx="3008704" cy="1957609"/>
            </a:xfrm>
          </p:grpSpPr>
          <p:grpSp>
            <p:nvGrpSpPr>
              <p:cNvPr id="191" name="Grupo 190">
                <a:extLst>
                  <a:ext uri="{FF2B5EF4-FFF2-40B4-BE49-F238E27FC236}">
                    <a16:creationId xmlns:a16="http://schemas.microsoft.com/office/drawing/2014/main" id="{D444C4C4-0C81-0C31-39A6-00FB3007C35E}"/>
                  </a:ext>
                </a:extLst>
              </p:cNvPr>
              <p:cNvGrpSpPr/>
              <p:nvPr/>
            </p:nvGrpSpPr>
            <p:grpSpPr>
              <a:xfrm>
                <a:off x="8845727" y="3127128"/>
                <a:ext cx="3008704" cy="1957609"/>
                <a:chOff x="7355504" y="1110832"/>
                <a:chExt cx="3008704" cy="1802169"/>
              </a:xfrm>
            </p:grpSpPr>
            <p:sp>
              <p:nvSpPr>
                <p:cNvPr id="194" name="Rectángulo 193">
                  <a:extLst>
                    <a:ext uri="{FF2B5EF4-FFF2-40B4-BE49-F238E27FC236}">
                      <a16:creationId xmlns:a16="http://schemas.microsoft.com/office/drawing/2014/main" id="{703AD9BA-04DC-0268-505D-A9109332E4CF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368574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95" name="Grupo 194">
                  <a:extLst>
                    <a:ext uri="{FF2B5EF4-FFF2-40B4-BE49-F238E27FC236}">
                      <a16:creationId xmlns:a16="http://schemas.microsoft.com/office/drawing/2014/main" id="{1CA1A11B-467C-1C77-0209-3C2C8B438CB1}"/>
                    </a:ext>
                  </a:extLst>
                </p:cNvPr>
                <p:cNvGrpSpPr/>
                <p:nvPr/>
              </p:nvGrpSpPr>
              <p:grpSpPr>
                <a:xfrm>
                  <a:off x="7355504" y="1207828"/>
                  <a:ext cx="3008704" cy="1705173"/>
                  <a:chOff x="2791083" y="1214528"/>
                  <a:chExt cx="3008704" cy="1705173"/>
                </a:xfrm>
              </p:grpSpPr>
              <p:sp>
                <p:nvSpPr>
                  <p:cNvPr id="197" name="CuadroTexto 196">
                    <a:extLst>
                      <a:ext uri="{FF2B5EF4-FFF2-40B4-BE49-F238E27FC236}">
                        <a16:creationId xmlns:a16="http://schemas.microsoft.com/office/drawing/2014/main" id="{8FB8E1A4-88A0-1DD4-1C0B-5ABC7FEE00B2}"/>
                      </a:ext>
                    </a:extLst>
                  </p:cNvPr>
                  <p:cNvSpPr txBox="1"/>
                  <p:nvPr/>
                </p:nvSpPr>
                <p:spPr>
                  <a:xfrm>
                    <a:off x="3225997" y="1214528"/>
                    <a:ext cx="2573790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Entidad Financieras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98" name="CuadroTexto 197">
                    <a:extLst>
                      <a:ext uri="{FF2B5EF4-FFF2-40B4-BE49-F238E27FC236}">
                        <a16:creationId xmlns:a16="http://schemas.microsoft.com/office/drawing/2014/main" id="{DAA66079-860C-509D-2EBA-7FC8FF4256E2}"/>
                      </a:ext>
                    </a:extLst>
                  </p:cNvPr>
                  <p:cNvSpPr txBox="1"/>
                  <p:nvPr/>
                </p:nvSpPr>
                <p:spPr>
                  <a:xfrm>
                    <a:off x="2791083" y="2353025"/>
                    <a:ext cx="2440539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15%</a:t>
                    </a: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       Davivienda</a:t>
                    </a:r>
                  </a:p>
                </p:txBody>
              </p:sp>
            </p:grpSp>
          </p:grpSp>
          <p:sp>
            <p:nvSpPr>
              <p:cNvPr id="192" name="CuadroTexto 191">
                <a:extLst>
                  <a:ext uri="{FF2B5EF4-FFF2-40B4-BE49-F238E27FC236}">
                    <a16:creationId xmlns:a16="http://schemas.microsoft.com/office/drawing/2014/main" id="{B268EFD4-F4D5-637F-F34B-5AE6A9823FCF}"/>
                  </a:ext>
                </a:extLst>
              </p:cNvPr>
              <p:cNvSpPr txBox="1"/>
              <p:nvPr/>
            </p:nvSpPr>
            <p:spPr>
              <a:xfrm>
                <a:off x="9267841" y="3565727"/>
                <a:ext cx="1337256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35%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Colsubsidio</a:t>
                </a:r>
              </a:p>
            </p:txBody>
          </p:sp>
          <p:sp>
            <p:nvSpPr>
              <p:cNvPr id="193" name="CuadroTexto 192">
                <a:extLst>
                  <a:ext uri="{FF2B5EF4-FFF2-40B4-BE49-F238E27FC236}">
                    <a16:creationId xmlns:a16="http://schemas.microsoft.com/office/drawing/2014/main" id="{DF570005-25C6-1F85-05A9-A845ED08FBC4}"/>
                  </a:ext>
                </a:extLst>
              </p:cNvPr>
              <p:cNvSpPr txBox="1"/>
              <p:nvPr/>
            </p:nvSpPr>
            <p:spPr>
              <a:xfrm>
                <a:off x="10498522" y="3549824"/>
                <a:ext cx="1244387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24%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B </a:t>
                </a:r>
                <a:r>
                  <a:rPr lang="es-CO" sz="1400" b="1" dirty="0" err="1">
                    <a:solidFill>
                      <a:schemeClr val="bg1"/>
                    </a:solidFill>
                  </a:rPr>
                  <a:t>Bogota</a:t>
                </a:r>
                <a:endParaRPr lang="es-CO" sz="14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99" name="CuadroTexto 198">
              <a:extLst>
                <a:ext uri="{FF2B5EF4-FFF2-40B4-BE49-F238E27FC236}">
                  <a16:creationId xmlns:a16="http://schemas.microsoft.com/office/drawing/2014/main" id="{0E43978D-97DD-47AB-DEAF-9366601E718E}"/>
                </a:ext>
              </a:extLst>
            </p:cNvPr>
            <p:cNvSpPr txBox="1"/>
            <p:nvPr/>
          </p:nvSpPr>
          <p:spPr>
            <a:xfrm>
              <a:off x="9366872" y="6140046"/>
              <a:ext cx="1432616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   26%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     Otros</a:t>
              </a:r>
            </a:p>
          </p:txBody>
        </p:sp>
      </p:grpSp>
      <p:sp>
        <p:nvSpPr>
          <p:cNvPr id="200" name="CuadroTexto 199">
            <a:extLst>
              <a:ext uri="{FF2B5EF4-FFF2-40B4-BE49-F238E27FC236}">
                <a16:creationId xmlns:a16="http://schemas.microsoft.com/office/drawing/2014/main" id="{312F4844-7FFC-4711-42CF-52D3100487ED}"/>
              </a:ext>
            </a:extLst>
          </p:cNvPr>
          <p:cNvSpPr txBox="1"/>
          <p:nvPr/>
        </p:nvSpPr>
        <p:spPr>
          <a:xfrm>
            <a:off x="4140736" y="5856787"/>
            <a:ext cx="137625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1%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Soacha</a:t>
            </a:r>
          </a:p>
        </p:txBody>
      </p:sp>
      <p:pic>
        <p:nvPicPr>
          <p:cNvPr id="205" name="Imagen 204">
            <a:extLst>
              <a:ext uri="{FF2B5EF4-FFF2-40B4-BE49-F238E27FC236}">
                <a16:creationId xmlns:a16="http://schemas.microsoft.com/office/drawing/2014/main" id="{B909B1BA-F75B-0AAA-A85F-F5072484935B}"/>
              </a:ext>
            </a:extLst>
          </p:cNvPr>
          <p:cNvPicPr>
            <a:picLocks noChangeAspect="1"/>
          </p:cNvPicPr>
          <p:nvPr/>
        </p:nvPicPr>
        <p:blipFill>
          <a:blip r:embed="rId22">
            <a:duotone>
              <a:prstClr val="black"/>
              <a:schemeClr val="tx1">
                <a:lumMod val="75000"/>
                <a:lumOff val="2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4538" y="5846263"/>
            <a:ext cx="673981" cy="673981"/>
          </a:xfrm>
          <a:prstGeom prst="rect">
            <a:avLst/>
          </a:prstGeom>
        </p:spPr>
      </p:pic>
      <p:grpSp>
        <p:nvGrpSpPr>
          <p:cNvPr id="208" name="Grupo 207">
            <a:extLst>
              <a:ext uri="{FF2B5EF4-FFF2-40B4-BE49-F238E27FC236}">
                <a16:creationId xmlns:a16="http://schemas.microsoft.com/office/drawing/2014/main" id="{1BF75C7C-CFA4-96C0-417C-AE0CFD4B2054}"/>
              </a:ext>
            </a:extLst>
          </p:cNvPr>
          <p:cNvGrpSpPr/>
          <p:nvPr/>
        </p:nvGrpSpPr>
        <p:grpSpPr>
          <a:xfrm>
            <a:off x="10245555" y="853892"/>
            <a:ext cx="1956550" cy="5540381"/>
            <a:chOff x="7793864" y="1110832"/>
            <a:chExt cx="1816602" cy="1780012"/>
          </a:xfrm>
        </p:grpSpPr>
        <p:sp>
          <p:nvSpPr>
            <p:cNvPr id="212" name="Rectángulo 211">
              <a:extLst>
                <a:ext uri="{FF2B5EF4-FFF2-40B4-BE49-F238E27FC236}">
                  <a16:creationId xmlns:a16="http://schemas.microsoft.com/office/drawing/2014/main" id="{F9C600C1-0936-9EE5-E326-E80A8BF78726}"/>
                </a:ext>
              </a:extLst>
            </p:cNvPr>
            <p:cNvSpPr/>
            <p:nvPr/>
          </p:nvSpPr>
          <p:spPr>
            <a:xfrm>
              <a:off x="7814360" y="1110832"/>
              <a:ext cx="1666611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5" name="CuadroTexto 214">
              <a:extLst>
                <a:ext uri="{FF2B5EF4-FFF2-40B4-BE49-F238E27FC236}">
                  <a16:creationId xmlns:a16="http://schemas.microsoft.com/office/drawing/2014/main" id="{D000897F-AF63-823A-D757-2FCACB0F4449}"/>
                </a:ext>
              </a:extLst>
            </p:cNvPr>
            <p:cNvSpPr txBox="1"/>
            <p:nvPr/>
          </p:nvSpPr>
          <p:spPr>
            <a:xfrm>
              <a:off x="7793864" y="1161252"/>
              <a:ext cx="1816602" cy="1141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1600">
                  <a:solidFill>
                    <a:srgbClr val="FFC000"/>
                  </a:solidFill>
                  <a:latin typeface="KG Red Hands" panose="02000505000000020004" pitchFamily="2" charset="0"/>
                </a:rPr>
                <a:t>Top Empresas</a:t>
              </a:r>
              <a:endParaRPr lang="es-ES" sz="1600">
                <a:solidFill>
                  <a:srgbClr val="FFC000"/>
                </a:solidFill>
              </a:endParaRPr>
            </a:p>
          </p:txBody>
        </p:sp>
        <p:sp>
          <p:nvSpPr>
            <p:cNvPr id="214" name="CuadroTexto 213">
              <a:extLst>
                <a:ext uri="{FF2B5EF4-FFF2-40B4-BE49-F238E27FC236}">
                  <a16:creationId xmlns:a16="http://schemas.microsoft.com/office/drawing/2014/main" id="{3DAF8540-5A7A-781E-46C9-7A24D5E810D5}"/>
                </a:ext>
              </a:extLst>
            </p:cNvPr>
            <p:cNvSpPr txBox="1"/>
            <p:nvPr/>
          </p:nvSpPr>
          <p:spPr>
            <a:xfrm>
              <a:off x="7830402" y="1354030"/>
              <a:ext cx="1689688" cy="3263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500" b="1" dirty="0">
                  <a:solidFill>
                    <a:schemeClr val="bg1"/>
                  </a:solidFill>
                </a:rPr>
                <a:t>COLSUBSIDIO	18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MINUTO DE DIOS	4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NTT DATA COLOMBIA S. A. S.	3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INPEC	3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CONSORCIO EXPRESS S A S	3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DIRECCION SECC AMAZONAS	3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BRINSA S A	2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MULTIENLACE S A	2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CLINICA COLSANITAS S.A.	2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BANCO DE OCCIDENTE S A	2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BISION CONSULTING S A S	2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	                               </a:t>
              </a: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DA5F3F8F-A8C2-0914-4718-E4D2F6996C5C}"/>
              </a:ext>
            </a:extLst>
          </p:cNvPr>
          <p:cNvSpPr txBox="1"/>
          <p:nvPr/>
        </p:nvSpPr>
        <p:spPr>
          <a:xfrm>
            <a:off x="10330342" y="6461181"/>
            <a:ext cx="14292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100" dirty="0">
                <a:solidFill>
                  <a:srgbClr val="FFC000"/>
                </a:solidFill>
                <a:latin typeface="KG Red Hands" panose="02000505000000020004" pitchFamily="2" charset="0"/>
              </a:rPr>
              <a:t>*Corte 15/01/2026</a:t>
            </a:r>
            <a:endParaRPr lang="es-ES" sz="11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2975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AE90B-D2A2-D282-B6E8-824A8F6E2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E05868FF-E845-75EF-6EFF-8623DDFD47D7}"/>
              </a:ext>
            </a:extLst>
          </p:cNvPr>
          <p:cNvCxnSpPr>
            <a:cxnSpLocks/>
          </p:cNvCxnSpPr>
          <p:nvPr/>
        </p:nvCxnSpPr>
        <p:spPr>
          <a:xfrm flipH="1">
            <a:off x="0" y="645614"/>
            <a:ext cx="10809007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uadroTexto 85">
            <a:extLst>
              <a:ext uri="{FF2B5EF4-FFF2-40B4-BE49-F238E27FC236}">
                <a16:creationId xmlns:a16="http://schemas.microsoft.com/office/drawing/2014/main" id="{968B7AA2-B6D0-3F0E-F3F5-C548C4533691}"/>
              </a:ext>
            </a:extLst>
          </p:cNvPr>
          <p:cNvSpPr txBox="1"/>
          <p:nvPr/>
        </p:nvSpPr>
        <p:spPr>
          <a:xfrm>
            <a:off x="-128399" y="120715"/>
            <a:ext cx="95771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dirty="0">
                <a:solidFill>
                  <a:schemeClr val="bg1"/>
                </a:solidFill>
                <a:latin typeface="KG Red Hands" panose="02000505000000020004" pitchFamily="2" charset="0"/>
              </a:rPr>
              <a:t>       Araucaria</a:t>
            </a:r>
            <a:endParaRPr lang="es-ES" sz="24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5321EDA1-7F3B-6A59-B2F4-6C25C58CD183}"/>
              </a:ext>
              <a:ext uri="{147F2762-F138-4A5C-976F-8EAC2B608ADB}">
                <a16:predDERef xmlns:a16="http://schemas.microsoft.com/office/drawing/2014/main" pred="{95DEFF95-1524-40DB-8538-DE0C2D5BEC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3398838"/>
            <a:ext cx="555625" cy="49371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58B570CA-2422-9739-E80C-F3329AD45F3B}"/>
              </a:ext>
              <a:ext uri="{147F2762-F138-4A5C-976F-8EAC2B608ADB}">
                <a16:predDERef xmlns:a16="http://schemas.microsoft.com/office/drawing/2014/main" pred="{95FFDEC5-E647-4E60-9FB8-32349ACC1E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087813"/>
            <a:ext cx="555625" cy="46196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E72D079E-3D5C-660A-74C4-2163E817F60E}"/>
              </a:ext>
              <a:ext uri="{147F2762-F138-4A5C-976F-8EAC2B608ADB}">
                <a16:predDERef xmlns:a16="http://schemas.microsoft.com/office/drawing/2014/main" pred="{D53D0C4A-FE71-44C0-97B3-1EA296D3DCE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814888"/>
            <a:ext cx="555625" cy="41116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791ADAA-738D-3614-F1C9-449E9278C5BC}"/>
              </a:ext>
              <a:ext uri="{147F2762-F138-4A5C-976F-8EAC2B608ADB}">
                <a16:predDERef xmlns:a16="http://schemas.microsoft.com/office/drawing/2014/main" pred="{7008BA42-7365-4AD1-B913-F26820CE47E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1775" y="5427663"/>
            <a:ext cx="465138" cy="433387"/>
          </a:xfrm>
          <a:prstGeom prst="rect">
            <a:avLst/>
          </a:prstGeom>
        </p:spPr>
      </p:pic>
      <p:grpSp>
        <p:nvGrpSpPr>
          <p:cNvPr id="135" name="Grupo 134">
            <a:extLst>
              <a:ext uri="{FF2B5EF4-FFF2-40B4-BE49-F238E27FC236}">
                <a16:creationId xmlns:a16="http://schemas.microsoft.com/office/drawing/2014/main" id="{1F9900FA-0E8C-3AA7-E903-38396C9397E2}"/>
              </a:ext>
            </a:extLst>
          </p:cNvPr>
          <p:cNvGrpSpPr/>
          <p:nvPr/>
        </p:nvGrpSpPr>
        <p:grpSpPr>
          <a:xfrm>
            <a:off x="5493034" y="853892"/>
            <a:ext cx="2267141" cy="1780012"/>
            <a:chOff x="5282503" y="1110832"/>
            <a:chExt cx="2267141" cy="1780012"/>
          </a:xfrm>
        </p:grpSpPr>
        <p:sp>
          <p:nvSpPr>
            <p:cNvPr id="58" name="Rectángulo 57">
              <a:extLst>
                <a:ext uri="{FF2B5EF4-FFF2-40B4-BE49-F238E27FC236}">
                  <a16:creationId xmlns:a16="http://schemas.microsoft.com/office/drawing/2014/main" id="{7F9BE13A-91D3-913A-8258-74E4A9B9D56F}"/>
                </a:ext>
              </a:extLst>
            </p:cNvPr>
            <p:cNvSpPr/>
            <p:nvPr/>
          </p:nvSpPr>
          <p:spPr>
            <a:xfrm>
              <a:off x="5353656" y="1110832"/>
              <a:ext cx="2195987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43" name="Grupo 42">
              <a:extLst>
                <a:ext uri="{FF2B5EF4-FFF2-40B4-BE49-F238E27FC236}">
                  <a16:creationId xmlns:a16="http://schemas.microsoft.com/office/drawing/2014/main" id="{B844536A-3769-7795-5D5B-7BEC54E25A7A}"/>
                </a:ext>
              </a:extLst>
            </p:cNvPr>
            <p:cNvGrpSpPr/>
            <p:nvPr/>
          </p:nvGrpSpPr>
          <p:grpSpPr>
            <a:xfrm>
              <a:off x="5282503" y="1223137"/>
              <a:ext cx="2154847" cy="848721"/>
              <a:chOff x="3178786" y="1229837"/>
              <a:chExt cx="2154847" cy="848721"/>
            </a:xfrm>
          </p:grpSpPr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E169E5E2-C2E8-6775-D5D7-67076FF7A398}"/>
                  </a:ext>
                </a:extLst>
              </p:cNvPr>
              <p:cNvSpPr txBox="1"/>
              <p:nvPr/>
            </p:nvSpPr>
            <p:spPr>
              <a:xfrm>
                <a:off x="3552927" y="1229837"/>
                <a:ext cx="178070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Rango Salario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FD52F39E-F7AC-5D98-8F36-4C99C8A474CE}"/>
                  </a:ext>
                </a:extLst>
              </p:cNvPr>
              <p:cNvSpPr txBox="1"/>
              <p:nvPr/>
            </p:nvSpPr>
            <p:spPr>
              <a:xfrm>
                <a:off x="3178786" y="1524560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25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Entre 4 y 6</a:t>
                </a:r>
              </a:p>
            </p:txBody>
          </p:sp>
        </p:grpSp>
        <p:pic>
          <p:nvPicPr>
            <p:cNvPr id="53" name="Imagen 52">
              <a:extLst>
                <a:ext uri="{FF2B5EF4-FFF2-40B4-BE49-F238E27FC236}">
                  <a16:creationId xmlns:a16="http://schemas.microsoft.com/office/drawing/2014/main" id="{062C627B-53A0-599D-C3BA-770FAB88E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12042" y="1623254"/>
              <a:ext cx="641350" cy="641350"/>
            </a:xfrm>
            <a:prstGeom prst="rect">
              <a:avLst/>
            </a:prstGeom>
          </p:spPr>
        </p:pic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A55CC943-0616-0DF5-E34C-C04771EC036D}"/>
                </a:ext>
              </a:extLst>
            </p:cNvPr>
            <p:cNvSpPr txBox="1"/>
            <p:nvPr/>
          </p:nvSpPr>
          <p:spPr>
            <a:xfrm>
              <a:off x="6376735" y="2289285"/>
              <a:ext cx="1172909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22</a:t>
              </a:r>
              <a:r>
                <a:rPr lang="es-CO" sz="18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Entre 3 y 4</a:t>
              </a:r>
            </a:p>
          </p:txBody>
        </p:sp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477C21C0-DD0E-AA25-931E-E2EE4815A75A}"/>
              </a:ext>
            </a:extLst>
          </p:cNvPr>
          <p:cNvGrpSpPr/>
          <p:nvPr/>
        </p:nvGrpSpPr>
        <p:grpSpPr>
          <a:xfrm>
            <a:off x="3320687" y="874756"/>
            <a:ext cx="1941094" cy="1759148"/>
            <a:chOff x="3224463" y="1110832"/>
            <a:chExt cx="1941094" cy="1759148"/>
          </a:xfrm>
        </p:grpSpPr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6B6ADC9E-7E85-99CB-B292-FE483665D1E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36596" y="1677993"/>
              <a:ext cx="721895" cy="721895"/>
            </a:xfrm>
            <a:prstGeom prst="rect">
              <a:avLst/>
            </a:prstGeom>
          </p:spPr>
        </p:pic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4104868C-379A-B8A4-277E-95B2E6214E57}"/>
                </a:ext>
              </a:extLst>
            </p:cNvPr>
            <p:cNvGrpSpPr/>
            <p:nvPr/>
          </p:nvGrpSpPr>
          <p:grpSpPr>
            <a:xfrm>
              <a:off x="3420553" y="1223137"/>
              <a:ext cx="1609350" cy="1516670"/>
              <a:chOff x="3420553" y="1223137"/>
              <a:chExt cx="1609350" cy="1516670"/>
            </a:xfrm>
          </p:grpSpPr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08341130-E0C8-D3DC-B5F0-32D438A43C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74608" y="1613811"/>
                <a:ext cx="723600" cy="723600"/>
              </a:xfrm>
              <a:prstGeom prst="rect">
                <a:avLst/>
              </a:prstGeom>
            </p:spPr>
          </p:pic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95C8079C-E370-3492-71FD-343A9C4217BA}"/>
                  </a:ext>
                </a:extLst>
              </p:cNvPr>
              <p:cNvSpPr txBox="1"/>
              <p:nvPr/>
            </p:nvSpPr>
            <p:spPr>
              <a:xfrm>
                <a:off x="3685253" y="1223137"/>
                <a:ext cx="1098946" cy="345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Género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D4B4C195-6E46-968D-AEB4-C2C880388201}"/>
                  </a:ext>
                </a:extLst>
              </p:cNvPr>
              <p:cNvSpPr txBox="1"/>
              <p:nvPr/>
            </p:nvSpPr>
            <p:spPr>
              <a:xfrm>
                <a:off x="3420553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47%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D86C447E-AC29-C954-0A63-C1E029C8AD98}"/>
                  </a:ext>
                </a:extLst>
              </p:cNvPr>
              <p:cNvSpPr txBox="1"/>
              <p:nvPr/>
            </p:nvSpPr>
            <p:spPr>
              <a:xfrm>
                <a:off x="4308008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53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</p:grp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30EB7FAC-AC24-488A-0C14-AA907EF5335F}"/>
                </a:ext>
              </a:extLst>
            </p:cNvPr>
            <p:cNvSpPr/>
            <p:nvPr/>
          </p:nvSpPr>
          <p:spPr>
            <a:xfrm>
              <a:off x="3224463" y="1110832"/>
              <a:ext cx="1941094" cy="175914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78" name="CuadroTexto 77">
            <a:extLst>
              <a:ext uri="{FF2B5EF4-FFF2-40B4-BE49-F238E27FC236}">
                <a16:creationId xmlns:a16="http://schemas.microsoft.com/office/drawing/2014/main" id="{58EE6920-1ACA-D6A6-CAC1-020A375C6EDA}"/>
              </a:ext>
            </a:extLst>
          </p:cNvPr>
          <p:cNvSpPr txBox="1"/>
          <p:nvPr/>
        </p:nvSpPr>
        <p:spPr>
          <a:xfrm>
            <a:off x="1376075" y="3222417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38%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Joven</a:t>
            </a:r>
          </a:p>
        </p:txBody>
      </p: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3E30C32B-B9AB-589C-A6AA-F83A1A8F2F39}"/>
              </a:ext>
            </a:extLst>
          </p:cNvPr>
          <p:cNvGrpSpPr/>
          <p:nvPr/>
        </p:nvGrpSpPr>
        <p:grpSpPr>
          <a:xfrm>
            <a:off x="-155207" y="2771278"/>
            <a:ext cx="2688149" cy="1952067"/>
            <a:chOff x="435343" y="3108160"/>
            <a:chExt cx="2688149" cy="1952067"/>
          </a:xfrm>
        </p:grpSpPr>
        <p:grpSp>
          <p:nvGrpSpPr>
            <p:cNvPr id="69" name="Grupo 68">
              <a:extLst>
                <a:ext uri="{FF2B5EF4-FFF2-40B4-BE49-F238E27FC236}">
                  <a16:creationId xmlns:a16="http://schemas.microsoft.com/office/drawing/2014/main" id="{ECB0D6EB-358A-DF71-D9C3-19E9C1D21107}"/>
                </a:ext>
              </a:extLst>
            </p:cNvPr>
            <p:cNvGrpSpPr/>
            <p:nvPr/>
          </p:nvGrpSpPr>
          <p:grpSpPr>
            <a:xfrm>
              <a:off x="457829" y="3108160"/>
              <a:ext cx="2665663" cy="1952067"/>
              <a:chOff x="7590765" y="1110832"/>
              <a:chExt cx="2665663" cy="1780012"/>
            </a:xfrm>
          </p:grpSpPr>
          <p:sp>
            <p:nvSpPr>
              <p:cNvPr id="70" name="Rectángulo 69">
                <a:extLst>
                  <a:ext uri="{FF2B5EF4-FFF2-40B4-BE49-F238E27FC236}">
                    <a16:creationId xmlns:a16="http://schemas.microsoft.com/office/drawing/2014/main" id="{30D37CB6-F7BA-8669-AE27-DABF90C0E598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71" name="Grupo 70">
                <a:extLst>
                  <a:ext uri="{FF2B5EF4-FFF2-40B4-BE49-F238E27FC236}">
                    <a16:creationId xmlns:a16="http://schemas.microsoft.com/office/drawing/2014/main" id="{922E5FE5-A6A7-765B-D4C0-5C1C2F07B82C}"/>
                  </a:ext>
                </a:extLst>
              </p:cNvPr>
              <p:cNvGrpSpPr/>
              <p:nvPr/>
            </p:nvGrpSpPr>
            <p:grpSpPr>
              <a:xfrm>
                <a:off x="7590765" y="1223137"/>
                <a:ext cx="2024519" cy="1655939"/>
                <a:chOff x="3026344" y="1229837"/>
                <a:chExt cx="2024519" cy="1655939"/>
              </a:xfrm>
            </p:grpSpPr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0C3D06EB-0D02-8B26-B883-D18589950E07}"/>
                    </a:ext>
                  </a:extLst>
                </p:cNvPr>
                <p:cNvSpPr txBox="1"/>
                <p:nvPr/>
              </p:nvSpPr>
              <p:spPr>
                <a:xfrm>
                  <a:off x="3645002" y="1229837"/>
                  <a:ext cx="1405861" cy="3087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Segmento 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4659FB92-799C-C15C-49F5-C05DD9B9B5D0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12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3%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Básico</a:t>
                  </a:r>
                </a:p>
              </p:txBody>
            </p:sp>
          </p:grpSp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2AD2EF04-5E4A-0A33-F5DD-FE9F8181ED3E}"/>
                  </a:ext>
                </a:extLst>
              </p:cNvPr>
              <p:cNvSpPr txBox="1"/>
              <p:nvPr/>
            </p:nvSpPr>
            <p:spPr>
              <a:xfrm>
                <a:off x="9083519" y="2317778"/>
                <a:ext cx="1172909" cy="5612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3%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Alto</a:t>
                </a:r>
              </a:p>
            </p:txBody>
          </p:sp>
        </p:grpSp>
        <p:sp>
          <p:nvSpPr>
            <p:cNvPr id="77" name="CuadroTexto 76">
              <a:extLst>
                <a:ext uri="{FF2B5EF4-FFF2-40B4-BE49-F238E27FC236}">
                  <a16:creationId xmlns:a16="http://schemas.microsoft.com/office/drawing/2014/main" id="{AD6E1F80-CE61-B589-20B5-9446F3EE397D}"/>
                </a:ext>
              </a:extLst>
            </p:cNvPr>
            <p:cNvSpPr txBox="1"/>
            <p:nvPr/>
          </p:nvSpPr>
          <p:spPr>
            <a:xfrm>
              <a:off x="435343" y="3559299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56%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Medio</a:t>
              </a:r>
            </a:p>
          </p:txBody>
        </p:sp>
        <p:pic>
          <p:nvPicPr>
            <p:cNvPr id="80" name="Imagen 79">
              <a:extLst>
                <a:ext uri="{FF2B5EF4-FFF2-40B4-BE49-F238E27FC236}">
                  <a16:creationId xmlns:a16="http://schemas.microsoft.com/office/drawing/2014/main" id="{AA4E98D7-B0C5-A542-2CCC-6E493AA523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LineDrawing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90862" y="3871141"/>
              <a:ext cx="680857" cy="680857"/>
            </a:xfrm>
            <a:prstGeom prst="rect">
              <a:avLst/>
            </a:prstGeom>
          </p:spPr>
        </p:pic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DA152E72-E87B-4306-E3A2-A61EF0E0431A}"/>
              </a:ext>
            </a:extLst>
          </p:cNvPr>
          <p:cNvGrpSpPr/>
          <p:nvPr/>
        </p:nvGrpSpPr>
        <p:grpSpPr>
          <a:xfrm>
            <a:off x="2169335" y="2774370"/>
            <a:ext cx="3284086" cy="1963483"/>
            <a:chOff x="2759885" y="3111252"/>
            <a:chExt cx="3284086" cy="1963483"/>
          </a:xfrm>
        </p:grpSpPr>
        <p:sp>
          <p:nvSpPr>
            <p:cNvPr id="88" name="CuadroTexto 87">
              <a:extLst>
                <a:ext uri="{FF2B5EF4-FFF2-40B4-BE49-F238E27FC236}">
                  <a16:creationId xmlns:a16="http://schemas.microsoft.com/office/drawing/2014/main" id="{58C46A21-E4D0-7229-7C0B-34854D443EE2}"/>
                </a:ext>
              </a:extLst>
            </p:cNvPr>
            <p:cNvSpPr txBox="1"/>
            <p:nvPr/>
          </p:nvSpPr>
          <p:spPr>
            <a:xfrm>
              <a:off x="2759885" y="3531697"/>
              <a:ext cx="154680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   47%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             Sin Grupo</a:t>
              </a:r>
            </a:p>
          </p:txBody>
        </p:sp>
        <p:grpSp>
          <p:nvGrpSpPr>
            <p:cNvPr id="124" name="Grupo 123">
              <a:extLst>
                <a:ext uri="{FF2B5EF4-FFF2-40B4-BE49-F238E27FC236}">
                  <a16:creationId xmlns:a16="http://schemas.microsoft.com/office/drawing/2014/main" id="{9C248094-43AB-231A-0292-7695B5033751}"/>
                </a:ext>
              </a:extLst>
            </p:cNvPr>
            <p:cNvGrpSpPr/>
            <p:nvPr/>
          </p:nvGrpSpPr>
          <p:grpSpPr>
            <a:xfrm>
              <a:off x="2827705" y="3111252"/>
              <a:ext cx="3216266" cy="1963483"/>
              <a:chOff x="2827705" y="3111252"/>
              <a:chExt cx="3216266" cy="1963483"/>
            </a:xfrm>
          </p:grpSpPr>
          <p:grpSp>
            <p:nvGrpSpPr>
              <p:cNvPr id="81" name="Grupo 80">
                <a:extLst>
                  <a:ext uri="{FF2B5EF4-FFF2-40B4-BE49-F238E27FC236}">
                    <a16:creationId xmlns:a16="http://schemas.microsoft.com/office/drawing/2014/main" id="{9AFF3DB7-095B-A2B4-A0A2-A02A4417EF0C}"/>
                  </a:ext>
                </a:extLst>
              </p:cNvPr>
              <p:cNvGrpSpPr/>
              <p:nvPr/>
            </p:nvGrpSpPr>
            <p:grpSpPr>
              <a:xfrm>
                <a:off x="2827705" y="3111252"/>
                <a:ext cx="3216266" cy="1963483"/>
                <a:chOff x="7593779" y="1110832"/>
                <a:chExt cx="3216266" cy="1780012"/>
              </a:xfrm>
            </p:grpSpPr>
            <p:sp>
              <p:nvSpPr>
                <p:cNvPr id="82" name="Rectángulo 81">
                  <a:extLst>
                    <a:ext uri="{FF2B5EF4-FFF2-40B4-BE49-F238E27FC236}">
                      <a16:creationId xmlns:a16="http://schemas.microsoft.com/office/drawing/2014/main" id="{984D6454-6B46-E313-A204-708A98314E06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808386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83" name="Grupo 82">
                  <a:extLst>
                    <a:ext uri="{FF2B5EF4-FFF2-40B4-BE49-F238E27FC236}">
                      <a16:creationId xmlns:a16="http://schemas.microsoft.com/office/drawing/2014/main" id="{115800A6-7529-4342-D2CE-78A67CF78A26}"/>
                    </a:ext>
                  </a:extLst>
                </p:cNvPr>
                <p:cNvGrpSpPr/>
                <p:nvPr/>
              </p:nvGrpSpPr>
              <p:grpSpPr>
                <a:xfrm>
                  <a:off x="7593779" y="1166870"/>
                  <a:ext cx="2748715" cy="1628029"/>
                  <a:chOff x="3029358" y="1173570"/>
                  <a:chExt cx="2748715" cy="1628029"/>
                </a:xfrm>
              </p:grpSpPr>
              <p:sp>
                <p:nvSpPr>
                  <p:cNvPr id="85" name="CuadroTexto 84">
                    <a:extLst>
                      <a:ext uri="{FF2B5EF4-FFF2-40B4-BE49-F238E27FC236}">
                        <a16:creationId xmlns:a16="http://schemas.microsoft.com/office/drawing/2014/main" id="{256B86DA-480B-A011-D898-E0A166AD8018}"/>
                      </a:ext>
                    </a:extLst>
                  </p:cNvPr>
                  <p:cNvSpPr txBox="1"/>
                  <p:nvPr/>
                </p:nvSpPr>
                <p:spPr>
                  <a:xfrm>
                    <a:off x="3634807" y="1173570"/>
                    <a:ext cx="2143266" cy="30691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Segmento Familia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87" name="CuadroTexto 86">
                    <a:extLst>
                      <a:ext uri="{FF2B5EF4-FFF2-40B4-BE49-F238E27FC236}">
                        <a16:creationId xmlns:a16="http://schemas.microsoft.com/office/drawing/2014/main" id="{A5B85BA8-F37D-48FA-62FD-9019D0CD573A}"/>
                      </a:ext>
                    </a:extLst>
                  </p:cNvPr>
                  <p:cNvSpPr txBox="1"/>
                  <p:nvPr/>
                </p:nvSpPr>
                <p:spPr>
                  <a:xfrm>
                    <a:off x="3029358" y="2131957"/>
                    <a:ext cx="1923771" cy="66964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 16</a:t>
                    </a:r>
                    <a:r>
                      <a:rPr lang="es-CO" sz="18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%</a:t>
                    </a:r>
                  </a:p>
                  <a:p>
                    <a:r>
                      <a:rPr lang="es-CO" sz="1200" b="1" dirty="0">
                        <a:solidFill>
                          <a:schemeClr val="bg1"/>
                        </a:solidFill>
                      </a:rPr>
                      <a:t>      Monoparental</a:t>
                    </a:r>
                  </a:p>
                  <a:p>
                    <a:r>
                      <a:rPr lang="es-CO" sz="1200" b="1" dirty="0">
                        <a:solidFill>
                          <a:schemeClr val="bg1"/>
                        </a:solidFill>
                      </a:rPr>
                      <a:t>      Ampliada</a:t>
                    </a:r>
                  </a:p>
                </p:txBody>
              </p:sp>
            </p:grpSp>
            <p:sp>
              <p:nvSpPr>
                <p:cNvPr id="84" name="CuadroTexto 83">
                  <a:extLst>
                    <a:ext uri="{FF2B5EF4-FFF2-40B4-BE49-F238E27FC236}">
                      <a16:creationId xmlns:a16="http://schemas.microsoft.com/office/drawing/2014/main" id="{0A98648A-E048-F06D-2721-8FC3D39C5AB9}"/>
                    </a:ext>
                  </a:extLst>
                </p:cNvPr>
                <p:cNvSpPr txBox="1"/>
                <p:nvPr/>
              </p:nvSpPr>
              <p:spPr>
                <a:xfrm>
                  <a:off x="9185077" y="2110714"/>
                  <a:ext cx="1624968" cy="5022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        16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 Nuclear Integrada</a:t>
                  </a:r>
                </a:p>
              </p:txBody>
            </p:sp>
          </p:grpSp>
          <p:sp>
            <p:nvSpPr>
              <p:cNvPr id="89" name="CuadroTexto 88">
                <a:extLst>
                  <a:ext uri="{FF2B5EF4-FFF2-40B4-BE49-F238E27FC236}">
                    <a16:creationId xmlns:a16="http://schemas.microsoft.com/office/drawing/2014/main" id="{8CD3136A-2ACE-1C81-280F-C34C4AF6F0BC}"/>
                  </a:ext>
                </a:extLst>
              </p:cNvPr>
              <p:cNvSpPr txBox="1"/>
              <p:nvPr/>
            </p:nvSpPr>
            <p:spPr>
              <a:xfrm>
                <a:off x="4771770" y="3534141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28%</a:t>
                </a:r>
                <a:r>
                  <a:rPr lang="es-CO" sz="1200" b="1" dirty="0">
                    <a:solidFill>
                      <a:schemeClr val="bg1"/>
                    </a:solidFill>
                  </a:rPr>
                  <a:t> Monoparental</a:t>
                </a:r>
              </a:p>
            </p:txBody>
          </p:sp>
          <p:pic>
            <p:nvPicPr>
              <p:cNvPr id="92" name="Imagen 91">
                <a:extLst>
                  <a:ext uri="{FF2B5EF4-FFF2-40B4-BE49-F238E27FC236}">
                    <a16:creationId xmlns:a16="http://schemas.microsoft.com/office/drawing/2014/main" id="{958FA4A5-08E4-98EF-1627-B3A1CA875B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artisticGlowDiffused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075298" y="3683026"/>
                <a:ext cx="754362" cy="754362"/>
              </a:xfrm>
              <a:prstGeom prst="rect">
                <a:avLst/>
              </a:prstGeom>
            </p:spPr>
          </p:pic>
        </p:grp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AE45CB85-C620-B8EF-E234-4FD8B134629D}"/>
              </a:ext>
            </a:extLst>
          </p:cNvPr>
          <p:cNvGrpSpPr/>
          <p:nvPr/>
        </p:nvGrpSpPr>
        <p:grpSpPr>
          <a:xfrm>
            <a:off x="90873" y="847081"/>
            <a:ext cx="3094159" cy="1780012"/>
            <a:chOff x="681423" y="1183963"/>
            <a:chExt cx="3094159" cy="1780012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9285C524-5170-4E1D-7E3D-3AAC45C728B8}"/>
                </a:ext>
              </a:extLst>
            </p:cNvPr>
            <p:cNvSpPr txBox="1"/>
            <p:nvPr/>
          </p:nvSpPr>
          <p:spPr>
            <a:xfrm>
              <a:off x="942955" y="1217834"/>
              <a:ext cx="2376943" cy="16927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s-CO" sz="2000" b="1" dirty="0">
                <a:solidFill>
                  <a:srgbClr val="FFC000"/>
                </a:solidFill>
              </a:endParaRP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Afiliado     </a:t>
              </a:r>
              <a:r>
                <a:rPr lang="es-CO" sz="2800" b="1" dirty="0">
                  <a:solidFill>
                    <a:srgbClr val="FFC000"/>
                  </a:solidFill>
                </a:rPr>
                <a:t>   </a:t>
              </a:r>
              <a:r>
                <a:rPr lang="es-CO" sz="2800" b="1" dirty="0">
                  <a:solidFill>
                    <a:schemeClr val="bg1"/>
                  </a:solidFill>
                </a:rPr>
                <a:t>38%</a:t>
              </a: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No Afilado   </a:t>
              </a:r>
              <a:r>
                <a:rPr lang="es-CO" sz="2800" b="1" dirty="0">
                  <a:solidFill>
                    <a:schemeClr val="bg1"/>
                  </a:solidFill>
                </a:rPr>
                <a:t>62%</a:t>
              </a:r>
            </a:p>
            <a:p>
              <a:endParaRPr lang="es-ES" sz="28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05" name="Rectángulo 104">
              <a:extLst>
                <a:ext uri="{FF2B5EF4-FFF2-40B4-BE49-F238E27FC236}">
                  <a16:creationId xmlns:a16="http://schemas.microsoft.com/office/drawing/2014/main" id="{4EB44439-E62F-9399-56A0-DC9622A28C4F}"/>
                </a:ext>
              </a:extLst>
            </p:cNvPr>
            <p:cNvSpPr/>
            <p:nvPr/>
          </p:nvSpPr>
          <p:spPr>
            <a:xfrm>
              <a:off x="681423" y="1183963"/>
              <a:ext cx="3094159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20" name="Grupo 119">
            <a:extLst>
              <a:ext uri="{FF2B5EF4-FFF2-40B4-BE49-F238E27FC236}">
                <a16:creationId xmlns:a16="http://schemas.microsoft.com/office/drawing/2014/main" id="{E1827910-6AEB-61BB-58CC-3A8354856223}"/>
              </a:ext>
            </a:extLst>
          </p:cNvPr>
          <p:cNvGrpSpPr/>
          <p:nvPr/>
        </p:nvGrpSpPr>
        <p:grpSpPr>
          <a:xfrm>
            <a:off x="7777183" y="2775745"/>
            <a:ext cx="2623981" cy="1933541"/>
            <a:chOff x="9059295" y="3127128"/>
            <a:chExt cx="2623981" cy="1933541"/>
          </a:xfrm>
        </p:grpSpPr>
        <p:grpSp>
          <p:nvGrpSpPr>
            <p:cNvPr id="106" name="Grupo 105">
              <a:extLst>
                <a:ext uri="{FF2B5EF4-FFF2-40B4-BE49-F238E27FC236}">
                  <a16:creationId xmlns:a16="http://schemas.microsoft.com/office/drawing/2014/main" id="{9B77CBEE-E9A7-27EE-031B-8C3FB32BFA60}"/>
                </a:ext>
              </a:extLst>
            </p:cNvPr>
            <p:cNvGrpSpPr/>
            <p:nvPr/>
          </p:nvGrpSpPr>
          <p:grpSpPr>
            <a:xfrm>
              <a:off x="9080988" y="3127128"/>
              <a:ext cx="2601495" cy="1933541"/>
              <a:chOff x="7590765" y="1110832"/>
              <a:chExt cx="2601495" cy="1780012"/>
            </a:xfrm>
          </p:grpSpPr>
          <p:sp>
            <p:nvSpPr>
              <p:cNvPr id="107" name="Rectángulo 106">
                <a:extLst>
                  <a:ext uri="{FF2B5EF4-FFF2-40B4-BE49-F238E27FC236}">
                    <a16:creationId xmlns:a16="http://schemas.microsoft.com/office/drawing/2014/main" id="{66196199-082B-CD8E-8F6B-D47C03736A8C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108" name="Grupo 107">
                <a:extLst>
                  <a:ext uri="{FF2B5EF4-FFF2-40B4-BE49-F238E27FC236}">
                    <a16:creationId xmlns:a16="http://schemas.microsoft.com/office/drawing/2014/main" id="{A3D8F52B-4663-FF60-C855-7C8A3885A555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2191150" cy="1678227"/>
                <a:chOff x="3026344" y="1212927"/>
                <a:chExt cx="2191150" cy="1678227"/>
              </a:xfrm>
            </p:grpSpPr>
            <p:sp>
              <p:nvSpPr>
                <p:cNvPr id="110" name="CuadroTexto 109">
                  <a:extLst>
                    <a:ext uri="{FF2B5EF4-FFF2-40B4-BE49-F238E27FC236}">
                      <a16:creationId xmlns:a16="http://schemas.microsoft.com/office/drawing/2014/main" id="{1ABF481C-4C91-93A9-D989-75AE85262063}"/>
                    </a:ext>
                  </a:extLst>
                </p:cNvPr>
                <p:cNvSpPr txBox="1"/>
                <p:nvPr/>
              </p:nvSpPr>
              <p:spPr>
                <a:xfrm>
                  <a:off x="3811633" y="1212927"/>
                  <a:ext cx="140586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Estrato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11" name="CuadroTexto 110">
                  <a:extLst>
                    <a:ext uri="{FF2B5EF4-FFF2-40B4-BE49-F238E27FC236}">
                      <a16:creationId xmlns:a16="http://schemas.microsoft.com/office/drawing/2014/main" id="{558F7232-D37D-5189-488F-D3FA82EAEA42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3%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Cuatro</a:t>
                  </a:r>
                </a:p>
              </p:txBody>
            </p:sp>
          </p:grpSp>
          <p:sp>
            <p:nvSpPr>
              <p:cNvPr id="109" name="CuadroTexto 108">
                <a:extLst>
                  <a:ext uri="{FF2B5EF4-FFF2-40B4-BE49-F238E27FC236}">
                    <a16:creationId xmlns:a16="http://schemas.microsoft.com/office/drawing/2014/main" id="{D8003B07-E991-52F3-C365-A8CBF5F3DCE2}"/>
                  </a:ext>
                </a:extLst>
              </p:cNvPr>
              <p:cNvSpPr txBox="1"/>
              <p:nvPr/>
            </p:nvSpPr>
            <p:spPr>
              <a:xfrm>
                <a:off x="9019351" y="2317778"/>
                <a:ext cx="1172909" cy="566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3%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Seis</a:t>
                </a:r>
              </a:p>
            </p:txBody>
          </p:sp>
        </p:grpSp>
        <p:sp>
          <p:nvSpPr>
            <p:cNvPr id="112" name="CuadroTexto 111">
              <a:extLst>
                <a:ext uri="{FF2B5EF4-FFF2-40B4-BE49-F238E27FC236}">
                  <a16:creationId xmlns:a16="http://schemas.microsoft.com/office/drawing/2014/main" id="{D3129E1A-770C-DC03-EA52-AA5EA7732E35}"/>
                </a:ext>
              </a:extLst>
            </p:cNvPr>
            <p:cNvSpPr txBox="1"/>
            <p:nvPr/>
          </p:nvSpPr>
          <p:spPr>
            <a:xfrm>
              <a:off x="9059295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34%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Dos</a:t>
              </a:r>
            </a:p>
          </p:txBody>
        </p:sp>
        <p:sp>
          <p:nvSpPr>
            <p:cNvPr id="113" name="CuadroTexto 112">
              <a:extLst>
                <a:ext uri="{FF2B5EF4-FFF2-40B4-BE49-F238E27FC236}">
                  <a16:creationId xmlns:a16="http://schemas.microsoft.com/office/drawing/2014/main" id="{0CFCC539-F9B1-E548-76AD-D17FD91155ED}"/>
                </a:ext>
              </a:extLst>
            </p:cNvPr>
            <p:cNvSpPr txBox="1"/>
            <p:nvPr/>
          </p:nvSpPr>
          <p:spPr>
            <a:xfrm>
              <a:off x="10510367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34%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Tres</a:t>
              </a:r>
            </a:p>
          </p:txBody>
        </p:sp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BDDCB5A2-CBC2-6B17-B7D2-8D457D511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artisticPencilGrayscale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043317" y="3855923"/>
              <a:ext cx="655939" cy="655939"/>
            </a:xfrm>
            <a:prstGeom prst="rect">
              <a:avLst/>
            </a:prstGeom>
          </p:spPr>
        </p:pic>
      </p:grp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DAAC7B47-84FB-384A-729E-EF1E8A6D1292}"/>
              </a:ext>
            </a:extLst>
          </p:cNvPr>
          <p:cNvSpPr txBox="1"/>
          <p:nvPr/>
        </p:nvSpPr>
        <p:spPr>
          <a:xfrm>
            <a:off x="5289967" y="3228845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47%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 Cero</a:t>
            </a:r>
          </a:p>
        </p:txBody>
      </p:sp>
      <p:grpSp>
        <p:nvGrpSpPr>
          <p:cNvPr id="123" name="Grupo 122">
            <a:extLst>
              <a:ext uri="{FF2B5EF4-FFF2-40B4-BE49-F238E27FC236}">
                <a16:creationId xmlns:a16="http://schemas.microsoft.com/office/drawing/2014/main" id="{AB4D8D57-4531-038F-ECFA-ED75E6EE1B26}"/>
              </a:ext>
            </a:extLst>
          </p:cNvPr>
          <p:cNvGrpSpPr/>
          <p:nvPr/>
        </p:nvGrpSpPr>
        <p:grpSpPr>
          <a:xfrm>
            <a:off x="5340592" y="2790246"/>
            <a:ext cx="2602288" cy="1933541"/>
            <a:chOff x="5931142" y="3127128"/>
            <a:chExt cx="2602288" cy="1933541"/>
          </a:xfrm>
        </p:grpSpPr>
        <p:grpSp>
          <p:nvGrpSpPr>
            <p:cNvPr id="93" name="Grupo 92">
              <a:extLst>
                <a:ext uri="{FF2B5EF4-FFF2-40B4-BE49-F238E27FC236}">
                  <a16:creationId xmlns:a16="http://schemas.microsoft.com/office/drawing/2014/main" id="{A17C5061-11C0-243C-66E3-1D1050C1F3F4}"/>
                </a:ext>
              </a:extLst>
            </p:cNvPr>
            <p:cNvGrpSpPr/>
            <p:nvPr/>
          </p:nvGrpSpPr>
          <p:grpSpPr>
            <a:xfrm>
              <a:off x="5931142" y="3127128"/>
              <a:ext cx="2601495" cy="1933541"/>
              <a:chOff x="7590765" y="1110832"/>
              <a:chExt cx="2601495" cy="1780012"/>
            </a:xfrm>
          </p:grpSpPr>
          <p:sp>
            <p:nvSpPr>
              <p:cNvPr id="94" name="Rectángulo 93">
                <a:extLst>
                  <a:ext uri="{FF2B5EF4-FFF2-40B4-BE49-F238E27FC236}">
                    <a16:creationId xmlns:a16="http://schemas.microsoft.com/office/drawing/2014/main" id="{BE5710DC-BCF8-3DDD-E931-6B350D95D374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95" name="Grupo 94">
                <a:extLst>
                  <a:ext uri="{FF2B5EF4-FFF2-40B4-BE49-F238E27FC236}">
                    <a16:creationId xmlns:a16="http://schemas.microsoft.com/office/drawing/2014/main" id="{66CACB75-1EE4-CABA-7908-ED46A927AE49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1922369" cy="1647802"/>
                <a:chOff x="3026344" y="1212927"/>
                <a:chExt cx="1922369" cy="1647802"/>
              </a:xfrm>
            </p:grpSpPr>
            <p:sp>
              <p:nvSpPr>
                <p:cNvPr id="97" name="CuadroTexto 96">
                  <a:extLst>
                    <a:ext uri="{FF2B5EF4-FFF2-40B4-BE49-F238E27FC236}">
                      <a16:creationId xmlns:a16="http://schemas.microsoft.com/office/drawing/2014/main" id="{490B7E30-A7DE-AA17-4281-73D32AA371A6}"/>
                    </a:ext>
                  </a:extLst>
                </p:cNvPr>
                <p:cNvSpPr txBox="1"/>
                <p:nvPr/>
              </p:nvSpPr>
              <p:spPr>
                <a:xfrm>
                  <a:off x="4021092" y="1212927"/>
                  <a:ext cx="92762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PAC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98" name="CuadroTexto 97">
                  <a:extLst>
                    <a:ext uri="{FF2B5EF4-FFF2-40B4-BE49-F238E27FC236}">
                      <a16:creationId xmlns:a16="http://schemas.microsoft.com/office/drawing/2014/main" id="{0E80D62A-AE50-05DA-18A5-0187BC090484}"/>
                    </a:ext>
                  </a:extLst>
                </p:cNvPr>
                <p:cNvSpPr txBox="1"/>
                <p:nvPr/>
              </p:nvSpPr>
              <p:spPr>
                <a:xfrm>
                  <a:off x="3026344" y="2294053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6%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  <p:sp>
            <p:nvSpPr>
              <p:cNvPr id="96" name="CuadroTexto 95">
                <a:extLst>
                  <a:ext uri="{FF2B5EF4-FFF2-40B4-BE49-F238E27FC236}">
                    <a16:creationId xmlns:a16="http://schemas.microsoft.com/office/drawing/2014/main" id="{F10D6959-720D-6157-3B0D-5C48A4698E66}"/>
                  </a:ext>
                </a:extLst>
              </p:cNvPr>
              <p:cNvSpPr txBox="1"/>
              <p:nvPr/>
            </p:nvSpPr>
            <p:spPr>
              <a:xfrm>
                <a:off x="9019351" y="2317778"/>
                <a:ext cx="1172909" cy="566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0%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Cuatro</a:t>
                </a:r>
              </a:p>
            </p:txBody>
          </p:sp>
        </p:grpSp>
        <p:grpSp>
          <p:nvGrpSpPr>
            <p:cNvPr id="121" name="Grupo 120">
              <a:extLst>
                <a:ext uri="{FF2B5EF4-FFF2-40B4-BE49-F238E27FC236}">
                  <a16:creationId xmlns:a16="http://schemas.microsoft.com/office/drawing/2014/main" id="{13249852-6935-5C8C-5DD8-4F07209D4E6D}"/>
                </a:ext>
              </a:extLst>
            </p:cNvPr>
            <p:cNvGrpSpPr/>
            <p:nvPr/>
          </p:nvGrpSpPr>
          <p:grpSpPr>
            <a:xfrm>
              <a:off x="6649678" y="3565727"/>
              <a:ext cx="1883752" cy="1414028"/>
              <a:chOff x="6649678" y="3565727"/>
              <a:chExt cx="1883752" cy="1414028"/>
            </a:xfrm>
          </p:grpSpPr>
          <p:sp>
            <p:nvSpPr>
              <p:cNvPr id="99" name="CuadroTexto 98">
                <a:extLst>
                  <a:ext uri="{FF2B5EF4-FFF2-40B4-BE49-F238E27FC236}">
                    <a16:creationId xmlns:a16="http://schemas.microsoft.com/office/drawing/2014/main" id="{392AB7C8-F413-9982-015D-27220C183527}"/>
                  </a:ext>
                </a:extLst>
              </p:cNvPr>
              <p:cNvSpPr txBox="1"/>
              <p:nvPr/>
            </p:nvSpPr>
            <p:spPr>
              <a:xfrm>
                <a:off x="6649678" y="358240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25%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Uno</a:t>
                </a:r>
              </a:p>
            </p:txBody>
          </p:sp>
          <p:sp>
            <p:nvSpPr>
              <p:cNvPr id="101" name="CuadroTexto 100">
                <a:extLst>
                  <a:ext uri="{FF2B5EF4-FFF2-40B4-BE49-F238E27FC236}">
                    <a16:creationId xmlns:a16="http://schemas.microsoft.com/office/drawing/2014/main" id="{E80A6935-7058-DB35-6123-DE38A837569F}"/>
                  </a:ext>
                </a:extLst>
              </p:cNvPr>
              <p:cNvSpPr txBox="1"/>
              <p:nvPr/>
            </p:nvSpPr>
            <p:spPr>
              <a:xfrm>
                <a:off x="7360521" y="3565727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22%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Dos</a:t>
                </a:r>
              </a:p>
            </p:txBody>
          </p:sp>
          <p:pic>
            <p:nvPicPr>
              <p:cNvPr id="118" name="Imagen 117">
                <a:extLst>
                  <a:ext uri="{FF2B5EF4-FFF2-40B4-BE49-F238E27FC236}">
                    <a16:creationId xmlns:a16="http://schemas.microsoft.com/office/drawing/2014/main" id="{434206B0-DB35-CBAE-8C54-48D221FFA0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artisticPaintStrokes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886925" y="4205951"/>
                <a:ext cx="773804" cy="773804"/>
              </a:xfrm>
              <a:prstGeom prst="rect">
                <a:avLst/>
              </a:prstGeom>
            </p:spPr>
          </p:pic>
        </p:grpSp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52F39852-FDEF-75C5-4DD5-CAD2B6F0A0D9}"/>
              </a:ext>
            </a:extLst>
          </p:cNvPr>
          <p:cNvGrpSpPr/>
          <p:nvPr/>
        </p:nvGrpSpPr>
        <p:grpSpPr>
          <a:xfrm>
            <a:off x="8022470" y="853892"/>
            <a:ext cx="2195988" cy="1780012"/>
            <a:chOff x="7814360" y="1110832"/>
            <a:chExt cx="2195988" cy="1780012"/>
          </a:xfrm>
        </p:grpSpPr>
        <p:grpSp>
          <p:nvGrpSpPr>
            <p:cNvPr id="66" name="Grupo 65">
              <a:extLst>
                <a:ext uri="{FF2B5EF4-FFF2-40B4-BE49-F238E27FC236}">
                  <a16:creationId xmlns:a16="http://schemas.microsoft.com/office/drawing/2014/main" id="{8CB469B5-5617-12E7-798F-DB8A712B8817}"/>
                </a:ext>
              </a:extLst>
            </p:cNvPr>
            <p:cNvGrpSpPr/>
            <p:nvPr/>
          </p:nvGrpSpPr>
          <p:grpSpPr>
            <a:xfrm>
              <a:off x="7814360" y="1110832"/>
              <a:ext cx="2195988" cy="1780012"/>
              <a:chOff x="7814360" y="1110832"/>
              <a:chExt cx="2195988" cy="1780012"/>
            </a:xfrm>
          </p:grpSpPr>
          <p:sp>
            <p:nvSpPr>
              <p:cNvPr id="60" name="Rectángulo 59">
                <a:extLst>
                  <a:ext uri="{FF2B5EF4-FFF2-40B4-BE49-F238E27FC236}">
                    <a16:creationId xmlns:a16="http://schemas.microsoft.com/office/drawing/2014/main" id="{3040C940-5169-2774-BB6D-AE84E9D0D2BC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61" name="Grupo 60">
                <a:extLst>
                  <a:ext uri="{FF2B5EF4-FFF2-40B4-BE49-F238E27FC236}">
                    <a16:creationId xmlns:a16="http://schemas.microsoft.com/office/drawing/2014/main" id="{19D19CE7-3E90-1EC8-0E65-05F4DDB003AC}"/>
                  </a:ext>
                </a:extLst>
              </p:cNvPr>
              <p:cNvGrpSpPr/>
              <p:nvPr/>
            </p:nvGrpSpPr>
            <p:grpSpPr>
              <a:xfrm>
                <a:off x="7814361" y="1223137"/>
                <a:ext cx="2083693" cy="1630468"/>
                <a:chOff x="3249940" y="1229837"/>
                <a:chExt cx="2083693" cy="1630468"/>
              </a:xfrm>
            </p:grpSpPr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41B9D593-0156-6879-F779-8F167403079A}"/>
                    </a:ext>
                  </a:extLst>
                </p:cNvPr>
                <p:cNvSpPr txBox="1"/>
                <p:nvPr/>
              </p:nvSpPr>
              <p:spPr>
                <a:xfrm>
                  <a:off x="3552927" y="1229837"/>
                  <a:ext cx="1780706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Rango Edad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8750A8E4-C5BC-7BD1-C274-842F7B196D9D}"/>
                    </a:ext>
                  </a:extLst>
                </p:cNvPr>
                <p:cNvSpPr txBox="1"/>
                <p:nvPr/>
              </p:nvSpPr>
              <p:spPr>
                <a:xfrm>
                  <a:off x="3249940" y="2306307"/>
                  <a:ext cx="1172909" cy="5539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38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20 a 35 años</a:t>
                  </a:r>
                </a:p>
              </p:txBody>
            </p:sp>
          </p:grpSp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855E99CB-8B6E-6240-11F2-CB05025A86DB}"/>
                  </a:ext>
                </a:extLst>
              </p:cNvPr>
              <p:cNvSpPr txBox="1"/>
              <p:nvPr/>
            </p:nvSpPr>
            <p:spPr>
              <a:xfrm>
                <a:off x="8837439" y="2289285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25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36 a 45 años</a:t>
                </a:r>
              </a:p>
            </p:txBody>
          </p:sp>
        </p:grpSp>
        <p:pic>
          <p:nvPicPr>
            <p:cNvPr id="128" name="Imagen 127">
              <a:extLst>
                <a:ext uri="{FF2B5EF4-FFF2-40B4-BE49-F238E27FC236}">
                  <a16:creationId xmlns:a16="http://schemas.microsoft.com/office/drawing/2014/main" id="{61F1CC0F-4344-D73A-C69A-5B7BD2F4D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17644" y="1602912"/>
              <a:ext cx="655473" cy="655473"/>
            </a:xfrm>
            <a:prstGeom prst="rect">
              <a:avLst/>
            </a:prstGeom>
          </p:spPr>
        </p:pic>
      </p:grpSp>
      <p:grpSp>
        <p:nvGrpSpPr>
          <p:cNvPr id="189" name="Grupo 188">
            <a:extLst>
              <a:ext uri="{FF2B5EF4-FFF2-40B4-BE49-F238E27FC236}">
                <a16:creationId xmlns:a16="http://schemas.microsoft.com/office/drawing/2014/main" id="{0B88124C-E1F1-BE7E-5D15-2E018E9B073B}"/>
              </a:ext>
            </a:extLst>
          </p:cNvPr>
          <p:cNvGrpSpPr/>
          <p:nvPr/>
        </p:nvGrpSpPr>
        <p:grpSpPr>
          <a:xfrm>
            <a:off x="-114768" y="4837223"/>
            <a:ext cx="3758502" cy="1933541"/>
            <a:chOff x="435340" y="4837223"/>
            <a:chExt cx="4854517" cy="1933541"/>
          </a:xfrm>
        </p:grpSpPr>
        <p:grpSp>
          <p:nvGrpSpPr>
            <p:cNvPr id="138" name="Grupo 137">
              <a:extLst>
                <a:ext uri="{FF2B5EF4-FFF2-40B4-BE49-F238E27FC236}">
                  <a16:creationId xmlns:a16="http://schemas.microsoft.com/office/drawing/2014/main" id="{603280FA-1EA2-6555-A60C-53CF23EB2484}"/>
                </a:ext>
              </a:extLst>
            </p:cNvPr>
            <p:cNvGrpSpPr/>
            <p:nvPr/>
          </p:nvGrpSpPr>
          <p:grpSpPr>
            <a:xfrm>
              <a:off x="435340" y="4837223"/>
              <a:ext cx="4854517" cy="1933541"/>
              <a:chOff x="9135236" y="3127128"/>
              <a:chExt cx="3830051" cy="1933541"/>
            </a:xfrm>
          </p:grpSpPr>
          <p:grpSp>
            <p:nvGrpSpPr>
              <p:cNvPr id="139" name="Grupo 138">
                <a:extLst>
                  <a:ext uri="{FF2B5EF4-FFF2-40B4-BE49-F238E27FC236}">
                    <a16:creationId xmlns:a16="http://schemas.microsoft.com/office/drawing/2014/main" id="{39D55BF1-DDBD-8D60-100E-7CE276A1C1AF}"/>
                  </a:ext>
                </a:extLst>
              </p:cNvPr>
              <p:cNvGrpSpPr/>
              <p:nvPr/>
            </p:nvGrpSpPr>
            <p:grpSpPr>
              <a:xfrm>
                <a:off x="9229918" y="3127128"/>
                <a:ext cx="3735369" cy="1933541"/>
                <a:chOff x="7739695" y="1110832"/>
                <a:chExt cx="3735369" cy="1780012"/>
              </a:xfrm>
            </p:grpSpPr>
            <p:sp>
              <p:nvSpPr>
                <p:cNvPr id="143" name="Rectángulo 142">
                  <a:extLst>
                    <a:ext uri="{FF2B5EF4-FFF2-40B4-BE49-F238E27FC236}">
                      <a16:creationId xmlns:a16="http://schemas.microsoft.com/office/drawing/2014/main" id="{7324A05C-678D-4C09-5134-5D2D409D062D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3246650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44" name="Grupo 143">
                  <a:extLst>
                    <a:ext uri="{FF2B5EF4-FFF2-40B4-BE49-F238E27FC236}">
                      <a16:creationId xmlns:a16="http://schemas.microsoft.com/office/drawing/2014/main" id="{95BCD334-4DA5-21F4-9653-A5FF6841FA14}"/>
                    </a:ext>
                  </a:extLst>
                </p:cNvPr>
                <p:cNvGrpSpPr/>
                <p:nvPr/>
              </p:nvGrpSpPr>
              <p:grpSpPr>
                <a:xfrm>
                  <a:off x="7739695" y="1236316"/>
                  <a:ext cx="3735369" cy="1532075"/>
                  <a:chOff x="3175274" y="1243016"/>
                  <a:chExt cx="3735369" cy="1532075"/>
                </a:xfrm>
              </p:grpSpPr>
              <p:sp>
                <p:nvSpPr>
                  <p:cNvPr id="146" name="CuadroTexto 145">
                    <a:extLst>
                      <a:ext uri="{FF2B5EF4-FFF2-40B4-BE49-F238E27FC236}">
                        <a16:creationId xmlns:a16="http://schemas.microsoft.com/office/drawing/2014/main" id="{65380FDE-F7FB-E376-7A3C-E21876FFE22E}"/>
                      </a:ext>
                    </a:extLst>
                  </p:cNvPr>
                  <p:cNvSpPr txBox="1"/>
                  <p:nvPr/>
                </p:nvSpPr>
                <p:spPr>
                  <a:xfrm>
                    <a:off x="3854322" y="1243016"/>
                    <a:ext cx="3056321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Segmento Empresas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47" name="CuadroTexto 146">
                    <a:extLst>
                      <a:ext uri="{FF2B5EF4-FFF2-40B4-BE49-F238E27FC236}">
                        <a16:creationId xmlns:a16="http://schemas.microsoft.com/office/drawing/2014/main" id="{3F08E990-8359-6440-C04E-1DDF54817A7E}"/>
                      </a:ext>
                    </a:extLst>
                  </p:cNvPr>
                  <p:cNvSpPr txBox="1"/>
                  <p:nvPr/>
                </p:nvSpPr>
                <p:spPr>
                  <a:xfrm>
                    <a:off x="3175274" y="2208415"/>
                    <a:ext cx="1945898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19%</a:t>
                    </a:r>
                    <a:endParaRPr lang="es-CO" sz="1400" b="1" dirty="0">
                      <a:solidFill>
                        <a:schemeClr val="bg1"/>
                      </a:solidFill>
                    </a:endParaRP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Medianas</a:t>
                    </a:r>
                  </a:p>
                </p:txBody>
              </p:sp>
            </p:grpSp>
            <p:sp>
              <p:nvSpPr>
                <p:cNvPr id="145" name="CuadroTexto 144">
                  <a:extLst>
                    <a:ext uri="{FF2B5EF4-FFF2-40B4-BE49-F238E27FC236}">
                      <a16:creationId xmlns:a16="http://schemas.microsoft.com/office/drawing/2014/main" id="{68F979C8-C5AB-E915-1EF6-2439075544CC}"/>
                    </a:ext>
                  </a:extLst>
                </p:cNvPr>
                <p:cNvSpPr txBox="1"/>
                <p:nvPr/>
              </p:nvSpPr>
              <p:spPr>
                <a:xfrm>
                  <a:off x="9864249" y="1523867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34%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Grandes</a:t>
                  </a:r>
                </a:p>
              </p:txBody>
            </p:sp>
          </p:grpSp>
          <p:sp>
            <p:nvSpPr>
              <p:cNvPr id="140" name="CuadroTexto 139">
                <a:extLst>
                  <a:ext uri="{FF2B5EF4-FFF2-40B4-BE49-F238E27FC236}">
                    <a16:creationId xmlns:a16="http://schemas.microsoft.com/office/drawing/2014/main" id="{FA8AA965-29C6-88BF-E71E-26800F816C77}"/>
                  </a:ext>
                </a:extLst>
              </p:cNvPr>
              <p:cNvSpPr txBox="1"/>
              <p:nvPr/>
            </p:nvSpPr>
            <p:spPr>
              <a:xfrm>
                <a:off x="9135236" y="3565727"/>
                <a:ext cx="145027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6%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</a:t>
                </a:r>
                <a:r>
                  <a:rPr lang="es-CO" sz="1400" b="1" dirty="0" err="1">
                    <a:solidFill>
                      <a:schemeClr val="bg1"/>
                    </a:solidFill>
                  </a:rPr>
                  <a:t>Emp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Top</a:t>
                </a:r>
              </a:p>
            </p:txBody>
          </p:sp>
          <p:sp>
            <p:nvSpPr>
              <p:cNvPr id="141" name="CuadroTexto 140">
                <a:extLst>
                  <a:ext uri="{FF2B5EF4-FFF2-40B4-BE49-F238E27FC236}">
                    <a16:creationId xmlns:a16="http://schemas.microsoft.com/office/drawing/2014/main" id="{8F6D2EFF-4318-7842-67C9-DD6365113D8F}"/>
                  </a:ext>
                </a:extLst>
              </p:cNvPr>
              <p:cNvSpPr txBox="1"/>
              <p:nvPr/>
            </p:nvSpPr>
            <p:spPr>
              <a:xfrm>
                <a:off x="10055645" y="3580594"/>
                <a:ext cx="152651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34%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    Micro    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Transaccional</a:t>
                </a:r>
              </a:p>
            </p:txBody>
          </p:sp>
        </p:grpSp>
        <p:pic>
          <p:nvPicPr>
            <p:cNvPr id="149" name="Imagen 148">
              <a:extLst>
                <a:ext uri="{FF2B5EF4-FFF2-40B4-BE49-F238E27FC236}">
                  <a16:creationId xmlns:a16="http://schemas.microsoft.com/office/drawing/2014/main" id="{A5B4A28E-4C61-C7C1-DC4A-9685E95B50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325932" y="6027593"/>
              <a:ext cx="677562" cy="677562"/>
            </a:xfrm>
            <a:prstGeom prst="rect">
              <a:avLst/>
            </a:prstGeom>
          </p:spPr>
        </p:pic>
      </p:grp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1ED9B921-58DC-5E3A-E881-78216AD68019}"/>
              </a:ext>
            </a:extLst>
          </p:cNvPr>
          <p:cNvSpPr txBox="1"/>
          <p:nvPr/>
        </p:nvSpPr>
        <p:spPr>
          <a:xfrm>
            <a:off x="2093411" y="5976448"/>
            <a:ext cx="128594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3%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Estándar</a:t>
            </a:r>
          </a:p>
        </p:txBody>
      </p:sp>
      <p:grpSp>
        <p:nvGrpSpPr>
          <p:cNvPr id="151" name="Grupo 150">
            <a:extLst>
              <a:ext uri="{FF2B5EF4-FFF2-40B4-BE49-F238E27FC236}">
                <a16:creationId xmlns:a16="http://schemas.microsoft.com/office/drawing/2014/main" id="{81433FA7-DB02-D8FB-8CEC-D85D9B1EE051}"/>
              </a:ext>
            </a:extLst>
          </p:cNvPr>
          <p:cNvGrpSpPr/>
          <p:nvPr/>
        </p:nvGrpSpPr>
        <p:grpSpPr>
          <a:xfrm>
            <a:off x="3075715" y="4852302"/>
            <a:ext cx="2441275" cy="1933541"/>
            <a:chOff x="9059295" y="3127128"/>
            <a:chExt cx="2441275" cy="1933541"/>
          </a:xfrm>
        </p:grpSpPr>
        <p:grpSp>
          <p:nvGrpSpPr>
            <p:cNvPr id="152" name="Grupo 151">
              <a:extLst>
                <a:ext uri="{FF2B5EF4-FFF2-40B4-BE49-F238E27FC236}">
                  <a16:creationId xmlns:a16="http://schemas.microsoft.com/office/drawing/2014/main" id="{81FAD6DF-782E-DFB7-29FB-C8117D88C9F0}"/>
                </a:ext>
              </a:extLst>
            </p:cNvPr>
            <p:cNvGrpSpPr/>
            <p:nvPr/>
          </p:nvGrpSpPr>
          <p:grpSpPr>
            <a:xfrm>
              <a:off x="9304583" y="3127128"/>
              <a:ext cx="2195987" cy="1933541"/>
              <a:chOff x="7814360" y="1110832"/>
              <a:chExt cx="2195987" cy="1780012"/>
            </a:xfrm>
          </p:grpSpPr>
          <p:sp>
            <p:nvSpPr>
              <p:cNvPr id="157" name="Rectángulo 156">
                <a:extLst>
                  <a:ext uri="{FF2B5EF4-FFF2-40B4-BE49-F238E27FC236}">
                    <a16:creationId xmlns:a16="http://schemas.microsoft.com/office/drawing/2014/main" id="{615DDD3A-3B86-1672-3F9B-88F3F5F78724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60" name="CuadroTexto 159">
                <a:extLst>
                  <a:ext uri="{FF2B5EF4-FFF2-40B4-BE49-F238E27FC236}">
                    <a16:creationId xmlns:a16="http://schemas.microsoft.com/office/drawing/2014/main" id="{A88B0010-8A8F-EC1F-E6DB-CFA4AFB7E075}"/>
                  </a:ext>
                </a:extLst>
              </p:cNvPr>
              <p:cNvSpPr txBox="1"/>
              <p:nvPr/>
            </p:nvSpPr>
            <p:spPr>
              <a:xfrm>
                <a:off x="7973412" y="1206227"/>
                <a:ext cx="1949604" cy="3116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 dirty="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Departamento</a:t>
                </a:r>
                <a:endParaRPr lang="es-ES" sz="1600" dirty="0">
                  <a:solidFill>
                    <a:srgbClr val="FFC000"/>
                  </a:solidFill>
                </a:endParaRPr>
              </a:p>
            </p:txBody>
          </p:sp>
        </p:grpSp>
        <p:sp>
          <p:nvSpPr>
            <p:cNvPr id="154" name="CuadroTexto 153">
              <a:extLst>
                <a:ext uri="{FF2B5EF4-FFF2-40B4-BE49-F238E27FC236}">
                  <a16:creationId xmlns:a16="http://schemas.microsoft.com/office/drawing/2014/main" id="{4FCC422E-3FF2-229B-11E8-2899931E26E0}"/>
                </a:ext>
              </a:extLst>
            </p:cNvPr>
            <p:cNvSpPr txBox="1"/>
            <p:nvPr/>
          </p:nvSpPr>
          <p:spPr>
            <a:xfrm>
              <a:off x="9059295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56%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Bogotá</a:t>
              </a:r>
            </a:p>
          </p:txBody>
        </p:sp>
      </p:grpSp>
      <p:grpSp>
        <p:nvGrpSpPr>
          <p:cNvPr id="201" name="Grupo 200">
            <a:extLst>
              <a:ext uri="{FF2B5EF4-FFF2-40B4-BE49-F238E27FC236}">
                <a16:creationId xmlns:a16="http://schemas.microsoft.com/office/drawing/2014/main" id="{65CC7A9F-A05C-DAE4-6184-8CA983A0BC51}"/>
              </a:ext>
            </a:extLst>
          </p:cNvPr>
          <p:cNvGrpSpPr/>
          <p:nvPr/>
        </p:nvGrpSpPr>
        <p:grpSpPr>
          <a:xfrm>
            <a:off x="5407406" y="4842106"/>
            <a:ext cx="2693579" cy="1985915"/>
            <a:chOff x="5483606" y="4842106"/>
            <a:chExt cx="2693579" cy="1985915"/>
          </a:xfrm>
        </p:grpSpPr>
        <p:grpSp>
          <p:nvGrpSpPr>
            <p:cNvPr id="164" name="Grupo 163">
              <a:extLst>
                <a:ext uri="{FF2B5EF4-FFF2-40B4-BE49-F238E27FC236}">
                  <a16:creationId xmlns:a16="http://schemas.microsoft.com/office/drawing/2014/main" id="{35AD397C-A08F-C915-8EE4-0D42C899C698}"/>
                </a:ext>
              </a:extLst>
            </p:cNvPr>
            <p:cNvGrpSpPr/>
            <p:nvPr/>
          </p:nvGrpSpPr>
          <p:grpSpPr>
            <a:xfrm>
              <a:off x="5483606" y="4842106"/>
              <a:ext cx="2693579" cy="1957609"/>
              <a:chOff x="9049330" y="3127128"/>
              <a:chExt cx="2693579" cy="1957609"/>
            </a:xfrm>
          </p:grpSpPr>
          <p:grpSp>
            <p:nvGrpSpPr>
              <p:cNvPr id="165" name="Grupo 164">
                <a:extLst>
                  <a:ext uri="{FF2B5EF4-FFF2-40B4-BE49-F238E27FC236}">
                    <a16:creationId xmlns:a16="http://schemas.microsoft.com/office/drawing/2014/main" id="{C4695009-C66C-26DD-3AB5-28A869AE4EC1}"/>
                  </a:ext>
                </a:extLst>
              </p:cNvPr>
              <p:cNvGrpSpPr/>
              <p:nvPr/>
            </p:nvGrpSpPr>
            <p:grpSpPr>
              <a:xfrm>
                <a:off x="9049330" y="3127128"/>
                <a:ext cx="2655911" cy="1957609"/>
                <a:chOff x="7559107" y="1110832"/>
                <a:chExt cx="2655911" cy="1802169"/>
              </a:xfrm>
            </p:grpSpPr>
            <p:sp>
              <p:nvSpPr>
                <p:cNvPr id="168" name="Rectángulo 167">
                  <a:extLst>
                    <a:ext uri="{FF2B5EF4-FFF2-40B4-BE49-F238E27FC236}">
                      <a16:creationId xmlns:a16="http://schemas.microsoft.com/office/drawing/2014/main" id="{125B723D-9C35-B85A-4CD7-9706BAE77652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195987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70" name="Grupo 169">
                  <a:extLst>
                    <a:ext uri="{FF2B5EF4-FFF2-40B4-BE49-F238E27FC236}">
                      <a16:creationId xmlns:a16="http://schemas.microsoft.com/office/drawing/2014/main" id="{6E1BF6EA-8FE2-EDE3-ECD3-49223C710EFE}"/>
                    </a:ext>
                  </a:extLst>
                </p:cNvPr>
                <p:cNvGrpSpPr/>
                <p:nvPr/>
              </p:nvGrpSpPr>
              <p:grpSpPr>
                <a:xfrm>
                  <a:off x="7559107" y="1207829"/>
                  <a:ext cx="2655911" cy="1705172"/>
                  <a:chOff x="2994686" y="1214529"/>
                  <a:chExt cx="2655911" cy="1705172"/>
                </a:xfrm>
              </p:grpSpPr>
              <p:sp>
                <p:nvSpPr>
                  <p:cNvPr id="171" name="CuadroTexto 170">
                    <a:extLst>
                      <a:ext uri="{FF2B5EF4-FFF2-40B4-BE49-F238E27FC236}">
                        <a16:creationId xmlns:a16="http://schemas.microsoft.com/office/drawing/2014/main" id="{E0A7AC7E-FFEB-2CB4-5EDE-2FB16F7FE117}"/>
                      </a:ext>
                    </a:extLst>
                  </p:cNvPr>
                  <p:cNvSpPr txBox="1"/>
                  <p:nvPr/>
                </p:nvSpPr>
                <p:spPr>
                  <a:xfrm>
                    <a:off x="3700993" y="1214529"/>
                    <a:ext cx="1949604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Localidad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72" name="CuadroTexto 171">
                    <a:extLst>
                      <a:ext uri="{FF2B5EF4-FFF2-40B4-BE49-F238E27FC236}">
                        <a16:creationId xmlns:a16="http://schemas.microsoft.com/office/drawing/2014/main" id="{BFE80583-3CBD-7C57-9918-32FCFD2EA354}"/>
                      </a:ext>
                    </a:extLst>
                  </p:cNvPr>
                  <p:cNvSpPr txBox="1"/>
                  <p:nvPr/>
                </p:nvSpPr>
                <p:spPr>
                  <a:xfrm>
                    <a:off x="2994686" y="2353025"/>
                    <a:ext cx="1449192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3%</a:t>
                    </a: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    Teusaquillo</a:t>
                    </a:r>
                  </a:p>
                </p:txBody>
              </p:sp>
            </p:grpSp>
          </p:grpSp>
          <p:sp>
            <p:nvSpPr>
              <p:cNvPr id="166" name="CuadroTexto 165">
                <a:extLst>
                  <a:ext uri="{FF2B5EF4-FFF2-40B4-BE49-F238E27FC236}">
                    <a16:creationId xmlns:a16="http://schemas.microsoft.com/office/drawing/2014/main" id="{A88DFD38-8027-478F-891F-88A3A29D854F}"/>
                  </a:ext>
                </a:extLst>
              </p:cNvPr>
              <p:cNvSpPr txBox="1"/>
              <p:nvPr/>
            </p:nvSpPr>
            <p:spPr>
              <a:xfrm>
                <a:off x="9059295" y="3565727"/>
                <a:ext cx="128594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38%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</a:t>
                </a:r>
                <a:r>
                  <a:rPr lang="es-CO" sz="1400" b="1" dirty="0" err="1">
                    <a:solidFill>
                      <a:schemeClr val="bg1"/>
                    </a:solidFill>
                  </a:rPr>
                  <a:t>Engativa</a:t>
                </a:r>
                <a:endParaRPr lang="es-CO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7" name="CuadroTexto 166">
                <a:extLst>
                  <a:ext uri="{FF2B5EF4-FFF2-40B4-BE49-F238E27FC236}">
                    <a16:creationId xmlns:a16="http://schemas.microsoft.com/office/drawing/2014/main" id="{3CA82069-4696-1296-046F-6BF6022C2DEE}"/>
                  </a:ext>
                </a:extLst>
              </p:cNvPr>
              <p:cNvSpPr txBox="1"/>
              <p:nvPr/>
            </p:nvSpPr>
            <p:spPr>
              <a:xfrm>
                <a:off x="10498522" y="3549824"/>
                <a:ext cx="1244387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9%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Suba</a:t>
                </a:r>
              </a:p>
            </p:txBody>
          </p:sp>
        </p:grpSp>
        <p:sp>
          <p:nvSpPr>
            <p:cNvPr id="185" name="CuadroTexto 184">
              <a:extLst>
                <a:ext uri="{FF2B5EF4-FFF2-40B4-BE49-F238E27FC236}">
                  <a16:creationId xmlns:a16="http://schemas.microsoft.com/office/drawing/2014/main" id="{0E5C69C8-0DEB-5F51-95BD-AE597A5A2F5F}"/>
                </a:ext>
              </a:extLst>
            </p:cNvPr>
            <p:cNvSpPr txBox="1"/>
            <p:nvPr/>
          </p:nvSpPr>
          <p:spPr>
            <a:xfrm>
              <a:off x="6625166" y="6212468"/>
              <a:ext cx="1323041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44%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 Sin </a:t>
              </a:r>
              <a:r>
                <a:rPr lang="es-CO" sz="1400" b="1" dirty="0" err="1">
                  <a:solidFill>
                    <a:schemeClr val="bg1"/>
                  </a:solidFill>
                </a:rPr>
                <a:t>Infor</a:t>
              </a:r>
              <a:endParaRPr lang="es-CO" sz="1400" b="1" dirty="0">
                <a:solidFill>
                  <a:schemeClr val="bg1"/>
                </a:solidFill>
              </a:endParaRPr>
            </a:p>
          </p:txBody>
        </p:sp>
        <p:pic>
          <p:nvPicPr>
            <p:cNvPr id="187" name="Imagen 186">
              <a:extLst>
                <a:ext uri="{FF2B5EF4-FFF2-40B4-BE49-F238E27FC236}">
                  <a16:creationId xmlns:a16="http://schemas.microsoft.com/office/drawing/2014/main" id="{F282412A-DC80-804F-8D10-4F6C792E80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401571" y="5793688"/>
              <a:ext cx="1266970" cy="620378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grpSp>
        <p:nvGrpSpPr>
          <p:cNvPr id="202" name="Grupo 201">
            <a:extLst>
              <a:ext uri="{FF2B5EF4-FFF2-40B4-BE49-F238E27FC236}">
                <a16:creationId xmlns:a16="http://schemas.microsoft.com/office/drawing/2014/main" id="{EED28C30-DE53-B083-B8DA-C4CD70F02F46}"/>
              </a:ext>
            </a:extLst>
          </p:cNvPr>
          <p:cNvGrpSpPr/>
          <p:nvPr/>
        </p:nvGrpSpPr>
        <p:grpSpPr>
          <a:xfrm>
            <a:off x="7528734" y="4834201"/>
            <a:ext cx="2867011" cy="1957609"/>
            <a:chOff x="8071595" y="4834201"/>
            <a:chExt cx="3008704" cy="1957609"/>
          </a:xfrm>
        </p:grpSpPr>
        <p:grpSp>
          <p:nvGrpSpPr>
            <p:cNvPr id="190" name="Grupo 189">
              <a:extLst>
                <a:ext uri="{FF2B5EF4-FFF2-40B4-BE49-F238E27FC236}">
                  <a16:creationId xmlns:a16="http://schemas.microsoft.com/office/drawing/2014/main" id="{BDD22ADF-614F-3D52-4AAB-6F3FCDA96E8F}"/>
                </a:ext>
              </a:extLst>
            </p:cNvPr>
            <p:cNvGrpSpPr/>
            <p:nvPr/>
          </p:nvGrpSpPr>
          <p:grpSpPr>
            <a:xfrm>
              <a:off x="8071595" y="4834201"/>
              <a:ext cx="3008704" cy="1957609"/>
              <a:chOff x="8845727" y="3127128"/>
              <a:chExt cx="3008704" cy="1957609"/>
            </a:xfrm>
          </p:grpSpPr>
          <p:grpSp>
            <p:nvGrpSpPr>
              <p:cNvPr id="191" name="Grupo 190">
                <a:extLst>
                  <a:ext uri="{FF2B5EF4-FFF2-40B4-BE49-F238E27FC236}">
                    <a16:creationId xmlns:a16="http://schemas.microsoft.com/office/drawing/2014/main" id="{57A2ED56-4CD2-4A23-9CA7-C0B23ECD63DF}"/>
                  </a:ext>
                </a:extLst>
              </p:cNvPr>
              <p:cNvGrpSpPr/>
              <p:nvPr/>
            </p:nvGrpSpPr>
            <p:grpSpPr>
              <a:xfrm>
                <a:off x="8845727" y="3127128"/>
                <a:ext cx="3008704" cy="1957609"/>
                <a:chOff x="7355504" y="1110832"/>
                <a:chExt cx="3008704" cy="1802169"/>
              </a:xfrm>
            </p:grpSpPr>
            <p:sp>
              <p:nvSpPr>
                <p:cNvPr id="194" name="Rectángulo 193">
                  <a:extLst>
                    <a:ext uri="{FF2B5EF4-FFF2-40B4-BE49-F238E27FC236}">
                      <a16:creationId xmlns:a16="http://schemas.microsoft.com/office/drawing/2014/main" id="{EE064D64-79E8-98F7-7F9E-FB93CC45491A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368574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95" name="Grupo 194">
                  <a:extLst>
                    <a:ext uri="{FF2B5EF4-FFF2-40B4-BE49-F238E27FC236}">
                      <a16:creationId xmlns:a16="http://schemas.microsoft.com/office/drawing/2014/main" id="{47AE6BE6-3D6E-2BA4-3D9E-F42FF5F4A343}"/>
                    </a:ext>
                  </a:extLst>
                </p:cNvPr>
                <p:cNvGrpSpPr/>
                <p:nvPr/>
              </p:nvGrpSpPr>
              <p:grpSpPr>
                <a:xfrm>
                  <a:off x="7355504" y="1207828"/>
                  <a:ext cx="3008704" cy="1705173"/>
                  <a:chOff x="2791083" y="1214528"/>
                  <a:chExt cx="3008704" cy="1705173"/>
                </a:xfrm>
              </p:grpSpPr>
              <p:sp>
                <p:nvSpPr>
                  <p:cNvPr id="197" name="CuadroTexto 196">
                    <a:extLst>
                      <a:ext uri="{FF2B5EF4-FFF2-40B4-BE49-F238E27FC236}">
                        <a16:creationId xmlns:a16="http://schemas.microsoft.com/office/drawing/2014/main" id="{082836AF-D660-58C1-B871-30B362260B2C}"/>
                      </a:ext>
                    </a:extLst>
                  </p:cNvPr>
                  <p:cNvSpPr txBox="1"/>
                  <p:nvPr/>
                </p:nvSpPr>
                <p:spPr>
                  <a:xfrm>
                    <a:off x="3225997" y="1214528"/>
                    <a:ext cx="2573790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Entidad Financieras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98" name="CuadroTexto 197">
                    <a:extLst>
                      <a:ext uri="{FF2B5EF4-FFF2-40B4-BE49-F238E27FC236}">
                        <a16:creationId xmlns:a16="http://schemas.microsoft.com/office/drawing/2014/main" id="{33602580-5457-7498-7D13-1D6EB6865D05}"/>
                      </a:ext>
                    </a:extLst>
                  </p:cNvPr>
                  <p:cNvSpPr txBox="1"/>
                  <p:nvPr/>
                </p:nvSpPr>
                <p:spPr>
                  <a:xfrm>
                    <a:off x="2791083" y="2353025"/>
                    <a:ext cx="2440539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16%</a:t>
                    </a: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       B </a:t>
                    </a:r>
                    <a:r>
                      <a:rPr lang="es-CO" sz="1400" b="1" dirty="0" err="1">
                        <a:solidFill>
                          <a:schemeClr val="bg1"/>
                        </a:solidFill>
                      </a:rPr>
                      <a:t>Bogota</a:t>
                    </a:r>
                    <a:endParaRPr lang="es-CO" sz="14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</p:grpSp>
          <p:sp>
            <p:nvSpPr>
              <p:cNvPr id="192" name="CuadroTexto 191">
                <a:extLst>
                  <a:ext uri="{FF2B5EF4-FFF2-40B4-BE49-F238E27FC236}">
                    <a16:creationId xmlns:a16="http://schemas.microsoft.com/office/drawing/2014/main" id="{6016ABF3-648A-F3BB-D73E-29598BF09795}"/>
                  </a:ext>
                </a:extLst>
              </p:cNvPr>
              <p:cNvSpPr txBox="1"/>
              <p:nvPr/>
            </p:nvSpPr>
            <p:spPr>
              <a:xfrm>
                <a:off x="9267841" y="3565727"/>
                <a:ext cx="1337256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59%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Colsubsidio</a:t>
                </a:r>
              </a:p>
            </p:txBody>
          </p:sp>
          <p:sp>
            <p:nvSpPr>
              <p:cNvPr id="193" name="CuadroTexto 192">
                <a:extLst>
                  <a:ext uri="{FF2B5EF4-FFF2-40B4-BE49-F238E27FC236}">
                    <a16:creationId xmlns:a16="http://schemas.microsoft.com/office/drawing/2014/main" id="{4E28FE64-8DE0-8140-2225-5549C8591527}"/>
                  </a:ext>
                </a:extLst>
              </p:cNvPr>
              <p:cNvSpPr txBox="1"/>
              <p:nvPr/>
            </p:nvSpPr>
            <p:spPr>
              <a:xfrm>
                <a:off x="10419996" y="3549824"/>
                <a:ext cx="1322914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16%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Bancolombia</a:t>
                </a:r>
              </a:p>
            </p:txBody>
          </p:sp>
        </p:grpSp>
        <p:sp>
          <p:nvSpPr>
            <p:cNvPr id="199" name="CuadroTexto 198">
              <a:extLst>
                <a:ext uri="{FF2B5EF4-FFF2-40B4-BE49-F238E27FC236}">
                  <a16:creationId xmlns:a16="http://schemas.microsoft.com/office/drawing/2014/main" id="{B12E0E17-15D6-9C53-D763-455582438CF5}"/>
                </a:ext>
              </a:extLst>
            </p:cNvPr>
            <p:cNvSpPr txBox="1"/>
            <p:nvPr/>
          </p:nvSpPr>
          <p:spPr>
            <a:xfrm>
              <a:off x="9366872" y="6140046"/>
              <a:ext cx="1432616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   9%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     Otros</a:t>
              </a:r>
            </a:p>
          </p:txBody>
        </p:sp>
      </p:grpSp>
      <p:sp>
        <p:nvSpPr>
          <p:cNvPr id="200" name="CuadroTexto 199">
            <a:extLst>
              <a:ext uri="{FF2B5EF4-FFF2-40B4-BE49-F238E27FC236}">
                <a16:creationId xmlns:a16="http://schemas.microsoft.com/office/drawing/2014/main" id="{9362F999-427A-443C-699D-BA259D0E59DB}"/>
              </a:ext>
            </a:extLst>
          </p:cNvPr>
          <p:cNvSpPr txBox="1"/>
          <p:nvPr/>
        </p:nvSpPr>
        <p:spPr>
          <a:xfrm>
            <a:off x="4140736" y="5856787"/>
            <a:ext cx="137625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3%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Mosquera</a:t>
            </a:r>
          </a:p>
        </p:txBody>
      </p:sp>
      <p:pic>
        <p:nvPicPr>
          <p:cNvPr id="205" name="Imagen 204">
            <a:extLst>
              <a:ext uri="{FF2B5EF4-FFF2-40B4-BE49-F238E27FC236}">
                <a16:creationId xmlns:a16="http://schemas.microsoft.com/office/drawing/2014/main" id="{48EA425F-67CA-B1D7-3F45-F28CAFF21FD3}"/>
              </a:ext>
            </a:extLst>
          </p:cNvPr>
          <p:cNvPicPr>
            <a:picLocks noChangeAspect="1"/>
          </p:cNvPicPr>
          <p:nvPr/>
        </p:nvPicPr>
        <p:blipFill>
          <a:blip r:embed="rId22">
            <a:duotone>
              <a:prstClr val="black"/>
              <a:schemeClr val="tx1">
                <a:lumMod val="75000"/>
                <a:lumOff val="2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4538" y="5846263"/>
            <a:ext cx="673981" cy="673981"/>
          </a:xfrm>
          <a:prstGeom prst="rect">
            <a:avLst/>
          </a:prstGeom>
        </p:spPr>
      </p:pic>
      <p:grpSp>
        <p:nvGrpSpPr>
          <p:cNvPr id="208" name="Grupo 207">
            <a:extLst>
              <a:ext uri="{FF2B5EF4-FFF2-40B4-BE49-F238E27FC236}">
                <a16:creationId xmlns:a16="http://schemas.microsoft.com/office/drawing/2014/main" id="{CB2D9741-F404-1D27-5458-6D3D19C25C6B}"/>
              </a:ext>
            </a:extLst>
          </p:cNvPr>
          <p:cNvGrpSpPr/>
          <p:nvPr/>
        </p:nvGrpSpPr>
        <p:grpSpPr>
          <a:xfrm>
            <a:off x="10245555" y="853892"/>
            <a:ext cx="1956550" cy="5540381"/>
            <a:chOff x="7793864" y="1110832"/>
            <a:chExt cx="1816602" cy="1780012"/>
          </a:xfrm>
        </p:grpSpPr>
        <p:sp>
          <p:nvSpPr>
            <p:cNvPr id="212" name="Rectángulo 211">
              <a:extLst>
                <a:ext uri="{FF2B5EF4-FFF2-40B4-BE49-F238E27FC236}">
                  <a16:creationId xmlns:a16="http://schemas.microsoft.com/office/drawing/2014/main" id="{6A7F45BD-0663-4E61-851E-7C6AA3916534}"/>
                </a:ext>
              </a:extLst>
            </p:cNvPr>
            <p:cNvSpPr/>
            <p:nvPr/>
          </p:nvSpPr>
          <p:spPr>
            <a:xfrm>
              <a:off x="7814360" y="1110832"/>
              <a:ext cx="1666611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5" name="CuadroTexto 214">
              <a:extLst>
                <a:ext uri="{FF2B5EF4-FFF2-40B4-BE49-F238E27FC236}">
                  <a16:creationId xmlns:a16="http://schemas.microsoft.com/office/drawing/2014/main" id="{39A4419A-AFE6-5D00-2B20-C469C79819DC}"/>
                </a:ext>
              </a:extLst>
            </p:cNvPr>
            <p:cNvSpPr txBox="1"/>
            <p:nvPr/>
          </p:nvSpPr>
          <p:spPr>
            <a:xfrm>
              <a:off x="7793864" y="1161252"/>
              <a:ext cx="1816602" cy="1141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1600">
                  <a:solidFill>
                    <a:srgbClr val="FFC000"/>
                  </a:solidFill>
                  <a:latin typeface="KG Red Hands" panose="02000505000000020004" pitchFamily="2" charset="0"/>
                </a:rPr>
                <a:t>Top Empresas</a:t>
              </a:r>
              <a:endParaRPr lang="es-ES" sz="1600">
                <a:solidFill>
                  <a:srgbClr val="FFC000"/>
                </a:solidFill>
              </a:endParaRPr>
            </a:p>
          </p:txBody>
        </p:sp>
        <p:sp>
          <p:nvSpPr>
            <p:cNvPr id="214" name="CuadroTexto 213">
              <a:extLst>
                <a:ext uri="{FF2B5EF4-FFF2-40B4-BE49-F238E27FC236}">
                  <a16:creationId xmlns:a16="http://schemas.microsoft.com/office/drawing/2014/main" id="{822676E6-1EA0-824C-6392-3E3CD2DEE655}"/>
                </a:ext>
              </a:extLst>
            </p:cNvPr>
            <p:cNvSpPr txBox="1"/>
            <p:nvPr/>
          </p:nvSpPr>
          <p:spPr>
            <a:xfrm>
              <a:off x="7830402" y="1354030"/>
              <a:ext cx="1689688" cy="3263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500" b="1" dirty="0">
                  <a:solidFill>
                    <a:schemeClr val="bg1"/>
                  </a:solidFill>
                </a:rPr>
                <a:t>BBVA	2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ITAU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AEROVIAS DE INTEGRACION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NOKIA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AMADEUS IT GROUP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A GOMEZ K   CIA S EN C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AMAZON WEB SERVICES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METROLOGICAL CENTER SAS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AMWAY COLOMBIA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PCM COLOMBIA S A S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SERITAMPO SAS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	                               </a:t>
              </a: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BE7177A6-96EB-1826-5396-DAFD35113078}"/>
              </a:ext>
            </a:extLst>
          </p:cNvPr>
          <p:cNvSpPr txBox="1"/>
          <p:nvPr/>
        </p:nvSpPr>
        <p:spPr>
          <a:xfrm>
            <a:off x="6800388" y="1245986"/>
            <a:ext cx="117290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19</a:t>
            </a:r>
            <a:r>
              <a:rPr lang="es-CO" sz="1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%</a:t>
            </a:r>
          </a:p>
          <a:p>
            <a:r>
              <a:rPr lang="es-CO" sz="1200" b="1" dirty="0">
                <a:solidFill>
                  <a:schemeClr val="bg1"/>
                </a:solidFill>
              </a:rPr>
              <a:t>Entre 6 y 8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9CAFBA3-30FD-A965-A7F1-EF6C45BCC5E9}"/>
              </a:ext>
            </a:extLst>
          </p:cNvPr>
          <p:cNvSpPr txBox="1"/>
          <p:nvPr/>
        </p:nvSpPr>
        <p:spPr>
          <a:xfrm>
            <a:off x="5543078" y="1976240"/>
            <a:ext cx="117290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3</a:t>
            </a:r>
            <a:r>
              <a:rPr lang="es-CO" sz="1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%</a:t>
            </a:r>
          </a:p>
          <a:p>
            <a:r>
              <a:rPr lang="es-CO" sz="1200" b="1" dirty="0">
                <a:solidFill>
                  <a:schemeClr val="bg1"/>
                </a:solidFill>
              </a:rPr>
              <a:t>Entre 20 y 30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49DC988-053A-083C-F413-0E9745F9A687}"/>
              </a:ext>
            </a:extLst>
          </p:cNvPr>
          <p:cNvSpPr txBox="1"/>
          <p:nvPr/>
        </p:nvSpPr>
        <p:spPr>
          <a:xfrm>
            <a:off x="10330342" y="6461181"/>
            <a:ext cx="14292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100" dirty="0">
                <a:solidFill>
                  <a:srgbClr val="FFC000"/>
                </a:solidFill>
                <a:latin typeface="KG Red Hands" panose="02000505000000020004" pitchFamily="2" charset="0"/>
              </a:rPr>
              <a:t>*Corte 15/01/2026</a:t>
            </a:r>
            <a:endParaRPr lang="es-ES" sz="11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897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232DE-FB1E-A35D-A857-B97F438BE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3A524A59-3E24-28A1-DF49-3264DD825FB1}"/>
              </a:ext>
            </a:extLst>
          </p:cNvPr>
          <p:cNvCxnSpPr>
            <a:cxnSpLocks/>
          </p:cNvCxnSpPr>
          <p:nvPr/>
        </p:nvCxnSpPr>
        <p:spPr>
          <a:xfrm flipH="1">
            <a:off x="0" y="645614"/>
            <a:ext cx="10809007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uadroTexto 85">
            <a:extLst>
              <a:ext uri="{FF2B5EF4-FFF2-40B4-BE49-F238E27FC236}">
                <a16:creationId xmlns:a16="http://schemas.microsoft.com/office/drawing/2014/main" id="{9874D2CC-CC86-3DA7-21D7-241429525546}"/>
              </a:ext>
            </a:extLst>
          </p:cNvPr>
          <p:cNvSpPr txBox="1"/>
          <p:nvPr/>
        </p:nvSpPr>
        <p:spPr>
          <a:xfrm>
            <a:off x="-128399" y="120715"/>
            <a:ext cx="95771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dirty="0">
                <a:solidFill>
                  <a:schemeClr val="bg1"/>
                </a:solidFill>
                <a:latin typeface="KG Red Hands" panose="02000505000000020004" pitchFamily="2" charset="0"/>
              </a:rPr>
              <a:t>      </a:t>
            </a:r>
            <a:r>
              <a:rPr lang="es-CO" sz="2400" dirty="0" err="1">
                <a:solidFill>
                  <a:schemeClr val="bg1"/>
                </a:solidFill>
                <a:latin typeface="KG Red Hands" panose="02000505000000020004" pitchFamily="2" charset="0"/>
              </a:rPr>
              <a:t>Vibonce</a:t>
            </a:r>
            <a:endParaRPr lang="es-ES" sz="24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0840173A-67CF-DAFF-D0A4-67851944DF4E}"/>
              </a:ext>
              <a:ext uri="{147F2762-F138-4A5C-976F-8EAC2B608ADB}">
                <a16:predDERef xmlns:a16="http://schemas.microsoft.com/office/drawing/2014/main" pred="{95DEFF95-1524-40DB-8538-DE0C2D5BEC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3398838"/>
            <a:ext cx="555625" cy="49371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6A8D67A-AE61-6158-8744-4BC74BB94492}"/>
              </a:ext>
              <a:ext uri="{147F2762-F138-4A5C-976F-8EAC2B608ADB}">
                <a16:predDERef xmlns:a16="http://schemas.microsoft.com/office/drawing/2014/main" pred="{95FFDEC5-E647-4E60-9FB8-32349ACC1E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087813"/>
            <a:ext cx="555625" cy="46196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4C3F6B2-32E8-75C7-C3E3-CBB72C38C871}"/>
              </a:ext>
              <a:ext uri="{147F2762-F138-4A5C-976F-8EAC2B608ADB}">
                <a16:predDERef xmlns:a16="http://schemas.microsoft.com/office/drawing/2014/main" pred="{D53D0C4A-FE71-44C0-97B3-1EA296D3DCE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814888"/>
            <a:ext cx="555625" cy="41116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E739C058-800C-1EB1-683E-2B18A51D8552}"/>
              </a:ext>
              <a:ext uri="{147F2762-F138-4A5C-976F-8EAC2B608ADB}">
                <a16:predDERef xmlns:a16="http://schemas.microsoft.com/office/drawing/2014/main" pred="{7008BA42-7365-4AD1-B913-F26820CE47E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1775" y="5427663"/>
            <a:ext cx="465138" cy="433387"/>
          </a:xfrm>
          <a:prstGeom prst="rect">
            <a:avLst/>
          </a:prstGeom>
        </p:spPr>
      </p:pic>
      <p:grpSp>
        <p:nvGrpSpPr>
          <p:cNvPr id="135" name="Grupo 134">
            <a:extLst>
              <a:ext uri="{FF2B5EF4-FFF2-40B4-BE49-F238E27FC236}">
                <a16:creationId xmlns:a16="http://schemas.microsoft.com/office/drawing/2014/main" id="{246A45AC-5770-64E4-80FB-D71AC3BCC832}"/>
              </a:ext>
            </a:extLst>
          </p:cNvPr>
          <p:cNvGrpSpPr/>
          <p:nvPr/>
        </p:nvGrpSpPr>
        <p:grpSpPr>
          <a:xfrm>
            <a:off x="5564187" y="853892"/>
            <a:ext cx="2195988" cy="1780012"/>
            <a:chOff x="5353656" y="1110832"/>
            <a:chExt cx="2195988" cy="1780012"/>
          </a:xfrm>
        </p:grpSpPr>
        <p:sp>
          <p:nvSpPr>
            <p:cNvPr id="58" name="Rectángulo 57">
              <a:extLst>
                <a:ext uri="{FF2B5EF4-FFF2-40B4-BE49-F238E27FC236}">
                  <a16:creationId xmlns:a16="http://schemas.microsoft.com/office/drawing/2014/main" id="{2C9CC087-F79A-FE3C-A95D-E312B3890F96}"/>
                </a:ext>
              </a:extLst>
            </p:cNvPr>
            <p:cNvSpPr/>
            <p:nvPr/>
          </p:nvSpPr>
          <p:spPr>
            <a:xfrm>
              <a:off x="5353656" y="1110832"/>
              <a:ext cx="2195987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43" name="Grupo 42">
              <a:extLst>
                <a:ext uri="{FF2B5EF4-FFF2-40B4-BE49-F238E27FC236}">
                  <a16:creationId xmlns:a16="http://schemas.microsoft.com/office/drawing/2014/main" id="{EDF93A12-BA69-1D8F-13A7-2A58D82D21B3}"/>
                </a:ext>
              </a:extLst>
            </p:cNvPr>
            <p:cNvGrpSpPr/>
            <p:nvPr/>
          </p:nvGrpSpPr>
          <p:grpSpPr>
            <a:xfrm>
              <a:off x="5353657" y="1223137"/>
              <a:ext cx="2083693" cy="1630468"/>
              <a:chOff x="3249940" y="1229837"/>
              <a:chExt cx="2083693" cy="1630468"/>
            </a:xfrm>
          </p:grpSpPr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97DD18DD-504E-005E-DEBC-277DE7C6B148}"/>
                  </a:ext>
                </a:extLst>
              </p:cNvPr>
              <p:cNvSpPr txBox="1"/>
              <p:nvPr/>
            </p:nvSpPr>
            <p:spPr>
              <a:xfrm>
                <a:off x="3552927" y="1229837"/>
                <a:ext cx="178070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Rango Salario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8FD7AA3F-EC8B-5DC2-4312-321802BA0DDC}"/>
                  </a:ext>
                </a:extLst>
              </p:cNvPr>
              <p:cNvSpPr txBox="1"/>
              <p:nvPr/>
            </p:nvSpPr>
            <p:spPr>
              <a:xfrm>
                <a:off x="3249940" y="2306307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100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Hasta 2 </a:t>
                </a:r>
                <a:r>
                  <a:rPr lang="es-CO" sz="1200" b="1" dirty="0" err="1">
                    <a:solidFill>
                      <a:schemeClr val="bg1"/>
                    </a:solidFill>
                  </a:rPr>
                  <a:t>smlv</a:t>
                </a:r>
                <a:endParaRPr lang="es-CO" sz="12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53" name="Imagen 52">
              <a:extLst>
                <a:ext uri="{FF2B5EF4-FFF2-40B4-BE49-F238E27FC236}">
                  <a16:creationId xmlns:a16="http://schemas.microsoft.com/office/drawing/2014/main" id="{39597295-85D6-B678-B520-DC2553FB836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12042" y="1623254"/>
              <a:ext cx="641350" cy="641350"/>
            </a:xfrm>
            <a:prstGeom prst="rect">
              <a:avLst/>
            </a:prstGeom>
          </p:spPr>
        </p:pic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C368351A-376C-7C93-C363-3BD9336C12CD}"/>
                </a:ext>
              </a:extLst>
            </p:cNvPr>
            <p:cNvSpPr txBox="1"/>
            <p:nvPr/>
          </p:nvSpPr>
          <p:spPr>
            <a:xfrm>
              <a:off x="6376735" y="2289285"/>
              <a:ext cx="1172909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0</a:t>
              </a:r>
              <a:r>
                <a:rPr lang="es-CO" sz="18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Mas de 2 </a:t>
              </a:r>
              <a:r>
                <a:rPr lang="es-CO" sz="1200" b="1" dirty="0" err="1">
                  <a:solidFill>
                    <a:schemeClr val="bg1"/>
                  </a:solidFill>
                </a:rPr>
                <a:t>smlv</a:t>
              </a:r>
              <a:endParaRPr lang="es-CO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7084DF85-BAEB-EDB3-7F27-4EDAD3AD4F94}"/>
              </a:ext>
            </a:extLst>
          </p:cNvPr>
          <p:cNvGrpSpPr/>
          <p:nvPr/>
        </p:nvGrpSpPr>
        <p:grpSpPr>
          <a:xfrm>
            <a:off x="3320687" y="874756"/>
            <a:ext cx="1941094" cy="1759148"/>
            <a:chOff x="3224463" y="1110832"/>
            <a:chExt cx="1941094" cy="1759148"/>
          </a:xfrm>
        </p:grpSpPr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2572D846-A906-EF39-44D9-F630F5F3E72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36596" y="1677993"/>
              <a:ext cx="721895" cy="721895"/>
            </a:xfrm>
            <a:prstGeom prst="rect">
              <a:avLst/>
            </a:prstGeom>
          </p:spPr>
        </p:pic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C169358B-E076-E9A8-D4DC-56057137E340}"/>
                </a:ext>
              </a:extLst>
            </p:cNvPr>
            <p:cNvGrpSpPr/>
            <p:nvPr/>
          </p:nvGrpSpPr>
          <p:grpSpPr>
            <a:xfrm>
              <a:off x="3420553" y="1223137"/>
              <a:ext cx="1609350" cy="1516670"/>
              <a:chOff x="3420553" y="1223137"/>
              <a:chExt cx="1609350" cy="1516670"/>
            </a:xfrm>
          </p:grpSpPr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060FCCB8-509A-EA74-182A-9E88149F16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74608" y="1613811"/>
                <a:ext cx="723600" cy="723600"/>
              </a:xfrm>
              <a:prstGeom prst="rect">
                <a:avLst/>
              </a:prstGeom>
            </p:spPr>
          </p:pic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80D42F62-7156-9D7A-0C5E-DE9B7EFFA73E}"/>
                  </a:ext>
                </a:extLst>
              </p:cNvPr>
              <p:cNvSpPr txBox="1"/>
              <p:nvPr/>
            </p:nvSpPr>
            <p:spPr>
              <a:xfrm>
                <a:off x="3685253" y="1223137"/>
                <a:ext cx="1098946" cy="345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Género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F3FB3D03-B1F3-F197-A4DC-6C75225DC923}"/>
                  </a:ext>
                </a:extLst>
              </p:cNvPr>
              <p:cNvSpPr txBox="1"/>
              <p:nvPr/>
            </p:nvSpPr>
            <p:spPr>
              <a:xfrm>
                <a:off x="3420553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50%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71220CC2-0CEC-5D4E-4F6C-2E7EC487C027}"/>
                  </a:ext>
                </a:extLst>
              </p:cNvPr>
              <p:cNvSpPr txBox="1"/>
              <p:nvPr/>
            </p:nvSpPr>
            <p:spPr>
              <a:xfrm>
                <a:off x="4308008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50%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</p:grp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9CACDA97-A0C5-E124-6962-A11EB835A8C3}"/>
                </a:ext>
              </a:extLst>
            </p:cNvPr>
            <p:cNvSpPr/>
            <p:nvPr/>
          </p:nvSpPr>
          <p:spPr>
            <a:xfrm>
              <a:off x="3224463" y="1110832"/>
              <a:ext cx="1941094" cy="175914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78" name="CuadroTexto 77">
            <a:extLst>
              <a:ext uri="{FF2B5EF4-FFF2-40B4-BE49-F238E27FC236}">
                <a16:creationId xmlns:a16="http://schemas.microsoft.com/office/drawing/2014/main" id="{FBBE9151-EEBF-FECD-3E7D-AC7DEB37A35E}"/>
              </a:ext>
            </a:extLst>
          </p:cNvPr>
          <p:cNvSpPr txBox="1"/>
          <p:nvPr/>
        </p:nvSpPr>
        <p:spPr>
          <a:xfrm>
            <a:off x="1376075" y="3222417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50%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Joven</a:t>
            </a:r>
          </a:p>
        </p:txBody>
      </p: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7A439A94-16E7-5698-44DA-4D2D9596BF80}"/>
              </a:ext>
            </a:extLst>
          </p:cNvPr>
          <p:cNvGrpSpPr/>
          <p:nvPr/>
        </p:nvGrpSpPr>
        <p:grpSpPr>
          <a:xfrm>
            <a:off x="-155207" y="2771278"/>
            <a:ext cx="2688149" cy="1998661"/>
            <a:chOff x="435343" y="3108160"/>
            <a:chExt cx="2688149" cy="1998661"/>
          </a:xfrm>
        </p:grpSpPr>
        <p:grpSp>
          <p:nvGrpSpPr>
            <p:cNvPr id="69" name="Grupo 68">
              <a:extLst>
                <a:ext uri="{FF2B5EF4-FFF2-40B4-BE49-F238E27FC236}">
                  <a16:creationId xmlns:a16="http://schemas.microsoft.com/office/drawing/2014/main" id="{0F8C2717-C70A-23E2-3605-D52CB9623940}"/>
                </a:ext>
              </a:extLst>
            </p:cNvPr>
            <p:cNvGrpSpPr/>
            <p:nvPr/>
          </p:nvGrpSpPr>
          <p:grpSpPr>
            <a:xfrm>
              <a:off x="457829" y="3108160"/>
              <a:ext cx="2665663" cy="1998661"/>
              <a:chOff x="7590765" y="1110832"/>
              <a:chExt cx="2665663" cy="1822499"/>
            </a:xfrm>
          </p:grpSpPr>
          <p:sp>
            <p:nvSpPr>
              <p:cNvPr id="70" name="Rectángulo 69">
                <a:extLst>
                  <a:ext uri="{FF2B5EF4-FFF2-40B4-BE49-F238E27FC236}">
                    <a16:creationId xmlns:a16="http://schemas.microsoft.com/office/drawing/2014/main" id="{4058B75A-C214-9B12-A546-498E12093EB1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71" name="Grupo 70">
                <a:extLst>
                  <a:ext uri="{FF2B5EF4-FFF2-40B4-BE49-F238E27FC236}">
                    <a16:creationId xmlns:a16="http://schemas.microsoft.com/office/drawing/2014/main" id="{C0A3EA1C-9DF9-412C-D293-8321A6A682D1}"/>
                  </a:ext>
                </a:extLst>
              </p:cNvPr>
              <p:cNvGrpSpPr/>
              <p:nvPr/>
            </p:nvGrpSpPr>
            <p:grpSpPr>
              <a:xfrm>
                <a:off x="7590765" y="1223137"/>
                <a:ext cx="2024519" cy="1655939"/>
                <a:chOff x="3026344" y="1229837"/>
                <a:chExt cx="2024519" cy="1655939"/>
              </a:xfrm>
            </p:grpSpPr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4650F967-4F8A-3133-B022-2F8E0B1EE1C9}"/>
                    </a:ext>
                  </a:extLst>
                </p:cNvPr>
                <p:cNvSpPr txBox="1"/>
                <p:nvPr/>
              </p:nvSpPr>
              <p:spPr>
                <a:xfrm>
                  <a:off x="3645002" y="1229837"/>
                  <a:ext cx="1405861" cy="3087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Segmento 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70D4B20C-F217-918C-B32E-F7EAE58A60B0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12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50%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Básico</a:t>
                  </a:r>
                </a:p>
              </p:txBody>
            </p:sp>
          </p:grpSp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9E3D9666-759C-8463-05DE-50008B84AB80}"/>
                  </a:ext>
                </a:extLst>
              </p:cNvPr>
              <p:cNvSpPr txBox="1"/>
              <p:nvPr/>
            </p:nvSpPr>
            <p:spPr>
              <a:xfrm>
                <a:off x="9083519" y="231777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0%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Alto</a:t>
                </a:r>
              </a:p>
            </p:txBody>
          </p:sp>
        </p:grpSp>
        <p:sp>
          <p:nvSpPr>
            <p:cNvPr id="77" name="CuadroTexto 76">
              <a:extLst>
                <a:ext uri="{FF2B5EF4-FFF2-40B4-BE49-F238E27FC236}">
                  <a16:creationId xmlns:a16="http://schemas.microsoft.com/office/drawing/2014/main" id="{9F3CB6E6-C83B-795C-9C88-CC2733AE5313}"/>
                </a:ext>
              </a:extLst>
            </p:cNvPr>
            <p:cNvSpPr txBox="1"/>
            <p:nvPr/>
          </p:nvSpPr>
          <p:spPr>
            <a:xfrm>
              <a:off x="435343" y="3559299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0%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Medio</a:t>
              </a:r>
            </a:p>
          </p:txBody>
        </p:sp>
        <p:pic>
          <p:nvPicPr>
            <p:cNvPr id="80" name="Imagen 79">
              <a:extLst>
                <a:ext uri="{FF2B5EF4-FFF2-40B4-BE49-F238E27FC236}">
                  <a16:creationId xmlns:a16="http://schemas.microsoft.com/office/drawing/2014/main" id="{EAED3B5A-A82E-A502-48C3-80C0CAB632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LineDrawing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90862" y="3871141"/>
              <a:ext cx="680857" cy="680857"/>
            </a:xfrm>
            <a:prstGeom prst="rect">
              <a:avLst/>
            </a:prstGeom>
          </p:spPr>
        </p:pic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6B3FB8B8-AD3E-2987-7817-02EE765C78EA}"/>
              </a:ext>
            </a:extLst>
          </p:cNvPr>
          <p:cNvGrpSpPr/>
          <p:nvPr/>
        </p:nvGrpSpPr>
        <p:grpSpPr>
          <a:xfrm>
            <a:off x="2169335" y="2774370"/>
            <a:ext cx="3284086" cy="1963483"/>
            <a:chOff x="2759885" y="3111252"/>
            <a:chExt cx="3284086" cy="1963483"/>
          </a:xfrm>
        </p:grpSpPr>
        <p:sp>
          <p:nvSpPr>
            <p:cNvPr id="88" name="CuadroTexto 87">
              <a:extLst>
                <a:ext uri="{FF2B5EF4-FFF2-40B4-BE49-F238E27FC236}">
                  <a16:creationId xmlns:a16="http://schemas.microsoft.com/office/drawing/2014/main" id="{3FF0DAE0-C054-E56F-2E3B-8D2485AE7E52}"/>
                </a:ext>
              </a:extLst>
            </p:cNvPr>
            <p:cNvSpPr txBox="1"/>
            <p:nvPr/>
          </p:nvSpPr>
          <p:spPr>
            <a:xfrm>
              <a:off x="2759885" y="3531697"/>
              <a:ext cx="154680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   50%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             Sin Grupo</a:t>
              </a:r>
            </a:p>
          </p:txBody>
        </p:sp>
        <p:grpSp>
          <p:nvGrpSpPr>
            <p:cNvPr id="124" name="Grupo 123">
              <a:extLst>
                <a:ext uri="{FF2B5EF4-FFF2-40B4-BE49-F238E27FC236}">
                  <a16:creationId xmlns:a16="http://schemas.microsoft.com/office/drawing/2014/main" id="{26F8BA3A-B6B5-DFA1-E206-2BA681A95F3E}"/>
                </a:ext>
              </a:extLst>
            </p:cNvPr>
            <p:cNvGrpSpPr/>
            <p:nvPr/>
          </p:nvGrpSpPr>
          <p:grpSpPr>
            <a:xfrm>
              <a:off x="2827705" y="3111252"/>
              <a:ext cx="3216266" cy="1963483"/>
              <a:chOff x="2827705" y="3111252"/>
              <a:chExt cx="3216266" cy="1963483"/>
            </a:xfrm>
          </p:grpSpPr>
          <p:grpSp>
            <p:nvGrpSpPr>
              <p:cNvPr id="81" name="Grupo 80">
                <a:extLst>
                  <a:ext uri="{FF2B5EF4-FFF2-40B4-BE49-F238E27FC236}">
                    <a16:creationId xmlns:a16="http://schemas.microsoft.com/office/drawing/2014/main" id="{1677C826-06D1-6762-DC4C-4F0DF6DFFA18}"/>
                  </a:ext>
                </a:extLst>
              </p:cNvPr>
              <p:cNvGrpSpPr/>
              <p:nvPr/>
            </p:nvGrpSpPr>
            <p:grpSpPr>
              <a:xfrm>
                <a:off x="2827705" y="3111252"/>
                <a:ext cx="3216266" cy="1963483"/>
                <a:chOff x="7593779" y="1110832"/>
                <a:chExt cx="3216266" cy="1780012"/>
              </a:xfrm>
            </p:grpSpPr>
            <p:sp>
              <p:nvSpPr>
                <p:cNvPr id="82" name="Rectángulo 81">
                  <a:extLst>
                    <a:ext uri="{FF2B5EF4-FFF2-40B4-BE49-F238E27FC236}">
                      <a16:creationId xmlns:a16="http://schemas.microsoft.com/office/drawing/2014/main" id="{FBD9D2A7-16EE-219E-9EDF-0FA861C4FB4C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808386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83" name="Grupo 82">
                  <a:extLst>
                    <a:ext uri="{FF2B5EF4-FFF2-40B4-BE49-F238E27FC236}">
                      <a16:creationId xmlns:a16="http://schemas.microsoft.com/office/drawing/2014/main" id="{8EFE0014-F254-EE98-191A-F8A622C93084}"/>
                    </a:ext>
                  </a:extLst>
                </p:cNvPr>
                <p:cNvGrpSpPr/>
                <p:nvPr/>
              </p:nvGrpSpPr>
              <p:grpSpPr>
                <a:xfrm>
                  <a:off x="7593779" y="1166870"/>
                  <a:ext cx="2748715" cy="1628029"/>
                  <a:chOff x="3029358" y="1173570"/>
                  <a:chExt cx="2748715" cy="1628029"/>
                </a:xfrm>
              </p:grpSpPr>
              <p:sp>
                <p:nvSpPr>
                  <p:cNvPr id="85" name="CuadroTexto 84">
                    <a:extLst>
                      <a:ext uri="{FF2B5EF4-FFF2-40B4-BE49-F238E27FC236}">
                        <a16:creationId xmlns:a16="http://schemas.microsoft.com/office/drawing/2014/main" id="{B013987E-70B1-A5EA-ABC0-1997C22186EA}"/>
                      </a:ext>
                    </a:extLst>
                  </p:cNvPr>
                  <p:cNvSpPr txBox="1"/>
                  <p:nvPr/>
                </p:nvSpPr>
                <p:spPr>
                  <a:xfrm>
                    <a:off x="3634807" y="1173570"/>
                    <a:ext cx="2143266" cy="30691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Segmento Familia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87" name="CuadroTexto 86">
                    <a:extLst>
                      <a:ext uri="{FF2B5EF4-FFF2-40B4-BE49-F238E27FC236}">
                        <a16:creationId xmlns:a16="http://schemas.microsoft.com/office/drawing/2014/main" id="{0270F3EA-0B34-5FC3-A195-3C3382E2385D}"/>
                      </a:ext>
                    </a:extLst>
                  </p:cNvPr>
                  <p:cNvSpPr txBox="1"/>
                  <p:nvPr/>
                </p:nvSpPr>
                <p:spPr>
                  <a:xfrm>
                    <a:off x="3029358" y="2131957"/>
                    <a:ext cx="1923771" cy="66964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 0</a:t>
                    </a:r>
                    <a:r>
                      <a:rPr lang="es-CO" sz="18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%</a:t>
                    </a:r>
                  </a:p>
                  <a:p>
                    <a:r>
                      <a:rPr lang="es-CO" sz="1200" b="1" dirty="0">
                        <a:solidFill>
                          <a:schemeClr val="bg1"/>
                        </a:solidFill>
                      </a:rPr>
                      <a:t>      Monoparental</a:t>
                    </a:r>
                  </a:p>
                  <a:p>
                    <a:r>
                      <a:rPr lang="es-CO" sz="1200" b="1" dirty="0">
                        <a:solidFill>
                          <a:schemeClr val="bg1"/>
                        </a:solidFill>
                      </a:rPr>
                      <a:t>      Ampliada</a:t>
                    </a:r>
                  </a:p>
                </p:txBody>
              </p:sp>
            </p:grpSp>
            <p:sp>
              <p:nvSpPr>
                <p:cNvPr id="84" name="CuadroTexto 83">
                  <a:extLst>
                    <a:ext uri="{FF2B5EF4-FFF2-40B4-BE49-F238E27FC236}">
                      <a16:creationId xmlns:a16="http://schemas.microsoft.com/office/drawing/2014/main" id="{1005A9EB-A8FE-5BBA-F141-2D04311E4763}"/>
                    </a:ext>
                  </a:extLst>
                </p:cNvPr>
                <p:cNvSpPr txBox="1"/>
                <p:nvPr/>
              </p:nvSpPr>
              <p:spPr>
                <a:xfrm>
                  <a:off x="9185077" y="2110714"/>
                  <a:ext cx="1624968" cy="5022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        0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 Nuclear Integrada</a:t>
                  </a:r>
                </a:p>
              </p:txBody>
            </p:sp>
          </p:grpSp>
          <p:sp>
            <p:nvSpPr>
              <p:cNvPr id="89" name="CuadroTexto 88">
                <a:extLst>
                  <a:ext uri="{FF2B5EF4-FFF2-40B4-BE49-F238E27FC236}">
                    <a16:creationId xmlns:a16="http://schemas.microsoft.com/office/drawing/2014/main" id="{B22C3DA9-40AF-E87F-1B94-64694987B300}"/>
                  </a:ext>
                </a:extLst>
              </p:cNvPr>
              <p:cNvSpPr txBox="1"/>
              <p:nvPr/>
            </p:nvSpPr>
            <p:spPr>
              <a:xfrm>
                <a:off x="4771770" y="3534141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50%</a:t>
                </a:r>
                <a:r>
                  <a:rPr lang="es-CO" sz="1200" b="1" dirty="0">
                    <a:solidFill>
                      <a:schemeClr val="bg1"/>
                    </a:solidFill>
                  </a:rPr>
                  <a:t> Monoparental</a:t>
                </a:r>
              </a:p>
            </p:txBody>
          </p:sp>
          <p:pic>
            <p:nvPicPr>
              <p:cNvPr id="92" name="Imagen 91">
                <a:extLst>
                  <a:ext uri="{FF2B5EF4-FFF2-40B4-BE49-F238E27FC236}">
                    <a16:creationId xmlns:a16="http://schemas.microsoft.com/office/drawing/2014/main" id="{95FD5AA2-AF15-8FC4-5DE7-D9B7EC3955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artisticGlowDiffused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075298" y="3683026"/>
                <a:ext cx="754362" cy="754362"/>
              </a:xfrm>
              <a:prstGeom prst="rect">
                <a:avLst/>
              </a:prstGeom>
            </p:spPr>
          </p:pic>
        </p:grp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9D1607B1-534B-75FD-7952-35D85D23B58E}"/>
              </a:ext>
            </a:extLst>
          </p:cNvPr>
          <p:cNvGrpSpPr/>
          <p:nvPr/>
        </p:nvGrpSpPr>
        <p:grpSpPr>
          <a:xfrm>
            <a:off x="90873" y="847081"/>
            <a:ext cx="3094159" cy="1780012"/>
            <a:chOff x="681423" y="1183963"/>
            <a:chExt cx="3094159" cy="1780012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3F8AFACC-74F1-A2DD-D3EE-CB9E17DB6CB6}"/>
                </a:ext>
              </a:extLst>
            </p:cNvPr>
            <p:cNvSpPr txBox="1"/>
            <p:nvPr/>
          </p:nvSpPr>
          <p:spPr>
            <a:xfrm>
              <a:off x="942955" y="1217834"/>
              <a:ext cx="2376943" cy="16927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s-CO" sz="2000" b="1" dirty="0">
                <a:solidFill>
                  <a:srgbClr val="FFC000"/>
                </a:solidFill>
              </a:endParaRP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Afiliado     </a:t>
              </a:r>
              <a:r>
                <a:rPr lang="es-CO" sz="2800" b="1" dirty="0">
                  <a:solidFill>
                    <a:srgbClr val="FFC000"/>
                  </a:solidFill>
                </a:rPr>
                <a:t>   </a:t>
              </a:r>
              <a:r>
                <a:rPr lang="es-CO" sz="2800" b="1" dirty="0">
                  <a:solidFill>
                    <a:schemeClr val="bg1"/>
                  </a:solidFill>
                </a:rPr>
                <a:t>64%</a:t>
              </a: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No Afilado   </a:t>
              </a:r>
              <a:r>
                <a:rPr lang="es-CO" sz="2800" b="1" dirty="0">
                  <a:solidFill>
                    <a:schemeClr val="bg1"/>
                  </a:solidFill>
                </a:rPr>
                <a:t>36%</a:t>
              </a:r>
            </a:p>
            <a:p>
              <a:endParaRPr lang="es-ES" sz="28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05" name="Rectángulo 104">
              <a:extLst>
                <a:ext uri="{FF2B5EF4-FFF2-40B4-BE49-F238E27FC236}">
                  <a16:creationId xmlns:a16="http://schemas.microsoft.com/office/drawing/2014/main" id="{438D270B-B602-3E0D-5466-E06F8997E16A}"/>
                </a:ext>
              </a:extLst>
            </p:cNvPr>
            <p:cNvSpPr/>
            <p:nvPr/>
          </p:nvSpPr>
          <p:spPr>
            <a:xfrm>
              <a:off x="681423" y="1183963"/>
              <a:ext cx="3094159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20" name="Grupo 119">
            <a:extLst>
              <a:ext uri="{FF2B5EF4-FFF2-40B4-BE49-F238E27FC236}">
                <a16:creationId xmlns:a16="http://schemas.microsoft.com/office/drawing/2014/main" id="{DB92E3BC-3BBF-2623-666E-3BB813471393}"/>
              </a:ext>
            </a:extLst>
          </p:cNvPr>
          <p:cNvGrpSpPr/>
          <p:nvPr/>
        </p:nvGrpSpPr>
        <p:grpSpPr>
          <a:xfrm>
            <a:off x="7777183" y="2775745"/>
            <a:ext cx="2623981" cy="1933541"/>
            <a:chOff x="9059295" y="3127128"/>
            <a:chExt cx="2623981" cy="1933541"/>
          </a:xfrm>
        </p:grpSpPr>
        <p:grpSp>
          <p:nvGrpSpPr>
            <p:cNvPr id="106" name="Grupo 105">
              <a:extLst>
                <a:ext uri="{FF2B5EF4-FFF2-40B4-BE49-F238E27FC236}">
                  <a16:creationId xmlns:a16="http://schemas.microsoft.com/office/drawing/2014/main" id="{9CB3BDA8-EB6B-C638-04E5-0682355D723D}"/>
                </a:ext>
              </a:extLst>
            </p:cNvPr>
            <p:cNvGrpSpPr/>
            <p:nvPr/>
          </p:nvGrpSpPr>
          <p:grpSpPr>
            <a:xfrm>
              <a:off x="9080988" y="3127128"/>
              <a:ext cx="2601495" cy="1933541"/>
              <a:chOff x="7590765" y="1110832"/>
              <a:chExt cx="2601495" cy="1780012"/>
            </a:xfrm>
          </p:grpSpPr>
          <p:sp>
            <p:nvSpPr>
              <p:cNvPr id="107" name="Rectángulo 106">
                <a:extLst>
                  <a:ext uri="{FF2B5EF4-FFF2-40B4-BE49-F238E27FC236}">
                    <a16:creationId xmlns:a16="http://schemas.microsoft.com/office/drawing/2014/main" id="{2C14FB6A-E5D2-5D72-7C46-8BBD0E7B95BB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108" name="Grupo 107">
                <a:extLst>
                  <a:ext uri="{FF2B5EF4-FFF2-40B4-BE49-F238E27FC236}">
                    <a16:creationId xmlns:a16="http://schemas.microsoft.com/office/drawing/2014/main" id="{786FC21C-FA08-6438-0FE7-C82D5CE053AD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2191150" cy="1678227"/>
                <a:chOff x="3026344" y="1212927"/>
                <a:chExt cx="2191150" cy="1678227"/>
              </a:xfrm>
            </p:grpSpPr>
            <p:sp>
              <p:nvSpPr>
                <p:cNvPr id="110" name="CuadroTexto 109">
                  <a:extLst>
                    <a:ext uri="{FF2B5EF4-FFF2-40B4-BE49-F238E27FC236}">
                      <a16:creationId xmlns:a16="http://schemas.microsoft.com/office/drawing/2014/main" id="{EBF8A6B4-EBC2-7722-DD94-9993E491F9C6}"/>
                    </a:ext>
                  </a:extLst>
                </p:cNvPr>
                <p:cNvSpPr txBox="1"/>
                <p:nvPr/>
              </p:nvSpPr>
              <p:spPr>
                <a:xfrm>
                  <a:off x="3811633" y="1212927"/>
                  <a:ext cx="140586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Estrato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11" name="CuadroTexto 110">
                  <a:extLst>
                    <a:ext uri="{FF2B5EF4-FFF2-40B4-BE49-F238E27FC236}">
                      <a16:creationId xmlns:a16="http://schemas.microsoft.com/office/drawing/2014/main" id="{9A445544-27DD-BAF7-A693-620BA6DF23BF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0%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  <p:sp>
            <p:nvSpPr>
              <p:cNvPr id="109" name="CuadroTexto 108">
                <a:extLst>
                  <a:ext uri="{FF2B5EF4-FFF2-40B4-BE49-F238E27FC236}">
                    <a16:creationId xmlns:a16="http://schemas.microsoft.com/office/drawing/2014/main" id="{24F093FA-F6C9-B647-AB63-52F755F487BF}"/>
                  </a:ext>
                </a:extLst>
              </p:cNvPr>
              <p:cNvSpPr txBox="1"/>
              <p:nvPr/>
            </p:nvSpPr>
            <p:spPr>
              <a:xfrm>
                <a:off x="9019351" y="2317778"/>
                <a:ext cx="1172909" cy="566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0%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Cuatro</a:t>
                </a:r>
              </a:p>
            </p:txBody>
          </p:sp>
        </p:grpSp>
        <p:sp>
          <p:nvSpPr>
            <p:cNvPr id="112" name="CuadroTexto 111">
              <a:extLst>
                <a:ext uri="{FF2B5EF4-FFF2-40B4-BE49-F238E27FC236}">
                  <a16:creationId xmlns:a16="http://schemas.microsoft.com/office/drawing/2014/main" id="{8683A553-35EB-C9DF-823E-89A7B354FC36}"/>
                </a:ext>
              </a:extLst>
            </p:cNvPr>
            <p:cNvSpPr txBox="1"/>
            <p:nvPr/>
          </p:nvSpPr>
          <p:spPr>
            <a:xfrm>
              <a:off x="9059295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0%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Uno</a:t>
              </a:r>
            </a:p>
          </p:txBody>
        </p:sp>
        <p:sp>
          <p:nvSpPr>
            <p:cNvPr id="113" name="CuadroTexto 112">
              <a:extLst>
                <a:ext uri="{FF2B5EF4-FFF2-40B4-BE49-F238E27FC236}">
                  <a16:creationId xmlns:a16="http://schemas.microsoft.com/office/drawing/2014/main" id="{320DBFFE-5504-6AD9-727D-F2BC15215460}"/>
                </a:ext>
              </a:extLst>
            </p:cNvPr>
            <p:cNvSpPr txBox="1"/>
            <p:nvPr/>
          </p:nvSpPr>
          <p:spPr>
            <a:xfrm>
              <a:off x="10510367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0%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Dos</a:t>
              </a:r>
            </a:p>
          </p:txBody>
        </p:sp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E18FA4A-C227-FCCC-DCE6-35012625B5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artisticPencilGrayscale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043317" y="3855923"/>
              <a:ext cx="655939" cy="655939"/>
            </a:xfrm>
            <a:prstGeom prst="rect">
              <a:avLst/>
            </a:prstGeom>
          </p:spPr>
        </p:pic>
      </p:grp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CB00B3AE-E7F4-E693-468D-601326A44DA0}"/>
              </a:ext>
            </a:extLst>
          </p:cNvPr>
          <p:cNvSpPr txBox="1"/>
          <p:nvPr/>
        </p:nvSpPr>
        <p:spPr>
          <a:xfrm>
            <a:off x="5289967" y="3228845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50%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 Cero</a:t>
            </a:r>
          </a:p>
        </p:txBody>
      </p:sp>
      <p:grpSp>
        <p:nvGrpSpPr>
          <p:cNvPr id="123" name="Grupo 122">
            <a:extLst>
              <a:ext uri="{FF2B5EF4-FFF2-40B4-BE49-F238E27FC236}">
                <a16:creationId xmlns:a16="http://schemas.microsoft.com/office/drawing/2014/main" id="{224BEA63-6588-158C-85A5-F744CEFA615F}"/>
              </a:ext>
            </a:extLst>
          </p:cNvPr>
          <p:cNvGrpSpPr/>
          <p:nvPr/>
        </p:nvGrpSpPr>
        <p:grpSpPr>
          <a:xfrm>
            <a:off x="5340592" y="2790246"/>
            <a:ext cx="2602288" cy="1933541"/>
            <a:chOff x="5931142" y="3127128"/>
            <a:chExt cx="2602288" cy="1933541"/>
          </a:xfrm>
        </p:grpSpPr>
        <p:grpSp>
          <p:nvGrpSpPr>
            <p:cNvPr id="93" name="Grupo 92">
              <a:extLst>
                <a:ext uri="{FF2B5EF4-FFF2-40B4-BE49-F238E27FC236}">
                  <a16:creationId xmlns:a16="http://schemas.microsoft.com/office/drawing/2014/main" id="{1FCFA04D-B8A0-5FA2-648E-940D8AD94741}"/>
                </a:ext>
              </a:extLst>
            </p:cNvPr>
            <p:cNvGrpSpPr/>
            <p:nvPr/>
          </p:nvGrpSpPr>
          <p:grpSpPr>
            <a:xfrm>
              <a:off x="5931142" y="3127128"/>
              <a:ext cx="2601495" cy="1933541"/>
              <a:chOff x="7590765" y="1110832"/>
              <a:chExt cx="2601495" cy="1780012"/>
            </a:xfrm>
          </p:grpSpPr>
          <p:sp>
            <p:nvSpPr>
              <p:cNvPr id="94" name="Rectángulo 93">
                <a:extLst>
                  <a:ext uri="{FF2B5EF4-FFF2-40B4-BE49-F238E27FC236}">
                    <a16:creationId xmlns:a16="http://schemas.microsoft.com/office/drawing/2014/main" id="{4D88833C-F2B3-9FCD-3089-7DBB3AD53BFF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95" name="Grupo 94">
                <a:extLst>
                  <a:ext uri="{FF2B5EF4-FFF2-40B4-BE49-F238E27FC236}">
                    <a16:creationId xmlns:a16="http://schemas.microsoft.com/office/drawing/2014/main" id="{97488C30-AAAA-67D4-FAEF-DA22FE082EEE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1922369" cy="1647802"/>
                <a:chOff x="3026344" y="1212927"/>
                <a:chExt cx="1922369" cy="1647802"/>
              </a:xfrm>
            </p:grpSpPr>
            <p:sp>
              <p:nvSpPr>
                <p:cNvPr id="97" name="CuadroTexto 96">
                  <a:extLst>
                    <a:ext uri="{FF2B5EF4-FFF2-40B4-BE49-F238E27FC236}">
                      <a16:creationId xmlns:a16="http://schemas.microsoft.com/office/drawing/2014/main" id="{F39CAC8D-D70E-A28A-F5D0-7620A5206B79}"/>
                    </a:ext>
                  </a:extLst>
                </p:cNvPr>
                <p:cNvSpPr txBox="1"/>
                <p:nvPr/>
              </p:nvSpPr>
              <p:spPr>
                <a:xfrm>
                  <a:off x="4021092" y="1212927"/>
                  <a:ext cx="92762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PAC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98" name="CuadroTexto 97">
                  <a:extLst>
                    <a:ext uri="{FF2B5EF4-FFF2-40B4-BE49-F238E27FC236}">
                      <a16:creationId xmlns:a16="http://schemas.microsoft.com/office/drawing/2014/main" id="{082B1375-B744-ED17-1990-AA6759AEB1FC}"/>
                    </a:ext>
                  </a:extLst>
                </p:cNvPr>
                <p:cNvSpPr txBox="1"/>
                <p:nvPr/>
              </p:nvSpPr>
              <p:spPr>
                <a:xfrm>
                  <a:off x="3026344" y="2294053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0%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  <p:sp>
            <p:nvSpPr>
              <p:cNvPr id="96" name="CuadroTexto 95">
                <a:extLst>
                  <a:ext uri="{FF2B5EF4-FFF2-40B4-BE49-F238E27FC236}">
                    <a16:creationId xmlns:a16="http://schemas.microsoft.com/office/drawing/2014/main" id="{6F852BED-4441-BE65-9BEB-79E331E81B3C}"/>
                  </a:ext>
                </a:extLst>
              </p:cNvPr>
              <p:cNvSpPr txBox="1"/>
              <p:nvPr/>
            </p:nvSpPr>
            <p:spPr>
              <a:xfrm>
                <a:off x="9019351" y="2317778"/>
                <a:ext cx="1172909" cy="566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0%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Cuatro</a:t>
                </a:r>
              </a:p>
            </p:txBody>
          </p:sp>
        </p:grpSp>
        <p:grpSp>
          <p:nvGrpSpPr>
            <p:cNvPr id="121" name="Grupo 120">
              <a:extLst>
                <a:ext uri="{FF2B5EF4-FFF2-40B4-BE49-F238E27FC236}">
                  <a16:creationId xmlns:a16="http://schemas.microsoft.com/office/drawing/2014/main" id="{C700943D-6BC9-6BF4-E099-80F6EDFE2BAA}"/>
                </a:ext>
              </a:extLst>
            </p:cNvPr>
            <p:cNvGrpSpPr/>
            <p:nvPr/>
          </p:nvGrpSpPr>
          <p:grpSpPr>
            <a:xfrm>
              <a:off x="6649678" y="3565727"/>
              <a:ext cx="1883752" cy="1414028"/>
              <a:chOff x="6649678" y="3565727"/>
              <a:chExt cx="1883752" cy="1414028"/>
            </a:xfrm>
          </p:grpSpPr>
          <p:sp>
            <p:nvSpPr>
              <p:cNvPr id="99" name="CuadroTexto 98">
                <a:extLst>
                  <a:ext uri="{FF2B5EF4-FFF2-40B4-BE49-F238E27FC236}">
                    <a16:creationId xmlns:a16="http://schemas.microsoft.com/office/drawing/2014/main" id="{4AD357E3-3348-4ADB-CF64-140B1E138103}"/>
                  </a:ext>
                </a:extLst>
              </p:cNvPr>
              <p:cNvSpPr txBox="1"/>
              <p:nvPr/>
            </p:nvSpPr>
            <p:spPr>
              <a:xfrm>
                <a:off x="6649678" y="358240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0%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Uno</a:t>
                </a:r>
              </a:p>
            </p:txBody>
          </p:sp>
          <p:sp>
            <p:nvSpPr>
              <p:cNvPr id="101" name="CuadroTexto 100">
                <a:extLst>
                  <a:ext uri="{FF2B5EF4-FFF2-40B4-BE49-F238E27FC236}">
                    <a16:creationId xmlns:a16="http://schemas.microsoft.com/office/drawing/2014/main" id="{B2B74F46-10C9-32A3-2034-DD67F8D3236B}"/>
                  </a:ext>
                </a:extLst>
              </p:cNvPr>
              <p:cNvSpPr txBox="1"/>
              <p:nvPr/>
            </p:nvSpPr>
            <p:spPr>
              <a:xfrm>
                <a:off x="7360521" y="3565727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50%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Dos</a:t>
                </a:r>
              </a:p>
            </p:txBody>
          </p:sp>
          <p:pic>
            <p:nvPicPr>
              <p:cNvPr id="118" name="Imagen 117">
                <a:extLst>
                  <a:ext uri="{FF2B5EF4-FFF2-40B4-BE49-F238E27FC236}">
                    <a16:creationId xmlns:a16="http://schemas.microsoft.com/office/drawing/2014/main" id="{B9FDD683-65FD-4F37-7913-03FDCFF933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artisticPaintStrokes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886925" y="4205951"/>
                <a:ext cx="773804" cy="773804"/>
              </a:xfrm>
              <a:prstGeom prst="rect">
                <a:avLst/>
              </a:prstGeom>
            </p:spPr>
          </p:pic>
        </p:grpSp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86515412-A783-6EE3-136D-C700859EE5F6}"/>
              </a:ext>
            </a:extLst>
          </p:cNvPr>
          <p:cNvGrpSpPr/>
          <p:nvPr/>
        </p:nvGrpSpPr>
        <p:grpSpPr>
          <a:xfrm>
            <a:off x="8022470" y="853892"/>
            <a:ext cx="2195988" cy="1780012"/>
            <a:chOff x="7814360" y="1110832"/>
            <a:chExt cx="2195988" cy="1780012"/>
          </a:xfrm>
        </p:grpSpPr>
        <p:grpSp>
          <p:nvGrpSpPr>
            <p:cNvPr id="66" name="Grupo 65">
              <a:extLst>
                <a:ext uri="{FF2B5EF4-FFF2-40B4-BE49-F238E27FC236}">
                  <a16:creationId xmlns:a16="http://schemas.microsoft.com/office/drawing/2014/main" id="{8E2EB2A1-6805-4BCC-6EE2-9A9C72195B84}"/>
                </a:ext>
              </a:extLst>
            </p:cNvPr>
            <p:cNvGrpSpPr/>
            <p:nvPr/>
          </p:nvGrpSpPr>
          <p:grpSpPr>
            <a:xfrm>
              <a:off x="7814360" y="1110832"/>
              <a:ext cx="2195988" cy="1780012"/>
              <a:chOff x="7814360" y="1110832"/>
              <a:chExt cx="2195988" cy="1780012"/>
            </a:xfrm>
          </p:grpSpPr>
          <p:sp>
            <p:nvSpPr>
              <p:cNvPr id="60" name="Rectángulo 59">
                <a:extLst>
                  <a:ext uri="{FF2B5EF4-FFF2-40B4-BE49-F238E27FC236}">
                    <a16:creationId xmlns:a16="http://schemas.microsoft.com/office/drawing/2014/main" id="{2C4F8FEA-7C52-ADF6-50B4-BE3C19774713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61" name="Grupo 60">
                <a:extLst>
                  <a:ext uri="{FF2B5EF4-FFF2-40B4-BE49-F238E27FC236}">
                    <a16:creationId xmlns:a16="http://schemas.microsoft.com/office/drawing/2014/main" id="{769CB431-55E6-EFDB-46A1-6267931FAA9F}"/>
                  </a:ext>
                </a:extLst>
              </p:cNvPr>
              <p:cNvGrpSpPr/>
              <p:nvPr/>
            </p:nvGrpSpPr>
            <p:grpSpPr>
              <a:xfrm>
                <a:off x="7814361" y="1223137"/>
                <a:ext cx="2083693" cy="1630468"/>
                <a:chOff x="3249940" y="1229837"/>
                <a:chExt cx="2083693" cy="1630468"/>
              </a:xfrm>
            </p:grpSpPr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7238F2D6-9ABB-3B14-0CFD-292C47871C05}"/>
                    </a:ext>
                  </a:extLst>
                </p:cNvPr>
                <p:cNvSpPr txBox="1"/>
                <p:nvPr/>
              </p:nvSpPr>
              <p:spPr>
                <a:xfrm>
                  <a:off x="3552927" y="1229837"/>
                  <a:ext cx="1780706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Rango Edad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AC5431B1-1259-7321-E034-DC7CCC0B6D60}"/>
                    </a:ext>
                  </a:extLst>
                </p:cNvPr>
                <p:cNvSpPr txBox="1"/>
                <p:nvPr/>
              </p:nvSpPr>
              <p:spPr>
                <a:xfrm>
                  <a:off x="3249940" y="2306307"/>
                  <a:ext cx="1172909" cy="5539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50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20 a 35 años</a:t>
                  </a:r>
                </a:p>
              </p:txBody>
            </p:sp>
          </p:grpSp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729F37DC-3A1F-3F6B-4FE1-38F51B2D14D3}"/>
                  </a:ext>
                </a:extLst>
              </p:cNvPr>
              <p:cNvSpPr txBox="1"/>
              <p:nvPr/>
            </p:nvSpPr>
            <p:spPr>
              <a:xfrm>
                <a:off x="8837439" y="2289285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0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36 a 45 años</a:t>
                </a:r>
              </a:p>
            </p:txBody>
          </p:sp>
        </p:grpSp>
        <p:pic>
          <p:nvPicPr>
            <p:cNvPr id="128" name="Imagen 127">
              <a:extLst>
                <a:ext uri="{FF2B5EF4-FFF2-40B4-BE49-F238E27FC236}">
                  <a16:creationId xmlns:a16="http://schemas.microsoft.com/office/drawing/2014/main" id="{15A32DBA-AF75-73D8-FFDA-F5BA044BCE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17644" y="1602912"/>
              <a:ext cx="655473" cy="655473"/>
            </a:xfrm>
            <a:prstGeom prst="rect">
              <a:avLst/>
            </a:prstGeom>
          </p:spPr>
        </p:pic>
      </p:grpSp>
      <p:grpSp>
        <p:nvGrpSpPr>
          <p:cNvPr id="189" name="Grupo 188">
            <a:extLst>
              <a:ext uri="{FF2B5EF4-FFF2-40B4-BE49-F238E27FC236}">
                <a16:creationId xmlns:a16="http://schemas.microsoft.com/office/drawing/2014/main" id="{A9AD579E-F3E9-97E7-7770-CFD6A9E93EFD}"/>
              </a:ext>
            </a:extLst>
          </p:cNvPr>
          <p:cNvGrpSpPr/>
          <p:nvPr/>
        </p:nvGrpSpPr>
        <p:grpSpPr>
          <a:xfrm>
            <a:off x="-114768" y="4837223"/>
            <a:ext cx="3758502" cy="1933541"/>
            <a:chOff x="435340" y="4837223"/>
            <a:chExt cx="4854517" cy="1933541"/>
          </a:xfrm>
        </p:grpSpPr>
        <p:grpSp>
          <p:nvGrpSpPr>
            <p:cNvPr id="138" name="Grupo 137">
              <a:extLst>
                <a:ext uri="{FF2B5EF4-FFF2-40B4-BE49-F238E27FC236}">
                  <a16:creationId xmlns:a16="http://schemas.microsoft.com/office/drawing/2014/main" id="{37906C64-5C37-2133-90F9-CCC965442A40}"/>
                </a:ext>
              </a:extLst>
            </p:cNvPr>
            <p:cNvGrpSpPr/>
            <p:nvPr/>
          </p:nvGrpSpPr>
          <p:grpSpPr>
            <a:xfrm>
              <a:off x="435340" y="4837223"/>
              <a:ext cx="4854517" cy="1933541"/>
              <a:chOff x="9135236" y="3127128"/>
              <a:chExt cx="3830051" cy="1933541"/>
            </a:xfrm>
          </p:grpSpPr>
          <p:grpSp>
            <p:nvGrpSpPr>
              <p:cNvPr id="139" name="Grupo 138">
                <a:extLst>
                  <a:ext uri="{FF2B5EF4-FFF2-40B4-BE49-F238E27FC236}">
                    <a16:creationId xmlns:a16="http://schemas.microsoft.com/office/drawing/2014/main" id="{FD3C51DD-C218-6595-52C9-31086B683A85}"/>
                  </a:ext>
                </a:extLst>
              </p:cNvPr>
              <p:cNvGrpSpPr/>
              <p:nvPr/>
            </p:nvGrpSpPr>
            <p:grpSpPr>
              <a:xfrm>
                <a:off x="9229918" y="3127128"/>
                <a:ext cx="3735369" cy="1933541"/>
                <a:chOff x="7739695" y="1110832"/>
                <a:chExt cx="3735369" cy="1780012"/>
              </a:xfrm>
            </p:grpSpPr>
            <p:sp>
              <p:nvSpPr>
                <p:cNvPr id="143" name="Rectángulo 142">
                  <a:extLst>
                    <a:ext uri="{FF2B5EF4-FFF2-40B4-BE49-F238E27FC236}">
                      <a16:creationId xmlns:a16="http://schemas.microsoft.com/office/drawing/2014/main" id="{E2F872BE-6F28-07DF-5BAB-3476CEED3D63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3246650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44" name="Grupo 143">
                  <a:extLst>
                    <a:ext uri="{FF2B5EF4-FFF2-40B4-BE49-F238E27FC236}">
                      <a16:creationId xmlns:a16="http://schemas.microsoft.com/office/drawing/2014/main" id="{825DFBE6-E46F-E7CE-8E8E-68176CF43C01}"/>
                    </a:ext>
                  </a:extLst>
                </p:cNvPr>
                <p:cNvGrpSpPr/>
                <p:nvPr/>
              </p:nvGrpSpPr>
              <p:grpSpPr>
                <a:xfrm>
                  <a:off x="7739695" y="1236316"/>
                  <a:ext cx="3735369" cy="1532075"/>
                  <a:chOff x="3175274" y="1243016"/>
                  <a:chExt cx="3735369" cy="1532075"/>
                </a:xfrm>
              </p:grpSpPr>
              <p:sp>
                <p:nvSpPr>
                  <p:cNvPr id="146" name="CuadroTexto 145">
                    <a:extLst>
                      <a:ext uri="{FF2B5EF4-FFF2-40B4-BE49-F238E27FC236}">
                        <a16:creationId xmlns:a16="http://schemas.microsoft.com/office/drawing/2014/main" id="{F1A414D6-C21C-83CB-FF03-FD5EE2BF8FBF}"/>
                      </a:ext>
                    </a:extLst>
                  </p:cNvPr>
                  <p:cNvSpPr txBox="1"/>
                  <p:nvPr/>
                </p:nvSpPr>
                <p:spPr>
                  <a:xfrm>
                    <a:off x="3854322" y="1243016"/>
                    <a:ext cx="3056321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Segmento Empresas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47" name="CuadroTexto 146">
                    <a:extLst>
                      <a:ext uri="{FF2B5EF4-FFF2-40B4-BE49-F238E27FC236}">
                        <a16:creationId xmlns:a16="http://schemas.microsoft.com/office/drawing/2014/main" id="{91FDCD38-CCF8-6841-6974-830076ECF34D}"/>
                      </a:ext>
                    </a:extLst>
                  </p:cNvPr>
                  <p:cNvSpPr txBox="1"/>
                  <p:nvPr/>
                </p:nvSpPr>
                <p:spPr>
                  <a:xfrm>
                    <a:off x="3175274" y="2208415"/>
                    <a:ext cx="1945898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0%</a:t>
                    </a:r>
                    <a:endParaRPr lang="es-CO" sz="1400" b="1" dirty="0">
                      <a:solidFill>
                        <a:schemeClr val="bg1"/>
                      </a:solidFill>
                    </a:endParaRP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Medianas</a:t>
                    </a:r>
                  </a:p>
                </p:txBody>
              </p:sp>
            </p:grpSp>
            <p:sp>
              <p:nvSpPr>
                <p:cNvPr id="145" name="CuadroTexto 144">
                  <a:extLst>
                    <a:ext uri="{FF2B5EF4-FFF2-40B4-BE49-F238E27FC236}">
                      <a16:creationId xmlns:a16="http://schemas.microsoft.com/office/drawing/2014/main" id="{AF007CDB-1FB2-B819-0D4C-FD7003C20148}"/>
                    </a:ext>
                  </a:extLst>
                </p:cNvPr>
                <p:cNvSpPr txBox="1"/>
                <p:nvPr/>
              </p:nvSpPr>
              <p:spPr>
                <a:xfrm>
                  <a:off x="9864249" y="1523867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0%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Grandes</a:t>
                  </a:r>
                </a:p>
              </p:txBody>
            </p:sp>
          </p:grpSp>
          <p:sp>
            <p:nvSpPr>
              <p:cNvPr id="140" name="CuadroTexto 139">
                <a:extLst>
                  <a:ext uri="{FF2B5EF4-FFF2-40B4-BE49-F238E27FC236}">
                    <a16:creationId xmlns:a16="http://schemas.microsoft.com/office/drawing/2014/main" id="{CB1DEEE5-2581-A237-4C1F-2AAE34EE50B7}"/>
                  </a:ext>
                </a:extLst>
              </p:cNvPr>
              <p:cNvSpPr txBox="1"/>
              <p:nvPr/>
            </p:nvSpPr>
            <p:spPr>
              <a:xfrm>
                <a:off x="9135236" y="3565727"/>
                <a:ext cx="145027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0%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</a:t>
                </a:r>
                <a:r>
                  <a:rPr lang="es-CO" sz="1400" b="1" dirty="0" err="1">
                    <a:solidFill>
                      <a:schemeClr val="bg1"/>
                    </a:solidFill>
                  </a:rPr>
                  <a:t>Emp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Top</a:t>
                </a:r>
              </a:p>
            </p:txBody>
          </p:sp>
          <p:sp>
            <p:nvSpPr>
              <p:cNvPr id="141" name="CuadroTexto 140">
                <a:extLst>
                  <a:ext uri="{FF2B5EF4-FFF2-40B4-BE49-F238E27FC236}">
                    <a16:creationId xmlns:a16="http://schemas.microsoft.com/office/drawing/2014/main" id="{8C4369F2-CECE-1E7E-7076-3F7D9C5028DB}"/>
                  </a:ext>
                </a:extLst>
              </p:cNvPr>
              <p:cNvSpPr txBox="1"/>
              <p:nvPr/>
            </p:nvSpPr>
            <p:spPr>
              <a:xfrm>
                <a:off x="10055645" y="3580594"/>
                <a:ext cx="152651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100%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    Micro    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Transaccional</a:t>
                </a:r>
              </a:p>
            </p:txBody>
          </p:sp>
        </p:grpSp>
        <p:pic>
          <p:nvPicPr>
            <p:cNvPr id="149" name="Imagen 148">
              <a:extLst>
                <a:ext uri="{FF2B5EF4-FFF2-40B4-BE49-F238E27FC236}">
                  <a16:creationId xmlns:a16="http://schemas.microsoft.com/office/drawing/2014/main" id="{CB52A472-FA85-03B0-E699-4F732FC31F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325932" y="6027593"/>
              <a:ext cx="677562" cy="677562"/>
            </a:xfrm>
            <a:prstGeom prst="rect">
              <a:avLst/>
            </a:prstGeom>
          </p:spPr>
        </p:pic>
      </p:grp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DEB696BB-27B1-1B45-E919-85003BF045D3}"/>
              </a:ext>
            </a:extLst>
          </p:cNvPr>
          <p:cNvSpPr txBox="1"/>
          <p:nvPr/>
        </p:nvSpPr>
        <p:spPr>
          <a:xfrm>
            <a:off x="2093411" y="5976448"/>
            <a:ext cx="128594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0%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Estándar</a:t>
            </a:r>
          </a:p>
        </p:txBody>
      </p:sp>
      <p:grpSp>
        <p:nvGrpSpPr>
          <p:cNvPr id="151" name="Grupo 150">
            <a:extLst>
              <a:ext uri="{FF2B5EF4-FFF2-40B4-BE49-F238E27FC236}">
                <a16:creationId xmlns:a16="http://schemas.microsoft.com/office/drawing/2014/main" id="{0AF3924E-8672-2E0B-5E4E-0E144DB8DBD4}"/>
              </a:ext>
            </a:extLst>
          </p:cNvPr>
          <p:cNvGrpSpPr/>
          <p:nvPr/>
        </p:nvGrpSpPr>
        <p:grpSpPr>
          <a:xfrm>
            <a:off x="3041036" y="4852302"/>
            <a:ext cx="2475954" cy="1933541"/>
            <a:chOff x="9024616" y="3127128"/>
            <a:chExt cx="2475954" cy="1933541"/>
          </a:xfrm>
        </p:grpSpPr>
        <p:grpSp>
          <p:nvGrpSpPr>
            <p:cNvPr id="152" name="Grupo 151">
              <a:extLst>
                <a:ext uri="{FF2B5EF4-FFF2-40B4-BE49-F238E27FC236}">
                  <a16:creationId xmlns:a16="http://schemas.microsoft.com/office/drawing/2014/main" id="{1FCE47B8-BA37-CBB7-A03B-420A4B6665DC}"/>
                </a:ext>
              </a:extLst>
            </p:cNvPr>
            <p:cNvGrpSpPr/>
            <p:nvPr/>
          </p:nvGrpSpPr>
          <p:grpSpPr>
            <a:xfrm>
              <a:off x="9024616" y="3127128"/>
              <a:ext cx="2475954" cy="1933541"/>
              <a:chOff x="7534393" y="1110832"/>
              <a:chExt cx="2475954" cy="1780012"/>
            </a:xfrm>
          </p:grpSpPr>
          <p:sp>
            <p:nvSpPr>
              <p:cNvPr id="157" name="Rectángulo 156">
                <a:extLst>
                  <a:ext uri="{FF2B5EF4-FFF2-40B4-BE49-F238E27FC236}">
                    <a16:creationId xmlns:a16="http://schemas.microsoft.com/office/drawing/2014/main" id="{46246527-6028-10EE-DC9C-EB0F954309E5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158" name="Grupo 157">
                <a:extLst>
                  <a:ext uri="{FF2B5EF4-FFF2-40B4-BE49-F238E27FC236}">
                    <a16:creationId xmlns:a16="http://schemas.microsoft.com/office/drawing/2014/main" id="{708F097C-2515-5E86-E332-B5CC2DEE0D41}"/>
                  </a:ext>
                </a:extLst>
              </p:cNvPr>
              <p:cNvGrpSpPr/>
              <p:nvPr/>
            </p:nvGrpSpPr>
            <p:grpSpPr>
              <a:xfrm>
                <a:off x="7534393" y="1206227"/>
                <a:ext cx="2388623" cy="1388251"/>
                <a:chOff x="2969972" y="1212927"/>
                <a:chExt cx="2388623" cy="1388251"/>
              </a:xfrm>
            </p:grpSpPr>
            <p:sp>
              <p:nvSpPr>
                <p:cNvPr id="160" name="CuadroTexto 159">
                  <a:extLst>
                    <a:ext uri="{FF2B5EF4-FFF2-40B4-BE49-F238E27FC236}">
                      <a16:creationId xmlns:a16="http://schemas.microsoft.com/office/drawing/2014/main" id="{9E1408F9-D5DF-4BD7-D55D-C71F54F77645}"/>
                    </a:ext>
                  </a:extLst>
                </p:cNvPr>
                <p:cNvSpPr txBox="1"/>
                <p:nvPr/>
              </p:nvSpPr>
              <p:spPr>
                <a:xfrm>
                  <a:off x="3408991" y="1212927"/>
                  <a:ext cx="1949604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 dirty="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Departamento</a:t>
                  </a:r>
                  <a:endParaRPr lang="es-ES" sz="1600" dirty="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61" name="CuadroTexto 160">
                  <a:extLst>
                    <a:ext uri="{FF2B5EF4-FFF2-40B4-BE49-F238E27FC236}">
                      <a16:creationId xmlns:a16="http://schemas.microsoft.com/office/drawing/2014/main" id="{738BFAA6-440F-0CF7-B269-5272B2303E96}"/>
                    </a:ext>
                  </a:extLst>
                </p:cNvPr>
                <p:cNvSpPr txBox="1"/>
                <p:nvPr/>
              </p:nvSpPr>
              <p:spPr>
                <a:xfrm>
                  <a:off x="2969972" y="2034502"/>
                  <a:ext cx="128594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0%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Girardot</a:t>
                  </a:r>
                </a:p>
              </p:txBody>
            </p:sp>
          </p:grpSp>
        </p:grpSp>
        <p:sp>
          <p:nvSpPr>
            <p:cNvPr id="154" name="CuadroTexto 153">
              <a:extLst>
                <a:ext uri="{FF2B5EF4-FFF2-40B4-BE49-F238E27FC236}">
                  <a16:creationId xmlns:a16="http://schemas.microsoft.com/office/drawing/2014/main" id="{EB0328B1-4CF5-B200-0E77-5403425BFB80}"/>
                </a:ext>
              </a:extLst>
            </p:cNvPr>
            <p:cNvSpPr txBox="1"/>
            <p:nvPr/>
          </p:nvSpPr>
          <p:spPr>
            <a:xfrm>
              <a:off x="9059295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0%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Bogotá</a:t>
              </a:r>
            </a:p>
          </p:txBody>
        </p:sp>
        <p:sp>
          <p:nvSpPr>
            <p:cNvPr id="155" name="CuadroTexto 154">
              <a:extLst>
                <a:ext uri="{FF2B5EF4-FFF2-40B4-BE49-F238E27FC236}">
                  <a16:creationId xmlns:a16="http://schemas.microsoft.com/office/drawing/2014/main" id="{0C69A1FB-225B-9798-F8A5-A7ED91B1DE7A}"/>
                </a:ext>
              </a:extLst>
            </p:cNvPr>
            <p:cNvSpPr txBox="1"/>
            <p:nvPr/>
          </p:nvSpPr>
          <p:spPr>
            <a:xfrm>
              <a:off x="10219600" y="3565504"/>
              <a:ext cx="1160334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0%</a:t>
              </a:r>
              <a:r>
                <a:rPr lang="es-CO" sz="1400" b="1" dirty="0">
                  <a:solidFill>
                    <a:schemeClr val="bg1"/>
                  </a:solidFill>
                </a:rPr>
                <a:t>     </a:t>
              </a:r>
              <a:r>
                <a:rPr lang="es-CO" sz="1400" b="1" dirty="0" err="1">
                  <a:solidFill>
                    <a:schemeClr val="bg1"/>
                  </a:solidFill>
                </a:rPr>
                <a:t>Fusagasuga</a:t>
              </a:r>
              <a:endParaRPr lang="es-CO" sz="1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01" name="Grupo 200">
            <a:extLst>
              <a:ext uri="{FF2B5EF4-FFF2-40B4-BE49-F238E27FC236}">
                <a16:creationId xmlns:a16="http://schemas.microsoft.com/office/drawing/2014/main" id="{022F2770-EDE8-AE90-28F6-A2681511E86A}"/>
              </a:ext>
            </a:extLst>
          </p:cNvPr>
          <p:cNvGrpSpPr/>
          <p:nvPr/>
        </p:nvGrpSpPr>
        <p:grpSpPr>
          <a:xfrm>
            <a:off x="5407406" y="4842106"/>
            <a:ext cx="2693579" cy="1985915"/>
            <a:chOff x="5483606" y="4842106"/>
            <a:chExt cx="2693579" cy="1985915"/>
          </a:xfrm>
        </p:grpSpPr>
        <p:grpSp>
          <p:nvGrpSpPr>
            <p:cNvPr id="164" name="Grupo 163">
              <a:extLst>
                <a:ext uri="{FF2B5EF4-FFF2-40B4-BE49-F238E27FC236}">
                  <a16:creationId xmlns:a16="http://schemas.microsoft.com/office/drawing/2014/main" id="{C2F02D57-44E9-95F1-37E1-CB67C719663C}"/>
                </a:ext>
              </a:extLst>
            </p:cNvPr>
            <p:cNvGrpSpPr/>
            <p:nvPr/>
          </p:nvGrpSpPr>
          <p:grpSpPr>
            <a:xfrm>
              <a:off x="5483606" y="4842106"/>
              <a:ext cx="2693579" cy="1957609"/>
              <a:chOff x="9049330" y="3127128"/>
              <a:chExt cx="2693579" cy="1957609"/>
            </a:xfrm>
          </p:grpSpPr>
          <p:grpSp>
            <p:nvGrpSpPr>
              <p:cNvPr id="165" name="Grupo 164">
                <a:extLst>
                  <a:ext uri="{FF2B5EF4-FFF2-40B4-BE49-F238E27FC236}">
                    <a16:creationId xmlns:a16="http://schemas.microsoft.com/office/drawing/2014/main" id="{7A4C70F2-EB92-72D7-F11B-14095271F46B}"/>
                  </a:ext>
                </a:extLst>
              </p:cNvPr>
              <p:cNvGrpSpPr/>
              <p:nvPr/>
            </p:nvGrpSpPr>
            <p:grpSpPr>
              <a:xfrm>
                <a:off x="9049330" y="3127128"/>
                <a:ext cx="2655911" cy="1957609"/>
                <a:chOff x="7559107" y="1110832"/>
                <a:chExt cx="2655911" cy="1802169"/>
              </a:xfrm>
            </p:grpSpPr>
            <p:sp>
              <p:nvSpPr>
                <p:cNvPr id="168" name="Rectángulo 167">
                  <a:extLst>
                    <a:ext uri="{FF2B5EF4-FFF2-40B4-BE49-F238E27FC236}">
                      <a16:creationId xmlns:a16="http://schemas.microsoft.com/office/drawing/2014/main" id="{B288E32A-5727-B44B-1310-1359AB9A4432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195987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70" name="Grupo 169">
                  <a:extLst>
                    <a:ext uri="{FF2B5EF4-FFF2-40B4-BE49-F238E27FC236}">
                      <a16:creationId xmlns:a16="http://schemas.microsoft.com/office/drawing/2014/main" id="{388595E9-8689-93DD-5502-1A7D0E02D90E}"/>
                    </a:ext>
                  </a:extLst>
                </p:cNvPr>
                <p:cNvGrpSpPr/>
                <p:nvPr/>
              </p:nvGrpSpPr>
              <p:grpSpPr>
                <a:xfrm>
                  <a:off x="7559107" y="1207829"/>
                  <a:ext cx="2655911" cy="1705172"/>
                  <a:chOff x="2994686" y="1214529"/>
                  <a:chExt cx="2655911" cy="1705172"/>
                </a:xfrm>
              </p:grpSpPr>
              <p:sp>
                <p:nvSpPr>
                  <p:cNvPr id="171" name="CuadroTexto 170">
                    <a:extLst>
                      <a:ext uri="{FF2B5EF4-FFF2-40B4-BE49-F238E27FC236}">
                        <a16:creationId xmlns:a16="http://schemas.microsoft.com/office/drawing/2014/main" id="{E0B6F42E-4AE5-A0FD-F104-6F8A5321A978}"/>
                      </a:ext>
                    </a:extLst>
                  </p:cNvPr>
                  <p:cNvSpPr txBox="1"/>
                  <p:nvPr/>
                </p:nvSpPr>
                <p:spPr>
                  <a:xfrm>
                    <a:off x="3700993" y="1214529"/>
                    <a:ext cx="1949604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Localidad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72" name="CuadroTexto 171">
                    <a:extLst>
                      <a:ext uri="{FF2B5EF4-FFF2-40B4-BE49-F238E27FC236}">
                        <a16:creationId xmlns:a16="http://schemas.microsoft.com/office/drawing/2014/main" id="{A12C819F-223D-B730-FA37-D6F23F9CCE66}"/>
                      </a:ext>
                    </a:extLst>
                  </p:cNvPr>
                  <p:cNvSpPr txBox="1"/>
                  <p:nvPr/>
                </p:nvSpPr>
                <p:spPr>
                  <a:xfrm>
                    <a:off x="2994686" y="2353025"/>
                    <a:ext cx="1323041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0%</a:t>
                    </a: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    P Aranda</a:t>
                    </a:r>
                  </a:p>
                </p:txBody>
              </p:sp>
            </p:grpSp>
          </p:grpSp>
          <p:sp>
            <p:nvSpPr>
              <p:cNvPr id="166" name="CuadroTexto 165">
                <a:extLst>
                  <a:ext uri="{FF2B5EF4-FFF2-40B4-BE49-F238E27FC236}">
                    <a16:creationId xmlns:a16="http://schemas.microsoft.com/office/drawing/2014/main" id="{C7111242-FCB3-C884-4784-8B0A27C3F2EA}"/>
                  </a:ext>
                </a:extLst>
              </p:cNvPr>
              <p:cNvSpPr txBox="1"/>
              <p:nvPr/>
            </p:nvSpPr>
            <p:spPr>
              <a:xfrm>
                <a:off x="9059295" y="3565727"/>
                <a:ext cx="128594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0%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Kennedy</a:t>
                </a:r>
              </a:p>
            </p:txBody>
          </p:sp>
          <p:sp>
            <p:nvSpPr>
              <p:cNvPr id="167" name="CuadroTexto 166">
                <a:extLst>
                  <a:ext uri="{FF2B5EF4-FFF2-40B4-BE49-F238E27FC236}">
                    <a16:creationId xmlns:a16="http://schemas.microsoft.com/office/drawing/2014/main" id="{B9841927-65F0-4F7A-3F3B-1B91087E9090}"/>
                  </a:ext>
                </a:extLst>
              </p:cNvPr>
              <p:cNvSpPr txBox="1"/>
              <p:nvPr/>
            </p:nvSpPr>
            <p:spPr>
              <a:xfrm>
                <a:off x="10498522" y="3549824"/>
                <a:ext cx="1244387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0%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</a:t>
                </a:r>
                <a:r>
                  <a:rPr lang="es-CO" sz="1400" b="1" dirty="0" err="1">
                    <a:solidFill>
                      <a:schemeClr val="bg1"/>
                    </a:solidFill>
                  </a:rPr>
                  <a:t>Engativa</a:t>
                </a:r>
                <a:endParaRPr lang="es-CO" sz="14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85" name="CuadroTexto 184">
              <a:extLst>
                <a:ext uri="{FF2B5EF4-FFF2-40B4-BE49-F238E27FC236}">
                  <a16:creationId xmlns:a16="http://schemas.microsoft.com/office/drawing/2014/main" id="{A660D6DD-DCEE-EC7D-B443-AD29CCE0B126}"/>
                </a:ext>
              </a:extLst>
            </p:cNvPr>
            <p:cNvSpPr txBox="1"/>
            <p:nvPr/>
          </p:nvSpPr>
          <p:spPr>
            <a:xfrm>
              <a:off x="6625166" y="6212468"/>
              <a:ext cx="1323041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100%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 Sin </a:t>
              </a:r>
              <a:r>
                <a:rPr lang="es-CO" sz="1400" b="1" dirty="0" err="1">
                  <a:solidFill>
                    <a:schemeClr val="bg1"/>
                  </a:solidFill>
                </a:rPr>
                <a:t>Infor</a:t>
              </a:r>
              <a:endParaRPr lang="es-CO" sz="1400" b="1" dirty="0">
                <a:solidFill>
                  <a:schemeClr val="bg1"/>
                </a:solidFill>
              </a:endParaRPr>
            </a:p>
          </p:txBody>
        </p:sp>
        <p:pic>
          <p:nvPicPr>
            <p:cNvPr id="187" name="Imagen 186">
              <a:extLst>
                <a:ext uri="{FF2B5EF4-FFF2-40B4-BE49-F238E27FC236}">
                  <a16:creationId xmlns:a16="http://schemas.microsoft.com/office/drawing/2014/main" id="{F19D0E4E-C76D-68A4-4023-5984DB68DC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401571" y="5793688"/>
              <a:ext cx="1266970" cy="620378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grpSp>
        <p:nvGrpSpPr>
          <p:cNvPr id="190" name="Grupo 189">
            <a:extLst>
              <a:ext uri="{FF2B5EF4-FFF2-40B4-BE49-F238E27FC236}">
                <a16:creationId xmlns:a16="http://schemas.microsoft.com/office/drawing/2014/main" id="{2C397AEB-5EB6-7AC6-AFF2-296D7228A226}"/>
              </a:ext>
            </a:extLst>
          </p:cNvPr>
          <p:cNvGrpSpPr/>
          <p:nvPr/>
        </p:nvGrpSpPr>
        <p:grpSpPr>
          <a:xfrm>
            <a:off x="7930968" y="4834201"/>
            <a:ext cx="3149716" cy="1933541"/>
            <a:chOff x="9267841" y="3127128"/>
            <a:chExt cx="3305381" cy="1933541"/>
          </a:xfrm>
        </p:grpSpPr>
        <p:grpSp>
          <p:nvGrpSpPr>
            <p:cNvPr id="191" name="Grupo 190">
              <a:extLst>
                <a:ext uri="{FF2B5EF4-FFF2-40B4-BE49-F238E27FC236}">
                  <a16:creationId xmlns:a16="http://schemas.microsoft.com/office/drawing/2014/main" id="{D2863C2E-5EBF-344E-2AA2-A04472D36A16}"/>
                </a:ext>
              </a:extLst>
            </p:cNvPr>
            <p:cNvGrpSpPr/>
            <p:nvPr/>
          </p:nvGrpSpPr>
          <p:grpSpPr>
            <a:xfrm>
              <a:off x="9280641" y="3127128"/>
              <a:ext cx="3292581" cy="1933541"/>
              <a:chOff x="7790418" y="1110832"/>
              <a:chExt cx="3292581" cy="1780012"/>
            </a:xfrm>
          </p:grpSpPr>
          <p:sp>
            <p:nvSpPr>
              <p:cNvPr id="194" name="Rectángulo 193">
                <a:extLst>
                  <a:ext uri="{FF2B5EF4-FFF2-40B4-BE49-F238E27FC236}">
                    <a16:creationId xmlns:a16="http://schemas.microsoft.com/office/drawing/2014/main" id="{44C70E51-C66A-2605-CE57-BEFF40D2C5D4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368574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195" name="Grupo 194">
                <a:extLst>
                  <a:ext uri="{FF2B5EF4-FFF2-40B4-BE49-F238E27FC236}">
                    <a16:creationId xmlns:a16="http://schemas.microsoft.com/office/drawing/2014/main" id="{1D7C733B-9F96-9064-52E3-70CA30B13591}"/>
                  </a:ext>
                </a:extLst>
              </p:cNvPr>
              <p:cNvGrpSpPr/>
              <p:nvPr/>
            </p:nvGrpSpPr>
            <p:grpSpPr>
              <a:xfrm>
                <a:off x="7790418" y="1207828"/>
                <a:ext cx="3292581" cy="856527"/>
                <a:chOff x="3225997" y="1214528"/>
                <a:chExt cx="3292581" cy="856527"/>
              </a:xfrm>
            </p:grpSpPr>
            <p:sp>
              <p:nvSpPr>
                <p:cNvPr id="197" name="CuadroTexto 196">
                  <a:extLst>
                    <a:ext uri="{FF2B5EF4-FFF2-40B4-BE49-F238E27FC236}">
                      <a16:creationId xmlns:a16="http://schemas.microsoft.com/office/drawing/2014/main" id="{FA1290C5-6EEA-8091-12A0-5728864EEE58}"/>
                    </a:ext>
                  </a:extLst>
                </p:cNvPr>
                <p:cNvSpPr txBox="1"/>
                <p:nvPr/>
              </p:nvSpPr>
              <p:spPr>
                <a:xfrm>
                  <a:off x="3225997" y="1214528"/>
                  <a:ext cx="2573790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Entidad Financieras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98" name="CuadroTexto 197">
                  <a:extLst>
                    <a:ext uri="{FF2B5EF4-FFF2-40B4-BE49-F238E27FC236}">
                      <a16:creationId xmlns:a16="http://schemas.microsoft.com/office/drawing/2014/main" id="{ACE2E3B9-738C-B57D-9713-28BF936A5716}"/>
                    </a:ext>
                  </a:extLst>
                </p:cNvPr>
                <p:cNvSpPr txBox="1"/>
                <p:nvPr/>
              </p:nvSpPr>
              <p:spPr>
                <a:xfrm>
                  <a:off x="4078039" y="1504379"/>
                  <a:ext cx="244053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100%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   Davivienda</a:t>
                  </a:r>
                </a:p>
              </p:txBody>
            </p:sp>
          </p:grpSp>
        </p:grpSp>
        <p:sp>
          <p:nvSpPr>
            <p:cNvPr id="192" name="CuadroTexto 191">
              <a:extLst>
                <a:ext uri="{FF2B5EF4-FFF2-40B4-BE49-F238E27FC236}">
                  <a16:creationId xmlns:a16="http://schemas.microsoft.com/office/drawing/2014/main" id="{BB305F9E-2B84-3295-92F0-98130530AAF7}"/>
                </a:ext>
              </a:extLst>
            </p:cNvPr>
            <p:cNvSpPr txBox="1"/>
            <p:nvPr/>
          </p:nvSpPr>
          <p:spPr>
            <a:xfrm>
              <a:off x="9267841" y="3565727"/>
              <a:ext cx="1337256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0%</a:t>
              </a:r>
              <a:r>
                <a:rPr lang="es-CO" sz="1400" b="1" dirty="0">
                  <a:solidFill>
                    <a:schemeClr val="bg1"/>
                  </a:solidFill>
                </a:rPr>
                <a:t>          Colsubsidio</a:t>
              </a:r>
            </a:p>
          </p:txBody>
        </p:sp>
      </p:grpSp>
      <p:sp>
        <p:nvSpPr>
          <p:cNvPr id="200" name="CuadroTexto 199">
            <a:extLst>
              <a:ext uri="{FF2B5EF4-FFF2-40B4-BE49-F238E27FC236}">
                <a16:creationId xmlns:a16="http://schemas.microsoft.com/office/drawing/2014/main" id="{8598C9F6-EF5A-9E44-35FA-9B0AFA2C6B0A}"/>
              </a:ext>
            </a:extLst>
          </p:cNvPr>
          <p:cNvSpPr txBox="1"/>
          <p:nvPr/>
        </p:nvSpPr>
        <p:spPr>
          <a:xfrm>
            <a:off x="4140736" y="5856787"/>
            <a:ext cx="137625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0%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Soacha</a:t>
            </a:r>
          </a:p>
        </p:txBody>
      </p:sp>
      <p:pic>
        <p:nvPicPr>
          <p:cNvPr id="205" name="Imagen 204">
            <a:extLst>
              <a:ext uri="{FF2B5EF4-FFF2-40B4-BE49-F238E27FC236}">
                <a16:creationId xmlns:a16="http://schemas.microsoft.com/office/drawing/2014/main" id="{E8E38212-B91B-4612-9BEF-15B39FFC0E28}"/>
              </a:ext>
            </a:extLst>
          </p:cNvPr>
          <p:cNvPicPr>
            <a:picLocks noChangeAspect="1"/>
          </p:cNvPicPr>
          <p:nvPr/>
        </p:nvPicPr>
        <p:blipFill>
          <a:blip r:embed="rId22">
            <a:duotone>
              <a:prstClr val="black"/>
              <a:schemeClr val="tx1">
                <a:lumMod val="75000"/>
                <a:lumOff val="2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4538" y="5846263"/>
            <a:ext cx="673981" cy="673981"/>
          </a:xfrm>
          <a:prstGeom prst="rect">
            <a:avLst/>
          </a:prstGeom>
        </p:spPr>
      </p:pic>
      <p:grpSp>
        <p:nvGrpSpPr>
          <p:cNvPr id="208" name="Grupo 207">
            <a:extLst>
              <a:ext uri="{FF2B5EF4-FFF2-40B4-BE49-F238E27FC236}">
                <a16:creationId xmlns:a16="http://schemas.microsoft.com/office/drawing/2014/main" id="{DB10A74E-9D39-2CC0-0E1D-CACDD5D81F77}"/>
              </a:ext>
            </a:extLst>
          </p:cNvPr>
          <p:cNvGrpSpPr/>
          <p:nvPr/>
        </p:nvGrpSpPr>
        <p:grpSpPr>
          <a:xfrm>
            <a:off x="10245555" y="853892"/>
            <a:ext cx="1956550" cy="5540381"/>
            <a:chOff x="7793864" y="1110832"/>
            <a:chExt cx="1816602" cy="1780012"/>
          </a:xfrm>
        </p:grpSpPr>
        <p:sp>
          <p:nvSpPr>
            <p:cNvPr id="212" name="Rectángulo 211">
              <a:extLst>
                <a:ext uri="{FF2B5EF4-FFF2-40B4-BE49-F238E27FC236}">
                  <a16:creationId xmlns:a16="http://schemas.microsoft.com/office/drawing/2014/main" id="{600B95EB-5C2E-7346-29FE-6BB9702C6A52}"/>
                </a:ext>
              </a:extLst>
            </p:cNvPr>
            <p:cNvSpPr/>
            <p:nvPr/>
          </p:nvSpPr>
          <p:spPr>
            <a:xfrm>
              <a:off x="7814360" y="1110832"/>
              <a:ext cx="1666611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5" name="CuadroTexto 214">
              <a:extLst>
                <a:ext uri="{FF2B5EF4-FFF2-40B4-BE49-F238E27FC236}">
                  <a16:creationId xmlns:a16="http://schemas.microsoft.com/office/drawing/2014/main" id="{BEAD700B-D311-A768-DAFB-9392025A42E4}"/>
                </a:ext>
              </a:extLst>
            </p:cNvPr>
            <p:cNvSpPr txBox="1"/>
            <p:nvPr/>
          </p:nvSpPr>
          <p:spPr>
            <a:xfrm>
              <a:off x="7793864" y="1161252"/>
              <a:ext cx="1816602" cy="1141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1600">
                  <a:solidFill>
                    <a:srgbClr val="FFC000"/>
                  </a:solidFill>
                  <a:latin typeface="KG Red Hands" panose="02000505000000020004" pitchFamily="2" charset="0"/>
                </a:rPr>
                <a:t>Top Empresas</a:t>
              </a:r>
              <a:endParaRPr lang="es-ES" sz="1600">
                <a:solidFill>
                  <a:srgbClr val="FFC000"/>
                </a:solidFill>
              </a:endParaRPr>
            </a:p>
          </p:txBody>
        </p:sp>
        <p:sp>
          <p:nvSpPr>
            <p:cNvPr id="214" name="CuadroTexto 213">
              <a:extLst>
                <a:ext uri="{FF2B5EF4-FFF2-40B4-BE49-F238E27FC236}">
                  <a16:creationId xmlns:a16="http://schemas.microsoft.com/office/drawing/2014/main" id="{D5A147D6-DCC7-6BEC-5281-668B1421D264}"/>
                </a:ext>
              </a:extLst>
            </p:cNvPr>
            <p:cNvSpPr txBox="1"/>
            <p:nvPr/>
          </p:nvSpPr>
          <p:spPr>
            <a:xfrm>
              <a:off x="7830402" y="1354030"/>
              <a:ext cx="1689688" cy="1038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500" b="1" dirty="0">
                  <a:solidFill>
                    <a:schemeClr val="bg1"/>
                  </a:solidFill>
                </a:rPr>
                <a:t>SERENIA SAS	1</a:t>
              </a:r>
            </a:p>
            <a:p>
              <a:r>
                <a:rPr lang="pt-BR" sz="500" b="1" dirty="0">
                  <a:solidFill>
                    <a:schemeClr val="bg1"/>
                  </a:solidFill>
                </a:rPr>
                <a:t>HF MOTORCYCLES SAS	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	                               </a:t>
              </a: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4BE23C65-1B16-93DB-3807-83802B7A6CB3}"/>
              </a:ext>
            </a:extLst>
          </p:cNvPr>
          <p:cNvSpPr txBox="1"/>
          <p:nvPr/>
        </p:nvSpPr>
        <p:spPr>
          <a:xfrm>
            <a:off x="10330342" y="6461181"/>
            <a:ext cx="14292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100" dirty="0">
                <a:solidFill>
                  <a:srgbClr val="FFC000"/>
                </a:solidFill>
                <a:latin typeface="KG Red Hands" panose="02000505000000020004" pitchFamily="2" charset="0"/>
              </a:rPr>
              <a:t>*Corte 15/01/2026</a:t>
            </a:r>
            <a:endParaRPr lang="es-ES" sz="11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024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F153F-CA60-93FC-B3DB-480AEC80B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567C02AF-376A-8092-40CC-E32093334BC5}"/>
              </a:ext>
            </a:extLst>
          </p:cNvPr>
          <p:cNvCxnSpPr>
            <a:cxnSpLocks/>
          </p:cNvCxnSpPr>
          <p:nvPr/>
        </p:nvCxnSpPr>
        <p:spPr>
          <a:xfrm flipH="1">
            <a:off x="0" y="645614"/>
            <a:ext cx="10809007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uadroTexto 85">
            <a:extLst>
              <a:ext uri="{FF2B5EF4-FFF2-40B4-BE49-F238E27FC236}">
                <a16:creationId xmlns:a16="http://schemas.microsoft.com/office/drawing/2014/main" id="{5DF39C43-06B9-DC6A-4D01-E4ECF94400A0}"/>
              </a:ext>
            </a:extLst>
          </p:cNvPr>
          <p:cNvSpPr txBox="1"/>
          <p:nvPr/>
        </p:nvSpPr>
        <p:spPr>
          <a:xfrm>
            <a:off x="-128399" y="120715"/>
            <a:ext cx="95771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dirty="0">
                <a:solidFill>
                  <a:schemeClr val="bg1"/>
                </a:solidFill>
                <a:latin typeface="KG Red Hands" panose="02000505000000020004" pitchFamily="2" charset="0"/>
              </a:rPr>
              <a:t>      Verde Esperanza</a:t>
            </a:r>
            <a:endParaRPr lang="es-ES" sz="24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4D16985-FBAE-ADF7-95A3-FE6F0A7EBD7F}"/>
              </a:ext>
              <a:ext uri="{147F2762-F138-4A5C-976F-8EAC2B608ADB}">
                <a16:predDERef xmlns:a16="http://schemas.microsoft.com/office/drawing/2014/main" pred="{95DEFF95-1524-40DB-8538-DE0C2D5BEC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3398838"/>
            <a:ext cx="555625" cy="49371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B9932456-7144-8DAD-79AB-DF8ADA448A27}"/>
              </a:ext>
              <a:ext uri="{147F2762-F138-4A5C-976F-8EAC2B608ADB}">
                <a16:predDERef xmlns:a16="http://schemas.microsoft.com/office/drawing/2014/main" pred="{95FFDEC5-E647-4E60-9FB8-32349ACC1E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087813"/>
            <a:ext cx="555625" cy="46196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83B154BA-D8BE-9FF9-F7CE-F0E3648DAD53}"/>
              </a:ext>
              <a:ext uri="{147F2762-F138-4A5C-976F-8EAC2B608ADB}">
                <a16:predDERef xmlns:a16="http://schemas.microsoft.com/office/drawing/2014/main" pred="{D53D0C4A-FE71-44C0-97B3-1EA296D3DCE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814888"/>
            <a:ext cx="555625" cy="41116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3CCAA667-FE11-B2A5-D566-91A578E05EA7}"/>
              </a:ext>
              <a:ext uri="{147F2762-F138-4A5C-976F-8EAC2B608ADB}">
                <a16:predDERef xmlns:a16="http://schemas.microsoft.com/office/drawing/2014/main" pred="{7008BA42-7365-4AD1-B913-F26820CE47E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1775" y="5427663"/>
            <a:ext cx="465138" cy="433387"/>
          </a:xfrm>
          <a:prstGeom prst="rect">
            <a:avLst/>
          </a:prstGeom>
        </p:spPr>
      </p:pic>
      <p:grpSp>
        <p:nvGrpSpPr>
          <p:cNvPr id="135" name="Grupo 134">
            <a:extLst>
              <a:ext uri="{FF2B5EF4-FFF2-40B4-BE49-F238E27FC236}">
                <a16:creationId xmlns:a16="http://schemas.microsoft.com/office/drawing/2014/main" id="{3328AFB0-A941-E970-B2C0-3E4E85236832}"/>
              </a:ext>
            </a:extLst>
          </p:cNvPr>
          <p:cNvGrpSpPr/>
          <p:nvPr/>
        </p:nvGrpSpPr>
        <p:grpSpPr>
          <a:xfrm>
            <a:off x="5564187" y="853892"/>
            <a:ext cx="2195988" cy="1780012"/>
            <a:chOff x="5353656" y="1110832"/>
            <a:chExt cx="2195988" cy="1780012"/>
          </a:xfrm>
        </p:grpSpPr>
        <p:sp>
          <p:nvSpPr>
            <p:cNvPr id="58" name="Rectángulo 57">
              <a:extLst>
                <a:ext uri="{FF2B5EF4-FFF2-40B4-BE49-F238E27FC236}">
                  <a16:creationId xmlns:a16="http://schemas.microsoft.com/office/drawing/2014/main" id="{CF110DAF-EB5E-66F3-3413-777CE4665192}"/>
                </a:ext>
              </a:extLst>
            </p:cNvPr>
            <p:cNvSpPr/>
            <p:nvPr/>
          </p:nvSpPr>
          <p:spPr>
            <a:xfrm>
              <a:off x="5353656" y="1110832"/>
              <a:ext cx="2195987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43" name="Grupo 42">
              <a:extLst>
                <a:ext uri="{FF2B5EF4-FFF2-40B4-BE49-F238E27FC236}">
                  <a16:creationId xmlns:a16="http://schemas.microsoft.com/office/drawing/2014/main" id="{FCE3DFAC-12CF-9CA0-1C49-CE648862C9DB}"/>
                </a:ext>
              </a:extLst>
            </p:cNvPr>
            <p:cNvGrpSpPr/>
            <p:nvPr/>
          </p:nvGrpSpPr>
          <p:grpSpPr>
            <a:xfrm>
              <a:off x="5353657" y="1223137"/>
              <a:ext cx="2083693" cy="1630468"/>
              <a:chOff x="3249940" y="1229837"/>
              <a:chExt cx="2083693" cy="1630468"/>
            </a:xfrm>
          </p:grpSpPr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D1B2B57D-615E-4D98-86BC-0ABD4A2DA2CA}"/>
                  </a:ext>
                </a:extLst>
              </p:cNvPr>
              <p:cNvSpPr txBox="1"/>
              <p:nvPr/>
            </p:nvSpPr>
            <p:spPr>
              <a:xfrm>
                <a:off x="3552927" y="1229837"/>
                <a:ext cx="178070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Rango Salario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CEA447A7-7148-0F30-9B4B-967C32CA3BD5}"/>
                  </a:ext>
                </a:extLst>
              </p:cNvPr>
              <p:cNvSpPr txBox="1"/>
              <p:nvPr/>
            </p:nvSpPr>
            <p:spPr>
              <a:xfrm>
                <a:off x="3249940" y="2306307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94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Hasta 2 </a:t>
                </a:r>
                <a:r>
                  <a:rPr lang="es-CO" sz="1200" b="1" dirty="0" err="1">
                    <a:solidFill>
                      <a:schemeClr val="bg1"/>
                    </a:solidFill>
                  </a:rPr>
                  <a:t>smlv</a:t>
                </a:r>
                <a:endParaRPr lang="es-CO" sz="12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53" name="Imagen 52">
              <a:extLst>
                <a:ext uri="{FF2B5EF4-FFF2-40B4-BE49-F238E27FC236}">
                  <a16:creationId xmlns:a16="http://schemas.microsoft.com/office/drawing/2014/main" id="{68BF1812-2F82-8C57-01F3-2584C256134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12042" y="1623254"/>
              <a:ext cx="641350" cy="641350"/>
            </a:xfrm>
            <a:prstGeom prst="rect">
              <a:avLst/>
            </a:prstGeom>
          </p:spPr>
        </p:pic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17EABC24-AD98-A6C5-B5FA-4CB164B94E77}"/>
                </a:ext>
              </a:extLst>
            </p:cNvPr>
            <p:cNvSpPr txBox="1"/>
            <p:nvPr/>
          </p:nvSpPr>
          <p:spPr>
            <a:xfrm>
              <a:off x="6376735" y="2289285"/>
              <a:ext cx="1172909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6</a:t>
              </a:r>
              <a:r>
                <a:rPr lang="es-CO" sz="18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Mas de 2 </a:t>
              </a:r>
              <a:r>
                <a:rPr lang="es-CO" sz="1200" b="1" dirty="0" err="1">
                  <a:solidFill>
                    <a:schemeClr val="bg1"/>
                  </a:solidFill>
                </a:rPr>
                <a:t>smlv</a:t>
              </a:r>
              <a:endParaRPr lang="es-CO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4332E5F8-E204-7247-8354-E19AB942EDF5}"/>
              </a:ext>
            </a:extLst>
          </p:cNvPr>
          <p:cNvGrpSpPr/>
          <p:nvPr/>
        </p:nvGrpSpPr>
        <p:grpSpPr>
          <a:xfrm>
            <a:off x="3320687" y="874756"/>
            <a:ext cx="1941094" cy="1759148"/>
            <a:chOff x="3224463" y="1110832"/>
            <a:chExt cx="1941094" cy="1759148"/>
          </a:xfrm>
        </p:grpSpPr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E9B77073-A5F5-80AB-3376-B8F594E340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36596" y="1677993"/>
              <a:ext cx="721895" cy="721895"/>
            </a:xfrm>
            <a:prstGeom prst="rect">
              <a:avLst/>
            </a:prstGeom>
          </p:spPr>
        </p:pic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7E855385-751E-32A7-55E1-B06B7A6260AE}"/>
                </a:ext>
              </a:extLst>
            </p:cNvPr>
            <p:cNvGrpSpPr/>
            <p:nvPr/>
          </p:nvGrpSpPr>
          <p:grpSpPr>
            <a:xfrm>
              <a:off x="3420553" y="1223137"/>
              <a:ext cx="1609350" cy="1516670"/>
              <a:chOff x="3420553" y="1223137"/>
              <a:chExt cx="1609350" cy="1516670"/>
            </a:xfrm>
          </p:grpSpPr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3D1B009B-7982-41A5-F816-495BE4EBBD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74608" y="1613811"/>
                <a:ext cx="723600" cy="723600"/>
              </a:xfrm>
              <a:prstGeom prst="rect">
                <a:avLst/>
              </a:prstGeom>
            </p:spPr>
          </p:pic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10552454-0C41-04E0-43C0-9D76D3329D87}"/>
                  </a:ext>
                </a:extLst>
              </p:cNvPr>
              <p:cNvSpPr txBox="1"/>
              <p:nvPr/>
            </p:nvSpPr>
            <p:spPr>
              <a:xfrm>
                <a:off x="3685253" y="1223137"/>
                <a:ext cx="1098946" cy="345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Género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1CBCA4EC-26F6-D0F2-1CC3-A3CBEB013D5D}"/>
                  </a:ext>
                </a:extLst>
              </p:cNvPr>
              <p:cNvSpPr txBox="1"/>
              <p:nvPr/>
            </p:nvSpPr>
            <p:spPr>
              <a:xfrm>
                <a:off x="3420553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50%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13B3D112-9873-88E2-448A-9E68E976A4DB}"/>
                  </a:ext>
                </a:extLst>
              </p:cNvPr>
              <p:cNvSpPr txBox="1"/>
              <p:nvPr/>
            </p:nvSpPr>
            <p:spPr>
              <a:xfrm>
                <a:off x="4308008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50%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</p:grp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25A9BB83-C7A4-DB23-DCDA-E87926497AC7}"/>
                </a:ext>
              </a:extLst>
            </p:cNvPr>
            <p:cNvSpPr/>
            <p:nvPr/>
          </p:nvSpPr>
          <p:spPr>
            <a:xfrm>
              <a:off x="3224463" y="1110832"/>
              <a:ext cx="1941094" cy="175914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78" name="CuadroTexto 77">
            <a:extLst>
              <a:ext uri="{FF2B5EF4-FFF2-40B4-BE49-F238E27FC236}">
                <a16:creationId xmlns:a16="http://schemas.microsoft.com/office/drawing/2014/main" id="{24524CB3-B3DD-D75C-D312-5608CF5C7582}"/>
              </a:ext>
            </a:extLst>
          </p:cNvPr>
          <p:cNvSpPr txBox="1"/>
          <p:nvPr/>
        </p:nvSpPr>
        <p:spPr>
          <a:xfrm>
            <a:off x="1376075" y="3222417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11%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Joven</a:t>
            </a:r>
          </a:p>
        </p:txBody>
      </p: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5AF5A42F-9176-8DE9-D6CE-F6D931286327}"/>
              </a:ext>
            </a:extLst>
          </p:cNvPr>
          <p:cNvGrpSpPr/>
          <p:nvPr/>
        </p:nvGrpSpPr>
        <p:grpSpPr>
          <a:xfrm>
            <a:off x="-155207" y="2771278"/>
            <a:ext cx="2688149" cy="1998661"/>
            <a:chOff x="435343" y="3108160"/>
            <a:chExt cx="2688149" cy="1998661"/>
          </a:xfrm>
        </p:grpSpPr>
        <p:grpSp>
          <p:nvGrpSpPr>
            <p:cNvPr id="69" name="Grupo 68">
              <a:extLst>
                <a:ext uri="{FF2B5EF4-FFF2-40B4-BE49-F238E27FC236}">
                  <a16:creationId xmlns:a16="http://schemas.microsoft.com/office/drawing/2014/main" id="{1D14C95F-3C7D-2CAE-30A9-9F899E13E1F2}"/>
                </a:ext>
              </a:extLst>
            </p:cNvPr>
            <p:cNvGrpSpPr/>
            <p:nvPr/>
          </p:nvGrpSpPr>
          <p:grpSpPr>
            <a:xfrm>
              <a:off x="457829" y="3108160"/>
              <a:ext cx="2665663" cy="1998661"/>
              <a:chOff x="7590765" y="1110832"/>
              <a:chExt cx="2665663" cy="1822499"/>
            </a:xfrm>
          </p:grpSpPr>
          <p:sp>
            <p:nvSpPr>
              <p:cNvPr id="70" name="Rectángulo 69">
                <a:extLst>
                  <a:ext uri="{FF2B5EF4-FFF2-40B4-BE49-F238E27FC236}">
                    <a16:creationId xmlns:a16="http://schemas.microsoft.com/office/drawing/2014/main" id="{2A4CE291-7C75-63C4-FFED-2E71111D33F5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71" name="Grupo 70">
                <a:extLst>
                  <a:ext uri="{FF2B5EF4-FFF2-40B4-BE49-F238E27FC236}">
                    <a16:creationId xmlns:a16="http://schemas.microsoft.com/office/drawing/2014/main" id="{A7473817-BE3D-7B52-CC43-86223DCC6EF2}"/>
                  </a:ext>
                </a:extLst>
              </p:cNvPr>
              <p:cNvGrpSpPr/>
              <p:nvPr/>
            </p:nvGrpSpPr>
            <p:grpSpPr>
              <a:xfrm>
                <a:off x="7590765" y="1223137"/>
                <a:ext cx="2024519" cy="1655939"/>
                <a:chOff x="3026344" y="1229837"/>
                <a:chExt cx="2024519" cy="1655939"/>
              </a:xfrm>
            </p:grpSpPr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2E0425B3-74A4-F3B5-325F-E1F4A3C857DD}"/>
                    </a:ext>
                  </a:extLst>
                </p:cNvPr>
                <p:cNvSpPr txBox="1"/>
                <p:nvPr/>
              </p:nvSpPr>
              <p:spPr>
                <a:xfrm>
                  <a:off x="3645002" y="1229837"/>
                  <a:ext cx="1405861" cy="3087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Segmento 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9C30FB31-0EC8-24E5-3717-50819C5B81FB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12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59%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Básico</a:t>
                  </a:r>
                </a:p>
              </p:txBody>
            </p:sp>
          </p:grpSp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5BC67D6C-8718-D3C1-0D79-2304753F9CDA}"/>
                  </a:ext>
                </a:extLst>
              </p:cNvPr>
              <p:cNvSpPr txBox="1"/>
              <p:nvPr/>
            </p:nvSpPr>
            <p:spPr>
              <a:xfrm>
                <a:off x="9083519" y="231777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0%</a:t>
                </a:r>
              </a:p>
              <a:p>
                <a:r>
                  <a:rPr lang="es-CO" sz="1400" b="1">
                    <a:solidFill>
                      <a:schemeClr val="bg1"/>
                    </a:solidFill>
                  </a:rPr>
                  <a:t>       Alto</a:t>
                </a:r>
              </a:p>
            </p:txBody>
          </p:sp>
        </p:grpSp>
        <p:sp>
          <p:nvSpPr>
            <p:cNvPr id="77" name="CuadroTexto 76">
              <a:extLst>
                <a:ext uri="{FF2B5EF4-FFF2-40B4-BE49-F238E27FC236}">
                  <a16:creationId xmlns:a16="http://schemas.microsoft.com/office/drawing/2014/main" id="{BA3E3A4F-06DC-FAF8-7B7D-E11476D23912}"/>
                </a:ext>
              </a:extLst>
            </p:cNvPr>
            <p:cNvSpPr txBox="1"/>
            <p:nvPr/>
          </p:nvSpPr>
          <p:spPr>
            <a:xfrm>
              <a:off x="435343" y="3559299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30%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Medio</a:t>
              </a:r>
            </a:p>
          </p:txBody>
        </p:sp>
        <p:pic>
          <p:nvPicPr>
            <p:cNvPr id="80" name="Imagen 79">
              <a:extLst>
                <a:ext uri="{FF2B5EF4-FFF2-40B4-BE49-F238E27FC236}">
                  <a16:creationId xmlns:a16="http://schemas.microsoft.com/office/drawing/2014/main" id="{C60D4294-0648-146F-FC6A-41C03680E0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LineDrawing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90862" y="3871141"/>
              <a:ext cx="680857" cy="680857"/>
            </a:xfrm>
            <a:prstGeom prst="rect">
              <a:avLst/>
            </a:prstGeom>
          </p:spPr>
        </p:pic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C38F7C55-1643-CD1F-3545-28AFAEF330BF}"/>
              </a:ext>
            </a:extLst>
          </p:cNvPr>
          <p:cNvGrpSpPr/>
          <p:nvPr/>
        </p:nvGrpSpPr>
        <p:grpSpPr>
          <a:xfrm>
            <a:off x="2169335" y="2774370"/>
            <a:ext cx="3284086" cy="1963483"/>
            <a:chOff x="2759885" y="3111252"/>
            <a:chExt cx="3284086" cy="1963483"/>
          </a:xfrm>
        </p:grpSpPr>
        <p:sp>
          <p:nvSpPr>
            <p:cNvPr id="88" name="CuadroTexto 87">
              <a:extLst>
                <a:ext uri="{FF2B5EF4-FFF2-40B4-BE49-F238E27FC236}">
                  <a16:creationId xmlns:a16="http://schemas.microsoft.com/office/drawing/2014/main" id="{5CF9ED34-CA6C-2075-2635-B85E653EF0A7}"/>
                </a:ext>
              </a:extLst>
            </p:cNvPr>
            <p:cNvSpPr txBox="1"/>
            <p:nvPr/>
          </p:nvSpPr>
          <p:spPr>
            <a:xfrm>
              <a:off x="2759885" y="3531697"/>
              <a:ext cx="154680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   25%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             Sin Grupo</a:t>
              </a:r>
            </a:p>
          </p:txBody>
        </p:sp>
        <p:grpSp>
          <p:nvGrpSpPr>
            <p:cNvPr id="124" name="Grupo 123">
              <a:extLst>
                <a:ext uri="{FF2B5EF4-FFF2-40B4-BE49-F238E27FC236}">
                  <a16:creationId xmlns:a16="http://schemas.microsoft.com/office/drawing/2014/main" id="{CC3010F1-12BF-0CE7-3B0F-E30E8376181A}"/>
                </a:ext>
              </a:extLst>
            </p:cNvPr>
            <p:cNvGrpSpPr/>
            <p:nvPr/>
          </p:nvGrpSpPr>
          <p:grpSpPr>
            <a:xfrm>
              <a:off x="2827705" y="3111252"/>
              <a:ext cx="3216266" cy="1963483"/>
              <a:chOff x="2827705" y="3111252"/>
              <a:chExt cx="3216266" cy="1963483"/>
            </a:xfrm>
          </p:grpSpPr>
          <p:grpSp>
            <p:nvGrpSpPr>
              <p:cNvPr id="81" name="Grupo 80">
                <a:extLst>
                  <a:ext uri="{FF2B5EF4-FFF2-40B4-BE49-F238E27FC236}">
                    <a16:creationId xmlns:a16="http://schemas.microsoft.com/office/drawing/2014/main" id="{48CD7763-9DC0-AC6F-1CE3-835A30D8AD16}"/>
                  </a:ext>
                </a:extLst>
              </p:cNvPr>
              <p:cNvGrpSpPr/>
              <p:nvPr/>
            </p:nvGrpSpPr>
            <p:grpSpPr>
              <a:xfrm>
                <a:off x="2827705" y="3111252"/>
                <a:ext cx="3216266" cy="1963483"/>
                <a:chOff x="7593779" y="1110832"/>
                <a:chExt cx="3216266" cy="1780012"/>
              </a:xfrm>
            </p:grpSpPr>
            <p:sp>
              <p:nvSpPr>
                <p:cNvPr id="82" name="Rectángulo 81">
                  <a:extLst>
                    <a:ext uri="{FF2B5EF4-FFF2-40B4-BE49-F238E27FC236}">
                      <a16:creationId xmlns:a16="http://schemas.microsoft.com/office/drawing/2014/main" id="{B66B43AC-7A8C-F54C-7B23-26509419BD78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808386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83" name="Grupo 82">
                  <a:extLst>
                    <a:ext uri="{FF2B5EF4-FFF2-40B4-BE49-F238E27FC236}">
                      <a16:creationId xmlns:a16="http://schemas.microsoft.com/office/drawing/2014/main" id="{BD97C737-F2EF-60F0-E19F-420A9C1302C3}"/>
                    </a:ext>
                  </a:extLst>
                </p:cNvPr>
                <p:cNvGrpSpPr/>
                <p:nvPr/>
              </p:nvGrpSpPr>
              <p:grpSpPr>
                <a:xfrm>
                  <a:off x="7593779" y="1166870"/>
                  <a:ext cx="2748715" cy="1628029"/>
                  <a:chOff x="3029358" y="1173570"/>
                  <a:chExt cx="2748715" cy="1628029"/>
                </a:xfrm>
              </p:grpSpPr>
              <p:sp>
                <p:nvSpPr>
                  <p:cNvPr id="85" name="CuadroTexto 84">
                    <a:extLst>
                      <a:ext uri="{FF2B5EF4-FFF2-40B4-BE49-F238E27FC236}">
                        <a16:creationId xmlns:a16="http://schemas.microsoft.com/office/drawing/2014/main" id="{697AD3E5-9E31-B714-1DF2-1F980A85F63F}"/>
                      </a:ext>
                    </a:extLst>
                  </p:cNvPr>
                  <p:cNvSpPr txBox="1"/>
                  <p:nvPr/>
                </p:nvSpPr>
                <p:spPr>
                  <a:xfrm>
                    <a:off x="3634807" y="1173570"/>
                    <a:ext cx="2143266" cy="30691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Segmento Familia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87" name="CuadroTexto 86">
                    <a:extLst>
                      <a:ext uri="{FF2B5EF4-FFF2-40B4-BE49-F238E27FC236}">
                        <a16:creationId xmlns:a16="http://schemas.microsoft.com/office/drawing/2014/main" id="{871926E4-1D59-6B3E-B2CE-0C15C3ABEF3F}"/>
                      </a:ext>
                    </a:extLst>
                  </p:cNvPr>
                  <p:cNvSpPr txBox="1"/>
                  <p:nvPr/>
                </p:nvSpPr>
                <p:spPr>
                  <a:xfrm>
                    <a:off x="3029358" y="2131957"/>
                    <a:ext cx="1923771" cy="66964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 4</a:t>
                    </a:r>
                    <a:r>
                      <a:rPr lang="es-CO" sz="18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%</a:t>
                    </a:r>
                  </a:p>
                  <a:p>
                    <a:r>
                      <a:rPr lang="es-CO" sz="1200" b="1" dirty="0">
                        <a:solidFill>
                          <a:schemeClr val="bg1"/>
                        </a:solidFill>
                      </a:rPr>
                      <a:t>      Monoparental</a:t>
                    </a:r>
                  </a:p>
                  <a:p>
                    <a:r>
                      <a:rPr lang="es-CO" sz="1200" b="1" dirty="0">
                        <a:solidFill>
                          <a:schemeClr val="bg1"/>
                        </a:solidFill>
                      </a:rPr>
                      <a:t>      Ampliada</a:t>
                    </a:r>
                  </a:p>
                </p:txBody>
              </p:sp>
            </p:grpSp>
            <p:sp>
              <p:nvSpPr>
                <p:cNvPr id="84" name="CuadroTexto 83">
                  <a:extLst>
                    <a:ext uri="{FF2B5EF4-FFF2-40B4-BE49-F238E27FC236}">
                      <a16:creationId xmlns:a16="http://schemas.microsoft.com/office/drawing/2014/main" id="{B0AE8BCF-EDC9-7507-E714-48C2704EB0EC}"/>
                    </a:ext>
                  </a:extLst>
                </p:cNvPr>
                <p:cNvSpPr txBox="1"/>
                <p:nvPr/>
              </p:nvSpPr>
              <p:spPr>
                <a:xfrm>
                  <a:off x="9185077" y="2110714"/>
                  <a:ext cx="1624968" cy="5022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        22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 Nuclear Integrada</a:t>
                  </a:r>
                </a:p>
              </p:txBody>
            </p:sp>
          </p:grpSp>
          <p:sp>
            <p:nvSpPr>
              <p:cNvPr id="89" name="CuadroTexto 88">
                <a:extLst>
                  <a:ext uri="{FF2B5EF4-FFF2-40B4-BE49-F238E27FC236}">
                    <a16:creationId xmlns:a16="http://schemas.microsoft.com/office/drawing/2014/main" id="{502C8011-D3DD-4DC8-61A2-8967E9EEE386}"/>
                  </a:ext>
                </a:extLst>
              </p:cNvPr>
              <p:cNvSpPr txBox="1"/>
              <p:nvPr/>
            </p:nvSpPr>
            <p:spPr>
              <a:xfrm>
                <a:off x="4771770" y="3534141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45%</a:t>
                </a:r>
                <a:r>
                  <a:rPr lang="es-CO" sz="1200" b="1" dirty="0">
                    <a:solidFill>
                      <a:schemeClr val="bg1"/>
                    </a:solidFill>
                  </a:rPr>
                  <a:t> Monoparental</a:t>
                </a:r>
              </a:p>
            </p:txBody>
          </p:sp>
          <p:pic>
            <p:nvPicPr>
              <p:cNvPr id="92" name="Imagen 91">
                <a:extLst>
                  <a:ext uri="{FF2B5EF4-FFF2-40B4-BE49-F238E27FC236}">
                    <a16:creationId xmlns:a16="http://schemas.microsoft.com/office/drawing/2014/main" id="{9244048C-AD6D-D9A0-2676-C14B2E3121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artisticGlowDiffused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075298" y="3683026"/>
                <a:ext cx="754362" cy="754362"/>
              </a:xfrm>
              <a:prstGeom prst="rect">
                <a:avLst/>
              </a:prstGeom>
            </p:spPr>
          </p:pic>
        </p:grp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76F1B59D-226E-8EB5-DE13-70A09093F62B}"/>
              </a:ext>
            </a:extLst>
          </p:cNvPr>
          <p:cNvGrpSpPr/>
          <p:nvPr/>
        </p:nvGrpSpPr>
        <p:grpSpPr>
          <a:xfrm>
            <a:off x="90873" y="847081"/>
            <a:ext cx="3094159" cy="1780012"/>
            <a:chOff x="681423" y="1183963"/>
            <a:chExt cx="3094159" cy="1780012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F9F9DE32-4E3E-216F-E652-A45EF2BE2C4C}"/>
                </a:ext>
              </a:extLst>
            </p:cNvPr>
            <p:cNvSpPr txBox="1"/>
            <p:nvPr/>
          </p:nvSpPr>
          <p:spPr>
            <a:xfrm>
              <a:off x="942955" y="1217834"/>
              <a:ext cx="2376943" cy="16927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s-CO" sz="2000" b="1" dirty="0">
                <a:solidFill>
                  <a:srgbClr val="FFC000"/>
                </a:solidFill>
              </a:endParaRP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Afiliado     </a:t>
              </a:r>
              <a:r>
                <a:rPr lang="es-CO" sz="2800" b="1" dirty="0">
                  <a:solidFill>
                    <a:srgbClr val="FFC000"/>
                  </a:solidFill>
                </a:rPr>
                <a:t>   </a:t>
              </a:r>
              <a:r>
                <a:rPr lang="es-CO" sz="2800" b="1" dirty="0">
                  <a:solidFill>
                    <a:schemeClr val="bg1"/>
                  </a:solidFill>
                </a:rPr>
                <a:t>64%</a:t>
              </a: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No Afilado   </a:t>
              </a:r>
              <a:r>
                <a:rPr lang="es-CO" sz="2800" b="1" dirty="0">
                  <a:solidFill>
                    <a:schemeClr val="bg1"/>
                  </a:solidFill>
                </a:rPr>
                <a:t>36%</a:t>
              </a:r>
            </a:p>
            <a:p>
              <a:endParaRPr lang="es-ES" sz="28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05" name="Rectángulo 104">
              <a:extLst>
                <a:ext uri="{FF2B5EF4-FFF2-40B4-BE49-F238E27FC236}">
                  <a16:creationId xmlns:a16="http://schemas.microsoft.com/office/drawing/2014/main" id="{F6DCD5AB-98E2-A5C3-8278-2D11DB5CF055}"/>
                </a:ext>
              </a:extLst>
            </p:cNvPr>
            <p:cNvSpPr/>
            <p:nvPr/>
          </p:nvSpPr>
          <p:spPr>
            <a:xfrm>
              <a:off x="681423" y="1183963"/>
              <a:ext cx="3094159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20" name="Grupo 119">
            <a:extLst>
              <a:ext uri="{FF2B5EF4-FFF2-40B4-BE49-F238E27FC236}">
                <a16:creationId xmlns:a16="http://schemas.microsoft.com/office/drawing/2014/main" id="{69E8F679-70A7-3ED4-9EAC-B7DCF5A0E10E}"/>
              </a:ext>
            </a:extLst>
          </p:cNvPr>
          <p:cNvGrpSpPr/>
          <p:nvPr/>
        </p:nvGrpSpPr>
        <p:grpSpPr>
          <a:xfrm>
            <a:off x="7777183" y="2775745"/>
            <a:ext cx="2623981" cy="1933541"/>
            <a:chOff x="9059295" y="3127128"/>
            <a:chExt cx="2623981" cy="1933541"/>
          </a:xfrm>
        </p:grpSpPr>
        <p:grpSp>
          <p:nvGrpSpPr>
            <p:cNvPr id="106" name="Grupo 105">
              <a:extLst>
                <a:ext uri="{FF2B5EF4-FFF2-40B4-BE49-F238E27FC236}">
                  <a16:creationId xmlns:a16="http://schemas.microsoft.com/office/drawing/2014/main" id="{F07CD67C-52E8-78CA-1DD0-2EF108AFB4ED}"/>
                </a:ext>
              </a:extLst>
            </p:cNvPr>
            <p:cNvGrpSpPr/>
            <p:nvPr/>
          </p:nvGrpSpPr>
          <p:grpSpPr>
            <a:xfrm>
              <a:off x="9080988" y="3127128"/>
              <a:ext cx="2601495" cy="1933541"/>
              <a:chOff x="7590765" y="1110832"/>
              <a:chExt cx="2601495" cy="1780012"/>
            </a:xfrm>
          </p:grpSpPr>
          <p:sp>
            <p:nvSpPr>
              <p:cNvPr id="107" name="Rectángulo 106">
                <a:extLst>
                  <a:ext uri="{FF2B5EF4-FFF2-40B4-BE49-F238E27FC236}">
                    <a16:creationId xmlns:a16="http://schemas.microsoft.com/office/drawing/2014/main" id="{62ADF283-C7A3-7E63-B278-B62FDD914916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108" name="Grupo 107">
                <a:extLst>
                  <a:ext uri="{FF2B5EF4-FFF2-40B4-BE49-F238E27FC236}">
                    <a16:creationId xmlns:a16="http://schemas.microsoft.com/office/drawing/2014/main" id="{CCF9C64A-4C00-8828-9706-77A372E92ABE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2191150" cy="1678227"/>
                <a:chOff x="3026344" y="1212927"/>
                <a:chExt cx="2191150" cy="1678227"/>
              </a:xfrm>
            </p:grpSpPr>
            <p:sp>
              <p:nvSpPr>
                <p:cNvPr id="110" name="CuadroTexto 109">
                  <a:extLst>
                    <a:ext uri="{FF2B5EF4-FFF2-40B4-BE49-F238E27FC236}">
                      <a16:creationId xmlns:a16="http://schemas.microsoft.com/office/drawing/2014/main" id="{3093BFEE-9F2A-6694-07AB-01CAF1A2B911}"/>
                    </a:ext>
                  </a:extLst>
                </p:cNvPr>
                <p:cNvSpPr txBox="1"/>
                <p:nvPr/>
              </p:nvSpPr>
              <p:spPr>
                <a:xfrm>
                  <a:off x="3811633" y="1212927"/>
                  <a:ext cx="140586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Estrato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11" name="CuadroTexto 110">
                  <a:extLst>
                    <a:ext uri="{FF2B5EF4-FFF2-40B4-BE49-F238E27FC236}">
                      <a16:creationId xmlns:a16="http://schemas.microsoft.com/office/drawing/2014/main" id="{FD58D3E5-DA86-A412-04BF-6A15822735A4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22%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  <p:sp>
            <p:nvSpPr>
              <p:cNvPr id="109" name="CuadroTexto 108">
                <a:extLst>
                  <a:ext uri="{FF2B5EF4-FFF2-40B4-BE49-F238E27FC236}">
                    <a16:creationId xmlns:a16="http://schemas.microsoft.com/office/drawing/2014/main" id="{9A1DF1A0-CF0E-38A2-27C5-BCBEC12078E2}"/>
                  </a:ext>
                </a:extLst>
              </p:cNvPr>
              <p:cNvSpPr txBox="1"/>
              <p:nvPr/>
            </p:nvSpPr>
            <p:spPr>
              <a:xfrm>
                <a:off x="9019351" y="2317778"/>
                <a:ext cx="1172909" cy="566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1%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Cuatro</a:t>
                </a:r>
              </a:p>
            </p:txBody>
          </p:sp>
        </p:grpSp>
        <p:sp>
          <p:nvSpPr>
            <p:cNvPr id="112" name="CuadroTexto 111">
              <a:extLst>
                <a:ext uri="{FF2B5EF4-FFF2-40B4-BE49-F238E27FC236}">
                  <a16:creationId xmlns:a16="http://schemas.microsoft.com/office/drawing/2014/main" id="{D2860C88-278F-6BB4-2296-44A9EF6537ED}"/>
                </a:ext>
              </a:extLst>
            </p:cNvPr>
            <p:cNvSpPr txBox="1"/>
            <p:nvPr/>
          </p:nvSpPr>
          <p:spPr>
            <a:xfrm>
              <a:off x="9059295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2%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Uno</a:t>
              </a:r>
            </a:p>
          </p:txBody>
        </p:sp>
        <p:sp>
          <p:nvSpPr>
            <p:cNvPr id="113" name="CuadroTexto 112">
              <a:extLst>
                <a:ext uri="{FF2B5EF4-FFF2-40B4-BE49-F238E27FC236}">
                  <a16:creationId xmlns:a16="http://schemas.microsoft.com/office/drawing/2014/main" id="{36CDDAAD-FA8C-8841-A508-9DAEAD0F3D19}"/>
                </a:ext>
              </a:extLst>
            </p:cNvPr>
            <p:cNvSpPr txBox="1"/>
            <p:nvPr/>
          </p:nvSpPr>
          <p:spPr>
            <a:xfrm>
              <a:off x="10510367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5%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Dos</a:t>
              </a:r>
            </a:p>
          </p:txBody>
        </p:sp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4C06CFCC-CEB4-F299-501C-98388D7C1A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artisticPencilGrayscale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043317" y="3855923"/>
              <a:ext cx="655939" cy="655939"/>
            </a:xfrm>
            <a:prstGeom prst="rect">
              <a:avLst/>
            </a:prstGeom>
          </p:spPr>
        </p:pic>
      </p:grp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C78DB92F-F521-7A70-F337-B9F10D718BD4}"/>
              </a:ext>
            </a:extLst>
          </p:cNvPr>
          <p:cNvSpPr txBox="1"/>
          <p:nvPr/>
        </p:nvSpPr>
        <p:spPr>
          <a:xfrm>
            <a:off x="5289967" y="3228845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25%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 Cero</a:t>
            </a:r>
          </a:p>
        </p:txBody>
      </p:sp>
      <p:grpSp>
        <p:nvGrpSpPr>
          <p:cNvPr id="123" name="Grupo 122">
            <a:extLst>
              <a:ext uri="{FF2B5EF4-FFF2-40B4-BE49-F238E27FC236}">
                <a16:creationId xmlns:a16="http://schemas.microsoft.com/office/drawing/2014/main" id="{C468D673-3D20-BE4D-A600-C874B994015B}"/>
              </a:ext>
            </a:extLst>
          </p:cNvPr>
          <p:cNvGrpSpPr/>
          <p:nvPr/>
        </p:nvGrpSpPr>
        <p:grpSpPr>
          <a:xfrm>
            <a:off x="5340592" y="2790246"/>
            <a:ext cx="2602288" cy="1933541"/>
            <a:chOff x="5931142" y="3127128"/>
            <a:chExt cx="2602288" cy="1933541"/>
          </a:xfrm>
        </p:grpSpPr>
        <p:grpSp>
          <p:nvGrpSpPr>
            <p:cNvPr id="93" name="Grupo 92">
              <a:extLst>
                <a:ext uri="{FF2B5EF4-FFF2-40B4-BE49-F238E27FC236}">
                  <a16:creationId xmlns:a16="http://schemas.microsoft.com/office/drawing/2014/main" id="{43B728E3-5342-BA14-8F4E-0FE62F75BFAF}"/>
                </a:ext>
              </a:extLst>
            </p:cNvPr>
            <p:cNvGrpSpPr/>
            <p:nvPr/>
          </p:nvGrpSpPr>
          <p:grpSpPr>
            <a:xfrm>
              <a:off x="5931142" y="3127128"/>
              <a:ext cx="2601495" cy="1933541"/>
              <a:chOff x="7590765" y="1110832"/>
              <a:chExt cx="2601495" cy="1780012"/>
            </a:xfrm>
          </p:grpSpPr>
          <p:sp>
            <p:nvSpPr>
              <p:cNvPr id="94" name="Rectángulo 93">
                <a:extLst>
                  <a:ext uri="{FF2B5EF4-FFF2-40B4-BE49-F238E27FC236}">
                    <a16:creationId xmlns:a16="http://schemas.microsoft.com/office/drawing/2014/main" id="{527E262D-BA95-5483-092E-C26282986A11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95" name="Grupo 94">
                <a:extLst>
                  <a:ext uri="{FF2B5EF4-FFF2-40B4-BE49-F238E27FC236}">
                    <a16:creationId xmlns:a16="http://schemas.microsoft.com/office/drawing/2014/main" id="{0BC6526A-9B73-A435-82BE-B850A0D4B8C1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1922369" cy="1647802"/>
                <a:chOff x="3026344" y="1212927"/>
                <a:chExt cx="1922369" cy="1647802"/>
              </a:xfrm>
            </p:grpSpPr>
            <p:sp>
              <p:nvSpPr>
                <p:cNvPr id="97" name="CuadroTexto 96">
                  <a:extLst>
                    <a:ext uri="{FF2B5EF4-FFF2-40B4-BE49-F238E27FC236}">
                      <a16:creationId xmlns:a16="http://schemas.microsoft.com/office/drawing/2014/main" id="{15B2DAEB-6918-DCF6-02F0-E9D4F2025D29}"/>
                    </a:ext>
                  </a:extLst>
                </p:cNvPr>
                <p:cNvSpPr txBox="1"/>
                <p:nvPr/>
              </p:nvSpPr>
              <p:spPr>
                <a:xfrm>
                  <a:off x="4021092" y="1212927"/>
                  <a:ext cx="92762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PAC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98" name="CuadroTexto 97">
                  <a:extLst>
                    <a:ext uri="{FF2B5EF4-FFF2-40B4-BE49-F238E27FC236}">
                      <a16:creationId xmlns:a16="http://schemas.microsoft.com/office/drawing/2014/main" id="{DCA2F368-9DAE-4006-F7F5-EFEE9656D6D3}"/>
                    </a:ext>
                  </a:extLst>
                </p:cNvPr>
                <p:cNvSpPr txBox="1"/>
                <p:nvPr/>
              </p:nvSpPr>
              <p:spPr>
                <a:xfrm>
                  <a:off x="3026344" y="2294053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12%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  <p:sp>
            <p:nvSpPr>
              <p:cNvPr id="96" name="CuadroTexto 95">
                <a:extLst>
                  <a:ext uri="{FF2B5EF4-FFF2-40B4-BE49-F238E27FC236}">
                    <a16:creationId xmlns:a16="http://schemas.microsoft.com/office/drawing/2014/main" id="{FD9883DC-4661-B492-4F4A-619AFA9E607E}"/>
                  </a:ext>
                </a:extLst>
              </p:cNvPr>
              <p:cNvSpPr txBox="1"/>
              <p:nvPr/>
            </p:nvSpPr>
            <p:spPr>
              <a:xfrm>
                <a:off x="9019351" y="2317778"/>
                <a:ext cx="1172909" cy="566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Cuatro</a:t>
                </a:r>
              </a:p>
            </p:txBody>
          </p:sp>
        </p:grpSp>
        <p:grpSp>
          <p:nvGrpSpPr>
            <p:cNvPr id="121" name="Grupo 120">
              <a:extLst>
                <a:ext uri="{FF2B5EF4-FFF2-40B4-BE49-F238E27FC236}">
                  <a16:creationId xmlns:a16="http://schemas.microsoft.com/office/drawing/2014/main" id="{C07F6315-0C76-5CC7-BE99-8BF68E712FBD}"/>
                </a:ext>
              </a:extLst>
            </p:cNvPr>
            <p:cNvGrpSpPr/>
            <p:nvPr/>
          </p:nvGrpSpPr>
          <p:grpSpPr>
            <a:xfrm>
              <a:off x="6649678" y="3565727"/>
              <a:ext cx="1883752" cy="1414028"/>
              <a:chOff x="6649678" y="3565727"/>
              <a:chExt cx="1883752" cy="1414028"/>
            </a:xfrm>
          </p:grpSpPr>
          <p:sp>
            <p:nvSpPr>
              <p:cNvPr id="99" name="CuadroTexto 98">
                <a:extLst>
                  <a:ext uri="{FF2B5EF4-FFF2-40B4-BE49-F238E27FC236}">
                    <a16:creationId xmlns:a16="http://schemas.microsoft.com/office/drawing/2014/main" id="{2B251BDD-F51A-6C1A-8DF2-CB9F859B99F2}"/>
                  </a:ext>
                </a:extLst>
              </p:cNvPr>
              <p:cNvSpPr txBox="1"/>
              <p:nvPr/>
            </p:nvSpPr>
            <p:spPr>
              <a:xfrm>
                <a:off x="6649678" y="358240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33%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Uno</a:t>
                </a:r>
              </a:p>
            </p:txBody>
          </p:sp>
          <p:sp>
            <p:nvSpPr>
              <p:cNvPr id="101" name="CuadroTexto 100">
                <a:extLst>
                  <a:ext uri="{FF2B5EF4-FFF2-40B4-BE49-F238E27FC236}">
                    <a16:creationId xmlns:a16="http://schemas.microsoft.com/office/drawing/2014/main" id="{1997BE82-83A6-2059-EB8E-D16085A6B522}"/>
                  </a:ext>
                </a:extLst>
              </p:cNvPr>
              <p:cNvSpPr txBox="1"/>
              <p:nvPr/>
            </p:nvSpPr>
            <p:spPr>
              <a:xfrm>
                <a:off x="7360521" y="3565727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26%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Dos</a:t>
                </a:r>
              </a:p>
            </p:txBody>
          </p:sp>
          <p:pic>
            <p:nvPicPr>
              <p:cNvPr id="118" name="Imagen 117">
                <a:extLst>
                  <a:ext uri="{FF2B5EF4-FFF2-40B4-BE49-F238E27FC236}">
                    <a16:creationId xmlns:a16="http://schemas.microsoft.com/office/drawing/2014/main" id="{BB85C2BA-1E67-6720-94E9-DA3AD53DC2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artisticPaintStrokes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886925" y="4205951"/>
                <a:ext cx="773804" cy="773804"/>
              </a:xfrm>
              <a:prstGeom prst="rect">
                <a:avLst/>
              </a:prstGeom>
            </p:spPr>
          </p:pic>
        </p:grpSp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B4D8DD7B-2C48-E294-118C-33AEFE102229}"/>
              </a:ext>
            </a:extLst>
          </p:cNvPr>
          <p:cNvGrpSpPr/>
          <p:nvPr/>
        </p:nvGrpSpPr>
        <p:grpSpPr>
          <a:xfrm>
            <a:off x="8022470" y="853892"/>
            <a:ext cx="2195988" cy="1780012"/>
            <a:chOff x="7814360" y="1110832"/>
            <a:chExt cx="2195988" cy="1780012"/>
          </a:xfrm>
        </p:grpSpPr>
        <p:grpSp>
          <p:nvGrpSpPr>
            <p:cNvPr id="66" name="Grupo 65">
              <a:extLst>
                <a:ext uri="{FF2B5EF4-FFF2-40B4-BE49-F238E27FC236}">
                  <a16:creationId xmlns:a16="http://schemas.microsoft.com/office/drawing/2014/main" id="{443E05E0-A739-2CD8-9B07-6CDDD230D70A}"/>
                </a:ext>
              </a:extLst>
            </p:cNvPr>
            <p:cNvGrpSpPr/>
            <p:nvPr/>
          </p:nvGrpSpPr>
          <p:grpSpPr>
            <a:xfrm>
              <a:off x="7814360" y="1110832"/>
              <a:ext cx="2195988" cy="1780012"/>
              <a:chOff x="7814360" y="1110832"/>
              <a:chExt cx="2195988" cy="1780012"/>
            </a:xfrm>
          </p:grpSpPr>
          <p:sp>
            <p:nvSpPr>
              <p:cNvPr id="60" name="Rectángulo 59">
                <a:extLst>
                  <a:ext uri="{FF2B5EF4-FFF2-40B4-BE49-F238E27FC236}">
                    <a16:creationId xmlns:a16="http://schemas.microsoft.com/office/drawing/2014/main" id="{282C2470-3226-581E-A34F-9843EC8CEFCE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61" name="Grupo 60">
                <a:extLst>
                  <a:ext uri="{FF2B5EF4-FFF2-40B4-BE49-F238E27FC236}">
                    <a16:creationId xmlns:a16="http://schemas.microsoft.com/office/drawing/2014/main" id="{A8639A96-D386-D0FA-6A1D-2C126D8C49B2}"/>
                  </a:ext>
                </a:extLst>
              </p:cNvPr>
              <p:cNvGrpSpPr/>
              <p:nvPr/>
            </p:nvGrpSpPr>
            <p:grpSpPr>
              <a:xfrm>
                <a:off x="7814361" y="1223137"/>
                <a:ext cx="2083693" cy="1630468"/>
                <a:chOff x="3249940" y="1229837"/>
                <a:chExt cx="2083693" cy="1630468"/>
              </a:xfrm>
            </p:grpSpPr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B11004DE-2A8C-885D-ECB9-90C125373BD8}"/>
                    </a:ext>
                  </a:extLst>
                </p:cNvPr>
                <p:cNvSpPr txBox="1"/>
                <p:nvPr/>
              </p:nvSpPr>
              <p:spPr>
                <a:xfrm>
                  <a:off x="3552927" y="1229837"/>
                  <a:ext cx="1780706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Rango Edad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0E818165-EB49-B790-211B-10C2581760EC}"/>
                    </a:ext>
                  </a:extLst>
                </p:cNvPr>
                <p:cNvSpPr txBox="1"/>
                <p:nvPr/>
              </p:nvSpPr>
              <p:spPr>
                <a:xfrm>
                  <a:off x="3249940" y="2306307"/>
                  <a:ext cx="1172909" cy="5539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52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20 a 35 años</a:t>
                  </a:r>
                </a:p>
              </p:txBody>
            </p:sp>
          </p:grpSp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E4551983-949C-FAB0-254A-630184F5E6AC}"/>
                  </a:ext>
                </a:extLst>
              </p:cNvPr>
              <p:cNvSpPr txBox="1"/>
              <p:nvPr/>
            </p:nvSpPr>
            <p:spPr>
              <a:xfrm>
                <a:off x="8837439" y="2289285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23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36 a 45 años</a:t>
                </a:r>
              </a:p>
            </p:txBody>
          </p:sp>
        </p:grpSp>
        <p:pic>
          <p:nvPicPr>
            <p:cNvPr id="128" name="Imagen 127">
              <a:extLst>
                <a:ext uri="{FF2B5EF4-FFF2-40B4-BE49-F238E27FC236}">
                  <a16:creationId xmlns:a16="http://schemas.microsoft.com/office/drawing/2014/main" id="{775EA8EC-C146-7E5B-A8DF-40B99EEF0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17644" y="1602912"/>
              <a:ext cx="655473" cy="655473"/>
            </a:xfrm>
            <a:prstGeom prst="rect">
              <a:avLst/>
            </a:prstGeom>
          </p:spPr>
        </p:pic>
      </p:grpSp>
      <p:grpSp>
        <p:nvGrpSpPr>
          <p:cNvPr id="189" name="Grupo 188">
            <a:extLst>
              <a:ext uri="{FF2B5EF4-FFF2-40B4-BE49-F238E27FC236}">
                <a16:creationId xmlns:a16="http://schemas.microsoft.com/office/drawing/2014/main" id="{D2FEF8E5-8F8B-6B7B-D3D2-F4586483526A}"/>
              </a:ext>
            </a:extLst>
          </p:cNvPr>
          <p:cNvGrpSpPr/>
          <p:nvPr/>
        </p:nvGrpSpPr>
        <p:grpSpPr>
          <a:xfrm>
            <a:off x="-114768" y="4837223"/>
            <a:ext cx="3758502" cy="1933541"/>
            <a:chOff x="435340" y="4837223"/>
            <a:chExt cx="4854517" cy="1933541"/>
          </a:xfrm>
        </p:grpSpPr>
        <p:grpSp>
          <p:nvGrpSpPr>
            <p:cNvPr id="138" name="Grupo 137">
              <a:extLst>
                <a:ext uri="{FF2B5EF4-FFF2-40B4-BE49-F238E27FC236}">
                  <a16:creationId xmlns:a16="http://schemas.microsoft.com/office/drawing/2014/main" id="{41B732FF-AD0A-EC1D-54CB-D33CD1AE73AD}"/>
                </a:ext>
              </a:extLst>
            </p:cNvPr>
            <p:cNvGrpSpPr/>
            <p:nvPr/>
          </p:nvGrpSpPr>
          <p:grpSpPr>
            <a:xfrm>
              <a:off x="435340" y="4837223"/>
              <a:ext cx="4854517" cy="1933541"/>
              <a:chOff x="9135236" y="3127128"/>
              <a:chExt cx="3830051" cy="1933541"/>
            </a:xfrm>
          </p:grpSpPr>
          <p:grpSp>
            <p:nvGrpSpPr>
              <p:cNvPr id="139" name="Grupo 138">
                <a:extLst>
                  <a:ext uri="{FF2B5EF4-FFF2-40B4-BE49-F238E27FC236}">
                    <a16:creationId xmlns:a16="http://schemas.microsoft.com/office/drawing/2014/main" id="{732F4EF7-BFC0-9D63-ACC6-3EB42CE56123}"/>
                  </a:ext>
                </a:extLst>
              </p:cNvPr>
              <p:cNvGrpSpPr/>
              <p:nvPr/>
            </p:nvGrpSpPr>
            <p:grpSpPr>
              <a:xfrm>
                <a:off x="9229918" y="3127128"/>
                <a:ext cx="3735369" cy="1933541"/>
                <a:chOff x="7739695" y="1110832"/>
                <a:chExt cx="3735369" cy="1780012"/>
              </a:xfrm>
            </p:grpSpPr>
            <p:sp>
              <p:nvSpPr>
                <p:cNvPr id="143" name="Rectángulo 142">
                  <a:extLst>
                    <a:ext uri="{FF2B5EF4-FFF2-40B4-BE49-F238E27FC236}">
                      <a16:creationId xmlns:a16="http://schemas.microsoft.com/office/drawing/2014/main" id="{95F95F3A-5BB9-F7DB-7DDF-C663CFCD7459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3246650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44" name="Grupo 143">
                  <a:extLst>
                    <a:ext uri="{FF2B5EF4-FFF2-40B4-BE49-F238E27FC236}">
                      <a16:creationId xmlns:a16="http://schemas.microsoft.com/office/drawing/2014/main" id="{50FCC941-3B2D-442D-1CB3-125484793D85}"/>
                    </a:ext>
                  </a:extLst>
                </p:cNvPr>
                <p:cNvGrpSpPr/>
                <p:nvPr/>
              </p:nvGrpSpPr>
              <p:grpSpPr>
                <a:xfrm>
                  <a:off x="7739695" y="1236316"/>
                  <a:ext cx="3735369" cy="1532075"/>
                  <a:chOff x="3175274" y="1243016"/>
                  <a:chExt cx="3735369" cy="1532075"/>
                </a:xfrm>
              </p:grpSpPr>
              <p:sp>
                <p:nvSpPr>
                  <p:cNvPr id="146" name="CuadroTexto 145">
                    <a:extLst>
                      <a:ext uri="{FF2B5EF4-FFF2-40B4-BE49-F238E27FC236}">
                        <a16:creationId xmlns:a16="http://schemas.microsoft.com/office/drawing/2014/main" id="{6A6AECBF-B4BF-F833-9DFD-2F593FE49055}"/>
                      </a:ext>
                    </a:extLst>
                  </p:cNvPr>
                  <p:cNvSpPr txBox="1"/>
                  <p:nvPr/>
                </p:nvSpPr>
                <p:spPr>
                  <a:xfrm>
                    <a:off x="3854322" y="1243016"/>
                    <a:ext cx="3056321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Segmento Empresas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47" name="CuadroTexto 146">
                    <a:extLst>
                      <a:ext uri="{FF2B5EF4-FFF2-40B4-BE49-F238E27FC236}">
                        <a16:creationId xmlns:a16="http://schemas.microsoft.com/office/drawing/2014/main" id="{C6F979CF-E7FF-9340-B11A-CC18EF4B9FDE}"/>
                      </a:ext>
                    </a:extLst>
                  </p:cNvPr>
                  <p:cNvSpPr txBox="1"/>
                  <p:nvPr/>
                </p:nvSpPr>
                <p:spPr>
                  <a:xfrm>
                    <a:off x="3175274" y="2208415"/>
                    <a:ext cx="1945898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36%</a:t>
                    </a:r>
                    <a:endParaRPr lang="es-CO" sz="1400" b="1" dirty="0">
                      <a:solidFill>
                        <a:schemeClr val="bg1"/>
                      </a:solidFill>
                    </a:endParaRP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Medianas</a:t>
                    </a:r>
                  </a:p>
                </p:txBody>
              </p:sp>
            </p:grpSp>
            <p:sp>
              <p:nvSpPr>
                <p:cNvPr id="145" name="CuadroTexto 144">
                  <a:extLst>
                    <a:ext uri="{FF2B5EF4-FFF2-40B4-BE49-F238E27FC236}">
                      <a16:creationId xmlns:a16="http://schemas.microsoft.com/office/drawing/2014/main" id="{1775D708-9051-05A7-F0D4-E00FFF601524}"/>
                    </a:ext>
                  </a:extLst>
                </p:cNvPr>
                <p:cNvSpPr txBox="1"/>
                <p:nvPr/>
              </p:nvSpPr>
              <p:spPr>
                <a:xfrm>
                  <a:off x="9864249" y="1523867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6%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Grandes</a:t>
                  </a:r>
                </a:p>
              </p:txBody>
            </p:sp>
          </p:grpSp>
          <p:sp>
            <p:nvSpPr>
              <p:cNvPr id="140" name="CuadroTexto 139">
                <a:extLst>
                  <a:ext uri="{FF2B5EF4-FFF2-40B4-BE49-F238E27FC236}">
                    <a16:creationId xmlns:a16="http://schemas.microsoft.com/office/drawing/2014/main" id="{D1B84BEC-D4C6-7287-D585-0095540783AF}"/>
                  </a:ext>
                </a:extLst>
              </p:cNvPr>
              <p:cNvSpPr txBox="1"/>
              <p:nvPr/>
            </p:nvSpPr>
            <p:spPr>
              <a:xfrm>
                <a:off x="9135236" y="3565727"/>
                <a:ext cx="145027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10%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</a:t>
                </a:r>
                <a:r>
                  <a:rPr lang="es-CO" sz="1400" b="1" dirty="0" err="1">
                    <a:solidFill>
                      <a:schemeClr val="bg1"/>
                    </a:solidFill>
                  </a:rPr>
                  <a:t>Emp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Top</a:t>
                </a:r>
              </a:p>
            </p:txBody>
          </p:sp>
          <p:sp>
            <p:nvSpPr>
              <p:cNvPr id="141" name="CuadroTexto 140">
                <a:extLst>
                  <a:ext uri="{FF2B5EF4-FFF2-40B4-BE49-F238E27FC236}">
                    <a16:creationId xmlns:a16="http://schemas.microsoft.com/office/drawing/2014/main" id="{FB146CF1-185D-5779-B7C6-72F2639B7BD6}"/>
                  </a:ext>
                </a:extLst>
              </p:cNvPr>
              <p:cNvSpPr txBox="1"/>
              <p:nvPr/>
            </p:nvSpPr>
            <p:spPr>
              <a:xfrm>
                <a:off x="10055645" y="3580594"/>
                <a:ext cx="152651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37%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    Micro    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Transaccional</a:t>
                </a:r>
              </a:p>
            </p:txBody>
          </p:sp>
        </p:grpSp>
        <p:pic>
          <p:nvPicPr>
            <p:cNvPr id="149" name="Imagen 148">
              <a:extLst>
                <a:ext uri="{FF2B5EF4-FFF2-40B4-BE49-F238E27FC236}">
                  <a16:creationId xmlns:a16="http://schemas.microsoft.com/office/drawing/2014/main" id="{0218A788-A69F-8F97-84C8-669776A747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325932" y="6027593"/>
              <a:ext cx="677562" cy="677562"/>
            </a:xfrm>
            <a:prstGeom prst="rect">
              <a:avLst/>
            </a:prstGeom>
          </p:spPr>
        </p:pic>
      </p:grp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16AAD82B-CDAC-6EBE-E47F-B465AD2D6D2C}"/>
              </a:ext>
            </a:extLst>
          </p:cNvPr>
          <p:cNvSpPr txBox="1"/>
          <p:nvPr/>
        </p:nvSpPr>
        <p:spPr>
          <a:xfrm>
            <a:off x="2093411" y="5976448"/>
            <a:ext cx="128594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9%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Estándar</a:t>
            </a:r>
          </a:p>
        </p:txBody>
      </p:sp>
      <p:grpSp>
        <p:nvGrpSpPr>
          <p:cNvPr id="151" name="Grupo 150">
            <a:extLst>
              <a:ext uri="{FF2B5EF4-FFF2-40B4-BE49-F238E27FC236}">
                <a16:creationId xmlns:a16="http://schemas.microsoft.com/office/drawing/2014/main" id="{C8074505-BD7A-6345-C713-007650917D22}"/>
              </a:ext>
            </a:extLst>
          </p:cNvPr>
          <p:cNvGrpSpPr/>
          <p:nvPr/>
        </p:nvGrpSpPr>
        <p:grpSpPr>
          <a:xfrm>
            <a:off x="3041036" y="4852302"/>
            <a:ext cx="2475954" cy="1933541"/>
            <a:chOff x="9024616" y="3127128"/>
            <a:chExt cx="2475954" cy="1933541"/>
          </a:xfrm>
        </p:grpSpPr>
        <p:grpSp>
          <p:nvGrpSpPr>
            <p:cNvPr id="152" name="Grupo 151">
              <a:extLst>
                <a:ext uri="{FF2B5EF4-FFF2-40B4-BE49-F238E27FC236}">
                  <a16:creationId xmlns:a16="http://schemas.microsoft.com/office/drawing/2014/main" id="{88D7A62E-B42F-6136-4D7B-016F1E9D955C}"/>
                </a:ext>
              </a:extLst>
            </p:cNvPr>
            <p:cNvGrpSpPr/>
            <p:nvPr/>
          </p:nvGrpSpPr>
          <p:grpSpPr>
            <a:xfrm>
              <a:off x="9024616" y="3127128"/>
              <a:ext cx="2475954" cy="1933541"/>
              <a:chOff x="7534393" y="1110832"/>
              <a:chExt cx="2475954" cy="1780012"/>
            </a:xfrm>
          </p:grpSpPr>
          <p:sp>
            <p:nvSpPr>
              <p:cNvPr id="157" name="Rectángulo 156">
                <a:extLst>
                  <a:ext uri="{FF2B5EF4-FFF2-40B4-BE49-F238E27FC236}">
                    <a16:creationId xmlns:a16="http://schemas.microsoft.com/office/drawing/2014/main" id="{DD451AAB-6A8D-0507-CD08-3B7206F9690F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158" name="Grupo 157">
                <a:extLst>
                  <a:ext uri="{FF2B5EF4-FFF2-40B4-BE49-F238E27FC236}">
                    <a16:creationId xmlns:a16="http://schemas.microsoft.com/office/drawing/2014/main" id="{9292343C-FE0A-1781-ADBB-148225024CC4}"/>
                  </a:ext>
                </a:extLst>
              </p:cNvPr>
              <p:cNvGrpSpPr/>
              <p:nvPr/>
            </p:nvGrpSpPr>
            <p:grpSpPr>
              <a:xfrm>
                <a:off x="7534393" y="1206227"/>
                <a:ext cx="2388623" cy="1388251"/>
                <a:chOff x="2969972" y="1212927"/>
                <a:chExt cx="2388623" cy="1388251"/>
              </a:xfrm>
            </p:grpSpPr>
            <p:sp>
              <p:nvSpPr>
                <p:cNvPr id="160" name="CuadroTexto 159">
                  <a:extLst>
                    <a:ext uri="{FF2B5EF4-FFF2-40B4-BE49-F238E27FC236}">
                      <a16:creationId xmlns:a16="http://schemas.microsoft.com/office/drawing/2014/main" id="{DE6B22D7-B858-3FBC-5FDB-F8A228F38766}"/>
                    </a:ext>
                  </a:extLst>
                </p:cNvPr>
                <p:cNvSpPr txBox="1"/>
                <p:nvPr/>
              </p:nvSpPr>
              <p:spPr>
                <a:xfrm>
                  <a:off x="3408991" y="1212927"/>
                  <a:ext cx="1949604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 dirty="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Departamento</a:t>
                  </a:r>
                  <a:endParaRPr lang="es-ES" sz="1600" dirty="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61" name="CuadroTexto 160">
                  <a:extLst>
                    <a:ext uri="{FF2B5EF4-FFF2-40B4-BE49-F238E27FC236}">
                      <a16:creationId xmlns:a16="http://schemas.microsoft.com/office/drawing/2014/main" id="{6A5DE4A1-7F26-3611-9213-96DFD54650DF}"/>
                    </a:ext>
                  </a:extLst>
                </p:cNvPr>
                <p:cNvSpPr txBox="1"/>
                <p:nvPr/>
              </p:nvSpPr>
              <p:spPr>
                <a:xfrm>
                  <a:off x="2969972" y="2034502"/>
                  <a:ext cx="1411846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1%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Mosquera</a:t>
                  </a:r>
                </a:p>
              </p:txBody>
            </p:sp>
          </p:grpSp>
        </p:grpSp>
        <p:sp>
          <p:nvSpPr>
            <p:cNvPr id="154" name="CuadroTexto 153">
              <a:extLst>
                <a:ext uri="{FF2B5EF4-FFF2-40B4-BE49-F238E27FC236}">
                  <a16:creationId xmlns:a16="http://schemas.microsoft.com/office/drawing/2014/main" id="{7DB7DE7B-4BFC-1E41-E4CA-6A27A806543B}"/>
                </a:ext>
              </a:extLst>
            </p:cNvPr>
            <p:cNvSpPr txBox="1"/>
            <p:nvPr/>
          </p:nvSpPr>
          <p:spPr>
            <a:xfrm>
              <a:off x="9059295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38%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</a:t>
              </a:r>
              <a:r>
                <a:rPr lang="es-CO" sz="1400" b="1" dirty="0" err="1">
                  <a:solidFill>
                    <a:schemeClr val="bg1"/>
                  </a:solidFill>
                </a:rPr>
                <a:t>Ubate</a:t>
              </a:r>
              <a:endParaRPr lang="es-CO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55" name="CuadroTexto 154">
              <a:extLst>
                <a:ext uri="{FF2B5EF4-FFF2-40B4-BE49-F238E27FC236}">
                  <a16:creationId xmlns:a16="http://schemas.microsoft.com/office/drawing/2014/main" id="{0798D036-5FD0-1929-E304-9C6B67B29224}"/>
                </a:ext>
              </a:extLst>
            </p:cNvPr>
            <p:cNvSpPr txBox="1"/>
            <p:nvPr/>
          </p:nvSpPr>
          <p:spPr>
            <a:xfrm>
              <a:off x="10219600" y="3565504"/>
              <a:ext cx="1160334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11%</a:t>
              </a:r>
              <a:r>
                <a:rPr lang="es-CO" sz="1400" b="1" dirty="0">
                  <a:solidFill>
                    <a:schemeClr val="bg1"/>
                  </a:solidFill>
                </a:rPr>
                <a:t>     </a:t>
              </a:r>
              <a:r>
                <a:rPr lang="es-CO" sz="1400" b="1" dirty="0" err="1">
                  <a:solidFill>
                    <a:schemeClr val="bg1"/>
                  </a:solidFill>
                </a:rPr>
                <a:t>Bogota</a:t>
              </a:r>
              <a:endParaRPr lang="es-CO" sz="1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01" name="Grupo 200">
            <a:extLst>
              <a:ext uri="{FF2B5EF4-FFF2-40B4-BE49-F238E27FC236}">
                <a16:creationId xmlns:a16="http://schemas.microsoft.com/office/drawing/2014/main" id="{CD7EFC76-DA1C-3C3F-BF06-CB14A2B8266C}"/>
              </a:ext>
            </a:extLst>
          </p:cNvPr>
          <p:cNvGrpSpPr/>
          <p:nvPr/>
        </p:nvGrpSpPr>
        <p:grpSpPr>
          <a:xfrm>
            <a:off x="5407406" y="4842106"/>
            <a:ext cx="2693579" cy="1985915"/>
            <a:chOff x="5483606" y="4842106"/>
            <a:chExt cx="2693579" cy="1985915"/>
          </a:xfrm>
        </p:grpSpPr>
        <p:grpSp>
          <p:nvGrpSpPr>
            <p:cNvPr id="164" name="Grupo 163">
              <a:extLst>
                <a:ext uri="{FF2B5EF4-FFF2-40B4-BE49-F238E27FC236}">
                  <a16:creationId xmlns:a16="http://schemas.microsoft.com/office/drawing/2014/main" id="{83BF2939-9F5C-5379-28BE-7E6CAB4403CF}"/>
                </a:ext>
              </a:extLst>
            </p:cNvPr>
            <p:cNvGrpSpPr/>
            <p:nvPr/>
          </p:nvGrpSpPr>
          <p:grpSpPr>
            <a:xfrm>
              <a:off x="5483606" y="4842106"/>
              <a:ext cx="2693579" cy="1957609"/>
              <a:chOff x="9049330" y="3127128"/>
              <a:chExt cx="2693579" cy="1957609"/>
            </a:xfrm>
          </p:grpSpPr>
          <p:grpSp>
            <p:nvGrpSpPr>
              <p:cNvPr id="165" name="Grupo 164">
                <a:extLst>
                  <a:ext uri="{FF2B5EF4-FFF2-40B4-BE49-F238E27FC236}">
                    <a16:creationId xmlns:a16="http://schemas.microsoft.com/office/drawing/2014/main" id="{A327F7EE-5C63-06D9-F597-8709889C2433}"/>
                  </a:ext>
                </a:extLst>
              </p:cNvPr>
              <p:cNvGrpSpPr/>
              <p:nvPr/>
            </p:nvGrpSpPr>
            <p:grpSpPr>
              <a:xfrm>
                <a:off x="9049330" y="3127128"/>
                <a:ext cx="2655911" cy="1957609"/>
                <a:chOff x="7559107" y="1110832"/>
                <a:chExt cx="2655911" cy="1802169"/>
              </a:xfrm>
            </p:grpSpPr>
            <p:sp>
              <p:nvSpPr>
                <p:cNvPr id="168" name="Rectángulo 167">
                  <a:extLst>
                    <a:ext uri="{FF2B5EF4-FFF2-40B4-BE49-F238E27FC236}">
                      <a16:creationId xmlns:a16="http://schemas.microsoft.com/office/drawing/2014/main" id="{2F8BD186-5537-3B5A-4EBF-B05567C4E7AD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195987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70" name="Grupo 169">
                  <a:extLst>
                    <a:ext uri="{FF2B5EF4-FFF2-40B4-BE49-F238E27FC236}">
                      <a16:creationId xmlns:a16="http://schemas.microsoft.com/office/drawing/2014/main" id="{10A31E2C-20C2-71DF-B132-6465E9AB486B}"/>
                    </a:ext>
                  </a:extLst>
                </p:cNvPr>
                <p:cNvGrpSpPr/>
                <p:nvPr/>
              </p:nvGrpSpPr>
              <p:grpSpPr>
                <a:xfrm>
                  <a:off x="7559107" y="1207829"/>
                  <a:ext cx="2655911" cy="1705172"/>
                  <a:chOff x="2994686" y="1214529"/>
                  <a:chExt cx="2655911" cy="1705172"/>
                </a:xfrm>
              </p:grpSpPr>
              <p:sp>
                <p:nvSpPr>
                  <p:cNvPr id="171" name="CuadroTexto 170">
                    <a:extLst>
                      <a:ext uri="{FF2B5EF4-FFF2-40B4-BE49-F238E27FC236}">
                        <a16:creationId xmlns:a16="http://schemas.microsoft.com/office/drawing/2014/main" id="{2C8106A2-332F-3486-5501-CD80B0D32E54}"/>
                      </a:ext>
                    </a:extLst>
                  </p:cNvPr>
                  <p:cNvSpPr txBox="1"/>
                  <p:nvPr/>
                </p:nvSpPr>
                <p:spPr>
                  <a:xfrm>
                    <a:off x="3700993" y="1214529"/>
                    <a:ext cx="1949604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 dirty="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Localidad</a:t>
                    </a:r>
                    <a:endParaRPr lang="es-ES" sz="1600" dirty="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72" name="CuadroTexto 171">
                    <a:extLst>
                      <a:ext uri="{FF2B5EF4-FFF2-40B4-BE49-F238E27FC236}">
                        <a16:creationId xmlns:a16="http://schemas.microsoft.com/office/drawing/2014/main" id="{D0553D6A-984D-DE6A-DABD-0B2C84207FEA}"/>
                      </a:ext>
                    </a:extLst>
                  </p:cNvPr>
                  <p:cNvSpPr txBox="1"/>
                  <p:nvPr/>
                </p:nvSpPr>
                <p:spPr>
                  <a:xfrm>
                    <a:off x="2994686" y="2353025"/>
                    <a:ext cx="1323041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1%</a:t>
                    </a: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    </a:t>
                    </a:r>
                    <a:r>
                      <a:rPr lang="es-CO" sz="1400" b="1" dirty="0" err="1">
                        <a:solidFill>
                          <a:schemeClr val="bg1"/>
                        </a:solidFill>
                      </a:rPr>
                      <a:t>Kenedy</a:t>
                    </a:r>
                    <a:endParaRPr lang="es-CO" sz="14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</p:grpSp>
          <p:sp>
            <p:nvSpPr>
              <p:cNvPr id="166" name="CuadroTexto 165">
                <a:extLst>
                  <a:ext uri="{FF2B5EF4-FFF2-40B4-BE49-F238E27FC236}">
                    <a16:creationId xmlns:a16="http://schemas.microsoft.com/office/drawing/2014/main" id="{7A7155DF-AB49-1D93-B4C9-94F268E4C0CF}"/>
                  </a:ext>
                </a:extLst>
              </p:cNvPr>
              <p:cNvSpPr txBox="1"/>
              <p:nvPr/>
            </p:nvSpPr>
            <p:spPr>
              <a:xfrm>
                <a:off x="9059295" y="3565727"/>
                <a:ext cx="128594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26%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</a:t>
                </a:r>
                <a:r>
                  <a:rPr lang="es-CO" sz="1400" b="1" dirty="0" err="1">
                    <a:solidFill>
                      <a:schemeClr val="bg1"/>
                    </a:solidFill>
                  </a:rPr>
                  <a:t>Ubate</a:t>
                </a:r>
                <a:endParaRPr lang="es-CO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7" name="CuadroTexto 166">
                <a:extLst>
                  <a:ext uri="{FF2B5EF4-FFF2-40B4-BE49-F238E27FC236}">
                    <a16:creationId xmlns:a16="http://schemas.microsoft.com/office/drawing/2014/main" id="{DFCADFF1-84AF-4FFC-0166-EAE0646A2B2D}"/>
                  </a:ext>
                </a:extLst>
              </p:cNvPr>
              <p:cNvSpPr txBox="1"/>
              <p:nvPr/>
            </p:nvSpPr>
            <p:spPr>
              <a:xfrm>
                <a:off x="10498522" y="3549824"/>
                <a:ext cx="1244387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4%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</a:t>
                </a:r>
                <a:r>
                  <a:rPr lang="es-CO" sz="1400" b="1" dirty="0" err="1">
                    <a:solidFill>
                      <a:schemeClr val="bg1"/>
                    </a:solidFill>
                  </a:rPr>
                  <a:t>Santafe</a:t>
                </a:r>
                <a:endParaRPr lang="es-CO" sz="14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85" name="CuadroTexto 184">
              <a:extLst>
                <a:ext uri="{FF2B5EF4-FFF2-40B4-BE49-F238E27FC236}">
                  <a16:creationId xmlns:a16="http://schemas.microsoft.com/office/drawing/2014/main" id="{D96F0E77-BB12-B197-0E8F-D8898B303DFE}"/>
                </a:ext>
              </a:extLst>
            </p:cNvPr>
            <p:cNvSpPr txBox="1"/>
            <p:nvPr/>
          </p:nvSpPr>
          <p:spPr>
            <a:xfrm>
              <a:off x="6625166" y="6212468"/>
              <a:ext cx="1323041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65%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 Sin </a:t>
              </a:r>
              <a:r>
                <a:rPr lang="es-CO" sz="1400" b="1" dirty="0" err="1">
                  <a:solidFill>
                    <a:schemeClr val="bg1"/>
                  </a:solidFill>
                </a:rPr>
                <a:t>Infor</a:t>
              </a:r>
              <a:endParaRPr lang="es-CO" sz="1400" b="1" dirty="0">
                <a:solidFill>
                  <a:schemeClr val="bg1"/>
                </a:solidFill>
              </a:endParaRPr>
            </a:p>
          </p:txBody>
        </p:sp>
        <p:pic>
          <p:nvPicPr>
            <p:cNvPr id="187" name="Imagen 186">
              <a:extLst>
                <a:ext uri="{FF2B5EF4-FFF2-40B4-BE49-F238E27FC236}">
                  <a16:creationId xmlns:a16="http://schemas.microsoft.com/office/drawing/2014/main" id="{583595D6-8099-7094-0000-EDA56A626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401571" y="5793688"/>
              <a:ext cx="1266970" cy="620378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grpSp>
        <p:nvGrpSpPr>
          <p:cNvPr id="190" name="Grupo 189">
            <a:extLst>
              <a:ext uri="{FF2B5EF4-FFF2-40B4-BE49-F238E27FC236}">
                <a16:creationId xmlns:a16="http://schemas.microsoft.com/office/drawing/2014/main" id="{EB90DE89-5B84-253E-7328-C566A5D5B14C}"/>
              </a:ext>
            </a:extLst>
          </p:cNvPr>
          <p:cNvGrpSpPr/>
          <p:nvPr/>
        </p:nvGrpSpPr>
        <p:grpSpPr>
          <a:xfrm>
            <a:off x="7930968" y="4834201"/>
            <a:ext cx="2464776" cy="1933541"/>
            <a:chOff x="9267841" y="3127128"/>
            <a:chExt cx="2586590" cy="1933541"/>
          </a:xfrm>
        </p:grpSpPr>
        <p:grpSp>
          <p:nvGrpSpPr>
            <p:cNvPr id="191" name="Grupo 190">
              <a:extLst>
                <a:ext uri="{FF2B5EF4-FFF2-40B4-BE49-F238E27FC236}">
                  <a16:creationId xmlns:a16="http://schemas.microsoft.com/office/drawing/2014/main" id="{BA273F77-2322-D769-2C50-A8FD872BDF10}"/>
                </a:ext>
              </a:extLst>
            </p:cNvPr>
            <p:cNvGrpSpPr/>
            <p:nvPr/>
          </p:nvGrpSpPr>
          <p:grpSpPr>
            <a:xfrm>
              <a:off x="9280641" y="3127128"/>
              <a:ext cx="2573790" cy="1933541"/>
              <a:chOff x="7790418" y="1110832"/>
              <a:chExt cx="2573790" cy="1780012"/>
            </a:xfrm>
          </p:grpSpPr>
          <p:sp>
            <p:nvSpPr>
              <p:cNvPr id="194" name="Rectángulo 193">
                <a:extLst>
                  <a:ext uri="{FF2B5EF4-FFF2-40B4-BE49-F238E27FC236}">
                    <a16:creationId xmlns:a16="http://schemas.microsoft.com/office/drawing/2014/main" id="{D8D23666-4AFD-28FD-C613-DD2BD369C28C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368574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97" name="CuadroTexto 196">
                <a:extLst>
                  <a:ext uri="{FF2B5EF4-FFF2-40B4-BE49-F238E27FC236}">
                    <a16:creationId xmlns:a16="http://schemas.microsoft.com/office/drawing/2014/main" id="{B49F0513-E818-950F-E2A2-A52F960DF427}"/>
                  </a:ext>
                </a:extLst>
              </p:cNvPr>
              <p:cNvSpPr txBox="1"/>
              <p:nvPr/>
            </p:nvSpPr>
            <p:spPr>
              <a:xfrm>
                <a:off x="7790418" y="1207828"/>
                <a:ext cx="2573790" cy="3116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Entidad Financieras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</p:grpSp>
        <p:sp>
          <p:nvSpPr>
            <p:cNvPr id="192" name="CuadroTexto 191">
              <a:extLst>
                <a:ext uri="{FF2B5EF4-FFF2-40B4-BE49-F238E27FC236}">
                  <a16:creationId xmlns:a16="http://schemas.microsoft.com/office/drawing/2014/main" id="{5744BE85-2C57-AFC4-6AAD-5EC2C56564B4}"/>
                </a:ext>
              </a:extLst>
            </p:cNvPr>
            <p:cNvSpPr txBox="1"/>
            <p:nvPr/>
          </p:nvSpPr>
          <p:spPr>
            <a:xfrm>
              <a:off x="9267841" y="3565727"/>
              <a:ext cx="1337256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99%</a:t>
              </a:r>
              <a:r>
                <a:rPr lang="es-CO" sz="1400" b="1" dirty="0">
                  <a:solidFill>
                    <a:schemeClr val="bg1"/>
                  </a:solidFill>
                </a:rPr>
                <a:t>          Colsubsidio</a:t>
              </a:r>
            </a:p>
          </p:txBody>
        </p:sp>
        <p:sp>
          <p:nvSpPr>
            <p:cNvPr id="193" name="CuadroTexto 192">
              <a:extLst>
                <a:ext uri="{FF2B5EF4-FFF2-40B4-BE49-F238E27FC236}">
                  <a16:creationId xmlns:a16="http://schemas.microsoft.com/office/drawing/2014/main" id="{9EF81249-B138-1B7B-DDAF-30DAF36B9042}"/>
                </a:ext>
              </a:extLst>
            </p:cNvPr>
            <p:cNvSpPr txBox="1"/>
            <p:nvPr/>
          </p:nvSpPr>
          <p:spPr>
            <a:xfrm>
              <a:off x="10498522" y="3549824"/>
              <a:ext cx="1244387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1%</a:t>
              </a:r>
              <a:r>
                <a:rPr lang="es-CO" sz="1400" b="1" dirty="0">
                  <a:solidFill>
                    <a:schemeClr val="bg1"/>
                  </a:solidFill>
                </a:rPr>
                <a:t>             Davivienda</a:t>
              </a:r>
            </a:p>
          </p:txBody>
        </p:sp>
      </p:grpSp>
      <p:sp>
        <p:nvSpPr>
          <p:cNvPr id="200" name="CuadroTexto 199">
            <a:extLst>
              <a:ext uri="{FF2B5EF4-FFF2-40B4-BE49-F238E27FC236}">
                <a16:creationId xmlns:a16="http://schemas.microsoft.com/office/drawing/2014/main" id="{F91AB81B-6079-F4B7-1FF5-6881DDCAA3EE}"/>
              </a:ext>
            </a:extLst>
          </p:cNvPr>
          <p:cNvSpPr txBox="1"/>
          <p:nvPr/>
        </p:nvSpPr>
        <p:spPr>
          <a:xfrm>
            <a:off x="4140736" y="5856787"/>
            <a:ext cx="137625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1%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</a:t>
            </a:r>
            <a:r>
              <a:rPr lang="es-CO" sz="1400" b="1" dirty="0" err="1">
                <a:solidFill>
                  <a:schemeClr val="bg1"/>
                </a:solidFill>
              </a:rPr>
              <a:t>Sibate</a:t>
            </a:r>
            <a:endParaRPr lang="es-CO" sz="1400" b="1" dirty="0">
              <a:solidFill>
                <a:schemeClr val="bg1"/>
              </a:solidFill>
            </a:endParaRPr>
          </a:p>
        </p:txBody>
      </p:sp>
      <p:pic>
        <p:nvPicPr>
          <p:cNvPr id="205" name="Imagen 204">
            <a:extLst>
              <a:ext uri="{FF2B5EF4-FFF2-40B4-BE49-F238E27FC236}">
                <a16:creationId xmlns:a16="http://schemas.microsoft.com/office/drawing/2014/main" id="{AB3F6197-DA8E-C909-AD58-F1AA9E394360}"/>
              </a:ext>
            </a:extLst>
          </p:cNvPr>
          <p:cNvPicPr>
            <a:picLocks noChangeAspect="1"/>
          </p:cNvPicPr>
          <p:nvPr/>
        </p:nvPicPr>
        <p:blipFill>
          <a:blip r:embed="rId22">
            <a:duotone>
              <a:prstClr val="black"/>
              <a:schemeClr val="tx1">
                <a:lumMod val="75000"/>
                <a:lumOff val="2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4538" y="5846263"/>
            <a:ext cx="673981" cy="673981"/>
          </a:xfrm>
          <a:prstGeom prst="rect">
            <a:avLst/>
          </a:prstGeom>
        </p:spPr>
      </p:pic>
      <p:grpSp>
        <p:nvGrpSpPr>
          <p:cNvPr id="208" name="Grupo 207">
            <a:extLst>
              <a:ext uri="{FF2B5EF4-FFF2-40B4-BE49-F238E27FC236}">
                <a16:creationId xmlns:a16="http://schemas.microsoft.com/office/drawing/2014/main" id="{A2974B4E-C1D7-9772-8377-43ADDD1AF942}"/>
              </a:ext>
            </a:extLst>
          </p:cNvPr>
          <p:cNvGrpSpPr/>
          <p:nvPr/>
        </p:nvGrpSpPr>
        <p:grpSpPr>
          <a:xfrm>
            <a:off x="10245555" y="853892"/>
            <a:ext cx="1956550" cy="5540381"/>
            <a:chOff x="7793864" y="1110832"/>
            <a:chExt cx="1816602" cy="1780012"/>
          </a:xfrm>
        </p:grpSpPr>
        <p:sp>
          <p:nvSpPr>
            <p:cNvPr id="212" name="Rectángulo 211">
              <a:extLst>
                <a:ext uri="{FF2B5EF4-FFF2-40B4-BE49-F238E27FC236}">
                  <a16:creationId xmlns:a16="http://schemas.microsoft.com/office/drawing/2014/main" id="{32B1B590-1E6F-30C4-1E18-190D1A166869}"/>
                </a:ext>
              </a:extLst>
            </p:cNvPr>
            <p:cNvSpPr/>
            <p:nvPr/>
          </p:nvSpPr>
          <p:spPr>
            <a:xfrm>
              <a:off x="7814360" y="1110832"/>
              <a:ext cx="1666611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5" name="CuadroTexto 214">
              <a:extLst>
                <a:ext uri="{FF2B5EF4-FFF2-40B4-BE49-F238E27FC236}">
                  <a16:creationId xmlns:a16="http://schemas.microsoft.com/office/drawing/2014/main" id="{64763057-A0AD-17E6-3E73-475B662E11B3}"/>
                </a:ext>
              </a:extLst>
            </p:cNvPr>
            <p:cNvSpPr txBox="1"/>
            <p:nvPr/>
          </p:nvSpPr>
          <p:spPr>
            <a:xfrm>
              <a:off x="7793864" y="1161252"/>
              <a:ext cx="1816602" cy="1141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1600">
                  <a:solidFill>
                    <a:srgbClr val="FFC000"/>
                  </a:solidFill>
                  <a:latin typeface="KG Red Hands" panose="02000505000000020004" pitchFamily="2" charset="0"/>
                </a:rPr>
                <a:t>Top Empresas</a:t>
              </a:r>
              <a:endParaRPr lang="es-ES" sz="1600">
                <a:solidFill>
                  <a:srgbClr val="FFC000"/>
                </a:solidFill>
              </a:endParaRPr>
            </a:p>
          </p:txBody>
        </p:sp>
        <p:sp>
          <p:nvSpPr>
            <p:cNvPr id="214" name="CuadroTexto 213">
              <a:extLst>
                <a:ext uri="{FF2B5EF4-FFF2-40B4-BE49-F238E27FC236}">
                  <a16:creationId xmlns:a16="http://schemas.microsoft.com/office/drawing/2014/main" id="{614FE984-63B0-D5E7-154F-5D4A11F6C6A2}"/>
                </a:ext>
              </a:extLst>
            </p:cNvPr>
            <p:cNvSpPr txBox="1"/>
            <p:nvPr/>
          </p:nvSpPr>
          <p:spPr>
            <a:xfrm>
              <a:off x="7830402" y="1354030"/>
              <a:ext cx="1689688" cy="3015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500" b="1" dirty="0">
                  <a:solidFill>
                    <a:schemeClr val="bg1"/>
                  </a:solidFill>
                </a:rPr>
                <a:t>FLORES UBATE S A S	10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FLORVAL S A S	9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COLUMBIA COAL COMPANY	5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C I  CARBOCOQUE S A	5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UNIDAD MEDICA ORLUZ SAS	5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DOMINION COLOMBIA SAS	4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PASTELERIA GOURMET MEGA	4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UNIMINAS	4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DOÃA LECHE ALIMENTOS S A	3</a:t>
              </a:r>
            </a:p>
            <a:p>
              <a:r>
                <a:rPr lang="es-CO" sz="500" b="1">
                  <a:solidFill>
                    <a:schemeClr val="bg1"/>
                  </a:solidFill>
                </a:rPr>
                <a:t>INVERSIONES </a:t>
              </a:r>
              <a:r>
                <a:rPr lang="es-CO" sz="500" b="1" dirty="0">
                  <a:solidFill>
                    <a:schemeClr val="bg1"/>
                  </a:solidFill>
                </a:rPr>
                <a:t>DE LA </a:t>
              </a:r>
              <a:r>
                <a:rPr lang="es-CO" sz="500" b="1">
                  <a:solidFill>
                    <a:schemeClr val="bg1"/>
                  </a:solidFill>
                </a:rPr>
                <a:t>SABANA </a:t>
              </a:r>
              <a:r>
                <a:rPr lang="es-CO" sz="500" b="1" dirty="0">
                  <a:solidFill>
                    <a:schemeClr val="bg1"/>
                  </a:solidFill>
                </a:rPr>
                <a:t>	3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	                               </a:t>
              </a: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598AA571-1DE6-3EA3-8718-0715BDF8C119}"/>
              </a:ext>
            </a:extLst>
          </p:cNvPr>
          <p:cNvSpPr txBox="1"/>
          <p:nvPr/>
        </p:nvSpPr>
        <p:spPr>
          <a:xfrm>
            <a:off x="10330342" y="6461181"/>
            <a:ext cx="14292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100" dirty="0">
                <a:solidFill>
                  <a:srgbClr val="FFC000"/>
                </a:solidFill>
                <a:latin typeface="KG Red Hands" panose="02000505000000020004" pitchFamily="2" charset="0"/>
              </a:rPr>
              <a:t>*Corte 15/01/2026</a:t>
            </a:r>
            <a:endParaRPr lang="es-ES" sz="11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138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0A2B7-C898-5E5A-8D9C-F4131F7E8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04EFC770-B4EA-174C-0C69-49703053B1AF}"/>
              </a:ext>
            </a:extLst>
          </p:cNvPr>
          <p:cNvCxnSpPr>
            <a:cxnSpLocks/>
          </p:cNvCxnSpPr>
          <p:nvPr/>
        </p:nvCxnSpPr>
        <p:spPr>
          <a:xfrm flipH="1">
            <a:off x="0" y="645614"/>
            <a:ext cx="10809007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uadroTexto 85">
            <a:extLst>
              <a:ext uri="{FF2B5EF4-FFF2-40B4-BE49-F238E27FC236}">
                <a16:creationId xmlns:a16="http://schemas.microsoft.com/office/drawing/2014/main" id="{9CA4EFF5-52DA-3A71-6B79-D49955F0734D}"/>
              </a:ext>
            </a:extLst>
          </p:cNvPr>
          <p:cNvSpPr txBox="1"/>
          <p:nvPr/>
        </p:nvSpPr>
        <p:spPr>
          <a:xfrm>
            <a:off x="-128399" y="120715"/>
            <a:ext cx="95771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dirty="0">
                <a:solidFill>
                  <a:schemeClr val="bg1"/>
                </a:solidFill>
                <a:latin typeface="KG Red Hands" panose="02000505000000020004" pitchFamily="2" charset="0"/>
              </a:rPr>
              <a:t>      Total</a:t>
            </a:r>
            <a:endParaRPr lang="es-ES" sz="24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F0110B2-97BA-17B3-7D1C-9C09C2AE9DAA}"/>
              </a:ext>
              <a:ext uri="{147F2762-F138-4A5C-976F-8EAC2B608ADB}">
                <a16:predDERef xmlns:a16="http://schemas.microsoft.com/office/drawing/2014/main" pred="{95DEFF95-1524-40DB-8538-DE0C2D5BEC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3398838"/>
            <a:ext cx="555625" cy="49371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C2763EF0-E172-8C88-46E7-3B503AD89A5F}"/>
              </a:ext>
              <a:ext uri="{147F2762-F138-4A5C-976F-8EAC2B608ADB}">
                <a16:predDERef xmlns:a16="http://schemas.microsoft.com/office/drawing/2014/main" pred="{95FFDEC5-E647-4E60-9FB8-32349ACC1E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087813"/>
            <a:ext cx="555625" cy="46196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AB6942CF-E016-7BC1-C617-0216039CD3D1}"/>
              </a:ext>
              <a:ext uri="{147F2762-F138-4A5C-976F-8EAC2B608ADB}">
                <a16:predDERef xmlns:a16="http://schemas.microsoft.com/office/drawing/2014/main" pred="{D53D0C4A-FE71-44C0-97B3-1EA296D3DCE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814888"/>
            <a:ext cx="555625" cy="41116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FF00A506-27FF-CBA5-76DC-A35A0F6C839F}"/>
              </a:ext>
              <a:ext uri="{147F2762-F138-4A5C-976F-8EAC2B608ADB}">
                <a16:predDERef xmlns:a16="http://schemas.microsoft.com/office/drawing/2014/main" pred="{7008BA42-7365-4AD1-B913-F26820CE47E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1775" y="5427663"/>
            <a:ext cx="465138" cy="433387"/>
          </a:xfrm>
          <a:prstGeom prst="rect">
            <a:avLst/>
          </a:prstGeom>
        </p:spPr>
      </p:pic>
      <p:grpSp>
        <p:nvGrpSpPr>
          <p:cNvPr id="135" name="Grupo 134">
            <a:extLst>
              <a:ext uri="{FF2B5EF4-FFF2-40B4-BE49-F238E27FC236}">
                <a16:creationId xmlns:a16="http://schemas.microsoft.com/office/drawing/2014/main" id="{06B5E511-CCD4-6886-D03E-C1F825E47222}"/>
              </a:ext>
            </a:extLst>
          </p:cNvPr>
          <p:cNvGrpSpPr/>
          <p:nvPr/>
        </p:nvGrpSpPr>
        <p:grpSpPr>
          <a:xfrm>
            <a:off x="5522054" y="853892"/>
            <a:ext cx="2458283" cy="1780012"/>
            <a:chOff x="5311523" y="1110832"/>
            <a:chExt cx="2458283" cy="1780012"/>
          </a:xfrm>
        </p:grpSpPr>
        <p:sp>
          <p:nvSpPr>
            <p:cNvPr id="58" name="Rectángulo 57">
              <a:extLst>
                <a:ext uri="{FF2B5EF4-FFF2-40B4-BE49-F238E27FC236}">
                  <a16:creationId xmlns:a16="http://schemas.microsoft.com/office/drawing/2014/main" id="{EDE0AAA0-9336-064B-2E41-77B9A092F6AE}"/>
                </a:ext>
              </a:extLst>
            </p:cNvPr>
            <p:cNvSpPr/>
            <p:nvPr/>
          </p:nvSpPr>
          <p:spPr>
            <a:xfrm>
              <a:off x="5353656" y="1110832"/>
              <a:ext cx="2195987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43" name="Grupo 42">
              <a:extLst>
                <a:ext uri="{FF2B5EF4-FFF2-40B4-BE49-F238E27FC236}">
                  <a16:creationId xmlns:a16="http://schemas.microsoft.com/office/drawing/2014/main" id="{2A68B146-7937-5EE9-4788-743E72E583D2}"/>
                </a:ext>
              </a:extLst>
            </p:cNvPr>
            <p:cNvGrpSpPr/>
            <p:nvPr/>
          </p:nvGrpSpPr>
          <p:grpSpPr>
            <a:xfrm>
              <a:off x="5311523" y="1223137"/>
              <a:ext cx="2125827" cy="908843"/>
              <a:chOff x="3207806" y="1229837"/>
              <a:chExt cx="2125827" cy="908843"/>
            </a:xfrm>
          </p:grpSpPr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ABB7A630-6D8C-5DF0-B7D8-5BF4CB3ECA74}"/>
                  </a:ext>
                </a:extLst>
              </p:cNvPr>
              <p:cNvSpPr txBox="1"/>
              <p:nvPr/>
            </p:nvSpPr>
            <p:spPr>
              <a:xfrm>
                <a:off x="3552927" y="1229837"/>
                <a:ext cx="178070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Rango Salario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480D383B-AE7C-880F-12EC-F12E56068467}"/>
                  </a:ext>
                </a:extLst>
              </p:cNvPr>
              <p:cNvSpPr txBox="1"/>
              <p:nvPr/>
            </p:nvSpPr>
            <p:spPr>
              <a:xfrm>
                <a:off x="3207806" y="1584682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78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Hasta 2 </a:t>
                </a:r>
                <a:r>
                  <a:rPr lang="es-CO" sz="1200" b="1" dirty="0" err="1">
                    <a:solidFill>
                      <a:schemeClr val="bg1"/>
                    </a:solidFill>
                  </a:rPr>
                  <a:t>smlv</a:t>
                </a:r>
                <a:endParaRPr lang="es-CO" sz="12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53" name="Imagen 52">
              <a:extLst>
                <a:ext uri="{FF2B5EF4-FFF2-40B4-BE49-F238E27FC236}">
                  <a16:creationId xmlns:a16="http://schemas.microsoft.com/office/drawing/2014/main" id="{08ECB5BA-3290-AD93-2D2B-7265DEA9C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45151" y="1622172"/>
              <a:ext cx="641350" cy="641350"/>
            </a:xfrm>
            <a:prstGeom prst="rect">
              <a:avLst/>
            </a:prstGeom>
          </p:spPr>
        </p:pic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0D122284-69BE-13A4-B89C-B2D0B7FDF268}"/>
                </a:ext>
              </a:extLst>
            </p:cNvPr>
            <p:cNvSpPr txBox="1"/>
            <p:nvPr/>
          </p:nvSpPr>
          <p:spPr>
            <a:xfrm>
              <a:off x="6366249" y="2289662"/>
              <a:ext cx="140355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1</a:t>
              </a:r>
              <a:r>
                <a:rPr lang="es-CO" sz="18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Mas de 10 </a:t>
              </a:r>
              <a:r>
                <a:rPr lang="es-CO" sz="1200" b="1" dirty="0" err="1">
                  <a:solidFill>
                    <a:schemeClr val="bg1"/>
                  </a:solidFill>
                </a:rPr>
                <a:t>smlv</a:t>
              </a:r>
              <a:endParaRPr lang="es-CO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7C451A24-A3E1-B45B-0641-7FB97CAD5F1A}"/>
              </a:ext>
            </a:extLst>
          </p:cNvPr>
          <p:cNvGrpSpPr/>
          <p:nvPr/>
        </p:nvGrpSpPr>
        <p:grpSpPr>
          <a:xfrm>
            <a:off x="3320687" y="874756"/>
            <a:ext cx="1941094" cy="1759148"/>
            <a:chOff x="3224463" y="1110832"/>
            <a:chExt cx="1941094" cy="1759148"/>
          </a:xfrm>
        </p:grpSpPr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1144BE7B-825B-503E-4070-A5E9DF2F110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36596" y="1677993"/>
              <a:ext cx="721895" cy="721895"/>
            </a:xfrm>
            <a:prstGeom prst="rect">
              <a:avLst/>
            </a:prstGeom>
          </p:spPr>
        </p:pic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3F96B94A-18BB-97BB-319D-1F15CF03BB1A}"/>
                </a:ext>
              </a:extLst>
            </p:cNvPr>
            <p:cNvGrpSpPr/>
            <p:nvPr/>
          </p:nvGrpSpPr>
          <p:grpSpPr>
            <a:xfrm>
              <a:off x="3420553" y="1223137"/>
              <a:ext cx="1609350" cy="1516670"/>
              <a:chOff x="3420553" y="1223137"/>
              <a:chExt cx="1609350" cy="1516670"/>
            </a:xfrm>
          </p:grpSpPr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F233C04D-1FF5-B241-1E4A-B8D58D5F3C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74608" y="1613811"/>
                <a:ext cx="723600" cy="723600"/>
              </a:xfrm>
              <a:prstGeom prst="rect">
                <a:avLst/>
              </a:prstGeom>
            </p:spPr>
          </p:pic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83D394EB-28BD-B475-B604-38D4253A80A3}"/>
                  </a:ext>
                </a:extLst>
              </p:cNvPr>
              <p:cNvSpPr txBox="1"/>
              <p:nvPr/>
            </p:nvSpPr>
            <p:spPr>
              <a:xfrm>
                <a:off x="3685253" y="1223137"/>
                <a:ext cx="1098946" cy="345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Género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31171CE1-1CB8-97FF-E4E5-A29BA79025E2}"/>
                  </a:ext>
                </a:extLst>
              </p:cNvPr>
              <p:cNvSpPr txBox="1"/>
              <p:nvPr/>
            </p:nvSpPr>
            <p:spPr>
              <a:xfrm>
                <a:off x="3420553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49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D914072C-78C4-C794-AB5C-625B7BAA0E8F}"/>
                  </a:ext>
                </a:extLst>
              </p:cNvPr>
              <p:cNvSpPr txBox="1"/>
              <p:nvPr/>
            </p:nvSpPr>
            <p:spPr>
              <a:xfrm>
                <a:off x="4308008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51%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</p:grp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2AB0B020-95EF-DC56-B2FE-D63A2D0882E9}"/>
                </a:ext>
              </a:extLst>
            </p:cNvPr>
            <p:cNvSpPr/>
            <p:nvPr/>
          </p:nvSpPr>
          <p:spPr>
            <a:xfrm>
              <a:off x="3224463" y="1110832"/>
              <a:ext cx="1941094" cy="175914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78" name="CuadroTexto 77">
            <a:extLst>
              <a:ext uri="{FF2B5EF4-FFF2-40B4-BE49-F238E27FC236}">
                <a16:creationId xmlns:a16="http://schemas.microsoft.com/office/drawing/2014/main" id="{0FE2429F-FDC2-0FE1-5600-1D42D47BFC79}"/>
              </a:ext>
            </a:extLst>
          </p:cNvPr>
          <p:cNvSpPr txBox="1"/>
          <p:nvPr/>
        </p:nvSpPr>
        <p:spPr>
          <a:xfrm>
            <a:off x="1376075" y="3222417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24%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Joven</a:t>
            </a:r>
          </a:p>
        </p:txBody>
      </p: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47B4F7CF-BC0F-13AA-4062-A45D7B68D314}"/>
              </a:ext>
            </a:extLst>
          </p:cNvPr>
          <p:cNvGrpSpPr/>
          <p:nvPr/>
        </p:nvGrpSpPr>
        <p:grpSpPr>
          <a:xfrm>
            <a:off x="-155207" y="2771278"/>
            <a:ext cx="2688149" cy="1998661"/>
            <a:chOff x="435343" y="3108160"/>
            <a:chExt cx="2688149" cy="1998661"/>
          </a:xfrm>
        </p:grpSpPr>
        <p:grpSp>
          <p:nvGrpSpPr>
            <p:cNvPr id="69" name="Grupo 68">
              <a:extLst>
                <a:ext uri="{FF2B5EF4-FFF2-40B4-BE49-F238E27FC236}">
                  <a16:creationId xmlns:a16="http://schemas.microsoft.com/office/drawing/2014/main" id="{1EFBB82C-8C44-2887-E284-58E32A6BFBD4}"/>
                </a:ext>
              </a:extLst>
            </p:cNvPr>
            <p:cNvGrpSpPr/>
            <p:nvPr/>
          </p:nvGrpSpPr>
          <p:grpSpPr>
            <a:xfrm>
              <a:off x="457829" y="3108160"/>
              <a:ext cx="2665663" cy="1998661"/>
              <a:chOff x="7590765" y="1110832"/>
              <a:chExt cx="2665663" cy="1822499"/>
            </a:xfrm>
          </p:grpSpPr>
          <p:sp>
            <p:nvSpPr>
              <p:cNvPr id="70" name="Rectángulo 69">
                <a:extLst>
                  <a:ext uri="{FF2B5EF4-FFF2-40B4-BE49-F238E27FC236}">
                    <a16:creationId xmlns:a16="http://schemas.microsoft.com/office/drawing/2014/main" id="{282FCAC6-716F-ECCF-B72B-3FED13C8E0FE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71" name="Grupo 70">
                <a:extLst>
                  <a:ext uri="{FF2B5EF4-FFF2-40B4-BE49-F238E27FC236}">
                    <a16:creationId xmlns:a16="http://schemas.microsoft.com/office/drawing/2014/main" id="{408FF116-FBCF-2022-5D81-3D12501A6F73}"/>
                  </a:ext>
                </a:extLst>
              </p:cNvPr>
              <p:cNvGrpSpPr/>
              <p:nvPr/>
            </p:nvGrpSpPr>
            <p:grpSpPr>
              <a:xfrm>
                <a:off x="7590765" y="1223137"/>
                <a:ext cx="2024519" cy="1655939"/>
                <a:chOff x="3026344" y="1229837"/>
                <a:chExt cx="2024519" cy="1655939"/>
              </a:xfrm>
            </p:grpSpPr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85040D66-687F-1FA3-4BC7-065D021A3D10}"/>
                    </a:ext>
                  </a:extLst>
                </p:cNvPr>
                <p:cNvSpPr txBox="1"/>
                <p:nvPr/>
              </p:nvSpPr>
              <p:spPr>
                <a:xfrm>
                  <a:off x="3645002" y="1229837"/>
                  <a:ext cx="1405861" cy="3087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Segmento 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22CA6EC9-556E-6389-3841-94B11D8189B5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12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38%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Básico</a:t>
                  </a:r>
                </a:p>
              </p:txBody>
            </p:sp>
          </p:grpSp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34960E3C-2427-D749-90CE-A70FA335C9EA}"/>
                  </a:ext>
                </a:extLst>
              </p:cNvPr>
              <p:cNvSpPr txBox="1"/>
              <p:nvPr/>
            </p:nvSpPr>
            <p:spPr>
              <a:xfrm>
                <a:off x="9083519" y="231777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0%</a:t>
                </a:r>
              </a:p>
              <a:p>
                <a:r>
                  <a:rPr lang="es-CO" sz="1400" b="1">
                    <a:solidFill>
                      <a:schemeClr val="bg1"/>
                    </a:solidFill>
                  </a:rPr>
                  <a:t>       Alto</a:t>
                </a:r>
              </a:p>
            </p:txBody>
          </p:sp>
        </p:grpSp>
        <p:sp>
          <p:nvSpPr>
            <p:cNvPr id="77" name="CuadroTexto 76">
              <a:extLst>
                <a:ext uri="{FF2B5EF4-FFF2-40B4-BE49-F238E27FC236}">
                  <a16:creationId xmlns:a16="http://schemas.microsoft.com/office/drawing/2014/main" id="{7AFCBC7F-6DB2-92AB-B983-561B63A2063E}"/>
                </a:ext>
              </a:extLst>
            </p:cNvPr>
            <p:cNvSpPr txBox="1"/>
            <p:nvPr/>
          </p:nvSpPr>
          <p:spPr>
            <a:xfrm>
              <a:off x="435343" y="3559299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39%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Medio</a:t>
              </a:r>
            </a:p>
          </p:txBody>
        </p:sp>
        <p:pic>
          <p:nvPicPr>
            <p:cNvPr id="80" name="Imagen 79">
              <a:extLst>
                <a:ext uri="{FF2B5EF4-FFF2-40B4-BE49-F238E27FC236}">
                  <a16:creationId xmlns:a16="http://schemas.microsoft.com/office/drawing/2014/main" id="{D2FBBCA4-25F0-61EF-1BD0-30071A50D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LineDrawing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90862" y="3871141"/>
              <a:ext cx="680857" cy="680857"/>
            </a:xfrm>
            <a:prstGeom prst="rect">
              <a:avLst/>
            </a:prstGeom>
          </p:spPr>
        </p:pic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B5A1556D-4B6F-B0DB-39F8-8366EA0CADFC}"/>
              </a:ext>
            </a:extLst>
          </p:cNvPr>
          <p:cNvGrpSpPr/>
          <p:nvPr/>
        </p:nvGrpSpPr>
        <p:grpSpPr>
          <a:xfrm>
            <a:off x="2169335" y="2774370"/>
            <a:ext cx="3284086" cy="1963483"/>
            <a:chOff x="2759885" y="3111252"/>
            <a:chExt cx="3284086" cy="1963483"/>
          </a:xfrm>
        </p:grpSpPr>
        <p:sp>
          <p:nvSpPr>
            <p:cNvPr id="88" name="CuadroTexto 87">
              <a:extLst>
                <a:ext uri="{FF2B5EF4-FFF2-40B4-BE49-F238E27FC236}">
                  <a16:creationId xmlns:a16="http://schemas.microsoft.com/office/drawing/2014/main" id="{4547399B-9507-FA77-2705-DA403B141C47}"/>
                </a:ext>
              </a:extLst>
            </p:cNvPr>
            <p:cNvSpPr txBox="1"/>
            <p:nvPr/>
          </p:nvSpPr>
          <p:spPr>
            <a:xfrm>
              <a:off x="2759885" y="3531697"/>
              <a:ext cx="154680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   43%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             Sin Grupo</a:t>
              </a:r>
            </a:p>
          </p:txBody>
        </p:sp>
        <p:grpSp>
          <p:nvGrpSpPr>
            <p:cNvPr id="124" name="Grupo 123">
              <a:extLst>
                <a:ext uri="{FF2B5EF4-FFF2-40B4-BE49-F238E27FC236}">
                  <a16:creationId xmlns:a16="http://schemas.microsoft.com/office/drawing/2014/main" id="{EE8DF6F7-E4DF-600C-46C0-CDCC549A4B8B}"/>
                </a:ext>
              </a:extLst>
            </p:cNvPr>
            <p:cNvGrpSpPr/>
            <p:nvPr/>
          </p:nvGrpSpPr>
          <p:grpSpPr>
            <a:xfrm>
              <a:off x="2827705" y="3111252"/>
              <a:ext cx="3216266" cy="1963483"/>
              <a:chOff x="2827705" y="3111252"/>
              <a:chExt cx="3216266" cy="1963483"/>
            </a:xfrm>
          </p:grpSpPr>
          <p:grpSp>
            <p:nvGrpSpPr>
              <p:cNvPr id="81" name="Grupo 80">
                <a:extLst>
                  <a:ext uri="{FF2B5EF4-FFF2-40B4-BE49-F238E27FC236}">
                    <a16:creationId xmlns:a16="http://schemas.microsoft.com/office/drawing/2014/main" id="{C653B882-6F16-CB9D-AA90-5D81307282E9}"/>
                  </a:ext>
                </a:extLst>
              </p:cNvPr>
              <p:cNvGrpSpPr/>
              <p:nvPr/>
            </p:nvGrpSpPr>
            <p:grpSpPr>
              <a:xfrm>
                <a:off x="2827705" y="3111252"/>
                <a:ext cx="3216266" cy="1963483"/>
                <a:chOff x="7593779" y="1110832"/>
                <a:chExt cx="3216266" cy="1780012"/>
              </a:xfrm>
            </p:grpSpPr>
            <p:sp>
              <p:nvSpPr>
                <p:cNvPr id="82" name="Rectángulo 81">
                  <a:extLst>
                    <a:ext uri="{FF2B5EF4-FFF2-40B4-BE49-F238E27FC236}">
                      <a16:creationId xmlns:a16="http://schemas.microsoft.com/office/drawing/2014/main" id="{65C787C4-84A7-7DD3-D9C1-D8614DE8450E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808386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83" name="Grupo 82">
                  <a:extLst>
                    <a:ext uri="{FF2B5EF4-FFF2-40B4-BE49-F238E27FC236}">
                      <a16:creationId xmlns:a16="http://schemas.microsoft.com/office/drawing/2014/main" id="{EED3217B-174F-BDC7-A400-E7EAEA80EDCF}"/>
                    </a:ext>
                  </a:extLst>
                </p:cNvPr>
                <p:cNvGrpSpPr/>
                <p:nvPr/>
              </p:nvGrpSpPr>
              <p:grpSpPr>
                <a:xfrm>
                  <a:off x="7593779" y="1166870"/>
                  <a:ext cx="2748715" cy="1628029"/>
                  <a:chOff x="3029358" y="1173570"/>
                  <a:chExt cx="2748715" cy="1628029"/>
                </a:xfrm>
              </p:grpSpPr>
              <p:sp>
                <p:nvSpPr>
                  <p:cNvPr id="85" name="CuadroTexto 84">
                    <a:extLst>
                      <a:ext uri="{FF2B5EF4-FFF2-40B4-BE49-F238E27FC236}">
                        <a16:creationId xmlns:a16="http://schemas.microsoft.com/office/drawing/2014/main" id="{F5220EA6-B966-AA50-0307-0D741F4140D8}"/>
                      </a:ext>
                    </a:extLst>
                  </p:cNvPr>
                  <p:cNvSpPr txBox="1"/>
                  <p:nvPr/>
                </p:nvSpPr>
                <p:spPr>
                  <a:xfrm>
                    <a:off x="3634807" y="1173570"/>
                    <a:ext cx="2143266" cy="30691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Segmento Familia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87" name="CuadroTexto 86">
                    <a:extLst>
                      <a:ext uri="{FF2B5EF4-FFF2-40B4-BE49-F238E27FC236}">
                        <a16:creationId xmlns:a16="http://schemas.microsoft.com/office/drawing/2014/main" id="{D6CFA436-E7EA-26B3-5A4C-B2656207FE03}"/>
                      </a:ext>
                    </a:extLst>
                  </p:cNvPr>
                  <p:cNvSpPr txBox="1"/>
                  <p:nvPr/>
                </p:nvSpPr>
                <p:spPr>
                  <a:xfrm>
                    <a:off x="3029358" y="2131957"/>
                    <a:ext cx="1923771" cy="66964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 4</a:t>
                    </a:r>
                    <a:r>
                      <a:rPr lang="es-CO" sz="18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%</a:t>
                    </a:r>
                  </a:p>
                  <a:p>
                    <a:r>
                      <a:rPr lang="es-CO" sz="1200" b="1" dirty="0">
                        <a:solidFill>
                          <a:schemeClr val="bg1"/>
                        </a:solidFill>
                      </a:rPr>
                      <a:t>      Monoparental</a:t>
                    </a:r>
                  </a:p>
                  <a:p>
                    <a:r>
                      <a:rPr lang="es-CO" sz="1200" b="1" dirty="0">
                        <a:solidFill>
                          <a:schemeClr val="bg1"/>
                        </a:solidFill>
                      </a:rPr>
                      <a:t>      Ampliada</a:t>
                    </a:r>
                  </a:p>
                </p:txBody>
              </p:sp>
            </p:grpSp>
            <p:sp>
              <p:nvSpPr>
                <p:cNvPr id="84" name="CuadroTexto 83">
                  <a:extLst>
                    <a:ext uri="{FF2B5EF4-FFF2-40B4-BE49-F238E27FC236}">
                      <a16:creationId xmlns:a16="http://schemas.microsoft.com/office/drawing/2014/main" id="{378ABB92-7B2D-2BD3-77AE-2D580D5E77E9}"/>
                    </a:ext>
                  </a:extLst>
                </p:cNvPr>
                <p:cNvSpPr txBox="1"/>
                <p:nvPr/>
              </p:nvSpPr>
              <p:spPr>
                <a:xfrm>
                  <a:off x="9185077" y="2110714"/>
                  <a:ext cx="1624968" cy="5022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        10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 Nuclear Integrada</a:t>
                  </a:r>
                </a:p>
              </p:txBody>
            </p:sp>
          </p:grpSp>
          <p:sp>
            <p:nvSpPr>
              <p:cNvPr id="89" name="CuadroTexto 88">
                <a:extLst>
                  <a:ext uri="{FF2B5EF4-FFF2-40B4-BE49-F238E27FC236}">
                    <a16:creationId xmlns:a16="http://schemas.microsoft.com/office/drawing/2014/main" id="{17386651-E550-0C48-C9CC-0A480A7B4D0A}"/>
                  </a:ext>
                </a:extLst>
              </p:cNvPr>
              <p:cNvSpPr txBox="1"/>
              <p:nvPr/>
            </p:nvSpPr>
            <p:spPr>
              <a:xfrm>
                <a:off x="4771770" y="3534141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39%</a:t>
                </a:r>
                <a:r>
                  <a:rPr lang="es-CO" sz="1200" b="1" dirty="0">
                    <a:solidFill>
                      <a:schemeClr val="bg1"/>
                    </a:solidFill>
                  </a:rPr>
                  <a:t> Monoparental</a:t>
                </a:r>
              </a:p>
            </p:txBody>
          </p:sp>
          <p:pic>
            <p:nvPicPr>
              <p:cNvPr id="92" name="Imagen 91">
                <a:extLst>
                  <a:ext uri="{FF2B5EF4-FFF2-40B4-BE49-F238E27FC236}">
                    <a16:creationId xmlns:a16="http://schemas.microsoft.com/office/drawing/2014/main" id="{4D50E338-1E52-DB68-6C98-640593B9C0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artisticGlowDiffused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075298" y="3683026"/>
                <a:ext cx="754362" cy="754362"/>
              </a:xfrm>
              <a:prstGeom prst="rect">
                <a:avLst/>
              </a:prstGeom>
            </p:spPr>
          </p:pic>
        </p:grp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CEF614A2-273A-0B4D-EC19-0E46E57A833C}"/>
              </a:ext>
            </a:extLst>
          </p:cNvPr>
          <p:cNvGrpSpPr/>
          <p:nvPr/>
        </p:nvGrpSpPr>
        <p:grpSpPr>
          <a:xfrm>
            <a:off x="90873" y="847081"/>
            <a:ext cx="3094159" cy="1780012"/>
            <a:chOff x="681423" y="1183963"/>
            <a:chExt cx="3094159" cy="1780012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81940A1E-D622-28AD-E577-3F8C8DB6B682}"/>
                </a:ext>
              </a:extLst>
            </p:cNvPr>
            <p:cNvSpPr txBox="1"/>
            <p:nvPr/>
          </p:nvSpPr>
          <p:spPr>
            <a:xfrm>
              <a:off x="942955" y="1217834"/>
              <a:ext cx="2376943" cy="16927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s-CO" sz="2000" b="1" dirty="0">
                <a:solidFill>
                  <a:srgbClr val="FFC000"/>
                </a:solidFill>
              </a:endParaRP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Afiliado     </a:t>
              </a:r>
              <a:r>
                <a:rPr lang="es-CO" sz="2800" b="1" dirty="0">
                  <a:solidFill>
                    <a:srgbClr val="FFC000"/>
                  </a:solidFill>
                </a:rPr>
                <a:t>   </a:t>
              </a:r>
              <a:r>
                <a:rPr lang="es-CO" sz="2800" b="1" dirty="0">
                  <a:solidFill>
                    <a:schemeClr val="bg1"/>
                  </a:solidFill>
                </a:rPr>
                <a:t>62%</a:t>
              </a: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No Afilado   </a:t>
              </a:r>
              <a:r>
                <a:rPr lang="es-CO" sz="2800" b="1" dirty="0">
                  <a:solidFill>
                    <a:schemeClr val="bg1"/>
                  </a:solidFill>
                </a:rPr>
                <a:t>38%</a:t>
              </a:r>
            </a:p>
            <a:p>
              <a:endParaRPr lang="es-ES" sz="28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05" name="Rectángulo 104">
              <a:extLst>
                <a:ext uri="{FF2B5EF4-FFF2-40B4-BE49-F238E27FC236}">
                  <a16:creationId xmlns:a16="http://schemas.microsoft.com/office/drawing/2014/main" id="{AD26DA2E-2411-4F0B-D3AF-089F21F3D66D}"/>
                </a:ext>
              </a:extLst>
            </p:cNvPr>
            <p:cNvSpPr/>
            <p:nvPr/>
          </p:nvSpPr>
          <p:spPr>
            <a:xfrm>
              <a:off x="681423" y="1183963"/>
              <a:ext cx="3094159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20" name="Grupo 119">
            <a:extLst>
              <a:ext uri="{FF2B5EF4-FFF2-40B4-BE49-F238E27FC236}">
                <a16:creationId xmlns:a16="http://schemas.microsoft.com/office/drawing/2014/main" id="{691CBDD8-1D71-8E0B-E8AB-25E3F3827056}"/>
              </a:ext>
            </a:extLst>
          </p:cNvPr>
          <p:cNvGrpSpPr/>
          <p:nvPr/>
        </p:nvGrpSpPr>
        <p:grpSpPr>
          <a:xfrm>
            <a:off x="7798876" y="2775745"/>
            <a:ext cx="2419582" cy="1933541"/>
            <a:chOff x="9080988" y="3127128"/>
            <a:chExt cx="2419582" cy="1933541"/>
          </a:xfrm>
        </p:grpSpPr>
        <p:grpSp>
          <p:nvGrpSpPr>
            <p:cNvPr id="106" name="Grupo 105">
              <a:extLst>
                <a:ext uri="{FF2B5EF4-FFF2-40B4-BE49-F238E27FC236}">
                  <a16:creationId xmlns:a16="http://schemas.microsoft.com/office/drawing/2014/main" id="{B18B94DE-6D61-17A5-8AA9-70B455041349}"/>
                </a:ext>
              </a:extLst>
            </p:cNvPr>
            <p:cNvGrpSpPr/>
            <p:nvPr/>
          </p:nvGrpSpPr>
          <p:grpSpPr>
            <a:xfrm>
              <a:off x="9080988" y="3127128"/>
              <a:ext cx="2419582" cy="1933541"/>
              <a:chOff x="7590765" y="1110832"/>
              <a:chExt cx="2419582" cy="1780012"/>
            </a:xfrm>
          </p:grpSpPr>
          <p:sp>
            <p:nvSpPr>
              <p:cNvPr id="107" name="Rectángulo 106">
                <a:extLst>
                  <a:ext uri="{FF2B5EF4-FFF2-40B4-BE49-F238E27FC236}">
                    <a16:creationId xmlns:a16="http://schemas.microsoft.com/office/drawing/2014/main" id="{4E8EB091-A70B-754D-C4EF-323C8AA0E3C4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108" name="Grupo 107">
                <a:extLst>
                  <a:ext uri="{FF2B5EF4-FFF2-40B4-BE49-F238E27FC236}">
                    <a16:creationId xmlns:a16="http://schemas.microsoft.com/office/drawing/2014/main" id="{635EEB28-48C7-D952-FF9D-02943A9228DB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2191150" cy="1678227"/>
                <a:chOff x="3026344" y="1212927"/>
                <a:chExt cx="2191150" cy="1678227"/>
              </a:xfrm>
            </p:grpSpPr>
            <p:sp>
              <p:nvSpPr>
                <p:cNvPr id="110" name="CuadroTexto 109">
                  <a:extLst>
                    <a:ext uri="{FF2B5EF4-FFF2-40B4-BE49-F238E27FC236}">
                      <a16:creationId xmlns:a16="http://schemas.microsoft.com/office/drawing/2014/main" id="{54FAA354-38C8-BAFB-BEE8-535552BE247C}"/>
                    </a:ext>
                  </a:extLst>
                </p:cNvPr>
                <p:cNvSpPr txBox="1"/>
                <p:nvPr/>
              </p:nvSpPr>
              <p:spPr>
                <a:xfrm>
                  <a:off x="3811633" y="1212927"/>
                  <a:ext cx="140586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Estrato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11" name="CuadroTexto 110">
                  <a:extLst>
                    <a:ext uri="{FF2B5EF4-FFF2-40B4-BE49-F238E27FC236}">
                      <a16:creationId xmlns:a16="http://schemas.microsoft.com/office/drawing/2014/main" id="{68EEC2A2-D390-8F4E-1ECE-8883274CE94C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13%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</p:grpSp>
        <p:sp>
          <p:nvSpPr>
            <p:cNvPr id="112" name="CuadroTexto 111">
              <a:extLst>
                <a:ext uri="{FF2B5EF4-FFF2-40B4-BE49-F238E27FC236}">
                  <a16:creationId xmlns:a16="http://schemas.microsoft.com/office/drawing/2014/main" id="{6A68D985-6802-7C8A-43F9-C7DD5BB74A8E}"/>
                </a:ext>
              </a:extLst>
            </p:cNvPr>
            <p:cNvSpPr txBox="1"/>
            <p:nvPr/>
          </p:nvSpPr>
          <p:spPr>
            <a:xfrm>
              <a:off x="9081031" y="3362728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4%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Uno</a:t>
              </a:r>
            </a:p>
          </p:txBody>
        </p:sp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2BCC306C-6099-55B7-5DE9-F32FD12E8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artisticPencilGrayscale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043317" y="3855923"/>
              <a:ext cx="655939" cy="655939"/>
            </a:xfrm>
            <a:prstGeom prst="rect">
              <a:avLst/>
            </a:prstGeom>
          </p:spPr>
        </p:pic>
      </p:grp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A441B40A-25A2-CD6C-AD9E-32A7B007C9B7}"/>
              </a:ext>
            </a:extLst>
          </p:cNvPr>
          <p:cNvSpPr txBox="1"/>
          <p:nvPr/>
        </p:nvSpPr>
        <p:spPr>
          <a:xfrm>
            <a:off x="5289967" y="3228845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43%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 Cero</a:t>
            </a:r>
          </a:p>
        </p:txBody>
      </p:sp>
      <p:grpSp>
        <p:nvGrpSpPr>
          <p:cNvPr id="123" name="Grupo 122">
            <a:extLst>
              <a:ext uri="{FF2B5EF4-FFF2-40B4-BE49-F238E27FC236}">
                <a16:creationId xmlns:a16="http://schemas.microsoft.com/office/drawing/2014/main" id="{AB5B968B-AACC-86A4-7A5B-963EEE1B8E78}"/>
              </a:ext>
            </a:extLst>
          </p:cNvPr>
          <p:cNvGrpSpPr/>
          <p:nvPr/>
        </p:nvGrpSpPr>
        <p:grpSpPr>
          <a:xfrm>
            <a:off x="5340592" y="2790246"/>
            <a:ext cx="2602288" cy="1933541"/>
            <a:chOff x="5931142" y="3127128"/>
            <a:chExt cx="2602288" cy="1933541"/>
          </a:xfrm>
        </p:grpSpPr>
        <p:grpSp>
          <p:nvGrpSpPr>
            <p:cNvPr id="93" name="Grupo 92">
              <a:extLst>
                <a:ext uri="{FF2B5EF4-FFF2-40B4-BE49-F238E27FC236}">
                  <a16:creationId xmlns:a16="http://schemas.microsoft.com/office/drawing/2014/main" id="{73BEB247-05C1-E872-9521-B4A92A9E1AD6}"/>
                </a:ext>
              </a:extLst>
            </p:cNvPr>
            <p:cNvGrpSpPr/>
            <p:nvPr/>
          </p:nvGrpSpPr>
          <p:grpSpPr>
            <a:xfrm>
              <a:off x="5931142" y="3127128"/>
              <a:ext cx="2601495" cy="1933541"/>
              <a:chOff x="7590765" y="1110832"/>
              <a:chExt cx="2601495" cy="1780012"/>
            </a:xfrm>
          </p:grpSpPr>
          <p:sp>
            <p:nvSpPr>
              <p:cNvPr id="94" name="Rectángulo 93">
                <a:extLst>
                  <a:ext uri="{FF2B5EF4-FFF2-40B4-BE49-F238E27FC236}">
                    <a16:creationId xmlns:a16="http://schemas.microsoft.com/office/drawing/2014/main" id="{79E8DF3B-3EEC-C92B-50D3-38AD5094CD39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95" name="Grupo 94">
                <a:extLst>
                  <a:ext uri="{FF2B5EF4-FFF2-40B4-BE49-F238E27FC236}">
                    <a16:creationId xmlns:a16="http://schemas.microsoft.com/office/drawing/2014/main" id="{67FE4EE1-F1A3-C94D-CE70-9F658192A5EC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1922369" cy="1647802"/>
                <a:chOff x="3026344" y="1212927"/>
                <a:chExt cx="1922369" cy="1647802"/>
              </a:xfrm>
            </p:grpSpPr>
            <p:sp>
              <p:nvSpPr>
                <p:cNvPr id="97" name="CuadroTexto 96">
                  <a:extLst>
                    <a:ext uri="{FF2B5EF4-FFF2-40B4-BE49-F238E27FC236}">
                      <a16:creationId xmlns:a16="http://schemas.microsoft.com/office/drawing/2014/main" id="{1C8DBEFA-0B49-4392-FB4A-3E400C95EEE3}"/>
                    </a:ext>
                  </a:extLst>
                </p:cNvPr>
                <p:cNvSpPr txBox="1"/>
                <p:nvPr/>
              </p:nvSpPr>
              <p:spPr>
                <a:xfrm>
                  <a:off x="4021092" y="1212927"/>
                  <a:ext cx="92762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PAC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98" name="CuadroTexto 97">
                  <a:extLst>
                    <a:ext uri="{FF2B5EF4-FFF2-40B4-BE49-F238E27FC236}">
                      <a16:creationId xmlns:a16="http://schemas.microsoft.com/office/drawing/2014/main" id="{A79B5592-8AE4-57FB-FDC3-8301D5C6FAAF}"/>
                    </a:ext>
                  </a:extLst>
                </p:cNvPr>
                <p:cNvSpPr txBox="1"/>
                <p:nvPr/>
              </p:nvSpPr>
              <p:spPr>
                <a:xfrm>
                  <a:off x="3026344" y="2294053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8%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  <p:sp>
            <p:nvSpPr>
              <p:cNvPr id="96" name="CuadroTexto 95">
                <a:extLst>
                  <a:ext uri="{FF2B5EF4-FFF2-40B4-BE49-F238E27FC236}">
                    <a16:creationId xmlns:a16="http://schemas.microsoft.com/office/drawing/2014/main" id="{114695D1-6548-6080-B89E-D350BF91E90F}"/>
                  </a:ext>
                </a:extLst>
              </p:cNvPr>
              <p:cNvSpPr txBox="1"/>
              <p:nvPr/>
            </p:nvSpPr>
            <p:spPr>
              <a:xfrm>
                <a:off x="9019351" y="2317778"/>
                <a:ext cx="1172909" cy="566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Cuatro</a:t>
                </a:r>
              </a:p>
            </p:txBody>
          </p:sp>
        </p:grpSp>
        <p:grpSp>
          <p:nvGrpSpPr>
            <p:cNvPr id="121" name="Grupo 120">
              <a:extLst>
                <a:ext uri="{FF2B5EF4-FFF2-40B4-BE49-F238E27FC236}">
                  <a16:creationId xmlns:a16="http://schemas.microsoft.com/office/drawing/2014/main" id="{5C21536E-7550-AC55-733C-EC01ED5AF88D}"/>
                </a:ext>
              </a:extLst>
            </p:cNvPr>
            <p:cNvGrpSpPr/>
            <p:nvPr/>
          </p:nvGrpSpPr>
          <p:grpSpPr>
            <a:xfrm>
              <a:off x="6649678" y="3565727"/>
              <a:ext cx="1883752" cy="1414028"/>
              <a:chOff x="6649678" y="3565727"/>
              <a:chExt cx="1883752" cy="1414028"/>
            </a:xfrm>
          </p:grpSpPr>
          <p:sp>
            <p:nvSpPr>
              <p:cNvPr id="99" name="CuadroTexto 98">
                <a:extLst>
                  <a:ext uri="{FF2B5EF4-FFF2-40B4-BE49-F238E27FC236}">
                    <a16:creationId xmlns:a16="http://schemas.microsoft.com/office/drawing/2014/main" id="{006D3577-16BB-D991-35C2-6B00AE791868}"/>
                  </a:ext>
                </a:extLst>
              </p:cNvPr>
              <p:cNvSpPr txBox="1"/>
              <p:nvPr/>
            </p:nvSpPr>
            <p:spPr>
              <a:xfrm>
                <a:off x="6649678" y="358240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29%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Uno</a:t>
                </a:r>
              </a:p>
            </p:txBody>
          </p:sp>
          <p:sp>
            <p:nvSpPr>
              <p:cNvPr id="101" name="CuadroTexto 100">
                <a:extLst>
                  <a:ext uri="{FF2B5EF4-FFF2-40B4-BE49-F238E27FC236}">
                    <a16:creationId xmlns:a16="http://schemas.microsoft.com/office/drawing/2014/main" id="{D3D87794-2AE4-039B-1B71-D8CB51DA1EFE}"/>
                  </a:ext>
                </a:extLst>
              </p:cNvPr>
              <p:cNvSpPr txBox="1"/>
              <p:nvPr/>
            </p:nvSpPr>
            <p:spPr>
              <a:xfrm>
                <a:off x="7360521" y="3565727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18%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Dos</a:t>
                </a:r>
              </a:p>
            </p:txBody>
          </p:sp>
          <p:pic>
            <p:nvPicPr>
              <p:cNvPr id="118" name="Imagen 117">
                <a:extLst>
                  <a:ext uri="{FF2B5EF4-FFF2-40B4-BE49-F238E27FC236}">
                    <a16:creationId xmlns:a16="http://schemas.microsoft.com/office/drawing/2014/main" id="{8DA105DB-0CA7-B2F2-746F-11036CBFBF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artisticPaintStrokes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886925" y="4205951"/>
                <a:ext cx="773804" cy="773804"/>
              </a:xfrm>
              <a:prstGeom prst="rect">
                <a:avLst/>
              </a:prstGeom>
            </p:spPr>
          </p:pic>
        </p:grpSp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11905A44-CC3B-936A-62E1-08FBAE83E9A8}"/>
              </a:ext>
            </a:extLst>
          </p:cNvPr>
          <p:cNvGrpSpPr/>
          <p:nvPr/>
        </p:nvGrpSpPr>
        <p:grpSpPr>
          <a:xfrm>
            <a:off x="8022470" y="853892"/>
            <a:ext cx="2195988" cy="1780012"/>
            <a:chOff x="7814360" y="1110832"/>
            <a:chExt cx="2195988" cy="1780012"/>
          </a:xfrm>
        </p:grpSpPr>
        <p:grpSp>
          <p:nvGrpSpPr>
            <p:cNvPr id="66" name="Grupo 65">
              <a:extLst>
                <a:ext uri="{FF2B5EF4-FFF2-40B4-BE49-F238E27FC236}">
                  <a16:creationId xmlns:a16="http://schemas.microsoft.com/office/drawing/2014/main" id="{18FF7F5D-2DBE-A302-6B57-424C5C58F598}"/>
                </a:ext>
              </a:extLst>
            </p:cNvPr>
            <p:cNvGrpSpPr/>
            <p:nvPr/>
          </p:nvGrpSpPr>
          <p:grpSpPr>
            <a:xfrm>
              <a:off x="7814360" y="1110832"/>
              <a:ext cx="2195988" cy="1780012"/>
              <a:chOff x="7814360" y="1110832"/>
              <a:chExt cx="2195988" cy="1780012"/>
            </a:xfrm>
          </p:grpSpPr>
          <p:sp>
            <p:nvSpPr>
              <p:cNvPr id="60" name="Rectángulo 59">
                <a:extLst>
                  <a:ext uri="{FF2B5EF4-FFF2-40B4-BE49-F238E27FC236}">
                    <a16:creationId xmlns:a16="http://schemas.microsoft.com/office/drawing/2014/main" id="{5BE052C1-D09C-5796-384D-3C2149CE6CB7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61" name="Grupo 60">
                <a:extLst>
                  <a:ext uri="{FF2B5EF4-FFF2-40B4-BE49-F238E27FC236}">
                    <a16:creationId xmlns:a16="http://schemas.microsoft.com/office/drawing/2014/main" id="{B9CDB906-7D53-2FB4-F98E-D7430D43AE6E}"/>
                  </a:ext>
                </a:extLst>
              </p:cNvPr>
              <p:cNvGrpSpPr/>
              <p:nvPr/>
            </p:nvGrpSpPr>
            <p:grpSpPr>
              <a:xfrm>
                <a:off x="7814361" y="1223137"/>
                <a:ext cx="2083693" cy="1630468"/>
                <a:chOff x="3249940" y="1229837"/>
                <a:chExt cx="2083693" cy="1630468"/>
              </a:xfrm>
            </p:grpSpPr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81642866-7F94-5467-6FB2-08318276A33A}"/>
                    </a:ext>
                  </a:extLst>
                </p:cNvPr>
                <p:cNvSpPr txBox="1"/>
                <p:nvPr/>
              </p:nvSpPr>
              <p:spPr>
                <a:xfrm>
                  <a:off x="3552927" y="1229837"/>
                  <a:ext cx="1780706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Rango Edad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7F205768-234D-7085-05C8-9203BF902204}"/>
                    </a:ext>
                  </a:extLst>
                </p:cNvPr>
                <p:cNvSpPr txBox="1"/>
                <p:nvPr/>
              </p:nvSpPr>
              <p:spPr>
                <a:xfrm>
                  <a:off x="3249940" y="2306307"/>
                  <a:ext cx="1172909" cy="5539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51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20 a 35 años</a:t>
                  </a:r>
                </a:p>
              </p:txBody>
            </p:sp>
          </p:grpSp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D0F52C26-31AF-2589-7535-C71241C99EBA}"/>
                  </a:ext>
                </a:extLst>
              </p:cNvPr>
              <p:cNvSpPr txBox="1"/>
              <p:nvPr/>
            </p:nvSpPr>
            <p:spPr>
              <a:xfrm>
                <a:off x="8837439" y="2289285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28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36 a 45 años</a:t>
                </a:r>
              </a:p>
            </p:txBody>
          </p:sp>
        </p:grpSp>
        <p:pic>
          <p:nvPicPr>
            <p:cNvPr id="128" name="Imagen 127">
              <a:extLst>
                <a:ext uri="{FF2B5EF4-FFF2-40B4-BE49-F238E27FC236}">
                  <a16:creationId xmlns:a16="http://schemas.microsoft.com/office/drawing/2014/main" id="{1DB55293-F41A-EDB2-C268-6ACA86D65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17644" y="1602912"/>
              <a:ext cx="655473" cy="655473"/>
            </a:xfrm>
            <a:prstGeom prst="rect">
              <a:avLst/>
            </a:prstGeom>
          </p:spPr>
        </p:pic>
      </p:grpSp>
      <p:grpSp>
        <p:nvGrpSpPr>
          <p:cNvPr id="189" name="Grupo 188">
            <a:extLst>
              <a:ext uri="{FF2B5EF4-FFF2-40B4-BE49-F238E27FC236}">
                <a16:creationId xmlns:a16="http://schemas.microsoft.com/office/drawing/2014/main" id="{38567FF5-8806-AAC8-BB4F-9150CA2A5AF1}"/>
              </a:ext>
            </a:extLst>
          </p:cNvPr>
          <p:cNvGrpSpPr/>
          <p:nvPr/>
        </p:nvGrpSpPr>
        <p:grpSpPr>
          <a:xfrm>
            <a:off x="-114768" y="4837223"/>
            <a:ext cx="3758502" cy="1933541"/>
            <a:chOff x="435340" y="4837223"/>
            <a:chExt cx="4854517" cy="1933541"/>
          </a:xfrm>
        </p:grpSpPr>
        <p:grpSp>
          <p:nvGrpSpPr>
            <p:cNvPr id="138" name="Grupo 137">
              <a:extLst>
                <a:ext uri="{FF2B5EF4-FFF2-40B4-BE49-F238E27FC236}">
                  <a16:creationId xmlns:a16="http://schemas.microsoft.com/office/drawing/2014/main" id="{FCCB1355-8367-42A1-C2DA-D2EC6BEF89F8}"/>
                </a:ext>
              </a:extLst>
            </p:cNvPr>
            <p:cNvGrpSpPr/>
            <p:nvPr/>
          </p:nvGrpSpPr>
          <p:grpSpPr>
            <a:xfrm>
              <a:off x="435340" y="4837223"/>
              <a:ext cx="4854517" cy="1933541"/>
              <a:chOff x="9135236" y="3127128"/>
              <a:chExt cx="3830051" cy="1933541"/>
            </a:xfrm>
          </p:grpSpPr>
          <p:grpSp>
            <p:nvGrpSpPr>
              <p:cNvPr id="139" name="Grupo 138">
                <a:extLst>
                  <a:ext uri="{FF2B5EF4-FFF2-40B4-BE49-F238E27FC236}">
                    <a16:creationId xmlns:a16="http://schemas.microsoft.com/office/drawing/2014/main" id="{9C6FCBC8-D469-C77C-6ACB-596D35161AB9}"/>
                  </a:ext>
                </a:extLst>
              </p:cNvPr>
              <p:cNvGrpSpPr/>
              <p:nvPr/>
            </p:nvGrpSpPr>
            <p:grpSpPr>
              <a:xfrm>
                <a:off x="9229918" y="3127128"/>
                <a:ext cx="3735369" cy="1933541"/>
                <a:chOff x="7739695" y="1110832"/>
                <a:chExt cx="3735369" cy="1780012"/>
              </a:xfrm>
            </p:grpSpPr>
            <p:sp>
              <p:nvSpPr>
                <p:cNvPr id="143" name="Rectángulo 142">
                  <a:extLst>
                    <a:ext uri="{FF2B5EF4-FFF2-40B4-BE49-F238E27FC236}">
                      <a16:creationId xmlns:a16="http://schemas.microsoft.com/office/drawing/2014/main" id="{0BC470B5-772C-A513-8428-B3F3B47F21D1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3246650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44" name="Grupo 143">
                  <a:extLst>
                    <a:ext uri="{FF2B5EF4-FFF2-40B4-BE49-F238E27FC236}">
                      <a16:creationId xmlns:a16="http://schemas.microsoft.com/office/drawing/2014/main" id="{CA0A60B2-E1E3-0492-8498-71B2A7F3D278}"/>
                    </a:ext>
                  </a:extLst>
                </p:cNvPr>
                <p:cNvGrpSpPr/>
                <p:nvPr/>
              </p:nvGrpSpPr>
              <p:grpSpPr>
                <a:xfrm>
                  <a:off x="7739695" y="1236316"/>
                  <a:ext cx="3735369" cy="1532075"/>
                  <a:chOff x="3175274" y="1243016"/>
                  <a:chExt cx="3735369" cy="1532075"/>
                </a:xfrm>
              </p:grpSpPr>
              <p:sp>
                <p:nvSpPr>
                  <p:cNvPr id="146" name="CuadroTexto 145">
                    <a:extLst>
                      <a:ext uri="{FF2B5EF4-FFF2-40B4-BE49-F238E27FC236}">
                        <a16:creationId xmlns:a16="http://schemas.microsoft.com/office/drawing/2014/main" id="{384D9B9F-8FA3-1489-D0EA-675A8BD95FCD}"/>
                      </a:ext>
                    </a:extLst>
                  </p:cNvPr>
                  <p:cNvSpPr txBox="1"/>
                  <p:nvPr/>
                </p:nvSpPr>
                <p:spPr>
                  <a:xfrm>
                    <a:off x="3854322" y="1243016"/>
                    <a:ext cx="3056321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Segmento Empresas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47" name="CuadroTexto 146">
                    <a:extLst>
                      <a:ext uri="{FF2B5EF4-FFF2-40B4-BE49-F238E27FC236}">
                        <a16:creationId xmlns:a16="http://schemas.microsoft.com/office/drawing/2014/main" id="{9B8B36E3-DFAB-CD24-B582-EA4DB883C108}"/>
                      </a:ext>
                    </a:extLst>
                  </p:cNvPr>
                  <p:cNvSpPr txBox="1"/>
                  <p:nvPr/>
                </p:nvSpPr>
                <p:spPr>
                  <a:xfrm>
                    <a:off x="3175274" y="2208415"/>
                    <a:ext cx="1945898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25%</a:t>
                    </a:r>
                    <a:endParaRPr lang="es-CO" sz="1400" b="1" dirty="0">
                      <a:solidFill>
                        <a:schemeClr val="bg1"/>
                      </a:solidFill>
                    </a:endParaRP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Medianas</a:t>
                    </a:r>
                  </a:p>
                </p:txBody>
              </p:sp>
            </p:grpSp>
            <p:sp>
              <p:nvSpPr>
                <p:cNvPr id="145" name="CuadroTexto 144">
                  <a:extLst>
                    <a:ext uri="{FF2B5EF4-FFF2-40B4-BE49-F238E27FC236}">
                      <a16:creationId xmlns:a16="http://schemas.microsoft.com/office/drawing/2014/main" id="{54406B65-F845-B76C-1413-C50037CC367F}"/>
                    </a:ext>
                  </a:extLst>
                </p:cNvPr>
                <p:cNvSpPr txBox="1"/>
                <p:nvPr/>
              </p:nvSpPr>
              <p:spPr>
                <a:xfrm>
                  <a:off x="9864249" y="1523867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21%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Grandes</a:t>
                  </a:r>
                </a:p>
              </p:txBody>
            </p:sp>
          </p:grpSp>
          <p:sp>
            <p:nvSpPr>
              <p:cNvPr id="140" name="CuadroTexto 139">
                <a:extLst>
                  <a:ext uri="{FF2B5EF4-FFF2-40B4-BE49-F238E27FC236}">
                    <a16:creationId xmlns:a16="http://schemas.microsoft.com/office/drawing/2014/main" id="{D48EB0C9-3BD8-4BAF-305E-74E94256D03C}"/>
                  </a:ext>
                </a:extLst>
              </p:cNvPr>
              <p:cNvSpPr txBox="1"/>
              <p:nvPr/>
            </p:nvSpPr>
            <p:spPr>
              <a:xfrm>
                <a:off x="9135236" y="3565727"/>
                <a:ext cx="145027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14%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</a:t>
                </a:r>
                <a:r>
                  <a:rPr lang="es-CO" sz="1400" b="1" dirty="0" err="1">
                    <a:solidFill>
                      <a:schemeClr val="bg1"/>
                    </a:solidFill>
                  </a:rPr>
                  <a:t>Emp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Top</a:t>
                </a:r>
              </a:p>
            </p:txBody>
          </p:sp>
          <p:sp>
            <p:nvSpPr>
              <p:cNvPr id="141" name="CuadroTexto 140">
                <a:extLst>
                  <a:ext uri="{FF2B5EF4-FFF2-40B4-BE49-F238E27FC236}">
                    <a16:creationId xmlns:a16="http://schemas.microsoft.com/office/drawing/2014/main" id="{D7F74C4E-72A7-77F2-5853-2B8C0BA504F8}"/>
                  </a:ext>
                </a:extLst>
              </p:cNvPr>
              <p:cNvSpPr txBox="1"/>
              <p:nvPr/>
            </p:nvSpPr>
            <p:spPr>
              <a:xfrm>
                <a:off x="10055645" y="3580594"/>
                <a:ext cx="152651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34%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    Micro    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Transaccional</a:t>
                </a:r>
              </a:p>
            </p:txBody>
          </p:sp>
        </p:grpSp>
        <p:pic>
          <p:nvPicPr>
            <p:cNvPr id="149" name="Imagen 148">
              <a:extLst>
                <a:ext uri="{FF2B5EF4-FFF2-40B4-BE49-F238E27FC236}">
                  <a16:creationId xmlns:a16="http://schemas.microsoft.com/office/drawing/2014/main" id="{77CF1688-0907-EBE2-5E3F-5064810DFC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325932" y="6027593"/>
              <a:ext cx="677562" cy="677562"/>
            </a:xfrm>
            <a:prstGeom prst="rect">
              <a:avLst/>
            </a:prstGeom>
          </p:spPr>
        </p:pic>
      </p:grp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6F4E2803-C539-4F80-E300-DBC6234E534C}"/>
              </a:ext>
            </a:extLst>
          </p:cNvPr>
          <p:cNvSpPr txBox="1"/>
          <p:nvPr/>
        </p:nvSpPr>
        <p:spPr>
          <a:xfrm>
            <a:off x="2093411" y="5976448"/>
            <a:ext cx="128594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4%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Estándar</a:t>
            </a:r>
          </a:p>
        </p:txBody>
      </p:sp>
      <p:grpSp>
        <p:nvGrpSpPr>
          <p:cNvPr id="151" name="Grupo 150">
            <a:extLst>
              <a:ext uri="{FF2B5EF4-FFF2-40B4-BE49-F238E27FC236}">
                <a16:creationId xmlns:a16="http://schemas.microsoft.com/office/drawing/2014/main" id="{FB062FA8-D775-D937-20DC-6EA8C173810D}"/>
              </a:ext>
            </a:extLst>
          </p:cNvPr>
          <p:cNvGrpSpPr/>
          <p:nvPr/>
        </p:nvGrpSpPr>
        <p:grpSpPr>
          <a:xfrm>
            <a:off x="3041036" y="4852302"/>
            <a:ext cx="2475954" cy="1933541"/>
            <a:chOff x="9024616" y="3127128"/>
            <a:chExt cx="2475954" cy="1933541"/>
          </a:xfrm>
        </p:grpSpPr>
        <p:grpSp>
          <p:nvGrpSpPr>
            <p:cNvPr id="152" name="Grupo 151">
              <a:extLst>
                <a:ext uri="{FF2B5EF4-FFF2-40B4-BE49-F238E27FC236}">
                  <a16:creationId xmlns:a16="http://schemas.microsoft.com/office/drawing/2014/main" id="{EB7E6D1C-AD44-0718-7619-ED7E252487EB}"/>
                </a:ext>
              </a:extLst>
            </p:cNvPr>
            <p:cNvGrpSpPr/>
            <p:nvPr/>
          </p:nvGrpSpPr>
          <p:grpSpPr>
            <a:xfrm>
              <a:off x="9024616" y="3127128"/>
              <a:ext cx="2475954" cy="1933541"/>
              <a:chOff x="7534393" y="1110832"/>
              <a:chExt cx="2475954" cy="1780012"/>
            </a:xfrm>
          </p:grpSpPr>
          <p:sp>
            <p:nvSpPr>
              <p:cNvPr id="157" name="Rectángulo 156">
                <a:extLst>
                  <a:ext uri="{FF2B5EF4-FFF2-40B4-BE49-F238E27FC236}">
                    <a16:creationId xmlns:a16="http://schemas.microsoft.com/office/drawing/2014/main" id="{71E11E0F-AF21-6373-0F6F-87FC265FEDA7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158" name="Grupo 157">
                <a:extLst>
                  <a:ext uri="{FF2B5EF4-FFF2-40B4-BE49-F238E27FC236}">
                    <a16:creationId xmlns:a16="http://schemas.microsoft.com/office/drawing/2014/main" id="{F38F3FA2-E2A8-E7E0-7656-8F3CAAD97C11}"/>
                  </a:ext>
                </a:extLst>
              </p:cNvPr>
              <p:cNvGrpSpPr/>
              <p:nvPr/>
            </p:nvGrpSpPr>
            <p:grpSpPr>
              <a:xfrm>
                <a:off x="7534393" y="1206227"/>
                <a:ext cx="2388623" cy="1388251"/>
                <a:chOff x="2969972" y="1212927"/>
                <a:chExt cx="2388623" cy="1388251"/>
              </a:xfrm>
            </p:grpSpPr>
            <p:sp>
              <p:nvSpPr>
                <p:cNvPr id="160" name="CuadroTexto 159">
                  <a:extLst>
                    <a:ext uri="{FF2B5EF4-FFF2-40B4-BE49-F238E27FC236}">
                      <a16:creationId xmlns:a16="http://schemas.microsoft.com/office/drawing/2014/main" id="{EFF82790-20D9-D043-EF19-62D63A1997E6}"/>
                    </a:ext>
                  </a:extLst>
                </p:cNvPr>
                <p:cNvSpPr txBox="1"/>
                <p:nvPr/>
              </p:nvSpPr>
              <p:spPr>
                <a:xfrm>
                  <a:off x="3408991" y="1212927"/>
                  <a:ext cx="1949604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 dirty="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Departamento</a:t>
                  </a:r>
                  <a:endParaRPr lang="es-ES" sz="1600" dirty="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61" name="CuadroTexto 160">
                  <a:extLst>
                    <a:ext uri="{FF2B5EF4-FFF2-40B4-BE49-F238E27FC236}">
                      <a16:creationId xmlns:a16="http://schemas.microsoft.com/office/drawing/2014/main" id="{01A08A3E-C2B1-EDFB-7C2B-A38F1046BB50}"/>
                    </a:ext>
                  </a:extLst>
                </p:cNvPr>
                <p:cNvSpPr txBox="1"/>
                <p:nvPr/>
              </p:nvSpPr>
              <p:spPr>
                <a:xfrm>
                  <a:off x="2969972" y="2034502"/>
                  <a:ext cx="1411846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2%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</a:t>
                  </a:r>
                  <a:r>
                    <a:rPr lang="es-CO" sz="1400" b="1" dirty="0" err="1">
                      <a:solidFill>
                        <a:schemeClr val="bg1"/>
                      </a:solidFill>
                    </a:rPr>
                    <a:t>Ubate</a:t>
                  </a:r>
                  <a:endParaRPr lang="es-CO" sz="14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154" name="CuadroTexto 153">
              <a:extLst>
                <a:ext uri="{FF2B5EF4-FFF2-40B4-BE49-F238E27FC236}">
                  <a16:creationId xmlns:a16="http://schemas.microsoft.com/office/drawing/2014/main" id="{571BB3A4-23CB-44D2-FEA6-E7D203C6E2B6}"/>
                </a:ext>
              </a:extLst>
            </p:cNvPr>
            <p:cNvSpPr txBox="1"/>
            <p:nvPr/>
          </p:nvSpPr>
          <p:spPr>
            <a:xfrm>
              <a:off x="9059295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44%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</a:t>
              </a:r>
              <a:r>
                <a:rPr lang="es-CO" sz="1400" b="1" dirty="0" err="1">
                  <a:solidFill>
                    <a:schemeClr val="bg1"/>
                  </a:solidFill>
                </a:rPr>
                <a:t>Bogota</a:t>
              </a:r>
              <a:endParaRPr lang="es-CO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55" name="CuadroTexto 154">
              <a:extLst>
                <a:ext uri="{FF2B5EF4-FFF2-40B4-BE49-F238E27FC236}">
                  <a16:creationId xmlns:a16="http://schemas.microsoft.com/office/drawing/2014/main" id="{BE2931BD-CB76-33AD-0B3F-6AAF96BDEADC}"/>
                </a:ext>
              </a:extLst>
            </p:cNvPr>
            <p:cNvSpPr txBox="1"/>
            <p:nvPr/>
          </p:nvSpPr>
          <p:spPr>
            <a:xfrm>
              <a:off x="10219600" y="3565504"/>
              <a:ext cx="1160334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4%</a:t>
              </a:r>
              <a:r>
                <a:rPr lang="es-CO" sz="1400" b="1" dirty="0">
                  <a:solidFill>
                    <a:schemeClr val="bg1"/>
                  </a:solidFill>
                </a:rPr>
                <a:t>     Soacha</a:t>
              </a:r>
            </a:p>
          </p:txBody>
        </p:sp>
      </p:grpSp>
      <p:grpSp>
        <p:nvGrpSpPr>
          <p:cNvPr id="201" name="Grupo 200">
            <a:extLst>
              <a:ext uri="{FF2B5EF4-FFF2-40B4-BE49-F238E27FC236}">
                <a16:creationId xmlns:a16="http://schemas.microsoft.com/office/drawing/2014/main" id="{62B09707-724B-052E-CBD1-A589D34C1355}"/>
              </a:ext>
            </a:extLst>
          </p:cNvPr>
          <p:cNvGrpSpPr/>
          <p:nvPr/>
        </p:nvGrpSpPr>
        <p:grpSpPr>
          <a:xfrm>
            <a:off x="5407406" y="4842106"/>
            <a:ext cx="2693579" cy="1985915"/>
            <a:chOff x="5483606" y="4842106"/>
            <a:chExt cx="2693579" cy="1985915"/>
          </a:xfrm>
        </p:grpSpPr>
        <p:grpSp>
          <p:nvGrpSpPr>
            <p:cNvPr id="164" name="Grupo 163">
              <a:extLst>
                <a:ext uri="{FF2B5EF4-FFF2-40B4-BE49-F238E27FC236}">
                  <a16:creationId xmlns:a16="http://schemas.microsoft.com/office/drawing/2014/main" id="{EACA4AF3-D8FF-2CB4-7794-823C905C514C}"/>
                </a:ext>
              </a:extLst>
            </p:cNvPr>
            <p:cNvGrpSpPr/>
            <p:nvPr/>
          </p:nvGrpSpPr>
          <p:grpSpPr>
            <a:xfrm>
              <a:off x="5483606" y="4842106"/>
              <a:ext cx="2693579" cy="1957609"/>
              <a:chOff x="9049330" y="3127128"/>
              <a:chExt cx="2693579" cy="1957609"/>
            </a:xfrm>
          </p:grpSpPr>
          <p:grpSp>
            <p:nvGrpSpPr>
              <p:cNvPr id="165" name="Grupo 164">
                <a:extLst>
                  <a:ext uri="{FF2B5EF4-FFF2-40B4-BE49-F238E27FC236}">
                    <a16:creationId xmlns:a16="http://schemas.microsoft.com/office/drawing/2014/main" id="{147A191F-34CF-AEAE-3F7E-65CDD62D7D3A}"/>
                  </a:ext>
                </a:extLst>
              </p:cNvPr>
              <p:cNvGrpSpPr/>
              <p:nvPr/>
            </p:nvGrpSpPr>
            <p:grpSpPr>
              <a:xfrm>
                <a:off x="9049330" y="3127128"/>
                <a:ext cx="2655911" cy="1957609"/>
                <a:chOff x="7559107" y="1110832"/>
                <a:chExt cx="2655911" cy="1802169"/>
              </a:xfrm>
            </p:grpSpPr>
            <p:sp>
              <p:nvSpPr>
                <p:cNvPr id="168" name="Rectángulo 167">
                  <a:extLst>
                    <a:ext uri="{FF2B5EF4-FFF2-40B4-BE49-F238E27FC236}">
                      <a16:creationId xmlns:a16="http://schemas.microsoft.com/office/drawing/2014/main" id="{08D54817-6158-F6B5-95C9-4572304FA280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195987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70" name="Grupo 169">
                  <a:extLst>
                    <a:ext uri="{FF2B5EF4-FFF2-40B4-BE49-F238E27FC236}">
                      <a16:creationId xmlns:a16="http://schemas.microsoft.com/office/drawing/2014/main" id="{A838799D-317C-9A4A-8965-7ED9F576E6A9}"/>
                    </a:ext>
                  </a:extLst>
                </p:cNvPr>
                <p:cNvGrpSpPr/>
                <p:nvPr/>
              </p:nvGrpSpPr>
              <p:grpSpPr>
                <a:xfrm>
                  <a:off x="7559107" y="1207829"/>
                  <a:ext cx="2655911" cy="1705172"/>
                  <a:chOff x="2994686" y="1214529"/>
                  <a:chExt cx="2655911" cy="1705172"/>
                </a:xfrm>
              </p:grpSpPr>
              <p:sp>
                <p:nvSpPr>
                  <p:cNvPr id="171" name="CuadroTexto 170">
                    <a:extLst>
                      <a:ext uri="{FF2B5EF4-FFF2-40B4-BE49-F238E27FC236}">
                        <a16:creationId xmlns:a16="http://schemas.microsoft.com/office/drawing/2014/main" id="{4407ACFF-C124-5EF6-5D24-D84655E2108A}"/>
                      </a:ext>
                    </a:extLst>
                  </p:cNvPr>
                  <p:cNvSpPr txBox="1"/>
                  <p:nvPr/>
                </p:nvSpPr>
                <p:spPr>
                  <a:xfrm>
                    <a:off x="3700993" y="1214529"/>
                    <a:ext cx="1949604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 dirty="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Localidad</a:t>
                    </a:r>
                    <a:endParaRPr lang="es-ES" sz="1600" dirty="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72" name="CuadroTexto 171">
                    <a:extLst>
                      <a:ext uri="{FF2B5EF4-FFF2-40B4-BE49-F238E27FC236}">
                        <a16:creationId xmlns:a16="http://schemas.microsoft.com/office/drawing/2014/main" id="{73EC7462-076F-8C0D-C23D-EB13806851AE}"/>
                      </a:ext>
                    </a:extLst>
                  </p:cNvPr>
                  <p:cNvSpPr txBox="1"/>
                  <p:nvPr/>
                </p:nvSpPr>
                <p:spPr>
                  <a:xfrm>
                    <a:off x="2994686" y="2353025"/>
                    <a:ext cx="1323041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3%</a:t>
                    </a: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    </a:t>
                    </a:r>
                    <a:r>
                      <a:rPr lang="es-CO" sz="1400" b="1" dirty="0" err="1">
                        <a:solidFill>
                          <a:schemeClr val="bg1"/>
                        </a:solidFill>
                      </a:rPr>
                      <a:t>Kenedy</a:t>
                    </a:r>
                    <a:endParaRPr lang="es-CO" sz="14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</p:grpSp>
          <p:sp>
            <p:nvSpPr>
              <p:cNvPr id="166" name="CuadroTexto 165">
                <a:extLst>
                  <a:ext uri="{FF2B5EF4-FFF2-40B4-BE49-F238E27FC236}">
                    <a16:creationId xmlns:a16="http://schemas.microsoft.com/office/drawing/2014/main" id="{426F1D8F-7C54-7397-66D2-78F82EF09093}"/>
                  </a:ext>
                </a:extLst>
              </p:cNvPr>
              <p:cNvSpPr txBox="1"/>
              <p:nvPr/>
            </p:nvSpPr>
            <p:spPr>
              <a:xfrm>
                <a:off x="9059295" y="3565727"/>
                <a:ext cx="128594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5%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</a:t>
                </a:r>
                <a:r>
                  <a:rPr lang="es-CO" sz="1400" b="1" dirty="0" err="1">
                    <a:solidFill>
                      <a:schemeClr val="bg1"/>
                    </a:solidFill>
                  </a:rPr>
                  <a:t>Engativa</a:t>
                </a:r>
                <a:endParaRPr lang="es-CO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7" name="CuadroTexto 166">
                <a:extLst>
                  <a:ext uri="{FF2B5EF4-FFF2-40B4-BE49-F238E27FC236}">
                    <a16:creationId xmlns:a16="http://schemas.microsoft.com/office/drawing/2014/main" id="{ADCD3459-8E45-6E65-CECB-038EEA7E80FD}"/>
                  </a:ext>
                </a:extLst>
              </p:cNvPr>
              <p:cNvSpPr txBox="1"/>
              <p:nvPr/>
            </p:nvSpPr>
            <p:spPr>
              <a:xfrm>
                <a:off x="10498522" y="3549824"/>
                <a:ext cx="1244387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4%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Suba</a:t>
                </a:r>
              </a:p>
            </p:txBody>
          </p:sp>
        </p:grpSp>
        <p:sp>
          <p:nvSpPr>
            <p:cNvPr id="185" name="CuadroTexto 184">
              <a:extLst>
                <a:ext uri="{FF2B5EF4-FFF2-40B4-BE49-F238E27FC236}">
                  <a16:creationId xmlns:a16="http://schemas.microsoft.com/office/drawing/2014/main" id="{567FBEBE-7ABB-E235-E59E-A6D4CDC82762}"/>
                </a:ext>
              </a:extLst>
            </p:cNvPr>
            <p:cNvSpPr txBox="1"/>
            <p:nvPr/>
          </p:nvSpPr>
          <p:spPr>
            <a:xfrm>
              <a:off x="6625166" y="6212468"/>
              <a:ext cx="1323041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62%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 Sin </a:t>
              </a:r>
              <a:r>
                <a:rPr lang="es-CO" sz="1400" b="1" dirty="0" err="1">
                  <a:solidFill>
                    <a:schemeClr val="bg1"/>
                  </a:solidFill>
                </a:rPr>
                <a:t>Infor</a:t>
              </a:r>
              <a:endParaRPr lang="es-CO" sz="1400" b="1" dirty="0">
                <a:solidFill>
                  <a:schemeClr val="bg1"/>
                </a:solidFill>
              </a:endParaRPr>
            </a:p>
          </p:txBody>
        </p:sp>
        <p:pic>
          <p:nvPicPr>
            <p:cNvPr id="187" name="Imagen 186">
              <a:extLst>
                <a:ext uri="{FF2B5EF4-FFF2-40B4-BE49-F238E27FC236}">
                  <a16:creationId xmlns:a16="http://schemas.microsoft.com/office/drawing/2014/main" id="{8BFE85BE-9FC4-F9C5-A46E-570AB9BD12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401571" y="5793688"/>
              <a:ext cx="1266970" cy="620378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grpSp>
        <p:nvGrpSpPr>
          <p:cNvPr id="190" name="Grupo 189">
            <a:extLst>
              <a:ext uri="{FF2B5EF4-FFF2-40B4-BE49-F238E27FC236}">
                <a16:creationId xmlns:a16="http://schemas.microsoft.com/office/drawing/2014/main" id="{BB7DC56F-7234-380B-A87A-24125C701265}"/>
              </a:ext>
            </a:extLst>
          </p:cNvPr>
          <p:cNvGrpSpPr/>
          <p:nvPr/>
        </p:nvGrpSpPr>
        <p:grpSpPr>
          <a:xfrm>
            <a:off x="7930968" y="4834201"/>
            <a:ext cx="2464776" cy="1933541"/>
            <a:chOff x="9267841" y="3127128"/>
            <a:chExt cx="2586590" cy="1933541"/>
          </a:xfrm>
        </p:grpSpPr>
        <p:grpSp>
          <p:nvGrpSpPr>
            <p:cNvPr id="191" name="Grupo 190">
              <a:extLst>
                <a:ext uri="{FF2B5EF4-FFF2-40B4-BE49-F238E27FC236}">
                  <a16:creationId xmlns:a16="http://schemas.microsoft.com/office/drawing/2014/main" id="{DD3D0617-D0F2-B68B-D0AB-20708DFF2CDE}"/>
                </a:ext>
              </a:extLst>
            </p:cNvPr>
            <p:cNvGrpSpPr/>
            <p:nvPr/>
          </p:nvGrpSpPr>
          <p:grpSpPr>
            <a:xfrm>
              <a:off x="9280641" y="3127128"/>
              <a:ext cx="2573790" cy="1933541"/>
              <a:chOff x="7790418" y="1110832"/>
              <a:chExt cx="2573790" cy="1780012"/>
            </a:xfrm>
          </p:grpSpPr>
          <p:sp>
            <p:nvSpPr>
              <p:cNvPr id="194" name="Rectángulo 193">
                <a:extLst>
                  <a:ext uri="{FF2B5EF4-FFF2-40B4-BE49-F238E27FC236}">
                    <a16:creationId xmlns:a16="http://schemas.microsoft.com/office/drawing/2014/main" id="{73197875-7928-81D4-1B12-64F0C4AB4056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368574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97" name="CuadroTexto 196">
                <a:extLst>
                  <a:ext uri="{FF2B5EF4-FFF2-40B4-BE49-F238E27FC236}">
                    <a16:creationId xmlns:a16="http://schemas.microsoft.com/office/drawing/2014/main" id="{84791460-E559-F0C1-49B8-E6883E997339}"/>
                  </a:ext>
                </a:extLst>
              </p:cNvPr>
              <p:cNvSpPr txBox="1"/>
              <p:nvPr/>
            </p:nvSpPr>
            <p:spPr>
              <a:xfrm>
                <a:off x="7790418" y="1207828"/>
                <a:ext cx="2573790" cy="3116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Entidad Financieras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</p:grpSp>
        <p:sp>
          <p:nvSpPr>
            <p:cNvPr id="192" name="CuadroTexto 191">
              <a:extLst>
                <a:ext uri="{FF2B5EF4-FFF2-40B4-BE49-F238E27FC236}">
                  <a16:creationId xmlns:a16="http://schemas.microsoft.com/office/drawing/2014/main" id="{3225C901-C7AE-3AF7-7B59-6841331E008C}"/>
                </a:ext>
              </a:extLst>
            </p:cNvPr>
            <p:cNvSpPr txBox="1"/>
            <p:nvPr/>
          </p:nvSpPr>
          <p:spPr>
            <a:xfrm>
              <a:off x="9267841" y="3565727"/>
              <a:ext cx="1337256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48%</a:t>
              </a:r>
              <a:r>
                <a:rPr lang="es-CO" sz="1400" b="1" dirty="0">
                  <a:solidFill>
                    <a:schemeClr val="bg1"/>
                  </a:solidFill>
                </a:rPr>
                <a:t>          Colsubsidio</a:t>
              </a:r>
            </a:p>
          </p:txBody>
        </p:sp>
        <p:sp>
          <p:nvSpPr>
            <p:cNvPr id="193" name="CuadroTexto 192">
              <a:extLst>
                <a:ext uri="{FF2B5EF4-FFF2-40B4-BE49-F238E27FC236}">
                  <a16:creationId xmlns:a16="http://schemas.microsoft.com/office/drawing/2014/main" id="{118678E4-32A8-0F85-E8C2-1E078BA8CB6D}"/>
                </a:ext>
              </a:extLst>
            </p:cNvPr>
            <p:cNvSpPr txBox="1"/>
            <p:nvPr/>
          </p:nvSpPr>
          <p:spPr>
            <a:xfrm>
              <a:off x="10498522" y="3549824"/>
              <a:ext cx="1244387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18%</a:t>
              </a:r>
              <a:r>
                <a:rPr lang="es-CO" sz="1400" b="1" dirty="0">
                  <a:solidFill>
                    <a:schemeClr val="bg1"/>
                  </a:solidFill>
                </a:rPr>
                <a:t>             Davivienda</a:t>
              </a:r>
            </a:p>
          </p:txBody>
        </p:sp>
      </p:grpSp>
      <p:sp>
        <p:nvSpPr>
          <p:cNvPr id="200" name="CuadroTexto 199">
            <a:extLst>
              <a:ext uri="{FF2B5EF4-FFF2-40B4-BE49-F238E27FC236}">
                <a16:creationId xmlns:a16="http://schemas.microsoft.com/office/drawing/2014/main" id="{6F5CAF8E-0501-615A-AD60-DA29FFC3C4F3}"/>
              </a:ext>
            </a:extLst>
          </p:cNvPr>
          <p:cNvSpPr txBox="1"/>
          <p:nvPr/>
        </p:nvSpPr>
        <p:spPr>
          <a:xfrm>
            <a:off x="4140736" y="5856787"/>
            <a:ext cx="137625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1%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</a:t>
            </a:r>
            <a:r>
              <a:rPr lang="es-CO" sz="1400" b="1" dirty="0" err="1">
                <a:solidFill>
                  <a:schemeClr val="bg1"/>
                </a:solidFill>
              </a:rPr>
              <a:t>Chia</a:t>
            </a:r>
            <a:endParaRPr lang="es-CO" sz="1400" b="1" dirty="0">
              <a:solidFill>
                <a:schemeClr val="bg1"/>
              </a:solidFill>
            </a:endParaRPr>
          </a:p>
        </p:txBody>
      </p:sp>
      <p:pic>
        <p:nvPicPr>
          <p:cNvPr id="205" name="Imagen 204">
            <a:extLst>
              <a:ext uri="{FF2B5EF4-FFF2-40B4-BE49-F238E27FC236}">
                <a16:creationId xmlns:a16="http://schemas.microsoft.com/office/drawing/2014/main" id="{283F35FE-3BF8-24B7-4B9D-C589DA16ECFC}"/>
              </a:ext>
            </a:extLst>
          </p:cNvPr>
          <p:cNvPicPr>
            <a:picLocks noChangeAspect="1"/>
          </p:cNvPicPr>
          <p:nvPr/>
        </p:nvPicPr>
        <p:blipFill>
          <a:blip r:embed="rId22">
            <a:duotone>
              <a:prstClr val="black"/>
              <a:schemeClr val="tx1">
                <a:lumMod val="75000"/>
                <a:lumOff val="2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4538" y="5846263"/>
            <a:ext cx="673981" cy="673981"/>
          </a:xfrm>
          <a:prstGeom prst="rect">
            <a:avLst/>
          </a:prstGeom>
        </p:spPr>
      </p:pic>
      <p:grpSp>
        <p:nvGrpSpPr>
          <p:cNvPr id="208" name="Grupo 207">
            <a:extLst>
              <a:ext uri="{FF2B5EF4-FFF2-40B4-BE49-F238E27FC236}">
                <a16:creationId xmlns:a16="http://schemas.microsoft.com/office/drawing/2014/main" id="{F7FD447F-B946-C252-0C93-5A0B7318BFA8}"/>
              </a:ext>
            </a:extLst>
          </p:cNvPr>
          <p:cNvGrpSpPr/>
          <p:nvPr/>
        </p:nvGrpSpPr>
        <p:grpSpPr>
          <a:xfrm>
            <a:off x="10245555" y="853892"/>
            <a:ext cx="1956550" cy="5540381"/>
            <a:chOff x="7793864" y="1110832"/>
            <a:chExt cx="1816602" cy="1780012"/>
          </a:xfrm>
        </p:grpSpPr>
        <p:sp>
          <p:nvSpPr>
            <p:cNvPr id="212" name="Rectángulo 211">
              <a:extLst>
                <a:ext uri="{FF2B5EF4-FFF2-40B4-BE49-F238E27FC236}">
                  <a16:creationId xmlns:a16="http://schemas.microsoft.com/office/drawing/2014/main" id="{C68C7F9F-6D0E-42F5-59B2-C5067FA12CE2}"/>
                </a:ext>
              </a:extLst>
            </p:cNvPr>
            <p:cNvSpPr/>
            <p:nvPr/>
          </p:nvSpPr>
          <p:spPr>
            <a:xfrm>
              <a:off x="7814360" y="1110832"/>
              <a:ext cx="1666611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5" name="CuadroTexto 214">
              <a:extLst>
                <a:ext uri="{FF2B5EF4-FFF2-40B4-BE49-F238E27FC236}">
                  <a16:creationId xmlns:a16="http://schemas.microsoft.com/office/drawing/2014/main" id="{2F3A13CB-4813-B95F-5AD6-0CEB4FF1C9BA}"/>
                </a:ext>
              </a:extLst>
            </p:cNvPr>
            <p:cNvSpPr txBox="1"/>
            <p:nvPr/>
          </p:nvSpPr>
          <p:spPr>
            <a:xfrm>
              <a:off x="7793864" y="1161252"/>
              <a:ext cx="1816602" cy="1141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1600">
                  <a:solidFill>
                    <a:srgbClr val="FFC000"/>
                  </a:solidFill>
                  <a:latin typeface="KG Red Hands" panose="02000505000000020004" pitchFamily="2" charset="0"/>
                </a:rPr>
                <a:t>Top Empresas</a:t>
              </a:r>
              <a:endParaRPr lang="es-ES" sz="1600">
                <a:solidFill>
                  <a:srgbClr val="FFC000"/>
                </a:solidFill>
              </a:endParaRPr>
            </a:p>
          </p:txBody>
        </p:sp>
        <p:sp>
          <p:nvSpPr>
            <p:cNvPr id="214" name="CuadroTexto 213">
              <a:extLst>
                <a:ext uri="{FF2B5EF4-FFF2-40B4-BE49-F238E27FC236}">
                  <a16:creationId xmlns:a16="http://schemas.microsoft.com/office/drawing/2014/main" id="{98F573F6-01B3-06E9-AA27-05D30F8B92A3}"/>
                </a:ext>
              </a:extLst>
            </p:cNvPr>
            <p:cNvSpPr txBox="1"/>
            <p:nvPr/>
          </p:nvSpPr>
          <p:spPr>
            <a:xfrm>
              <a:off x="7830402" y="1354030"/>
              <a:ext cx="1689688" cy="3263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500" b="1" dirty="0">
                  <a:solidFill>
                    <a:schemeClr val="bg1"/>
                  </a:solidFill>
                </a:rPr>
                <a:t>COLSUBSIDIO	109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TELEPERFORMANCE	44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CONSORCIO EXPRESS S A S	41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SECURITAS COLOMBIA S A	21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G DE CUNDINAMARCA	18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TRANS INT DE BOGOTA SAS	17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MEDICALL TALENTO HUMANO	16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JERONIMO MARTINS COLOMBI	16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G EMPRESARIAL EN LINEA SA	12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IMP Y ADUANAS NACIONALES	11</a:t>
              </a:r>
            </a:p>
            <a:p>
              <a:r>
                <a:rPr lang="es-CO" sz="500" b="1">
                  <a:solidFill>
                    <a:schemeClr val="bg1"/>
                  </a:solidFill>
                </a:rPr>
                <a:t>TOPTEX </a:t>
              </a:r>
              <a:r>
                <a:rPr lang="es-CO" sz="500" b="1" dirty="0">
                  <a:solidFill>
                    <a:schemeClr val="bg1"/>
                  </a:solidFill>
                </a:rPr>
                <a:t>	11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	                               </a:t>
              </a: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FF5CDCB3-6518-E872-912B-1B77335D5601}"/>
              </a:ext>
            </a:extLst>
          </p:cNvPr>
          <p:cNvSpPr txBox="1"/>
          <p:nvPr/>
        </p:nvSpPr>
        <p:spPr>
          <a:xfrm>
            <a:off x="10330342" y="6461181"/>
            <a:ext cx="14292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100" dirty="0">
                <a:solidFill>
                  <a:srgbClr val="FFC000"/>
                </a:solidFill>
                <a:latin typeface="KG Red Hands" panose="02000505000000020004" pitchFamily="2" charset="0"/>
              </a:rPr>
              <a:t>*Corte 15/01/2026</a:t>
            </a:r>
            <a:endParaRPr lang="es-ES" sz="1100" dirty="0">
              <a:solidFill>
                <a:srgbClr val="FFC000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4D2A8DF-C908-92BE-8575-D08A9392E03B}"/>
              </a:ext>
            </a:extLst>
          </p:cNvPr>
          <p:cNvSpPr txBox="1"/>
          <p:nvPr/>
        </p:nvSpPr>
        <p:spPr>
          <a:xfrm>
            <a:off x="6769177" y="1323365"/>
            <a:ext cx="117290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16</a:t>
            </a:r>
            <a:r>
              <a:rPr lang="es-CO" sz="1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%</a:t>
            </a:r>
          </a:p>
          <a:p>
            <a:r>
              <a:rPr lang="es-CO" sz="1200" b="1" dirty="0">
                <a:solidFill>
                  <a:schemeClr val="bg1"/>
                </a:solidFill>
              </a:rPr>
              <a:t>    2 a 4 </a:t>
            </a:r>
            <a:r>
              <a:rPr lang="es-CO" sz="1200" b="1" dirty="0" err="1">
                <a:solidFill>
                  <a:schemeClr val="bg1"/>
                </a:solidFill>
              </a:rPr>
              <a:t>smlv</a:t>
            </a:r>
            <a:endParaRPr lang="es-CO" sz="1200" b="1" dirty="0">
              <a:solidFill>
                <a:schemeClr val="bg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AAD5D74-B7D6-E7ED-FC38-A2F675E2374C}"/>
              </a:ext>
            </a:extLst>
          </p:cNvPr>
          <p:cNvSpPr txBox="1"/>
          <p:nvPr/>
        </p:nvSpPr>
        <p:spPr>
          <a:xfrm>
            <a:off x="5553421" y="2026454"/>
            <a:ext cx="117290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5</a:t>
            </a:r>
            <a:r>
              <a:rPr lang="es-CO" sz="1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%</a:t>
            </a:r>
          </a:p>
          <a:p>
            <a:r>
              <a:rPr lang="es-CO" sz="1200" b="1" dirty="0">
                <a:solidFill>
                  <a:schemeClr val="bg1"/>
                </a:solidFill>
              </a:rPr>
              <a:t>   4 a 10 </a:t>
            </a:r>
            <a:r>
              <a:rPr lang="es-CO" sz="1200" b="1" dirty="0" err="1">
                <a:solidFill>
                  <a:schemeClr val="bg1"/>
                </a:solidFill>
              </a:rPr>
              <a:t>smlv</a:t>
            </a:r>
            <a:endParaRPr lang="es-CO" sz="1200" b="1" dirty="0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0DEF783-B5C6-1BC6-B965-F4C4F05FF26B}"/>
              </a:ext>
            </a:extLst>
          </p:cNvPr>
          <p:cNvSpPr txBox="1"/>
          <p:nvPr/>
        </p:nvSpPr>
        <p:spPr>
          <a:xfrm>
            <a:off x="7804797" y="3536621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14%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 Dos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451453E-145A-5C81-29FE-198FA9053F19}"/>
              </a:ext>
            </a:extLst>
          </p:cNvPr>
          <p:cNvSpPr txBox="1"/>
          <p:nvPr/>
        </p:nvSpPr>
        <p:spPr>
          <a:xfrm>
            <a:off x="9165086" y="3059193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2%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 Cuatro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5CCA115-2F8D-5227-8F14-B59C4B1B2A8D}"/>
              </a:ext>
            </a:extLst>
          </p:cNvPr>
          <p:cNvSpPr txBox="1"/>
          <p:nvPr/>
        </p:nvSpPr>
        <p:spPr>
          <a:xfrm>
            <a:off x="9165085" y="3568809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0%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 </a:t>
            </a:r>
            <a:r>
              <a:rPr lang="es-CO" sz="1400" b="1" dirty="0" err="1">
                <a:solidFill>
                  <a:schemeClr val="bg1"/>
                </a:solidFill>
              </a:rPr>
              <a:t>Sinco</a:t>
            </a:r>
            <a:endParaRPr lang="es-CO" sz="1400" b="1" dirty="0">
              <a:solidFill>
                <a:schemeClr val="bg1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006D1E8-95ED-16B9-4B46-D6FEE74AF805}"/>
              </a:ext>
            </a:extLst>
          </p:cNvPr>
          <p:cNvSpPr txBox="1"/>
          <p:nvPr/>
        </p:nvSpPr>
        <p:spPr>
          <a:xfrm>
            <a:off x="9165084" y="4076512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1%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 Seis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8FD1BEA-E3C6-11DF-2935-3EA1352E8B6B}"/>
              </a:ext>
            </a:extLst>
          </p:cNvPr>
          <p:cNvSpPr txBox="1"/>
          <p:nvPr/>
        </p:nvSpPr>
        <p:spPr>
          <a:xfrm>
            <a:off x="7947023" y="6207752"/>
            <a:ext cx="1185783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8%</a:t>
            </a:r>
            <a:r>
              <a:rPr lang="es-CO" sz="1400" b="1" dirty="0">
                <a:solidFill>
                  <a:schemeClr val="bg1"/>
                </a:solidFill>
              </a:rPr>
              <a:t>             F N Ahorro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B507C94-5E09-C4B4-8F54-65961CF08723}"/>
              </a:ext>
            </a:extLst>
          </p:cNvPr>
          <p:cNvSpPr txBox="1"/>
          <p:nvPr/>
        </p:nvSpPr>
        <p:spPr>
          <a:xfrm>
            <a:off x="8971828" y="6189784"/>
            <a:ext cx="127913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6%</a:t>
            </a:r>
            <a:r>
              <a:rPr lang="es-CO" sz="1400" b="1" dirty="0">
                <a:solidFill>
                  <a:schemeClr val="bg1"/>
                </a:solidFill>
              </a:rPr>
              <a:t>             Bancolombia</a:t>
            </a:r>
          </a:p>
        </p:txBody>
      </p:sp>
    </p:spTree>
    <p:extLst>
      <p:ext uri="{BB962C8B-B14F-4D97-AF65-F5344CB8AC3E}">
        <p14:creationId xmlns:p14="http://schemas.microsoft.com/office/powerpoint/2010/main" val="20551128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FA1C6-E1B2-1AF5-58E1-05A182897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EC926428-6F61-9CC5-BBE3-25AF06788215}"/>
              </a:ext>
            </a:extLst>
          </p:cNvPr>
          <p:cNvCxnSpPr>
            <a:cxnSpLocks/>
          </p:cNvCxnSpPr>
          <p:nvPr/>
        </p:nvCxnSpPr>
        <p:spPr>
          <a:xfrm flipH="1">
            <a:off x="0" y="645614"/>
            <a:ext cx="10809007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uadroTexto 85">
            <a:extLst>
              <a:ext uri="{FF2B5EF4-FFF2-40B4-BE49-F238E27FC236}">
                <a16:creationId xmlns:a16="http://schemas.microsoft.com/office/drawing/2014/main" id="{1F051861-6610-68CE-65F4-875FD3AA532D}"/>
              </a:ext>
            </a:extLst>
          </p:cNvPr>
          <p:cNvSpPr txBox="1"/>
          <p:nvPr/>
        </p:nvSpPr>
        <p:spPr>
          <a:xfrm>
            <a:off x="-128399" y="120715"/>
            <a:ext cx="95771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dirty="0">
                <a:solidFill>
                  <a:schemeClr val="bg1"/>
                </a:solidFill>
                <a:latin typeface="KG Red Hands" panose="02000505000000020004" pitchFamily="2" charset="0"/>
              </a:rPr>
              <a:t>      </a:t>
            </a:r>
            <a:r>
              <a:rPr lang="es-CO" sz="2400" dirty="0" err="1">
                <a:solidFill>
                  <a:schemeClr val="bg1"/>
                </a:solidFill>
                <a:latin typeface="KG Red Hands" panose="02000505000000020004" pitchFamily="2" charset="0"/>
              </a:rPr>
              <a:t>Maipore</a:t>
            </a:r>
            <a:endParaRPr lang="es-ES" sz="24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EA91CFE-FA50-28E3-731C-5629EF3E6642}"/>
              </a:ext>
              <a:ext uri="{147F2762-F138-4A5C-976F-8EAC2B608ADB}">
                <a16:predDERef xmlns:a16="http://schemas.microsoft.com/office/drawing/2014/main" pred="{95DEFF95-1524-40DB-8538-DE0C2D5BEC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3398838"/>
            <a:ext cx="555625" cy="49371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39454CBD-BA12-F284-C87D-4C4BC4068F1B}"/>
              </a:ext>
              <a:ext uri="{147F2762-F138-4A5C-976F-8EAC2B608ADB}">
                <a16:predDERef xmlns:a16="http://schemas.microsoft.com/office/drawing/2014/main" pred="{95FFDEC5-E647-4E60-9FB8-32349ACC1E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087813"/>
            <a:ext cx="555625" cy="46196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140AABB7-11E3-2D3A-C55A-8D40CA0D291C}"/>
              </a:ext>
              <a:ext uri="{147F2762-F138-4A5C-976F-8EAC2B608ADB}">
                <a16:predDERef xmlns:a16="http://schemas.microsoft.com/office/drawing/2014/main" pred="{D53D0C4A-FE71-44C0-97B3-1EA296D3DCE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814888"/>
            <a:ext cx="555625" cy="41116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F84E3C53-6F60-EF4F-BBCB-5C0C959EDBA7}"/>
              </a:ext>
              <a:ext uri="{147F2762-F138-4A5C-976F-8EAC2B608ADB}">
                <a16:predDERef xmlns:a16="http://schemas.microsoft.com/office/drawing/2014/main" pred="{7008BA42-7365-4AD1-B913-F26820CE47E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1775" y="5427663"/>
            <a:ext cx="465138" cy="433387"/>
          </a:xfrm>
          <a:prstGeom prst="rect">
            <a:avLst/>
          </a:prstGeom>
        </p:spPr>
      </p:pic>
      <p:grpSp>
        <p:nvGrpSpPr>
          <p:cNvPr id="135" name="Grupo 134">
            <a:extLst>
              <a:ext uri="{FF2B5EF4-FFF2-40B4-BE49-F238E27FC236}">
                <a16:creationId xmlns:a16="http://schemas.microsoft.com/office/drawing/2014/main" id="{75248840-DB8D-956E-8E2A-20EE25B1E247}"/>
              </a:ext>
            </a:extLst>
          </p:cNvPr>
          <p:cNvGrpSpPr/>
          <p:nvPr/>
        </p:nvGrpSpPr>
        <p:grpSpPr>
          <a:xfrm>
            <a:off x="5564187" y="853892"/>
            <a:ext cx="2195988" cy="1780012"/>
            <a:chOff x="5353656" y="1110832"/>
            <a:chExt cx="2195988" cy="1780012"/>
          </a:xfrm>
        </p:grpSpPr>
        <p:sp>
          <p:nvSpPr>
            <p:cNvPr id="58" name="Rectángulo 57">
              <a:extLst>
                <a:ext uri="{FF2B5EF4-FFF2-40B4-BE49-F238E27FC236}">
                  <a16:creationId xmlns:a16="http://schemas.microsoft.com/office/drawing/2014/main" id="{D868692B-B18D-8C92-32D7-7BE2A3B4261F}"/>
                </a:ext>
              </a:extLst>
            </p:cNvPr>
            <p:cNvSpPr/>
            <p:nvPr/>
          </p:nvSpPr>
          <p:spPr>
            <a:xfrm>
              <a:off x="5353656" y="1110832"/>
              <a:ext cx="2195987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43" name="Grupo 42">
              <a:extLst>
                <a:ext uri="{FF2B5EF4-FFF2-40B4-BE49-F238E27FC236}">
                  <a16:creationId xmlns:a16="http://schemas.microsoft.com/office/drawing/2014/main" id="{F65ACA87-A1B9-8C1B-D7E4-CE125C831271}"/>
                </a:ext>
              </a:extLst>
            </p:cNvPr>
            <p:cNvGrpSpPr/>
            <p:nvPr/>
          </p:nvGrpSpPr>
          <p:grpSpPr>
            <a:xfrm>
              <a:off x="5353657" y="1223137"/>
              <a:ext cx="2083693" cy="1630468"/>
              <a:chOff x="3249940" y="1229837"/>
              <a:chExt cx="2083693" cy="1630468"/>
            </a:xfrm>
          </p:grpSpPr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FBAFF693-65FB-AB88-94C3-C8758D79265F}"/>
                  </a:ext>
                </a:extLst>
              </p:cNvPr>
              <p:cNvSpPr txBox="1"/>
              <p:nvPr/>
            </p:nvSpPr>
            <p:spPr>
              <a:xfrm>
                <a:off x="3552927" y="1229837"/>
                <a:ext cx="178070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Rango Salario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DF2CEE32-CF12-A9E3-15B5-F3FD956474C6}"/>
                  </a:ext>
                </a:extLst>
              </p:cNvPr>
              <p:cNvSpPr txBox="1"/>
              <p:nvPr/>
            </p:nvSpPr>
            <p:spPr>
              <a:xfrm>
                <a:off x="3249940" y="2306307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90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Hasta 2 </a:t>
                </a:r>
                <a:r>
                  <a:rPr lang="es-CO" sz="1200" b="1" dirty="0" err="1">
                    <a:solidFill>
                      <a:schemeClr val="bg1"/>
                    </a:solidFill>
                  </a:rPr>
                  <a:t>smlv</a:t>
                </a:r>
                <a:endParaRPr lang="es-CO" sz="12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53" name="Imagen 52">
              <a:extLst>
                <a:ext uri="{FF2B5EF4-FFF2-40B4-BE49-F238E27FC236}">
                  <a16:creationId xmlns:a16="http://schemas.microsoft.com/office/drawing/2014/main" id="{2C45F281-E68A-78CB-44A6-AA0E7AA8883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12042" y="1623254"/>
              <a:ext cx="641350" cy="641350"/>
            </a:xfrm>
            <a:prstGeom prst="rect">
              <a:avLst/>
            </a:prstGeom>
          </p:spPr>
        </p:pic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9DBE8622-7939-8164-0BEF-6F888B95929D}"/>
                </a:ext>
              </a:extLst>
            </p:cNvPr>
            <p:cNvSpPr txBox="1"/>
            <p:nvPr/>
          </p:nvSpPr>
          <p:spPr>
            <a:xfrm>
              <a:off x="6376735" y="2289285"/>
              <a:ext cx="1172909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10</a:t>
              </a:r>
              <a:r>
                <a:rPr lang="es-CO" sz="18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Mas de 2 </a:t>
              </a:r>
              <a:r>
                <a:rPr lang="es-CO" sz="1200" b="1" dirty="0" err="1">
                  <a:solidFill>
                    <a:schemeClr val="bg1"/>
                  </a:solidFill>
                </a:rPr>
                <a:t>smlv</a:t>
              </a:r>
              <a:endParaRPr lang="es-CO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8CC49952-7ECC-308D-6249-FC4E35CE91F9}"/>
              </a:ext>
            </a:extLst>
          </p:cNvPr>
          <p:cNvGrpSpPr/>
          <p:nvPr/>
        </p:nvGrpSpPr>
        <p:grpSpPr>
          <a:xfrm>
            <a:off x="3320687" y="874756"/>
            <a:ext cx="1941094" cy="1759148"/>
            <a:chOff x="3224463" y="1110832"/>
            <a:chExt cx="1941094" cy="1759148"/>
          </a:xfrm>
        </p:grpSpPr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D49B3EE6-D27E-857B-1175-A7BF6D74A40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36596" y="1677993"/>
              <a:ext cx="721895" cy="721895"/>
            </a:xfrm>
            <a:prstGeom prst="rect">
              <a:avLst/>
            </a:prstGeom>
          </p:spPr>
        </p:pic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5BF2C389-D66A-05D5-4E2F-602DCC375701}"/>
                </a:ext>
              </a:extLst>
            </p:cNvPr>
            <p:cNvGrpSpPr/>
            <p:nvPr/>
          </p:nvGrpSpPr>
          <p:grpSpPr>
            <a:xfrm>
              <a:off x="3420553" y="1223137"/>
              <a:ext cx="1609350" cy="1516670"/>
              <a:chOff x="3420553" y="1223137"/>
              <a:chExt cx="1609350" cy="1516670"/>
            </a:xfrm>
          </p:grpSpPr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7D8939EB-4E62-A289-855A-75BB1BA5BF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74608" y="1613811"/>
                <a:ext cx="723600" cy="723600"/>
              </a:xfrm>
              <a:prstGeom prst="rect">
                <a:avLst/>
              </a:prstGeom>
            </p:spPr>
          </p:pic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7C1658D5-2727-2A74-F9EB-FB6447B3BCBA}"/>
                  </a:ext>
                </a:extLst>
              </p:cNvPr>
              <p:cNvSpPr txBox="1"/>
              <p:nvPr/>
            </p:nvSpPr>
            <p:spPr>
              <a:xfrm>
                <a:off x="3685253" y="1223137"/>
                <a:ext cx="1098946" cy="345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Género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1D7E519E-3C89-D528-333A-814547A967F9}"/>
                  </a:ext>
                </a:extLst>
              </p:cNvPr>
              <p:cNvSpPr txBox="1"/>
              <p:nvPr/>
            </p:nvSpPr>
            <p:spPr>
              <a:xfrm>
                <a:off x="3420553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51%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ED29FF6E-BA4B-CCF3-522F-44C2AEB35236}"/>
                  </a:ext>
                </a:extLst>
              </p:cNvPr>
              <p:cNvSpPr txBox="1"/>
              <p:nvPr/>
            </p:nvSpPr>
            <p:spPr>
              <a:xfrm>
                <a:off x="4308008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49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</p:grp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7C5D59B4-652B-B564-8B2F-477726109B9C}"/>
                </a:ext>
              </a:extLst>
            </p:cNvPr>
            <p:cNvSpPr/>
            <p:nvPr/>
          </p:nvSpPr>
          <p:spPr>
            <a:xfrm>
              <a:off x="3224463" y="1110832"/>
              <a:ext cx="1941094" cy="175914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78" name="CuadroTexto 77">
            <a:extLst>
              <a:ext uri="{FF2B5EF4-FFF2-40B4-BE49-F238E27FC236}">
                <a16:creationId xmlns:a16="http://schemas.microsoft.com/office/drawing/2014/main" id="{16D3F1EA-FF92-7767-936F-483786E7740C}"/>
              </a:ext>
            </a:extLst>
          </p:cNvPr>
          <p:cNvSpPr txBox="1"/>
          <p:nvPr/>
        </p:nvSpPr>
        <p:spPr>
          <a:xfrm>
            <a:off x="1376075" y="3222417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23%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Joven</a:t>
            </a:r>
          </a:p>
        </p:txBody>
      </p: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690B2AC9-6F05-8911-49A7-D1D202CF405D}"/>
              </a:ext>
            </a:extLst>
          </p:cNvPr>
          <p:cNvGrpSpPr/>
          <p:nvPr/>
        </p:nvGrpSpPr>
        <p:grpSpPr>
          <a:xfrm>
            <a:off x="-155207" y="2771278"/>
            <a:ext cx="2688149" cy="1998661"/>
            <a:chOff x="435343" y="3108160"/>
            <a:chExt cx="2688149" cy="1998661"/>
          </a:xfrm>
        </p:grpSpPr>
        <p:grpSp>
          <p:nvGrpSpPr>
            <p:cNvPr id="69" name="Grupo 68">
              <a:extLst>
                <a:ext uri="{FF2B5EF4-FFF2-40B4-BE49-F238E27FC236}">
                  <a16:creationId xmlns:a16="http://schemas.microsoft.com/office/drawing/2014/main" id="{117DC5A9-1C29-7966-0E87-EE44392F83A0}"/>
                </a:ext>
              </a:extLst>
            </p:cNvPr>
            <p:cNvGrpSpPr/>
            <p:nvPr/>
          </p:nvGrpSpPr>
          <p:grpSpPr>
            <a:xfrm>
              <a:off x="457829" y="3108160"/>
              <a:ext cx="2665663" cy="1998661"/>
              <a:chOff x="7590765" y="1110832"/>
              <a:chExt cx="2665663" cy="1822499"/>
            </a:xfrm>
          </p:grpSpPr>
          <p:sp>
            <p:nvSpPr>
              <p:cNvPr id="70" name="Rectángulo 69">
                <a:extLst>
                  <a:ext uri="{FF2B5EF4-FFF2-40B4-BE49-F238E27FC236}">
                    <a16:creationId xmlns:a16="http://schemas.microsoft.com/office/drawing/2014/main" id="{18D593B4-882F-2063-06B8-BACB94AB9202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71" name="Grupo 70">
                <a:extLst>
                  <a:ext uri="{FF2B5EF4-FFF2-40B4-BE49-F238E27FC236}">
                    <a16:creationId xmlns:a16="http://schemas.microsoft.com/office/drawing/2014/main" id="{73A7F4DA-5146-A673-C97F-B6D9F773790B}"/>
                  </a:ext>
                </a:extLst>
              </p:cNvPr>
              <p:cNvGrpSpPr/>
              <p:nvPr/>
            </p:nvGrpSpPr>
            <p:grpSpPr>
              <a:xfrm>
                <a:off x="7590765" y="1223137"/>
                <a:ext cx="2024519" cy="1655939"/>
                <a:chOff x="3026344" y="1229837"/>
                <a:chExt cx="2024519" cy="1655939"/>
              </a:xfrm>
            </p:grpSpPr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1D508258-712D-9174-94B5-6F44FDDCBD2B}"/>
                    </a:ext>
                  </a:extLst>
                </p:cNvPr>
                <p:cNvSpPr txBox="1"/>
                <p:nvPr/>
              </p:nvSpPr>
              <p:spPr>
                <a:xfrm>
                  <a:off x="3645002" y="1229837"/>
                  <a:ext cx="1405861" cy="3087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Segmento 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962C7E88-E678-7FFD-345B-D6093583027A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12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41%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Básico</a:t>
                  </a:r>
                </a:p>
              </p:txBody>
            </p:sp>
          </p:grpSp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8E0C8D82-444D-6725-AEF5-D6185A4C130A}"/>
                  </a:ext>
                </a:extLst>
              </p:cNvPr>
              <p:cNvSpPr txBox="1"/>
              <p:nvPr/>
            </p:nvSpPr>
            <p:spPr>
              <a:xfrm>
                <a:off x="9083519" y="231777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0%</a:t>
                </a:r>
              </a:p>
              <a:p>
                <a:r>
                  <a:rPr lang="es-CO" sz="1400" b="1">
                    <a:solidFill>
                      <a:schemeClr val="bg1"/>
                    </a:solidFill>
                  </a:rPr>
                  <a:t>       Alto</a:t>
                </a:r>
              </a:p>
            </p:txBody>
          </p:sp>
        </p:grpSp>
        <p:sp>
          <p:nvSpPr>
            <p:cNvPr id="77" name="CuadroTexto 76">
              <a:extLst>
                <a:ext uri="{FF2B5EF4-FFF2-40B4-BE49-F238E27FC236}">
                  <a16:creationId xmlns:a16="http://schemas.microsoft.com/office/drawing/2014/main" id="{552EEDA8-9B98-96DE-18D7-188290827E47}"/>
                </a:ext>
              </a:extLst>
            </p:cNvPr>
            <p:cNvSpPr txBox="1"/>
            <p:nvPr/>
          </p:nvSpPr>
          <p:spPr>
            <a:xfrm>
              <a:off x="435343" y="3559299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36%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Medio</a:t>
              </a:r>
            </a:p>
          </p:txBody>
        </p:sp>
        <p:pic>
          <p:nvPicPr>
            <p:cNvPr id="80" name="Imagen 79">
              <a:extLst>
                <a:ext uri="{FF2B5EF4-FFF2-40B4-BE49-F238E27FC236}">
                  <a16:creationId xmlns:a16="http://schemas.microsoft.com/office/drawing/2014/main" id="{4908C8DC-77DA-C976-03ED-68BA0F261C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LineDrawing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90862" y="3871141"/>
              <a:ext cx="680857" cy="680857"/>
            </a:xfrm>
            <a:prstGeom prst="rect">
              <a:avLst/>
            </a:prstGeom>
          </p:spPr>
        </p:pic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AD4A430F-8FC6-2513-CD00-830F00085F1C}"/>
              </a:ext>
            </a:extLst>
          </p:cNvPr>
          <p:cNvGrpSpPr/>
          <p:nvPr/>
        </p:nvGrpSpPr>
        <p:grpSpPr>
          <a:xfrm>
            <a:off x="2169335" y="2774370"/>
            <a:ext cx="3284086" cy="1963483"/>
            <a:chOff x="2759885" y="3111252"/>
            <a:chExt cx="3284086" cy="1963483"/>
          </a:xfrm>
        </p:grpSpPr>
        <p:sp>
          <p:nvSpPr>
            <p:cNvPr id="88" name="CuadroTexto 87">
              <a:extLst>
                <a:ext uri="{FF2B5EF4-FFF2-40B4-BE49-F238E27FC236}">
                  <a16:creationId xmlns:a16="http://schemas.microsoft.com/office/drawing/2014/main" id="{AF382B88-C37C-D370-DA09-B0B04635500A}"/>
                </a:ext>
              </a:extLst>
            </p:cNvPr>
            <p:cNvSpPr txBox="1"/>
            <p:nvPr/>
          </p:nvSpPr>
          <p:spPr>
            <a:xfrm>
              <a:off x="2759885" y="3531697"/>
              <a:ext cx="154680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   42%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             Sin Grupo</a:t>
              </a:r>
            </a:p>
          </p:txBody>
        </p:sp>
        <p:grpSp>
          <p:nvGrpSpPr>
            <p:cNvPr id="124" name="Grupo 123">
              <a:extLst>
                <a:ext uri="{FF2B5EF4-FFF2-40B4-BE49-F238E27FC236}">
                  <a16:creationId xmlns:a16="http://schemas.microsoft.com/office/drawing/2014/main" id="{B89C974D-D05F-F49B-CE31-8AD94C57EC11}"/>
                </a:ext>
              </a:extLst>
            </p:cNvPr>
            <p:cNvGrpSpPr/>
            <p:nvPr/>
          </p:nvGrpSpPr>
          <p:grpSpPr>
            <a:xfrm>
              <a:off x="2827705" y="3111252"/>
              <a:ext cx="3216266" cy="1963483"/>
              <a:chOff x="2827705" y="3111252"/>
              <a:chExt cx="3216266" cy="1963483"/>
            </a:xfrm>
          </p:grpSpPr>
          <p:grpSp>
            <p:nvGrpSpPr>
              <p:cNvPr id="81" name="Grupo 80">
                <a:extLst>
                  <a:ext uri="{FF2B5EF4-FFF2-40B4-BE49-F238E27FC236}">
                    <a16:creationId xmlns:a16="http://schemas.microsoft.com/office/drawing/2014/main" id="{2A2F3E2F-9181-B56B-9337-7488C4D280B0}"/>
                  </a:ext>
                </a:extLst>
              </p:cNvPr>
              <p:cNvGrpSpPr/>
              <p:nvPr/>
            </p:nvGrpSpPr>
            <p:grpSpPr>
              <a:xfrm>
                <a:off x="2827705" y="3111252"/>
                <a:ext cx="3216266" cy="1963483"/>
                <a:chOff x="7593779" y="1110832"/>
                <a:chExt cx="3216266" cy="1780012"/>
              </a:xfrm>
            </p:grpSpPr>
            <p:sp>
              <p:nvSpPr>
                <p:cNvPr id="82" name="Rectángulo 81">
                  <a:extLst>
                    <a:ext uri="{FF2B5EF4-FFF2-40B4-BE49-F238E27FC236}">
                      <a16:creationId xmlns:a16="http://schemas.microsoft.com/office/drawing/2014/main" id="{0E39D21B-7219-EE6E-81AD-9A5C68248480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808386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83" name="Grupo 82">
                  <a:extLst>
                    <a:ext uri="{FF2B5EF4-FFF2-40B4-BE49-F238E27FC236}">
                      <a16:creationId xmlns:a16="http://schemas.microsoft.com/office/drawing/2014/main" id="{F6C1755E-4414-C552-6CD4-D35263B874C6}"/>
                    </a:ext>
                  </a:extLst>
                </p:cNvPr>
                <p:cNvGrpSpPr/>
                <p:nvPr/>
              </p:nvGrpSpPr>
              <p:grpSpPr>
                <a:xfrm>
                  <a:off x="7593779" y="1166870"/>
                  <a:ext cx="2748715" cy="1628029"/>
                  <a:chOff x="3029358" y="1173570"/>
                  <a:chExt cx="2748715" cy="1628029"/>
                </a:xfrm>
              </p:grpSpPr>
              <p:sp>
                <p:nvSpPr>
                  <p:cNvPr id="85" name="CuadroTexto 84">
                    <a:extLst>
                      <a:ext uri="{FF2B5EF4-FFF2-40B4-BE49-F238E27FC236}">
                        <a16:creationId xmlns:a16="http://schemas.microsoft.com/office/drawing/2014/main" id="{A0E9E886-CE33-3560-F8D7-28D7BF047D17}"/>
                      </a:ext>
                    </a:extLst>
                  </p:cNvPr>
                  <p:cNvSpPr txBox="1"/>
                  <p:nvPr/>
                </p:nvSpPr>
                <p:spPr>
                  <a:xfrm>
                    <a:off x="3634807" y="1173570"/>
                    <a:ext cx="2143266" cy="30691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Segmento Familia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87" name="CuadroTexto 86">
                    <a:extLst>
                      <a:ext uri="{FF2B5EF4-FFF2-40B4-BE49-F238E27FC236}">
                        <a16:creationId xmlns:a16="http://schemas.microsoft.com/office/drawing/2014/main" id="{FC31FCBE-33DA-FB39-6F4E-2F2F8E7051BE}"/>
                      </a:ext>
                    </a:extLst>
                  </p:cNvPr>
                  <p:cNvSpPr txBox="1"/>
                  <p:nvPr/>
                </p:nvSpPr>
                <p:spPr>
                  <a:xfrm>
                    <a:off x="3029358" y="2131957"/>
                    <a:ext cx="1923771" cy="66964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 4</a:t>
                    </a:r>
                    <a:r>
                      <a:rPr lang="es-CO" sz="18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%</a:t>
                    </a:r>
                  </a:p>
                  <a:p>
                    <a:r>
                      <a:rPr lang="es-CO" sz="1200" b="1" dirty="0">
                        <a:solidFill>
                          <a:schemeClr val="bg1"/>
                        </a:solidFill>
                      </a:rPr>
                      <a:t>      Monoparental</a:t>
                    </a:r>
                  </a:p>
                  <a:p>
                    <a:r>
                      <a:rPr lang="es-CO" sz="1200" b="1" dirty="0">
                        <a:solidFill>
                          <a:schemeClr val="bg1"/>
                        </a:solidFill>
                      </a:rPr>
                      <a:t>      Ampliada</a:t>
                    </a:r>
                  </a:p>
                </p:txBody>
              </p:sp>
            </p:grpSp>
            <p:sp>
              <p:nvSpPr>
                <p:cNvPr id="84" name="CuadroTexto 83">
                  <a:extLst>
                    <a:ext uri="{FF2B5EF4-FFF2-40B4-BE49-F238E27FC236}">
                      <a16:creationId xmlns:a16="http://schemas.microsoft.com/office/drawing/2014/main" id="{C933AAAF-36C3-7F18-E7CC-F2F59CC160BF}"/>
                    </a:ext>
                  </a:extLst>
                </p:cNvPr>
                <p:cNvSpPr txBox="1"/>
                <p:nvPr/>
              </p:nvSpPr>
              <p:spPr>
                <a:xfrm>
                  <a:off x="9185077" y="2110714"/>
                  <a:ext cx="1624968" cy="5022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        8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 Nuclear Integrada</a:t>
                  </a:r>
                </a:p>
              </p:txBody>
            </p:sp>
          </p:grpSp>
          <p:sp>
            <p:nvSpPr>
              <p:cNvPr id="89" name="CuadroTexto 88">
                <a:extLst>
                  <a:ext uri="{FF2B5EF4-FFF2-40B4-BE49-F238E27FC236}">
                    <a16:creationId xmlns:a16="http://schemas.microsoft.com/office/drawing/2014/main" id="{C4C907EB-F22B-F5EF-142F-8CD345FAEFAA}"/>
                  </a:ext>
                </a:extLst>
              </p:cNvPr>
              <p:cNvSpPr txBox="1"/>
              <p:nvPr/>
            </p:nvSpPr>
            <p:spPr>
              <a:xfrm>
                <a:off x="4771770" y="3534141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44%</a:t>
                </a:r>
                <a:r>
                  <a:rPr lang="es-CO" sz="1200" b="1" dirty="0">
                    <a:solidFill>
                      <a:schemeClr val="bg1"/>
                    </a:solidFill>
                  </a:rPr>
                  <a:t> Monoparental</a:t>
                </a:r>
              </a:p>
            </p:txBody>
          </p:sp>
          <p:pic>
            <p:nvPicPr>
              <p:cNvPr id="92" name="Imagen 91">
                <a:extLst>
                  <a:ext uri="{FF2B5EF4-FFF2-40B4-BE49-F238E27FC236}">
                    <a16:creationId xmlns:a16="http://schemas.microsoft.com/office/drawing/2014/main" id="{50ACCE18-00D3-BA00-07B6-F4390CB797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artisticGlowDiffused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075298" y="3683026"/>
                <a:ext cx="754362" cy="754362"/>
              </a:xfrm>
              <a:prstGeom prst="rect">
                <a:avLst/>
              </a:prstGeom>
            </p:spPr>
          </p:pic>
        </p:grp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255537AA-9E2D-E984-A41D-EB34A26C5B41}"/>
              </a:ext>
            </a:extLst>
          </p:cNvPr>
          <p:cNvGrpSpPr/>
          <p:nvPr/>
        </p:nvGrpSpPr>
        <p:grpSpPr>
          <a:xfrm>
            <a:off x="90873" y="847081"/>
            <a:ext cx="3094159" cy="1780012"/>
            <a:chOff x="681423" y="1183963"/>
            <a:chExt cx="3094159" cy="1780012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CBF30A05-37FF-4921-6012-FE1446218807}"/>
                </a:ext>
              </a:extLst>
            </p:cNvPr>
            <p:cNvSpPr txBox="1"/>
            <p:nvPr/>
          </p:nvSpPr>
          <p:spPr>
            <a:xfrm>
              <a:off x="942955" y="1217834"/>
              <a:ext cx="2376943" cy="16927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s-CO" sz="2000" b="1" dirty="0">
                <a:solidFill>
                  <a:srgbClr val="FFC000"/>
                </a:solidFill>
              </a:endParaRP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Afiliado     </a:t>
              </a:r>
              <a:r>
                <a:rPr lang="es-CO" sz="2800" b="1" dirty="0">
                  <a:solidFill>
                    <a:srgbClr val="FFC000"/>
                  </a:solidFill>
                </a:rPr>
                <a:t>   </a:t>
              </a:r>
              <a:r>
                <a:rPr lang="es-CO" sz="2800" b="1" dirty="0">
                  <a:solidFill>
                    <a:schemeClr val="bg1"/>
                  </a:solidFill>
                </a:rPr>
                <a:t>62%</a:t>
              </a: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No Afilado   </a:t>
              </a:r>
              <a:r>
                <a:rPr lang="es-CO" sz="2800" b="1" dirty="0">
                  <a:solidFill>
                    <a:schemeClr val="bg1"/>
                  </a:solidFill>
                </a:rPr>
                <a:t>38%</a:t>
              </a:r>
            </a:p>
            <a:p>
              <a:endParaRPr lang="es-ES" sz="28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05" name="Rectángulo 104">
              <a:extLst>
                <a:ext uri="{FF2B5EF4-FFF2-40B4-BE49-F238E27FC236}">
                  <a16:creationId xmlns:a16="http://schemas.microsoft.com/office/drawing/2014/main" id="{80C5E448-ADC6-6414-67E1-51154F1E5995}"/>
                </a:ext>
              </a:extLst>
            </p:cNvPr>
            <p:cNvSpPr/>
            <p:nvPr/>
          </p:nvSpPr>
          <p:spPr>
            <a:xfrm>
              <a:off x="681423" y="1183963"/>
              <a:ext cx="3094159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20" name="Grupo 119">
            <a:extLst>
              <a:ext uri="{FF2B5EF4-FFF2-40B4-BE49-F238E27FC236}">
                <a16:creationId xmlns:a16="http://schemas.microsoft.com/office/drawing/2014/main" id="{0E0D7716-30FE-4D9A-F9F9-FB4360DB918A}"/>
              </a:ext>
            </a:extLst>
          </p:cNvPr>
          <p:cNvGrpSpPr/>
          <p:nvPr/>
        </p:nvGrpSpPr>
        <p:grpSpPr>
          <a:xfrm>
            <a:off x="7777183" y="2775745"/>
            <a:ext cx="2623981" cy="1933541"/>
            <a:chOff x="9059295" y="3127128"/>
            <a:chExt cx="2623981" cy="1933541"/>
          </a:xfrm>
        </p:grpSpPr>
        <p:grpSp>
          <p:nvGrpSpPr>
            <p:cNvPr id="106" name="Grupo 105">
              <a:extLst>
                <a:ext uri="{FF2B5EF4-FFF2-40B4-BE49-F238E27FC236}">
                  <a16:creationId xmlns:a16="http://schemas.microsoft.com/office/drawing/2014/main" id="{4628F623-85A1-79E9-A691-4E259D56A52D}"/>
                </a:ext>
              </a:extLst>
            </p:cNvPr>
            <p:cNvGrpSpPr/>
            <p:nvPr/>
          </p:nvGrpSpPr>
          <p:grpSpPr>
            <a:xfrm>
              <a:off x="9080988" y="3127128"/>
              <a:ext cx="2601495" cy="1933541"/>
              <a:chOff x="7590765" y="1110832"/>
              <a:chExt cx="2601495" cy="1780012"/>
            </a:xfrm>
          </p:grpSpPr>
          <p:sp>
            <p:nvSpPr>
              <p:cNvPr id="107" name="Rectángulo 106">
                <a:extLst>
                  <a:ext uri="{FF2B5EF4-FFF2-40B4-BE49-F238E27FC236}">
                    <a16:creationId xmlns:a16="http://schemas.microsoft.com/office/drawing/2014/main" id="{723919AC-4FC7-EE98-DC72-E7D6CBE54307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108" name="Grupo 107">
                <a:extLst>
                  <a:ext uri="{FF2B5EF4-FFF2-40B4-BE49-F238E27FC236}">
                    <a16:creationId xmlns:a16="http://schemas.microsoft.com/office/drawing/2014/main" id="{C3E2C349-B41B-3055-C9A2-AB1B0A44CEC1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2191150" cy="1678227"/>
                <a:chOff x="3026344" y="1212927"/>
                <a:chExt cx="2191150" cy="1678227"/>
              </a:xfrm>
            </p:grpSpPr>
            <p:sp>
              <p:nvSpPr>
                <p:cNvPr id="110" name="CuadroTexto 109">
                  <a:extLst>
                    <a:ext uri="{FF2B5EF4-FFF2-40B4-BE49-F238E27FC236}">
                      <a16:creationId xmlns:a16="http://schemas.microsoft.com/office/drawing/2014/main" id="{5FE736D8-6EC3-239D-2610-CC431DD517A7}"/>
                    </a:ext>
                  </a:extLst>
                </p:cNvPr>
                <p:cNvSpPr txBox="1"/>
                <p:nvPr/>
              </p:nvSpPr>
              <p:spPr>
                <a:xfrm>
                  <a:off x="3811633" y="1212927"/>
                  <a:ext cx="140586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Estrato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11" name="CuadroTexto 110">
                  <a:extLst>
                    <a:ext uri="{FF2B5EF4-FFF2-40B4-BE49-F238E27FC236}">
                      <a16:creationId xmlns:a16="http://schemas.microsoft.com/office/drawing/2014/main" id="{FEDFA22B-68E2-E690-2E04-E4AD37D73954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10%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  <p:sp>
            <p:nvSpPr>
              <p:cNvPr id="109" name="CuadroTexto 108">
                <a:extLst>
                  <a:ext uri="{FF2B5EF4-FFF2-40B4-BE49-F238E27FC236}">
                    <a16:creationId xmlns:a16="http://schemas.microsoft.com/office/drawing/2014/main" id="{BBC8AA4A-85A1-C9FD-E4C6-D4B4AEDF2E0B}"/>
                  </a:ext>
                </a:extLst>
              </p:cNvPr>
              <p:cNvSpPr txBox="1"/>
              <p:nvPr/>
            </p:nvSpPr>
            <p:spPr>
              <a:xfrm>
                <a:off x="9019351" y="2317778"/>
                <a:ext cx="1172909" cy="566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1%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Cuatro</a:t>
                </a:r>
              </a:p>
            </p:txBody>
          </p:sp>
        </p:grpSp>
        <p:sp>
          <p:nvSpPr>
            <p:cNvPr id="112" name="CuadroTexto 111">
              <a:extLst>
                <a:ext uri="{FF2B5EF4-FFF2-40B4-BE49-F238E27FC236}">
                  <a16:creationId xmlns:a16="http://schemas.microsoft.com/office/drawing/2014/main" id="{88C6EAB2-E8A8-4FDA-2F68-78E4E8E9E956}"/>
                </a:ext>
              </a:extLst>
            </p:cNvPr>
            <p:cNvSpPr txBox="1"/>
            <p:nvPr/>
          </p:nvSpPr>
          <p:spPr>
            <a:xfrm>
              <a:off x="9059295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4%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Uno</a:t>
              </a:r>
            </a:p>
          </p:txBody>
        </p:sp>
        <p:sp>
          <p:nvSpPr>
            <p:cNvPr id="113" name="CuadroTexto 112">
              <a:extLst>
                <a:ext uri="{FF2B5EF4-FFF2-40B4-BE49-F238E27FC236}">
                  <a16:creationId xmlns:a16="http://schemas.microsoft.com/office/drawing/2014/main" id="{BB95ECE9-F8CD-5CC4-C999-C81EDC742C8E}"/>
                </a:ext>
              </a:extLst>
            </p:cNvPr>
            <p:cNvSpPr txBox="1"/>
            <p:nvPr/>
          </p:nvSpPr>
          <p:spPr>
            <a:xfrm>
              <a:off x="10510367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14%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Dos</a:t>
              </a:r>
            </a:p>
          </p:txBody>
        </p:sp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B17F3D73-D08F-F9D5-D726-D83003491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artisticPencilGrayscale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043317" y="3855923"/>
              <a:ext cx="655939" cy="655939"/>
            </a:xfrm>
            <a:prstGeom prst="rect">
              <a:avLst/>
            </a:prstGeom>
          </p:spPr>
        </p:pic>
      </p:grp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DF4C0561-E205-185A-80D5-C5F1F72E36ED}"/>
              </a:ext>
            </a:extLst>
          </p:cNvPr>
          <p:cNvSpPr txBox="1"/>
          <p:nvPr/>
        </p:nvSpPr>
        <p:spPr>
          <a:xfrm>
            <a:off x="5289967" y="3228845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42%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 Cero</a:t>
            </a:r>
          </a:p>
        </p:txBody>
      </p:sp>
      <p:grpSp>
        <p:nvGrpSpPr>
          <p:cNvPr id="123" name="Grupo 122">
            <a:extLst>
              <a:ext uri="{FF2B5EF4-FFF2-40B4-BE49-F238E27FC236}">
                <a16:creationId xmlns:a16="http://schemas.microsoft.com/office/drawing/2014/main" id="{788CF4E3-96BF-9B13-8A23-24B8D80AC421}"/>
              </a:ext>
            </a:extLst>
          </p:cNvPr>
          <p:cNvGrpSpPr/>
          <p:nvPr/>
        </p:nvGrpSpPr>
        <p:grpSpPr>
          <a:xfrm>
            <a:off x="5340592" y="2790246"/>
            <a:ext cx="2602288" cy="1933541"/>
            <a:chOff x="5931142" y="3127128"/>
            <a:chExt cx="2602288" cy="1933541"/>
          </a:xfrm>
        </p:grpSpPr>
        <p:grpSp>
          <p:nvGrpSpPr>
            <p:cNvPr id="93" name="Grupo 92">
              <a:extLst>
                <a:ext uri="{FF2B5EF4-FFF2-40B4-BE49-F238E27FC236}">
                  <a16:creationId xmlns:a16="http://schemas.microsoft.com/office/drawing/2014/main" id="{78002336-0F1E-3073-64AC-A71822E3F8AF}"/>
                </a:ext>
              </a:extLst>
            </p:cNvPr>
            <p:cNvGrpSpPr/>
            <p:nvPr/>
          </p:nvGrpSpPr>
          <p:grpSpPr>
            <a:xfrm>
              <a:off x="5931142" y="3127128"/>
              <a:ext cx="2601495" cy="1933541"/>
              <a:chOff x="7590765" y="1110832"/>
              <a:chExt cx="2601495" cy="1780012"/>
            </a:xfrm>
          </p:grpSpPr>
          <p:sp>
            <p:nvSpPr>
              <p:cNvPr id="94" name="Rectángulo 93">
                <a:extLst>
                  <a:ext uri="{FF2B5EF4-FFF2-40B4-BE49-F238E27FC236}">
                    <a16:creationId xmlns:a16="http://schemas.microsoft.com/office/drawing/2014/main" id="{E6B187BF-B9BA-ABE1-C49B-34EDA8C74525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95" name="Grupo 94">
                <a:extLst>
                  <a:ext uri="{FF2B5EF4-FFF2-40B4-BE49-F238E27FC236}">
                    <a16:creationId xmlns:a16="http://schemas.microsoft.com/office/drawing/2014/main" id="{6AA48009-BC33-9A73-71B7-520CC43CD1FD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1922369" cy="1647802"/>
                <a:chOff x="3026344" y="1212927"/>
                <a:chExt cx="1922369" cy="1647802"/>
              </a:xfrm>
            </p:grpSpPr>
            <p:sp>
              <p:nvSpPr>
                <p:cNvPr id="97" name="CuadroTexto 96">
                  <a:extLst>
                    <a:ext uri="{FF2B5EF4-FFF2-40B4-BE49-F238E27FC236}">
                      <a16:creationId xmlns:a16="http://schemas.microsoft.com/office/drawing/2014/main" id="{82A0D019-FA76-6794-5014-942D517784D6}"/>
                    </a:ext>
                  </a:extLst>
                </p:cNvPr>
                <p:cNvSpPr txBox="1"/>
                <p:nvPr/>
              </p:nvSpPr>
              <p:spPr>
                <a:xfrm>
                  <a:off x="4021092" y="1212927"/>
                  <a:ext cx="92762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PAC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98" name="CuadroTexto 97">
                  <a:extLst>
                    <a:ext uri="{FF2B5EF4-FFF2-40B4-BE49-F238E27FC236}">
                      <a16:creationId xmlns:a16="http://schemas.microsoft.com/office/drawing/2014/main" id="{0AC1F604-2262-E41A-01FE-73B075384671}"/>
                    </a:ext>
                  </a:extLst>
                </p:cNvPr>
                <p:cNvSpPr txBox="1"/>
                <p:nvPr/>
              </p:nvSpPr>
              <p:spPr>
                <a:xfrm>
                  <a:off x="3026344" y="2294053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8%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  <p:sp>
            <p:nvSpPr>
              <p:cNvPr id="96" name="CuadroTexto 95">
                <a:extLst>
                  <a:ext uri="{FF2B5EF4-FFF2-40B4-BE49-F238E27FC236}">
                    <a16:creationId xmlns:a16="http://schemas.microsoft.com/office/drawing/2014/main" id="{423663F0-8FF7-4466-ACFC-2608A0C5E41E}"/>
                  </a:ext>
                </a:extLst>
              </p:cNvPr>
              <p:cNvSpPr txBox="1"/>
              <p:nvPr/>
            </p:nvSpPr>
            <p:spPr>
              <a:xfrm>
                <a:off x="9019351" y="2317778"/>
                <a:ext cx="1172909" cy="566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Cuatro</a:t>
                </a:r>
              </a:p>
            </p:txBody>
          </p:sp>
        </p:grpSp>
        <p:grpSp>
          <p:nvGrpSpPr>
            <p:cNvPr id="121" name="Grupo 120">
              <a:extLst>
                <a:ext uri="{FF2B5EF4-FFF2-40B4-BE49-F238E27FC236}">
                  <a16:creationId xmlns:a16="http://schemas.microsoft.com/office/drawing/2014/main" id="{E39B2FF5-976B-285A-85E6-7646640B9426}"/>
                </a:ext>
              </a:extLst>
            </p:cNvPr>
            <p:cNvGrpSpPr/>
            <p:nvPr/>
          </p:nvGrpSpPr>
          <p:grpSpPr>
            <a:xfrm>
              <a:off x="6649678" y="3565727"/>
              <a:ext cx="1883752" cy="1414028"/>
              <a:chOff x="6649678" y="3565727"/>
              <a:chExt cx="1883752" cy="1414028"/>
            </a:xfrm>
          </p:grpSpPr>
          <p:sp>
            <p:nvSpPr>
              <p:cNvPr id="99" name="CuadroTexto 98">
                <a:extLst>
                  <a:ext uri="{FF2B5EF4-FFF2-40B4-BE49-F238E27FC236}">
                    <a16:creationId xmlns:a16="http://schemas.microsoft.com/office/drawing/2014/main" id="{526CF47D-D738-A3BC-3715-A9DE8E442448}"/>
                  </a:ext>
                </a:extLst>
              </p:cNvPr>
              <p:cNvSpPr txBox="1"/>
              <p:nvPr/>
            </p:nvSpPr>
            <p:spPr>
              <a:xfrm>
                <a:off x="6649678" y="358240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29%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Uno</a:t>
                </a:r>
              </a:p>
            </p:txBody>
          </p:sp>
          <p:sp>
            <p:nvSpPr>
              <p:cNvPr id="101" name="CuadroTexto 100">
                <a:extLst>
                  <a:ext uri="{FF2B5EF4-FFF2-40B4-BE49-F238E27FC236}">
                    <a16:creationId xmlns:a16="http://schemas.microsoft.com/office/drawing/2014/main" id="{90008470-A94E-4680-C563-EB30C299A625}"/>
                  </a:ext>
                </a:extLst>
              </p:cNvPr>
              <p:cNvSpPr txBox="1"/>
              <p:nvPr/>
            </p:nvSpPr>
            <p:spPr>
              <a:xfrm>
                <a:off x="7360521" y="3565727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19%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Dos</a:t>
                </a:r>
              </a:p>
            </p:txBody>
          </p:sp>
          <p:pic>
            <p:nvPicPr>
              <p:cNvPr id="118" name="Imagen 117">
                <a:extLst>
                  <a:ext uri="{FF2B5EF4-FFF2-40B4-BE49-F238E27FC236}">
                    <a16:creationId xmlns:a16="http://schemas.microsoft.com/office/drawing/2014/main" id="{C60E9F89-0818-2146-0491-D523ABBB83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artisticPaintStrokes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886925" y="4205951"/>
                <a:ext cx="773804" cy="773804"/>
              </a:xfrm>
              <a:prstGeom prst="rect">
                <a:avLst/>
              </a:prstGeom>
            </p:spPr>
          </p:pic>
        </p:grpSp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456EA7F0-9C70-2B8A-2195-FA4930A72B8C}"/>
              </a:ext>
            </a:extLst>
          </p:cNvPr>
          <p:cNvGrpSpPr/>
          <p:nvPr/>
        </p:nvGrpSpPr>
        <p:grpSpPr>
          <a:xfrm>
            <a:off x="8022470" y="853892"/>
            <a:ext cx="2195988" cy="1780012"/>
            <a:chOff x="7814360" y="1110832"/>
            <a:chExt cx="2195988" cy="1780012"/>
          </a:xfrm>
        </p:grpSpPr>
        <p:grpSp>
          <p:nvGrpSpPr>
            <p:cNvPr id="66" name="Grupo 65">
              <a:extLst>
                <a:ext uri="{FF2B5EF4-FFF2-40B4-BE49-F238E27FC236}">
                  <a16:creationId xmlns:a16="http://schemas.microsoft.com/office/drawing/2014/main" id="{831E8184-BD72-2EBE-223B-1BD9A08FD125}"/>
                </a:ext>
              </a:extLst>
            </p:cNvPr>
            <p:cNvGrpSpPr/>
            <p:nvPr/>
          </p:nvGrpSpPr>
          <p:grpSpPr>
            <a:xfrm>
              <a:off x="7814360" y="1110832"/>
              <a:ext cx="2195988" cy="1780012"/>
              <a:chOff x="7814360" y="1110832"/>
              <a:chExt cx="2195988" cy="1780012"/>
            </a:xfrm>
          </p:grpSpPr>
          <p:sp>
            <p:nvSpPr>
              <p:cNvPr id="60" name="Rectángulo 59">
                <a:extLst>
                  <a:ext uri="{FF2B5EF4-FFF2-40B4-BE49-F238E27FC236}">
                    <a16:creationId xmlns:a16="http://schemas.microsoft.com/office/drawing/2014/main" id="{5621138B-4AF6-5DE5-AD29-4898B5BCEA7F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61" name="Grupo 60">
                <a:extLst>
                  <a:ext uri="{FF2B5EF4-FFF2-40B4-BE49-F238E27FC236}">
                    <a16:creationId xmlns:a16="http://schemas.microsoft.com/office/drawing/2014/main" id="{62F57CEE-543B-C1BE-4FF9-54470C493B02}"/>
                  </a:ext>
                </a:extLst>
              </p:cNvPr>
              <p:cNvGrpSpPr/>
              <p:nvPr/>
            </p:nvGrpSpPr>
            <p:grpSpPr>
              <a:xfrm>
                <a:off x="7814361" y="1223137"/>
                <a:ext cx="2083693" cy="1630468"/>
                <a:chOff x="3249940" y="1229837"/>
                <a:chExt cx="2083693" cy="1630468"/>
              </a:xfrm>
            </p:grpSpPr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E4FC3028-6C9A-F376-8506-EB9031902CAB}"/>
                    </a:ext>
                  </a:extLst>
                </p:cNvPr>
                <p:cNvSpPr txBox="1"/>
                <p:nvPr/>
              </p:nvSpPr>
              <p:spPr>
                <a:xfrm>
                  <a:off x="3552927" y="1229837"/>
                  <a:ext cx="1780706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Rango Edad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43BD38A1-85EA-AE26-F27D-822564D714E7}"/>
                    </a:ext>
                  </a:extLst>
                </p:cNvPr>
                <p:cNvSpPr txBox="1"/>
                <p:nvPr/>
              </p:nvSpPr>
              <p:spPr>
                <a:xfrm>
                  <a:off x="3249940" y="2306307"/>
                  <a:ext cx="1172909" cy="5539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54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20 a 35 años</a:t>
                  </a:r>
                </a:p>
              </p:txBody>
            </p:sp>
          </p:grpSp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586BCBB6-52D4-B61B-73BB-0C28FDFD7ACF}"/>
                  </a:ext>
                </a:extLst>
              </p:cNvPr>
              <p:cNvSpPr txBox="1"/>
              <p:nvPr/>
            </p:nvSpPr>
            <p:spPr>
              <a:xfrm>
                <a:off x="8837439" y="2289285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27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36 a 45 años</a:t>
                </a:r>
              </a:p>
            </p:txBody>
          </p:sp>
        </p:grpSp>
        <p:pic>
          <p:nvPicPr>
            <p:cNvPr id="128" name="Imagen 127">
              <a:extLst>
                <a:ext uri="{FF2B5EF4-FFF2-40B4-BE49-F238E27FC236}">
                  <a16:creationId xmlns:a16="http://schemas.microsoft.com/office/drawing/2014/main" id="{3BE29EC0-6868-1C84-5841-5BD512F974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17644" y="1602912"/>
              <a:ext cx="655473" cy="655473"/>
            </a:xfrm>
            <a:prstGeom prst="rect">
              <a:avLst/>
            </a:prstGeom>
          </p:spPr>
        </p:pic>
      </p:grpSp>
      <p:grpSp>
        <p:nvGrpSpPr>
          <p:cNvPr id="189" name="Grupo 188">
            <a:extLst>
              <a:ext uri="{FF2B5EF4-FFF2-40B4-BE49-F238E27FC236}">
                <a16:creationId xmlns:a16="http://schemas.microsoft.com/office/drawing/2014/main" id="{17B94F5F-04F5-BA9E-3994-2341322B58C4}"/>
              </a:ext>
            </a:extLst>
          </p:cNvPr>
          <p:cNvGrpSpPr/>
          <p:nvPr/>
        </p:nvGrpSpPr>
        <p:grpSpPr>
          <a:xfrm>
            <a:off x="-114768" y="4837223"/>
            <a:ext cx="3758502" cy="1933541"/>
            <a:chOff x="435340" y="4837223"/>
            <a:chExt cx="4854517" cy="1933541"/>
          </a:xfrm>
        </p:grpSpPr>
        <p:grpSp>
          <p:nvGrpSpPr>
            <p:cNvPr id="138" name="Grupo 137">
              <a:extLst>
                <a:ext uri="{FF2B5EF4-FFF2-40B4-BE49-F238E27FC236}">
                  <a16:creationId xmlns:a16="http://schemas.microsoft.com/office/drawing/2014/main" id="{B5B10D62-975A-31B5-C87A-F4C06D2E7CE7}"/>
                </a:ext>
              </a:extLst>
            </p:cNvPr>
            <p:cNvGrpSpPr/>
            <p:nvPr/>
          </p:nvGrpSpPr>
          <p:grpSpPr>
            <a:xfrm>
              <a:off x="435340" y="4837223"/>
              <a:ext cx="4854517" cy="1933541"/>
              <a:chOff x="9135236" y="3127128"/>
              <a:chExt cx="3830051" cy="1933541"/>
            </a:xfrm>
          </p:grpSpPr>
          <p:grpSp>
            <p:nvGrpSpPr>
              <p:cNvPr id="139" name="Grupo 138">
                <a:extLst>
                  <a:ext uri="{FF2B5EF4-FFF2-40B4-BE49-F238E27FC236}">
                    <a16:creationId xmlns:a16="http://schemas.microsoft.com/office/drawing/2014/main" id="{05808768-D3CF-CA6B-F802-8C11C675BE48}"/>
                  </a:ext>
                </a:extLst>
              </p:cNvPr>
              <p:cNvGrpSpPr/>
              <p:nvPr/>
            </p:nvGrpSpPr>
            <p:grpSpPr>
              <a:xfrm>
                <a:off x="9229918" y="3127128"/>
                <a:ext cx="3735369" cy="1933541"/>
                <a:chOff x="7739695" y="1110832"/>
                <a:chExt cx="3735369" cy="1780012"/>
              </a:xfrm>
            </p:grpSpPr>
            <p:sp>
              <p:nvSpPr>
                <p:cNvPr id="143" name="Rectángulo 142">
                  <a:extLst>
                    <a:ext uri="{FF2B5EF4-FFF2-40B4-BE49-F238E27FC236}">
                      <a16:creationId xmlns:a16="http://schemas.microsoft.com/office/drawing/2014/main" id="{C51A0CA5-1B06-0EE8-9A00-C8D92D416D88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3246650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44" name="Grupo 143">
                  <a:extLst>
                    <a:ext uri="{FF2B5EF4-FFF2-40B4-BE49-F238E27FC236}">
                      <a16:creationId xmlns:a16="http://schemas.microsoft.com/office/drawing/2014/main" id="{648713B6-C9ED-EBF0-B016-061D12D53B6E}"/>
                    </a:ext>
                  </a:extLst>
                </p:cNvPr>
                <p:cNvGrpSpPr/>
                <p:nvPr/>
              </p:nvGrpSpPr>
              <p:grpSpPr>
                <a:xfrm>
                  <a:off x="7739695" y="1236316"/>
                  <a:ext cx="3735369" cy="1532075"/>
                  <a:chOff x="3175274" y="1243016"/>
                  <a:chExt cx="3735369" cy="1532075"/>
                </a:xfrm>
              </p:grpSpPr>
              <p:sp>
                <p:nvSpPr>
                  <p:cNvPr id="146" name="CuadroTexto 145">
                    <a:extLst>
                      <a:ext uri="{FF2B5EF4-FFF2-40B4-BE49-F238E27FC236}">
                        <a16:creationId xmlns:a16="http://schemas.microsoft.com/office/drawing/2014/main" id="{A1DC5C51-B37C-D3D2-0DE2-2F7DC86F091B}"/>
                      </a:ext>
                    </a:extLst>
                  </p:cNvPr>
                  <p:cNvSpPr txBox="1"/>
                  <p:nvPr/>
                </p:nvSpPr>
                <p:spPr>
                  <a:xfrm>
                    <a:off x="3854322" y="1243016"/>
                    <a:ext cx="3056321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Segmento Empresas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47" name="CuadroTexto 146">
                    <a:extLst>
                      <a:ext uri="{FF2B5EF4-FFF2-40B4-BE49-F238E27FC236}">
                        <a16:creationId xmlns:a16="http://schemas.microsoft.com/office/drawing/2014/main" id="{A0B8B1CC-F382-1B8D-BFF8-750369720FEB}"/>
                      </a:ext>
                    </a:extLst>
                  </p:cNvPr>
                  <p:cNvSpPr txBox="1"/>
                  <p:nvPr/>
                </p:nvSpPr>
                <p:spPr>
                  <a:xfrm>
                    <a:off x="3175274" y="2208415"/>
                    <a:ext cx="1945898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29%</a:t>
                    </a:r>
                    <a:endParaRPr lang="es-CO" sz="1400" b="1" dirty="0">
                      <a:solidFill>
                        <a:schemeClr val="bg1"/>
                      </a:solidFill>
                    </a:endParaRP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Medianas</a:t>
                    </a:r>
                  </a:p>
                </p:txBody>
              </p:sp>
            </p:grpSp>
            <p:sp>
              <p:nvSpPr>
                <p:cNvPr id="145" name="CuadroTexto 144">
                  <a:extLst>
                    <a:ext uri="{FF2B5EF4-FFF2-40B4-BE49-F238E27FC236}">
                      <a16:creationId xmlns:a16="http://schemas.microsoft.com/office/drawing/2014/main" id="{0CF2C285-9BA4-81E6-333E-DC2FA801365D}"/>
                    </a:ext>
                  </a:extLst>
                </p:cNvPr>
                <p:cNvSpPr txBox="1"/>
                <p:nvPr/>
              </p:nvSpPr>
              <p:spPr>
                <a:xfrm>
                  <a:off x="9864249" y="1523867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21%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Grandes</a:t>
                  </a:r>
                </a:p>
              </p:txBody>
            </p:sp>
          </p:grpSp>
          <p:sp>
            <p:nvSpPr>
              <p:cNvPr id="140" name="CuadroTexto 139">
                <a:extLst>
                  <a:ext uri="{FF2B5EF4-FFF2-40B4-BE49-F238E27FC236}">
                    <a16:creationId xmlns:a16="http://schemas.microsoft.com/office/drawing/2014/main" id="{92A4B606-4D3E-ED31-D28F-764952087B29}"/>
                  </a:ext>
                </a:extLst>
              </p:cNvPr>
              <p:cNvSpPr txBox="1"/>
              <p:nvPr/>
            </p:nvSpPr>
            <p:spPr>
              <a:xfrm>
                <a:off x="9135236" y="3565727"/>
                <a:ext cx="145027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14%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</a:t>
                </a:r>
                <a:r>
                  <a:rPr lang="es-CO" sz="1400" b="1" dirty="0" err="1">
                    <a:solidFill>
                      <a:schemeClr val="bg1"/>
                    </a:solidFill>
                  </a:rPr>
                  <a:t>Emp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Top</a:t>
                </a:r>
              </a:p>
            </p:txBody>
          </p:sp>
          <p:sp>
            <p:nvSpPr>
              <p:cNvPr id="141" name="CuadroTexto 140">
                <a:extLst>
                  <a:ext uri="{FF2B5EF4-FFF2-40B4-BE49-F238E27FC236}">
                    <a16:creationId xmlns:a16="http://schemas.microsoft.com/office/drawing/2014/main" id="{96DFA07F-D3A1-1E73-CB55-81B37F99E086}"/>
                  </a:ext>
                </a:extLst>
              </p:cNvPr>
              <p:cNvSpPr txBox="1"/>
              <p:nvPr/>
            </p:nvSpPr>
            <p:spPr>
              <a:xfrm>
                <a:off x="10055645" y="3580594"/>
                <a:ext cx="152651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31%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    Micro    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Transaccional</a:t>
                </a:r>
              </a:p>
            </p:txBody>
          </p:sp>
        </p:grpSp>
        <p:pic>
          <p:nvPicPr>
            <p:cNvPr id="149" name="Imagen 148">
              <a:extLst>
                <a:ext uri="{FF2B5EF4-FFF2-40B4-BE49-F238E27FC236}">
                  <a16:creationId xmlns:a16="http://schemas.microsoft.com/office/drawing/2014/main" id="{ED255759-3F76-8002-EBE7-B377AF6675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325932" y="6027593"/>
              <a:ext cx="677562" cy="677562"/>
            </a:xfrm>
            <a:prstGeom prst="rect">
              <a:avLst/>
            </a:prstGeom>
          </p:spPr>
        </p:pic>
      </p:grp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EFCF14EC-3342-74CC-521B-0EDB25F6CA02}"/>
              </a:ext>
            </a:extLst>
          </p:cNvPr>
          <p:cNvSpPr txBox="1"/>
          <p:nvPr/>
        </p:nvSpPr>
        <p:spPr>
          <a:xfrm>
            <a:off x="2093411" y="5976448"/>
            <a:ext cx="128594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5%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Estándar</a:t>
            </a:r>
          </a:p>
        </p:txBody>
      </p:sp>
      <p:grpSp>
        <p:nvGrpSpPr>
          <p:cNvPr id="151" name="Grupo 150">
            <a:extLst>
              <a:ext uri="{FF2B5EF4-FFF2-40B4-BE49-F238E27FC236}">
                <a16:creationId xmlns:a16="http://schemas.microsoft.com/office/drawing/2014/main" id="{057DBA01-38F4-F26E-353A-CF6F183E4621}"/>
              </a:ext>
            </a:extLst>
          </p:cNvPr>
          <p:cNvGrpSpPr/>
          <p:nvPr/>
        </p:nvGrpSpPr>
        <p:grpSpPr>
          <a:xfrm>
            <a:off x="3041035" y="4852302"/>
            <a:ext cx="2475955" cy="1933541"/>
            <a:chOff x="9024615" y="3127128"/>
            <a:chExt cx="2475955" cy="1933541"/>
          </a:xfrm>
        </p:grpSpPr>
        <p:grpSp>
          <p:nvGrpSpPr>
            <p:cNvPr id="152" name="Grupo 151">
              <a:extLst>
                <a:ext uri="{FF2B5EF4-FFF2-40B4-BE49-F238E27FC236}">
                  <a16:creationId xmlns:a16="http://schemas.microsoft.com/office/drawing/2014/main" id="{139D2EBA-40A5-29D4-B1CF-ED6CFBDB885C}"/>
                </a:ext>
              </a:extLst>
            </p:cNvPr>
            <p:cNvGrpSpPr/>
            <p:nvPr/>
          </p:nvGrpSpPr>
          <p:grpSpPr>
            <a:xfrm>
              <a:off x="9024615" y="3127128"/>
              <a:ext cx="2475955" cy="1933541"/>
              <a:chOff x="7534392" y="1110832"/>
              <a:chExt cx="2475955" cy="1780012"/>
            </a:xfrm>
          </p:grpSpPr>
          <p:sp>
            <p:nvSpPr>
              <p:cNvPr id="157" name="Rectángulo 156">
                <a:extLst>
                  <a:ext uri="{FF2B5EF4-FFF2-40B4-BE49-F238E27FC236}">
                    <a16:creationId xmlns:a16="http://schemas.microsoft.com/office/drawing/2014/main" id="{31766121-3CF4-8CE8-E236-247095CAD9B6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158" name="Grupo 157">
                <a:extLst>
                  <a:ext uri="{FF2B5EF4-FFF2-40B4-BE49-F238E27FC236}">
                    <a16:creationId xmlns:a16="http://schemas.microsoft.com/office/drawing/2014/main" id="{9ED4A2BB-D41D-BE28-0752-7BAD000692E5}"/>
                  </a:ext>
                </a:extLst>
              </p:cNvPr>
              <p:cNvGrpSpPr/>
              <p:nvPr/>
            </p:nvGrpSpPr>
            <p:grpSpPr>
              <a:xfrm>
                <a:off x="7534392" y="1206227"/>
                <a:ext cx="2388624" cy="1388251"/>
                <a:chOff x="2969971" y="1212927"/>
                <a:chExt cx="2388624" cy="1388251"/>
              </a:xfrm>
            </p:grpSpPr>
            <p:sp>
              <p:nvSpPr>
                <p:cNvPr id="160" name="CuadroTexto 159">
                  <a:extLst>
                    <a:ext uri="{FF2B5EF4-FFF2-40B4-BE49-F238E27FC236}">
                      <a16:creationId xmlns:a16="http://schemas.microsoft.com/office/drawing/2014/main" id="{6F54DF40-2F70-B351-D56A-DC6D53EC6668}"/>
                    </a:ext>
                  </a:extLst>
                </p:cNvPr>
                <p:cNvSpPr txBox="1"/>
                <p:nvPr/>
              </p:nvSpPr>
              <p:spPr>
                <a:xfrm>
                  <a:off x="3408991" y="1212927"/>
                  <a:ext cx="1949604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 dirty="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Departamento</a:t>
                  </a:r>
                  <a:endParaRPr lang="es-ES" sz="1600" dirty="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61" name="CuadroTexto 160">
                  <a:extLst>
                    <a:ext uri="{FF2B5EF4-FFF2-40B4-BE49-F238E27FC236}">
                      <a16:creationId xmlns:a16="http://schemas.microsoft.com/office/drawing/2014/main" id="{E0F046D8-4CE7-0AAE-068E-D8DC969EA019}"/>
                    </a:ext>
                  </a:extLst>
                </p:cNvPr>
                <p:cNvSpPr txBox="1"/>
                <p:nvPr/>
              </p:nvSpPr>
              <p:spPr>
                <a:xfrm>
                  <a:off x="2969971" y="2034502"/>
                  <a:ext cx="1501344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1%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</a:t>
                  </a:r>
                  <a:r>
                    <a:rPr lang="es-CO" sz="1400" b="1" dirty="0" err="1">
                      <a:solidFill>
                        <a:schemeClr val="bg1"/>
                      </a:solidFill>
                    </a:rPr>
                    <a:t>Fusagasuga</a:t>
                  </a:r>
                  <a:endParaRPr lang="es-CO" sz="14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154" name="CuadroTexto 153">
              <a:extLst>
                <a:ext uri="{FF2B5EF4-FFF2-40B4-BE49-F238E27FC236}">
                  <a16:creationId xmlns:a16="http://schemas.microsoft.com/office/drawing/2014/main" id="{C553D55A-0AD8-4284-6E84-FE31475338F7}"/>
                </a:ext>
              </a:extLst>
            </p:cNvPr>
            <p:cNvSpPr txBox="1"/>
            <p:nvPr/>
          </p:nvSpPr>
          <p:spPr>
            <a:xfrm>
              <a:off x="9059295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10%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Soacha</a:t>
              </a:r>
            </a:p>
          </p:txBody>
        </p:sp>
        <p:sp>
          <p:nvSpPr>
            <p:cNvPr id="155" name="CuadroTexto 154">
              <a:extLst>
                <a:ext uri="{FF2B5EF4-FFF2-40B4-BE49-F238E27FC236}">
                  <a16:creationId xmlns:a16="http://schemas.microsoft.com/office/drawing/2014/main" id="{55B5E09A-86EC-8CD8-B4D8-A3957B5D156A}"/>
                </a:ext>
              </a:extLst>
            </p:cNvPr>
            <p:cNvSpPr txBox="1"/>
            <p:nvPr/>
          </p:nvSpPr>
          <p:spPr>
            <a:xfrm>
              <a:off x="10219600" y="3565504"/>
              <a:ext cx="1160334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43%</a:t>
              </a:r>
              <a:r>
                <a:rPr lang="es-CO" sz="1400" b="1" dirty="0">
                  <a:solidFill>
                    <a:schemeClr val="bg1"/>
                  </a:solidFill>
                </a:rPr>
                <a:t>     </a:t>
              </a:r>
              <a:r>
                <a:rPr lang="es-CO" sz="1400" b="1" dirty="0" err="1">
                  <a:solidFill>
                    <a:schemeClr val="bg1"/>
                  </a:solidFill>
                </a:rPr>
                <a:t>Bogota</a:t>
              </a:r>
              <a:endParaRPr lang="es-CO" sz="1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01" name="Grupo 200">
            <a:extLst>
              <a:ext uri="{FF2B5EF4-FFF2-40B4-BE49-F238E27FC236}">
                <a16:creationId xmlns:a16="http://schemas.microsoft.com/office/drawing/2014/main" id="{0354EFDC-505E-1018-91BB-09253CFABB80}"/>
              </a:ext>
            </a:extLst>
          </p:cNvPr>
          <p:cNvGrpSpPr/>
          <p:nvPr/>
        </p:nvGrpSpPr>
        <p:grpSpPr>
          <a:xfrm>
            <a:off x="5407406" y="4842106"/>
            <a:ext cx="2693579" cy="1985915"/>
            <a:chOff x="5483606" y="4842106"/>
            <a:chExt cx="2693579" cy="1985915"/>
          </a:xfrm>
        </p:grpSpPr>
        <p:grpSp>
          <p:nvGrpSpPr>
            <p:cNvPr id="164" name="Grupo 163">
              <a:extLst>
                <a:ext uri="{FF2B5EF4-FFF2-40B4-BE49-F238E27FC236}">
                  <a16:creationId xmlns:a16="http://schemas.microsoft.com/office/drawing/2014/main" id="{590BAF24-3DB1-651B-5D21-DC92218BF413}"/>
                </a:ext>
              </a:extLst>
            </p:cNvPr>
            <p:cNvGrpSpPr/>
            <p:nvPr/>
          </p:nvGrpSpPr>
          <p:grpSpPr>
            <a:xfrm>
              <a:off x="5483606" y="4842106"/>
              <a:ext cx="2693579" cy="1957609"/>
              <a:chOff x="9049330" y="3127128"/>
              <a:chExt cx="2693579" cy="1957609"/>
            </a:xfrm>
          </p:grpSpPr>
          <p:grpSp>
            <p:nvGrpSpPr>
              <p:cNvPr id="165" name="Grupo 164">
                <a:extLst>
                  <a:ext uri="{FF2B5EF4-FFF2-40B4-BE49-F238E27FC236}">
                    <a16:creationId xmlns:a16="http://schemas.microsoft.com/office/drawing/2014/main" id="{E7F4981E-9726-6B71-FA6E-96612315AFF4}"/>
                  </a:ext>
                </a:extLst>
              </p:cNvPr>
              <p:cNvGrpSpPr/>
              <p:nvPr/>
            </p:nvGrpSpPr>
            <p:grpSpPr>
              <a:xfrm>
                <a:off x="9049330" y="3127128"/>
                <a:ext cx="2655911" cy="1957609"/>
                <a:chOff x="7559107" y="1110832"/>
                <a:chExt cx="2655911" cy="1802169"/>
              </a:xfrm>
            </p:grpSpPr>
            <p:sp>
              <p:nvSpPr>
                <p:cNvPr id="168" name="Rectángulo 167">
                  <a:extLst>
                    <a:ext uri="{FF2B5EF4-FFF2-40B4-BE49-F238E27FC236}">
                      <a16:creationId xmlns:a16="http://schemas.microsoft.com/office/drawing/2014/main" id="{0B0A727C-A8BF-58FD-61EB-9ADA65138494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195987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70" name="Grupo 169">
                  <a:extLst>
                    <a:ext uri="{FF2B5EF4-FFF2-40B4-BE49-F238E27FC236}">
                      <a16:creationId xmlns:a16="http://schemas.microsoft.com/office/drawing/2014/main" id="{6F856E81-4991-6140-75D7-40BB870444F1}"/>
                    </a:ext>
                  </a:extLst>
                </p:cNvPr>
                <p:cNvGrpSpPr/>
                <p:nvPr/>
              </p:nvGrpSpPr>
              <p:grpSpPr>
                <a:xfrm>
                  <a:off x="7559107" y="1207829"/>
                  <a:ext cx="2655911" cy="1705172"/>
                  <a:chOff x="2994686" y="1214529"/>
                  <a:chExt cx="2655911" cy="1705172"/>
                </a:xfrm>
              </p:grpSpPr>
              <p:sp>
                <p:nvSpPr>
                  <p:cNvPr id="171" name="CuadroTexto 170">
                    <a:extLst>
                      <a:ext uri="{FF2B5EF4-FFF2-40B4-BE49-F238E27FC236}">
                        <a16:creationId xmlns:a16="http://schemas.microsoft.com/office/drawing/2014/main" id="{29FA4E64-1AE1-2B3E-8EC7-6C25D8F234F0}"/>
                      </a:ext>
                    </a:extLst>
                  </p:cNvPr>
                  <p:cNvSpPr txBox="1"/>
                  <p:nvPr/>
                </p:nvSpPr>
                <p:spPr>
                  <a:xfrm>
                    <a:off x="3700993" y="1214529"/>
                    <a:ext cx="1949604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 dirty="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Localidad</a:t>
                    </a:r>
                    <a:endParaRPr lang="es-ES" sz="1600" dirty="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72" name="CuadroTexto 171">
                    <a:extLst>
                      <a:ext uri="{FF2B5EF4-FFF2-40B4-BE49-F238E27FC236}">
                        <a16:creationId xmlns:a16="http://schemas.microsoft.com/office/drawing/2014/main" id="{73EC6B48-BE57-CECF-EAE1-C32A2CC5082C}"/>
                      </a:ext>
                    </a:extLst>
                  </p:cNvPr>
                  <p:cNvSpPr txBox="1"/>
                  <p:nvPr/>
                </p:nvSpPr>
                <p:spPr>
                  <a:xfrm>
                    <a:off x="2994686" y="2353025"/>
                    <a:ext cx="1323041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3%</a:t>
                    </a: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    Bosa</a:t>
                    </a:r>
                  </a:p>
                </p:txBody>
              </p:sp>
            </p:grpSp>
          </p:grpSp>
          <p:sp>
            <p:nvSpPr>
              <p:cNvPr id="166" name="CuadroTexto 165">
                <a:extLst>
                  <a:ext uri="{FF2B5EF4-FFF2-40B4-BE49-F238E27FC236}">
                    <a16:creationId xmlns:a16="http://schemas.microsoft.com/office/drawing/2014/main" id="{0CCB9D74-D160-5F60-0886-36A22934A376}"/>
                  </a:ext>
                </a:extLst>
              </p:cNvPr>
              <p:cNvSpPr txBox="1"/>
              <p:nvPr/>
            </p:nvSpPr>
            <p:spPr>
              <a:xfrm>
                <a:off x="9059295" y="3565727"/>
                <a:ext cx="128594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4%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Kennedy</a:t>
                </a:r>
              </a:p>
            </p:txBody>
          </p:sp>
          <p:sp>
            <p:nvSpPr>
              <p:cNvPr id="167" name="CuadroTexto 166">
                <a:extLst>
                  <a:ext uri="{FF2B5EF4-FFF2-40B4-BE49-F238E27FC236}">
                    <a16:creationId xmlns:a16="http://schemas.microsoft.com/office/drawing/2014/main" id="{0978065F-459B-CE42-D13C-576741F14E98}"/>
                  </a:ext>
                </a:extLst>
              </p:cNvPr>
              <p:cNvSpPr txBox="1"/>
              <p:nvPr/>
            </p:nvSpPr>
            <p:spPr>
              <a:xfrm>
                <a:off x="10498522" y="3549824"/>
                <a:ext cx="1244387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3%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</a:t>
                </a:r>
                <a:r>
                  <a:rPr lang="es-CO" sz="1400" b="1" dirty="0" err="1">
                    <a:solidFill>
                      <a:schemeClr val="bg1"/>
                    </a:solidFill>
                  </a:rPr>
                  <a:t>Engativa</a:t>
                </a:r>
                <a:endParaRPr lang="es-CO" sz="14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85" name="CuadroTexto 184">
              <a:extLst>
                <a:ext uri="{FF2B5EF4-FFF2-40B4-BE49-F238E27FC236}">
                  <a16:creationId xmlns:a16="http://schemas.microsoft.com/office/drawing/2014/main" id="{34A8A4E7-AD99-5387-1336-418AA2981067}"/>
                </a:ext>
              </a:extLst>
            </p:cNvPr>
            <p:cNvSpPr txBox="1"/>
            <p:nvPr/>
          </p:nvSpPr>
          <p:spPr>
            <a:xfrm>
              <a:off x="6625166" y="6212468"/>
              <a:ext cx="1323041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65%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 Sin </a:t>
              </a:r>
              <a:r>
                <a:rPr lang="es-CO" sz="1400" b="1" dirty="0" err="1">
                  <a:solidFill>
                    <a:schemeClr val="bg1"/>
                  </a:solidFill>
                </a:rPr>
                <a:t>Infor</a:t>
              </a:r>
              <a:endParaRPr lang="es-CO" sz="1400" b="1" dirty="0">
                <a:solidFill>
                  <a:schemeClr val="bg1"/>
                </a:solidFill>
              </a:endParaRPr>
            </a:p>
          </p:txBody>
        </p:sp>
        <p:pic>
          <p:nvPicPr>
            <p:cNvPr id="187" name="Imagen 186">
              <a:extLst>
                <a:ext uri="{FF2B5EF4-FFF2-40B4-BE49-F238E27FC236}">
                  <a16:creationId xmlns:a16="http://schemas.microsoft.com/office/drawing/2014/main" id="{AF9D4853-0908-07E4-2E0B-708CB7411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401571" y="5793688"/>
              <a:ext cx="1266970" cy="620378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grpSp>
        <p:nvGrpSpPr>
          <p:cNvPr id="190" name="Grupo 189">
            <a:extLst>
              <a:ext uri="{FF2B5EF4-FFF2-40B4-BE49-F238E27FC236}">
                <a16:creationId xmlns:a16="http://schemas.microsoft.com/office/drawing/2014/main" id="{7C8ED5AA-526B-3ADB-8358-145EFAF3D50E}"/>
              </a:ext>
            </a:extLst>
          </p:cNvPr>
          <p:cNvGrpSpPr/>
          <p:nvPr/>
        </p:nvGrpSpPr>
        <p:grpSpPr>
          <a:xfrm>
            <a:off x="7930968" y="4834201"/>
            <a:ext cx="2464776" cy="1933541"/>
            <a:chOff x="9267841" y="3127128"/>
            <a:chExt cx="2586590" cy="1933541"/>
          </a:xfrm>
        </p:grpSpPr>
        <p:grpSp>
          <p:nvGrpSpPr>
            <p:cNvPr id="191" name="Grupo 190">
              <a:extLst>
                <a:ext uri="{FF2B5EF4-FFF2-40B4-BE49-F238E27FC236}">
                  <a16:creationId xmlns:a16="http://schemas.microsoft.com/office/drawing/2014/main" id="{A10F581C-1707-D799-FA3A-DCDC226DCBEE}"/>
                </a:ext>
              </a:extLst>
            </p:cNvPr>
            <p:cNvGrpSpPr/>
            <p:nvPr/>
          </p:nvGrpSpPr>
          <p:grpSpPr>
            <a:xfrm>
              <a:off x="9280641" y="3127128"/>
              <a:ext cx="2573790" cy="1933541"/>
              <a:chOff x="7790418" y="1110832"/>
              <a:chExt cx="2573790" cy="1780012"/>
            </a:xfrm>
          </p:grpSpPr>
          <p:sp>
            <p:nvSpPr>
              <p:cNvPr id="194" name="Rectángulo 193">
                <a:extLst>
                  <a:ext uri="{FF2B5EF4-FFF2-40B4-BE49-F238E27FC236}">
                    <a16:creationId xmlns:a16="http://schemas.microsoft.com/office/drawing/2014/main" id="{53FEEBF8-87BE-5EAA-A50A-89429DD08843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368574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97" name="CuadroTexto 196">
                <a:extLst>
                  <a:ext uri="{FF2B5EF4-FFF2-40B4-BE49-F238E27FC236}">
                    <a16:creationId xmlns:a16="http://schemas.microsoft.com/office/drawing/2014/main" id="{7D14E03A-403D-B157-59D9-A6305EFDE1E4}"/>
                  </a:ext>
                </a:extLst>
              </p:cNvPr>
              <p:cNvSpPr txBox="1"/>
              <p:nvPr/>
            </p:nvSpPr>
            <p:spPr>
              <a:xfrm>
                <a:off x="7790418" y="1207828"/>
                <a:ext cx="2573790" cy="3116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Entidad Financieras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</p:grpSp>
        <p:sp>
          <p:nvSpPr>
            <p:cNvPr id="192" name="CuadroTexto 191">
              <a:extLst>
                <a:ext uri="{FF2B5EF4-FFF2-40B4-BE49-F238E27FC236}">
                  <a16:creationId xmlns:a16="http://schemas.microsoft.com/office/drawing/2014/main" id="{23106815-3369-6D42-4C51-0E98BF89EA41}"/>
                </a:ext>
              </a:extLst>
            </p:cNvPr>
            <p:cNvSpPr txBox="1"/>
            <p:nvPr/>
          </p:nvSpPr>
          <p:spPr>
            <a:xfrm>
              <a:off x="9267841" y="3565727"/>
              <a:ext cx="1337256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47%</a:t>
              </a:r>
              <a:r>
                <a:rPr lang="es-CO" sz="1400" b="1" dirty="0">
                  <a:solidFill>
                    <a:schemeClr val="bg1"/>
                  </a:solidFill>
                </a:rPr>
                <a:t>          Colsubsidio</a:t>
              </a:r>
            </a:p>
          </p:txBody>
        </p:sp>
        <p:sp>
          <p:nvSpPr>
            <p:cNvPr id="193" name="CuadroTexto 192">
              <a:extLst>
                <a:ext uri="{FF2B5EF4-FFF2-40B4-BE49-F238E27FC236}">
                  <a16:creationId xmlns:a16="http://schemas.microsoft.com/office/drawing/2014/main" id="{68D9B0B7-C2DC-8760-E04E-AA7713AE49B6}"/>
                </a:ext>
              </a:extLst>
            </p:cNvPr>
            <p:cNvSpPr txBox="1"/>
            <p:nvPr/>
          </p:nvSpPr>
          <p:spPr>
            <a:xfrm>
              <a:off x="10498522" y="3549824"/>
              <a:ext cx="1244387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23%</a:t>
              </a:r>
              <a:r>
                <a:rPr lang="es-CO" sz="1400" b="1" dirty="0">
                  <a:solidFill>
                    <a:schemeClr val="bg1"/>
                  </a:solidFill>
                </a:rPr>
                <a:t>             Davivienda</a:t>
              </a:r>
            </a:p>
          </p:txBody>
        </p:sp>
      </p:grpSp>
      <p:sp>
        <p:nvSpPr>
          <p:cNvPr id="200" name="CuadroTexto 199">
            <a:extLst>
              <a:ext uri="{FF2B5EF4-FFF2-40B4-BE49-F238E27FC236}">
                <a16:creationId xmlns:a16="http://schemas.microsoft.com/office/drawing/2014/main" id="{663FA30B-B891-919F-F1CB-11EB3018C320}"/>
              </a:ext>
            </a:extLst>
          </p:cNvPr>
          <p:cNvSpPr txBox="1"/>
          <p:nvPr/>
        </p:nvSpPr>
        <p:spPr>
          <a:xfrm>
            <a:off x="4140736" y="5856787"/>
            <a:ext cx="137625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1%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</a:t>
            </a:r>
            <a:r>
              <a:rPr lang="es-CO" sz="1400" b="1" dirty="0" err="1">
                <a:solidFill>
                  <a:schemeClr val="bg1"/>
                </a:solidFill>
              </a:rPr>
              <a:t>Sibate</a:t>
            </a:r>
            <a:endParaRPr lang="es-CO" sz="1400" b="1" dirty="0">
              <a:solidFill>
                <a:schemeClr val="bg1"/>
              </a:solidFill>
            </a:endParaRPr>
          </a:p>
        </p:txBody>
      </p:sp>
      <p:pic>
        <p:nvPicPr>
          <p:cNvPr id="205" name="Imagen 204">
            <a:extLst>
              <a:ext uri="{FF2B5EF4-FFF2-40B4-BE49-F238E27FC236}">
                <a16:creationId xmlns:a16="http://schemas.microsoft.com/office/drawing/2014/main" id="{D4C0CE8B-A4E9-0071-1C75-9622C29CD1A7}"/>
              </a:ext>
            </a:extLst>
          </p:cNvPr>
          <p:cNvPicPr>
            <a:picLocks noChangeAspect="1"/>
          </p:cNvPicPr>
          <p:nvPr/>
        </p:nvPicPr>
        <p:blipFill>
          <a:blip r:embed="rId22">
            <a:duotone>
              <a:prstClr val="black"/>
              <a:schemeClr val="tx1">
                <a:lumMod val="75000"/>
                <a:lumOff val="2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4538" y="5846263"/>
            <a:ext cx="673981" cy="673981"/>
          </a:xfrm>
          <a:prstGeom prst="rect">
            <a:avLst/>
          </a:prstGeom>
        </p:spPr>
      </p:pic>
      <p:grpSp>
        <p:nvGrpSpPr>
          <p:cNvPr id="208" name="Grupo 207">
            <a:extLst>
              <a:ext uri="{FF2B5EF4-FFF2-40B4-BE49-F238E27FC236}">
                <a16:creationId xmlns:a16="http://schemas.microsoft.com/office/drawing/2014/main" id="{05906AD1-ADBE-CBB6-BD68-C3916AC001D7}"/>
              </a:ext>
            </a:extLst>
          </p:cNvPr>
          <p:cNvGrpSpPr/>
          <p:nvPr/>
        </p:nvGrpSpPr>
        <p:grpSpPr>
          <a:xfrm>
            <a:off x="10245555" y="853892"/>
            <a:ext cx="1956550" cy="5540381"/>
            <a:chOff x="7793864" y="1110832"/>
            <a:chExt cx="1816602" cy="1780012"/>
          </a:xfrm>
        </p:grpSpPr>
        <p:sp>
          <p:nvSpPr>
            <p:cNvPr id="212" name="Rectángulo 211">
              <a:extLst>
                <a:ext uri="{FF2B5EF4-FFF2-40B4-BE49-F238E27FC236}">
                  <a16:creationId xmlns:a16="http://schemas.microsoft.com/office/drawing/2014/main" id="{94D89B0B-A41C-0C06-F4C0-09B532583C91}"/>
                </a:ext>
              </a:extLst>
            </p:cNvPr>
            <p:cNvSpPr/>
            <p:nvPr/>
          </p:nvSpPr>
          <p:spPr>
            <a:xfrm>
              <a:off x="7814360" y="1110832"/>
              <a:ext cx="1666611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5" name="CuadroTexto 214">
              <a:extLst>
                <a:ext uri="{FF2B5EF4-FFF2-40B4-BE49-F238E27FC236}">
                  <a16:creationId xmlns:a16="http://schemas.microsoft.com/office/drawing/2014/main" id="{D6DBD03D-C19A-6499-9AEB-DC297C6A22DD}"/>
                </a:ext>
              </a:extLst>
            </p:cNvPr>
            <p:cNvSpPr txBox="1"/>
            <p:nvPr/>
          </p:nvSpPr>
          <p:spPr>
            <a:xfrm>
              <a:off x="7793864" y="1161252"/>
              <a:ext cx="1816602" cy="1141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1600">
                  <a:solidFill>
                    <a:srgbClr val="FFC000"/>
                  </a:solidFill>
                  <a:latin typeface="KG Red Hands" panose="02000505000000020004" pitchFamily="2" charset="0"/>
                </a:rPr>
                <a:t>Top Empresas</a:t>
              </a:r>
              <a:endParaRPr lang="es-ES" sz="1600">
                <a:solidFill>
                  <a:srgbClr val="FFC000"/>
                </a:solidFill>
              </a:endParaRPr>
            </a:p>
          </p:txBody>
        </p:sp>
        <p:sp>
          <p:nvSpPr>
            <p:cNvPr id="214" name="CuadroTexto 213">
              <a:extLst>
                <a:ext uri="{FF2B5EF4-FFF2-40B4-BE49-F238E27FC236}">
                  <a16:creationId xmlns:a16="http://schemas.microsoft.com/office/drawing/2014/main" id="{7662333B-E073-C37A-6837-8017D701CDD9}"/>
                </a:ext>
              </a:extLst>
            </p:cNvPr>
            <p:cNvSpPr txBox="1"/>
            <p:nvPr/>
          </p:nvSpPr>
          <p:spPr>
            <a:xfrm>
              <a:off x="7830402" y="1354030"/>
              <a:ext cx="1689688" cy="3263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500" b="1" dirty="0">
                  <a:solidFill>
                    <a:schemeClr val="bg1"/>
                  </a:solidFill>
                </a:rPr>
                <a:t>COLSUBSIDIO	39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TELEPERFORMANCE	26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CONSORCIO EXPRESS S A S	17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TRANSPORTE INTEGRADO BOG	16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SECURITAS COLOMBIA S A	11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JERONIMO MARTINS COLOMBI	9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COLOMBIANA DE COMERCIO	8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PERMODA LTDA	7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RECAUDO BOGOTA SAS 	7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ATENTO S A	7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ALFAGRES S.A.	7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	                               </a:t>
              </a: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D6E2D715-2CF3-10A6-2342-742FDB44F0FA}"/>
              </a:ext>
            </a:extLst>
          </p:cNvPr>
          <p:cNvSpPr txBox="1"/>
          <p:nvPr/>
        </p:nvSpPr>
        <p:spPr>
          <a:xfrm>
            <a:off x="10330342" y="6461181"/>
            <a:ext cx="14292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100" dirty="0">
                <a:solidFill>
                  <a:srgbClr val="FFC000"/>
                </a:solidFill>
                <a:latin typeface="KG Red Hands" panose="02000505000000020004" pitchFamily="2" charset="0"/>
              </a:rPr>
              <a:t>*Corte 15/01/2026</a:t>
            </a:r>
            <a:endParaRPr lang="es-ES" sz="1100" dirty="0">
              <a:solidFill>
                <a:srgbClr val="FFC000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991B2B8-5D0A-7F58-AD97-6E9150CADA4D}"/>
              </a:ext>
            </a:extLst>
          </p:cNvPr>
          <p:cNvSpPr txBox="1"/>
          <p:nvPr/>
        </p:nvSpPr>
        <p:spPr>
          <a:xfrm>
            <a:off x="7902775" y="6168092"/>
            <a:ext cx="127427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10%</a:t>
            </a:r>
            <a:r>
              <a:rPr lang="es-CO" sz="1400" b="1" dirty="0">
                <a:solidFill>
                  <a:schemeClr val="bg1"/>
                </a:solidFill>
              </a:rPr>
              <a:t>          Colsubsidio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173062D-8573-49DC-A6C3-C06D24FDC4F4}"/>
              </a:ext>
            </a:extLst>
          </p:cNvPr>
          <p:cNvSpPr txBox="1"/>
          <p:nvPr/>
        </p:nvSpPr>
        <p:spPr>
          <a:xfrm>
            <a:off x="9038358" y="6160140"/>
            <a:ext cx="127427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6%</a:t>
            </a:r>
            <a:r>
              <a:rPr lang="es-CO" sz="1400" b="1" dirty="0">
                <a:solidFill>
                  <a:schemeClr val="bg1"/>
                </a:solidFill>
              </a:rPr>
              <a:t>          Colsubsidio</a:t>
            </a:r>
          </a:p>
        </p:txBody>
      </p:sp>
    </p:spTree>
    <p:extLst>
      <p:ext uri="{BB962C8B-B14F-4D97-AF65-F5344CB8AC3E}">
        <p14:creationId xmlns:p14="http://schemas.microsoft.com/office/powerpoint/2010/main" val="17153984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3442C-8A8D-8A1C-2407-07E74E4ED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A07D7ED5-E4C0-8024-E101-68586E1275E7}"/>
              </a:ext>
            </a:extLst>
          </p:cNvPr>
          <p:cNvCxnSpPr>
            <a:cxnSpLocks/>
          </p:cNvCxnSpPr>
          <p:nvPr/>
        </p:nvCxnSpPr>
        <p:spPr>
          <a:xfrm flipH="1">
            <a:off x="0" y="645614"/>
            <a:ext cx="10809007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uadroTexto 85">
            <a:extLst>
              <a:ext uri="{FF2B5EF4-FFF2-40B4-BE49-F238E27FC236}">
                <a16:creationId xmlns:a16="http://schemas.microsoft.com/office/drawing/2014/main" id="{FD8E8E07-8B22-5300-BC7F-E9393A44DCB9}"/>
              </a:ext>
            </a:extLst>
          </p:cNvPr>
          <p:cNvSpPr txBox="1"/>
          <p:nvPr/>
        </p:nvSpPr>
        <p:spPr>
          <a:xfrm>
            <a:off x="-128399" y="120715"/>
            <a:ext cx="95771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dirty="0">
                <a:solidFill>
                  <a:schemeClr val="bg1"/>
                </a:solidFill>
                <a:latin typeface="KG Red Hands" panose="02000505000000020004" pitchFamily="2" charset="0"/>
              </a:rPr>
              <a:t>      </a:t>
            </a:r>
            <a:r>
              <a:rPr lang="es-CO" sz="2400" dirty="0" err="1">
                <a:solidFill>
                  <a:schemeClr val="bg1"/>
                </a:solidFill>
                <a:latin typeface="KG Red Hands" panose="02000505000000020004" pitchFamily="2" charset="0"/>
              </a:rPr>
              <a:t>Bogota</a:t>
            </a:r>
            <a:endParaRPr lang="es-ES" sz="24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0F1F96E-FB5A-B028-120D-EF4759F6A3F0}"/>
              </a:ext>
              <a:ext uri="{147F2762-F138-4A5C-976F-8EAC2B608ADB}">
                <a16:predDERef xmlns:a16="http://schemas.microsoft.com/office/drawing/2014/main" pred="{95DEFF95-1524-40DB-8538-DE0C2D5BEC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3398838"/>
            <a:ext cx="555625" cy="49371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B9605022-B412-2272-3AC2-8CFF6A86A3AE}"/>
              </a:ext>
              <a:ext uri="{147F2762-F138-4A5C-976F-8EAC2B608ADB}">
                <a16:predDERef xmlns:a16="http://schemas.microsoft.com/office/drawing/2014/main" pred="{95FFDEC5-E647-4E60-9FB8-32349ACC1E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087813"/>
            <a:ext cx="555625" cy="46196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E332ED8A-2BEA-E295-4BE4-4219507E38C3}"/>
              </a:ext>
              <a:ext uri="{147F2762-F138-4A5C-976F-8EAC2B608ADB}">
                <a16:predDERef xmlns:a16="http://schemas.microsoft.com/office/drawing/2014/main" pred="{D53D0C4A-FE71-44C0-97B3-1EA296D3DCE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814888"/>
            <a:ext cx="555625" cy="41116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9CE19B75-E1BE-760C-1363-7B0B3B6957D0}"/>
              </a:ext>
              <a:ext uri="{147F2762-F138-4A5C-976F-8EAC2B608ADB}">
                <a16:predDERef xmlns:a16="http://schemas.microsoft.com/office/drawing/2014/main" pred="{7008BA42-7365-4AD1-B913-F26820CE47E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1775" y="5427663"/>
            <a:ext cx="465138" cy="433387"/>
          </a:xfrm>
          <a:prstGeom prst="rect">
            <a:avLst/>
          </a:prstGeom>
        </p:spPr>
      </p:pic>
      <p:grpSp>
        <p:nvGrpSpPr>
          <p:cNvPr id="135" name="Grupo 134">
            <a:extLst>
              <a:ext uri="{FF2B5EF4-FFF2-40B4-BE49-F238E27FC236}">
                <a16:creationId xmlns:a16="http://schemas.microsoft.com/office/drawing/2014/main" id="{031E3FD5-E604-ED86-68D2-2525D6A9DC48}"/>
              </a:ext>
            </a:extLst>
          </p:cNvPr>
          <p:cNvGrpSpPr/>
          <p:nvPr/>
        </p:nvGrpSpPr>
        <p:grpSpPr>
          <a:xfrm>
            <a:off x="5564187" y="853892"/>
            <a:ext cx="2195988" cy="1780012"/>
            <a:chOff x="5353656" y="1110832"/>
            <a:chExt cx="2195988" cy="1780012"/>
          </a:xfrm>
        </p:grpSpPr>
        <p:sp>
          <p:nvSpPr>
            <p:cNvPr id="58" name="Rectángulo 57">
              <a:extLst>
                <a:ext uri="{FF2B5EF4-FFF2-40B4-BE49-F238E27FC236}">
                  <a16:creationId xmlns:a16="http://schemas.microsoft.com/office/drawing/2014/main" id="{245AE445-D7F0-C595-0951-6C1272FB8082}"/>
                </a:ext>
              </a:extLst>
            </p:cNvPr>
            <p:cNvSpPr/>
            <p:nvPr/>
          </p:nvSpPr>
          <p:spPr>
            <a:xfrm>
              <a:off x="5353656" y="1110832"/>
              <a:ext cx="2195987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43" name="Grupo 42">
              <a:extLst>
                <a:ext uri="{FF2B5EF4-FFF2-40B4-BE49-F238E27FC236}">
                  <a16:creationId xmlns:a16="http://schemas.microsoft.com/office/drawing/2014/main" id="{A8BF0337-ADE5-9B0D-735F-75950E13E1F0}"/>
                </a:ext>
              </a:extLst>
            </p:cNvPr>
            <p:cNvGrpSpPr/>
            <p:nvPr/>
          </p:nvGrpSpPr>
          <p:grpSpPr>
            <a:xfrm>
              <a:off x="5353657" y="1223137"/>
              <a:ext cx="2083693" cy="1630468"/>
              <a:chOff x="3249940" y="1229837"/>
              <a:chExt cx="2083693" cy="1630468"/>
            </a:xfrm>
          </p:grpSpPr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11C5FC9D-9E08-1370-5BE0-A8269541CE03}"/>
                  </a:ext>
                </a:extLst>
              </p:cNvPr>
              <p:cNvSpPr txBox="1"/>
              <p:nvPr/>
            </p:nvSpPr>
            <p:spPr>
              <a:xfrm>
                <a:off x="3552927" y="1229837"/>
                <a:ext cx="178070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Rango Salario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E595761F-B313-D77C-EA57-30505B7C3A38}"/>
                  </a:ext>
                </a:extLst>
              </p:cNvPr>
              <p:cNvSpPr txBox="1"/>
              <p:nvPr/>
            </p:nvSpPr>
            <p:spPr>
              <a:xfrm>
                <a:off x="3249940" y="2306307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69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Hasta 2 </a:t>
                </a:r>
                <a:r>
                  <a:rPr lang="es-CO" sz="1200" b="1" dirty="0" err="1">
                    <a:solidFill>
                      <a:schemeClr val="bg1"/>
                    </a:solidFill>
                  </a:rPr>
                  <a:t>smlv</a:t>
                </a:r>
                <a:endParaRPr lang="es-CO" sz="12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53" name="Imagen 52">
              <a:extLst>
                <a:ext uri="{FF2B5EF4-FFF2-40B4-BE49-F238E27FC236}">
                  <a16:creationId xmlns:a16="http://schemas.microsoft.com/office/drawing/2014/main" id="{86688C5D-6746-4227-1B18-221D9CFDCC9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12042" y="1623254"/>
              <a:ext cx="641350" cy="641350"/>
            </a:xfrm>
            <a:prstGeom prst="rect">
              <a:avLst/>
            </a:prstGeom>
          </p:spPr>
        </p:pic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F455C6C8-8A66-9B50-2CE3-98DC800E2EBB}"/>
                </a:ext>
              </a:extLst>
            </p:cNvPr>
            <p:cNvSpPr txBox="1"/>
            <p:nvPr/>
          </p:nvSpPr>
          <p:spPr>
            <a:xfrm>
              <a:off x="6376735" y="2289285"/>
              <a:ext cx="1172909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31</a:t>
              </a:r>
              <a:r>
                <a:rPr lang="es-CO" sz="18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Mas de 2 </a:t>
              </a:r>
              <a:r>
                <a:rPr lang="es-CO" sz="1200" b="1" dirty="0" err="1">
                  <a:solidFill>
                    <a:schemeClr val="bg1"/>
                  </a:solidFill>
                </a:rPr>
                <a:t>smlv</a:t>
              </a:r>
              <a:endParaRPr lang="es-CO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D9C8F7FC-7315-A868-EC08-E4B309645BEC}"/>
              </a:ext>
            </a:extLst>
          </p:cNvPr>
          <p:cNvGrpSpPr/>
          <p:nvPr/>
        </p:nvGrpSpPr>
        <p:grpSpPr>
          <a:xfrm>
            <a:off x="3320687" y="874756"/>
            <a:ext cx="1941094" cy="1759148"/>
            <a:chOff x="3224463" y="1110832"/>
            <a:chExt cx="1941094" cy="1759148"/>
          </a:xfrm>
        </p:grpSpPr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116AC9A3-8218-A93D-7FD4-AC16BDDC9C9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36596" y="1677993"/>
              <a:ext cx="721895" cy="721895"/>
            </a:xfrm>
            <a:prstGeom prst="rect">
              <a:avLst/>
            </a:prstGeom>
          </p:spPr>
        </p:pic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C5EFDAB9-C381-6BC9-0191-506E045DBB0D}"/>
                </a:ext>
              </a:extLst>
            </p:cNvPr>
            <p:cNvGrpSpPr/>
            <p:nvPr/>
          </p:nvGrpSpPr>
          <p:grpSpPr>
            <a:xfrm>
              <a:off x="3420553" y="1223137"/>
              <a:ext cx="1609350" cy="1516670"/>
              <a:chOff x="3420553" y="1223137"/>
              <a:chExt cx="1609350" cy="1516670"/>
            </a:xfrm>
          </p:grpSpPr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63E0FE24-9640-9FFA-6C4F-A48BCD7C94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74608" y="1613811"/>
                <a:ext cx="723600" cy="723600"/>
              </a:xfrm>
              <a:prstGeom prst="rect">
                <a:avLst/>
              </a:prstGeom>
            </p:spPr>
          </p:pic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E066AC07-CCD0-259A-2F2D-B81CFF64B0EB}"/>
                  </a:ext>
                </a:extLst>
              </p:cNvPr>
              <p:cNvSpPr txBox="1"/>
              <p:nvPr/>
            </p:nvSpPr>
            <p:spPr>
              <a:xfrm>
                <a:off x="3685253" y="1223137"/>
                <a:ext cx="1098946" cy="345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Género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F8644911-29F6-1E59-4CCB-91F8CD035AED}"/>
                  </a:ext>
                </a:extLst>
              </p:cNvPr>
              <p:cNvSpPr txBox="1"/>
              <p:nvPr/>
            </p:nvSpPr>
            <p:spPr>
              <a:xfrm>
                <a:off x="3420553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52%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ADEBDDED-EFEF-F9A6-E5F3-1F7C3AFC87F1}"/>
                  </a:ext>
                </a:extLst>
              </p:cNvPr>
              <p:cNvSpPr txBox="1"/>
              <p:nvPr/>
            </p:nvSpPr>
            <p:spPr>
              <a:xfrm>
                <a:off x="4308008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48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</p:grp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C10D3FCF-9D0E-5E67-0241-C003704B559B}"/>
                </a:ext>
              </a:extLst>
            </p:cNvPr>
            <p:cNvSpPr/>
            <p:nvPr/>
          </p:nvSpPr>
          <p:spPr>
            <a:xfrm>
              <a:off x="3224463" y="1110832"/>
              <a:ext cx="1941094" cy="175914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78" name="CuadroTexto 77">
            <a:extLst>
              <a:ext uri="{FF2B5EF4-FFF2-40B4-BE49-F238E27FC236}">
                <a16:creationId xmlns:a16="http://schemas.microsoft.com/office/drawing/2014/main" id="{820CDBF1-FB91-879D-2B9C-3FAD110C619C}"/>
              </a:ext>
            </a:extLst>
          </p:cNvPr>
          <p:cNvSpPr txBox="1"/>
          <p:nvPr/>
        </p:nvSpPr>
        <p:spPr>
          <a:xfrm>
            <a:off x="1376075" y="3222417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20%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Joven</a:t>
            </a:r>
          </a:p>
        </p:txBody>
      </p: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C506FBFA-DBAD-5955-B8A3-F59B8209E7CC}"/>
              </a:ext>
            </a:extLst>
          </p:cNvPr>
          <p:cNvGrpSpPr/>
          <p:nvPr/>
        </p:nvGrpSpPr>
        <p:grpSpPr>
          <a:xfrm>
            <a:off x="-155207" y="2771278"/>
            <a:ext cx="2688149" cy="1998661"/>
            <a:chOff x="435343" y="3108160"/>
            <a:chExt cx="2688149" cy="1998661"/>
          </a:xfrm>
        </p:grpSpPr>
        <p:grpSp>
          <p:nvGrpSpPr>
            <p:cNvPr id="69" name="Grupo 68">
              <a:extLst>
                <a:ext uri="{FF2B5EF4-FFF2-40B4-BE49-F238E27FC236}">
                  <a16:creationId xmlns:a16="http://schemas.microsoft.com/office/drawing/2014/main" id="{38BC4B93-ED96-C3E8-78A0-56EB0E5D98EE}"/>
                </a:ext>
              </a:extLst>
            </p:cNvPr>
            <p:cNvGrpSpPr/>
            <p:nvPr/>
          </p:nvGrpSpPr>
          <p:grpSpPr>
            <a:xfrm>
              <a:off x="457829" y="3108160"/>
              <a:ext cx="2665663" cy="1998661"/>
              <a:chOff x="7590765" y="1110832"/>
              <a:chExt cx="2665663" cy="1822499"/>
            </a:xfrm>
          </p:grpSpPr>
          <p:sp>
            <p:nvSpPr>
              <p:cNvPr id="70" name="Rectángulo 69">
                <a:extLst>
                  <a:ext uri="{FF2B5EF4-FFF2-40B4-BE49-F238E27FC236}">
                    <a16:creationId xmlns:a16="http://schemas.microsoft.com/office/drawing/2014/main" id="{64348BAD-8A76-2BBC-70BA-28CB50B0E1C0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71" name="Grupo 70">
                <a:extLst>
                  <a:ext uri="{FF2B5EF4-FFF2-40B4-BE49-F238E27FC236}">
                    <a16:creationId xmlns:a16="http://schemas.microsoft.com/office/drawing/2014/main" id="{18A7EBA1-33B1-8D3B-F7C8-25ECE1B12DA6}"/>
                  </a:ext>
                </a:extLst>
              </p:cNvPr>
              <p:cNvGrpSpPr/>
              <p:nvPr/>
            </p:nvGrpSpPr>
            <p:grpSpPr>
              <a:xfrm>
                <a:off x="7590765" y="1223137"/>
                <a:ext cx="2024519" cy="1655939"/>
                <a:chOff x="3026344" y="1229837"/>
                <a:chExt cx="2024519" cy="1655939"/>
              </a:xfrm>
            </p:grpSpPr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B385D9C9-26B4-7D4B-C1B0-E55B674F985A}"/>
                    </a:ext>
                  </a:extLst>
                </p:cNvPr>
                <p:cNvSpPr txBox="1"/>
                <p:nvPr/>
              </p:nvSpPr>
              <p:spPr>
                <a:xfrm>
                  <a:off x="3645002" y="1229837"/>
                  <a:ext cx="1405861" cy="3087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Segmento 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3A8FCD7F-45AA-8ED0-0475-30C6B82F6D3C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12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37%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Básico</a:t>
                  </a:r>
                </a:p>
              </p:txBody>
            </p:sp>
          </p:grpSp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ACC63C81-61E0-FD9A-DFA8-249AEFAECE1B}"/>
                  </a:ext>
                </a:extLst>
              </p:cNvPr>
              <p:cNvSpPr txBox="1"/>
              <p:nvPr/>
            </p:nvSpPr>
            <p:spPr>
              <a:xfrm>
                <a:off x="9083519" y="231777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0%</a:t>
                </a:r>
              </a:p>
              <a:p>
                <a:r>
                  <a:rPr lang="es-CO" sz="1400" b="1">
                    <a:solidFill>
                      <a:schemeClr val="bg1"/>
                    </a:solidFill>
                  </a:rPr>
                  <a:t>       Alto</a:t>
                </a:r>
              </a:p>
            </p:txBody>
          </p:sp>
        </p:grpSp>
        <p:sp>
          <p:nvSpPr>
            <p:cNvPr id="77" name="CuadroTexto 76">
              <a:extLst>
                <a:ext uri="{FF2B5EF4-FFF2-40B4-BE49-F238E27FC236}">
                  <a16:creationId xmlns:a16="http://schemas.microsoft.com/office/drawing/2014/main" id="{D0727CE7-FB1B-50C8-4D24-7E909D38317F}"/>
                </a:ext>
              </a:extLst>
            </p:cNvPr>
            <p:cNvSpPr txBox="1"/>
            <p:nvPr/>
          </p:nvSpPr>
          <p:spPr>
            <a:xfrm>
              <a:off x="435343" y="3559299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43%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Medio</a:t>
              </a:r>
            </a:p>
          </p:txBody>
        </p:sp>
        <p:pic>
          <p:nvPicPr>
            <p:cNvPr id="80" name="Imagen 79">
              <a:extLst>
                <a:ext uri="{FF2B5EF4-FFF2-40B4-BE49-F238E27FC236}">
                  <a16:creationId xmlns:a16="http://schemas.microsoft.com/office/drawing/2014/main" id="{C1FFD2B8-3F9E-FD4C-03CD-C9BF25198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LineDrawing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90862" y="3871141"/>
              <a:ext cx="680857" cy="680857"/>
            </a:xfrm>
            <a:prstGeom prst="rect">
              <a:avLst/>
            </a:prstGeom>
          </p:spPr>
        </p:pic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99FF1F0F-1A54-772F-ABC7-79A8C5A2CE3D}"/>
              </a:ext>
            </a:extLst>
          </p:cNvPr>
          <p:cNvGrpSpPr/>
          <p:nvPr/>
        </p:nvGrpSpPr>
        <p:grpSpPr>
          <a:xfrm>
            <a:off x="2169335" y="2774370"/>
            <a:ext cx="3284086" cy="1963483"/>
            <a:chOff x="2759885" y="3111252"/>
            <a:chExt cx="3284086" cy="1963483"/>
          </a:xfrm>
        </p:grpSpPr>
        <p:sp>
          <p:nvSpPr>
            <p:cNvPr id="88" name="CuadroTexto 87">
              <a:extLst>
                <a:ext uri="{FF2B5EF4-FFF2-40B4-BE49-F238E27FC236}">
                  <a16:creationId xmlns:a16="http://schemas.microsoft.com/office/drawing/2014/main" id="{1A7AD5BF-4C96-82E2-2B6D-1591F9363331}"/>
                </a:ext>
              </a:extLst>
            </p:cNvPr>
            <p:cNvSpPr txBox="1"/>
            <p:nvPr/>
          </p:nvSpPr>
          <p:spPr>
            <a:xfrm>
              <a:off x="2759885" y="3531697"/>
              <a:ext cx="154680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   37%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             Sin Grupo</a:t>
              </a:r>
            </a:p>
          </p:txBody>
        </p:sp>
        <p:grpSp>
          <p:nvGrpSpPr>
            <p:cNvPr id="124" name="Grupo 123">
              <a:extLst>
                <a:ext uri="{FF2B5EF4-FFF2-40B4-BE49-F238E27FC236}">
                  <a16:creationId xmlns:a16="http://schemas.microsoft.com/office/drawing/2014/main" id="{32EAE5F1-784B-3C8C-2310-8BD590D70D0D}"/>
                </a:ext>
              </a:extLst>
            </p:cNvPr>
            <p:cNvGrpSpPr/>
            <p:nvPr/>
          </p:nvGrpSpPr>
          <p:grpSpPr>
            <a:xfrm>
              <a:off x="2827705" y="3111252"/>
              <a:ext cx="3216266" cy="1963483"/>
              <a:chOff x="2827705" y="3111252"/>
              <a:chExt cx="3216266" cy="1963483"/>
            </a:xfrm>
          </p:grpSpPr>
          <p:grpSp>
            <p:nvGrpSpPr>
              <p:cNvPr id="81" name="Grupo 80">
                <a:extLst>
                  <a:ext uri="{FF2B5EF4-FFF2-40B4-BE49-F238E27FC236}">
                    <a16:creationId xmlns:a16="http://schemas.microsoft.com/office/drawing/2014/main" id="{CD3CEB76-73C6-2F50-20B3-8AE7E6A41A4E}"/>
                  </a:ext>
                </a:extLst>
              </p:cNvPr>
              <p:cNvGrpSpPr/>
              <p:nvPr/>
            </p:nvGrpSpPr>
            <p:grpSpPr>
              <a:xfrm>
                <a:off x="2827705" y="3111252"/>
                <a:ext cx="3216266" cy="1963483"/>
                <a:chOff x="7593779" y="1110832"/>
                <a:chExt cx="3216266" cy="1780012"/>
              </a:xfrm>
            </p:grpSpPr>
            <p:sp>
              <p:nvSpPr>
                <p:cNvPr id="82" name="Rectángulo 81">
                  <a:extLst>
                    <a:ext uri="{FF2B5EF4-FFF2-40B4-BE49-F238E27FC236}">
                      <a16:creationId xmlns:a16="http://schemas.microsoft.com/office/drawing/2014/main" id="{48B6ECAC-20E8-0264-FBFD-912B82699899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808386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83" name="Grupo 82">
                  <a:extLst>
                    <a:ext uri="{FF2B5EF4-FFF2-40B4-BE49-F238E27FC236}">
                      <a16:creationId xmlns:a16="http://schemas.microsoft.com/office/drawing/2014/main" id="{5EE1C117-07EE-A7D6-B3C8-0ECCE83AD466}"/>
                    </a:ext>
                  </a:extLst>
                </p:cNvPr>
                <p:cNvGrpSpPr/>
                <p:nvPr/>
              </p:nvGrpSpPr>
              <p:grpSpPr>
                <a:xfrm>
                  <a:off x="7593779" y="1166870"/>
                  <a:ext cx="2748715" cy="1628029"/>
                  <a:chOff x="3029358" y="1173570"/>
                  <a:chExt cx="2748715" cy="1628029"/>
                </a:xfrm>
              </p:grpSpPr>
              <p:sp>
                <p:nvSpPr>
                  <p:cNvPr id="85" name="CuadroTexto 84">
                    <a:extLst>
                      <a:ext uri="{FF2B5EF4-FFF2-40B4-BE49-F238E27FC236}">
                        <a16:creationId xmlns:a16="http://schemas.microsoft.com/office/drawing/2014/main" id="{DC1ABC7E-7841-16E4-82EB-FAC100EFD3D8}"/>
                      </a:ext>
                    </a:extLst>
                  </p:cNvPr>
                  <p:cNvSpPr txBox="1"/>
                  <p:nvPr/>
                </p:nvSpPr>
                <p:spPr>
                  <a:xfrm>
                    <a:off x="3634807" y="1173570"/>
                    <a:ext cx="2143266" cy="30691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Segmento Familia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87" name="CuadroTexto 86">
                    <a:extLst>
                      <a:ext uri="{FF2B5EF4-FFF2-40B4-BE49-F238E27FC236}">
                        <a16:creationId xmlns:a16="http://schemas.microsoft.com/office/drawing/2014/main" id="{6A7E703D-DF50-24C7-03A7-36FA0E7C8F6F}"/>
                      </a:ext>
                    </a:extLst>
                  </p:cNvPr>
                  <p:cNvSpPr txBox="1"/>
                  <p:nvPr/>
                </p:nvSpPr>
                <p:spPr>
                  <a:xfrm>
                    <a:off x="3029358" y="2131957"/>
                    <a:ext cx="1923771" cy="66964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 4</a:t>
                    </a:r>
                    <a:r>
                      <a:rPr lang="es-CO" sz="18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%</a:t>
                    </a:r>
                  </a:p>
                  <a:p>
                    <a:r>
                      <a:rPr lang="es-CO" sz="1200" b="1" dirty="0">
                        <a:solidFill>
                          <a:schemeClr val="bg1"/>
                        </a:solidFill>
                      </a:rPr>
                      <a:t>      Monoparental</a:t>
                    </a:r>
                  </a:p>
                  <a:p>
                    <a:r>
                      <a:rPr lang="es-CO" sz="1200" b="1" dirty="0">
                        <a:solidFill>
                          <a:schemeClr val="bg1"/>
                        </a:solidFill>
                      </a:rPr>
                      <a:t>      Ampliada</a:t>
                    </a:r>
                  </a:p>
                </p:txBody>
              </p:sp>
            </p:grpSp>
            <p:sp>
              <p:nvSpPr>
                <p:cNvPr id="84" name="CuadroTexto 83">
                  <a:extLst>
                    <a:ext uri="{FF2B5EF4-FFF2-40B4-BE49-F238E27FC236}">
                      <a16:creationId xmlns:a16="http://schemas.microsoft.com/office/drawing/2014/main" id="{C1908445-6A72-D6F1-036C-70E46A87BDDD}"/>
                    </a:ext>
                  </a:extLst>
                </p:cNvPr>
                <p:cNvSpPr txBox="1"/>
                <p:nvPr/>
              </p:nvSpPr>
              <p:spPr>
                <a:xfrm>
                  <a:off x="9185077" y="2110714"/>
                  <a:ext cx="1624968" cy="5022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        10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 Nuclear Integrada</a:t>
                  </a:r>
                </a:p>
              </p:txBody>
            </p:sp>
          </p:grpSp>
          <p:sp>
            <p:nvSpPr>
              <p:cNvPr id="89" name="CuadroTexto 88">
                <a:extLst>
                  <a:ext uri="{FF2B5EF4-FFF2-40B4-BE49-F238E27FC236}">
                    <a16:creationId xmlns:a16="http://schemas.microsoft.com/office/drawing/2014/main" id="{FEA9BE6F-402A-8D15-B2E8-8CD601FF7634}"/>
                  </a:ext>
                </a:extLst>
              </p:cNvPr>
              <p:cNvSpPr txBox="1"/>
              <p:nvPr/>
            </p:nvSpPr>
            <p:spPr>
              <a:xfrm>
                <a:off x="4771770" y="3534141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42%</a:t>
                </a:r>
                <a:r>
                  <a:rPr lang="es-CO" sz="1200" b="1" dirty="0">
                    <a:solidFill>
                      <a:schemeClr val="bg1"/>
                    </a:solidFill>
                  </a:rPr>
                  <a:t> Monoparental</a:t>
                </a:r>
              </a:p>
            </p:txBody>
          </p:sp>
          <p:pic>
            <p:nvPicPr>
              <p:cNvPr id="92" name="Imagen 91">
                <a:extLst>
                  <a:ext uri="{FF2B5EF4-FFF2-40B4-BE49-F238E27FC236}">
                    <a16:creationId xmlns:a16="http://schemas.microsoft.com/office/drawing/2014/main" id="{53337711-B83D-9871-2F79-2CA026359B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artisticGlowDiffused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075298" y="3683026"/>
                <a:ext cx="754362" cy="754362"/>
              </a:xfrm>
              <a:prstGeom prst="rect">
                <a:avLst/>
              </a:prstGeom>
            </p:spPr>
          </p:pic>
        </p:grp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7FD8BDE1-144B-0ABA-7AE3-2F07F92ECA0D}"/>
              </a:ext>
            </a:extLst>
          </p:cNvPr>
          <p:cNvGrpSpPr/>
          <p:nvPr/>
        </p:nvGrpSpPr>
        <p:grpSpPr>
          <a:xfrm>
            <a:off x="90873" y="847081"/>
            <a:ext cx="3094159" cy="1780012"/>
            <a:chOff x="681423" y="1183963"/>
            <a:chExt cx="3094159" cy="1780012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FA0A9F47-0E20-C2DD-2857-1B4C1CA022FD}"/>
                </a:ext>
              </a:extLst>
            </p:cNvPr>
            <p:cNvSpPr txBox="1"/>
            <p:nvPr/>
          </p:nvSpPr>
          <p:spPr>
            <a:xfrm>
              <a:off x="942955" y="1217834"/>
              <a:ext cx="2376943" cy="16927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s-CO" sz="2000" b="1" dirty="0">
                <a:solidFill>
                  <a:srgbClr val="FFC000"/>
                </a:solidFill>
              </a:endParaRP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Afiliado     </a:t>
              </a:r>
              <a:r>
                <a:rPr lang="es-CO" sz="2800" b="1" dirty="0">
                  <a:solidFill>
                    <a:srgbClr val="FFC000"/>
                  </a:solidFill>
                </a:rPr>
                <a:t>   </a:t>
              </a:r>
              <a:r>
                <a:rPr lang="es-CO" sz="2800" b="1" dirty="0">
                  <a:solidFill>
                    <a:schemeClr val="bg1"/>
                  </a:solidFill>
                </a:rPr>
                <a:t>56%</a:t>
              </a: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No Afilado   </a:t>
              </a:r>
              <a:r>
                <a:rPr lang="es-CO" sz="2800" b="1" dirty="0">
                  <a:solidFill>
                    <a:schemeClr val="bg1"/>
                  </a:solidFill>
                </a:rPr>
                <a:t>44%</a:t>
              </a:r>
            </a:p>
            <a:p>
              <a:endParaRPr lang="es-ES" sz="28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05" name="Rectángulo 104">
              <a:extLst>
                <a:ext uri="{FF2B5EF4-FFF2-40B4-BE49-F238E27FC236}">
                  <a16:creationId xmlns:a16="http://schemas.microsoft.com/office/drawing/2014/main" id="{503CFEB0-F4DF-001A-496C-1593865F7A4F}"/>
                </a:ext>
              </a:extLst>
            </p:cNvPr>
            <p:cNvSpPr/>
            <p:nvPr/>
          </p:nvSpPr>
          <p:spPr>
            <a:xfrm>
              <a:off x="681423" y="1183963"/>
              <a:ext cx="3094159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20" name="Grupo 119">
            <a:extLst>
              <a:ext uri="{FF2B5EF4-FFF2-40B4-BE49-F238E27FC236}">
                <a16:creationId xmlns:a16="http://schemas.microsoft.com/office/drawing/2014/main" id="{55F43B11-66DD-5E0F-749A-8BE4FC42969B}"/>
              </a:ext>
            </a:extLst>
          </p:cNvPr>
          <p:cNvGrpSpPr/>
          <p:nvPr/>
        </p:nvGrpSpPr>
        <p:grpSpPr>
          <a:xfrm>
            <a:off x="7777183" y="2775745"/>
            <a:ext cx="2623981" cy="1933541"/>
            <a:chOff x="9059295" y="3127128"/>
            <a:chExt cx="2623981" cy="1933541"/>
          </a:xfrm>
        </p:grpSpPr>
        <p:grpSp>
          <p:nvGrpSpPr>
            <p:cNvPr id="106" name="Grupo 105">
              <a:extLst>
                <a:ext uri="{FF2B5EF4-FFF2-40B4-BE49-F238E27FC236}">
                  <a16:creationId xmlns:a16="http://schemas.microsoft.com/office/drawing/2014/main" id="{57C98ADE-3D3A-7954-DC90-B19B02557AF1}"/>
                </a:ext>
              </a:extLst>
            </p:cNvPr>
            <p:cNvGrpSpPr/>
            <p:nvPr/>
          </p:nvGrpSpPr>
          <p:grpSpPr>
            <a:xfrm>
              <a:off x="9080988" y="3127128"/>
              <a:ext cx="2601495" cy="1933541"/>
              <a:chOff x="7590765" y="1110832"/>
              <a:chExt cx="2601495" cy="1780012"/>
            </a:xfrm>
          </p:grpSpPr>
          <p:sp>
            <p:nvSpPr>
              <p:cNvPr id="107" name="Rectángulo 106">
                <a:extLst>
                  <a:ext uri="{FF2B5EF4-FFF2-40B4-BE49-F238E27FC236}">
                    <a16:creationId xmlns:a16="http://schemas.microsoft.com/office/drawing/2014/main" id="{D210D200-46B1-A117-F0CF-200C50F7CC8C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108" name="Grupo 107">
                <a:extLst>
                  <a:ext uri="{FF2B5EF4-FFF2-40B4-BE49-F238E27FC236}">
                    <a16:creationId xmlns:a16="http://schemas.microsoft.com/office/drawing/2014/main" id="{CEA8CA0B-C434-8490-5612-DD0B83BBFB36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2191150" cy="1678227"/>
                <a:chOff x="3026344" y="1212927"/>
                <a:chExt cx="2191150" cy="1678227"/>
              </a:xfrm>
            </p:grpSpPr>
            <p:sp>
              <p:nvSpPr>
                <p:cNvPr id="110" name="CuadroTexto 109">
                  <a:extLst>
                    <a:ext uri="{FF2B5EF4-FFF2-40B4-BE49-F238E27FC236}">
                      <a16:creationId xmlns:a16="http://schemas.microsoft.com/office/drawing/2014/main" id="{725DA05A-EAC5-CD02-8188-DB0F9FC2BB8A}"/>
                    </a:ext>
                  </a:extLst>
                </p:cNvPr>
                <p:cNvSpPr txBox="1"/>
                <p:nvPr/>
              </p:nvSpPr>
              <p:spPr>
                <a:xfrm>
                  <a:off x="3811633" y="1212927"/>
                  <a:ext cx="140586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Estrato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11" name="CuadroTexto 110">
                  <a:extLst>
                    <a:ext uri="{FF2B5EF4-FFF2-40B4-BE49-F238E27FC236}">
                      <a16:creationId xmlns:a16="http://schemas.microsoft.com/office/drawing/2014/main" id="{039C4E5D-66DC-6DD9-1AF6-D47DF80F9B48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13%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  <p:sp>
            <p:nvSpPr>
              <p:cNvPr id="109" name="CuadroTexto 108">
                <a:extLst>
                  <a:ext uri="{FF2B5EF4-FFF2-40B4-BE49-F238E27FC236}">
                    <a16:creationId xmlns:a16="http://schemas.microsoft.com/office/drawing/2014/main" id="{0820D809-AFD7-9FE0-BABE-0B6906767D3A}"/>
                  </a:ext>
                </a:extLst>
              </p:cNvPr>
              <p:cNvSpPr txBox="1"/>
              <p:nvPr/>
            </p:nvSpPr>
            <p:spPr>
              <a:xfrm>
                <a:off x="9019351" y="2317778"/>
                <a:ext cx="1172909" cy="566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3%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Cuatro</a:t>
                </a:r>
              </a:p>
            </p:txBody>
          </p:sp>
        </p:grpSp>
        <p:sp>
          <p:nvSpPr>
            <p:cNvPr id="112" name="CuadroTexto 111">
              <a:extLst>
                <a:ext uri="{FF2B5EF4-FFF2-40B4-BE49-F238E27FC236}">
                  <a16:creationId xmlns:a16="http://schemas.microsoft.com/office/drawing/2014/main" id="{FC1441B4-0AA6-4423-BD7F-94232F9C3FFB}"/>
                </a:ext>
              </a:extLst>
            </p:cNvPr>
            <p:cNvSpPr txBox="1"/>
            <p:nvPr/>
          </p:nvSpPr>
          <p:spPr>
            <a:xfrm>
              <a:off x="9059295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5%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Uno</a:t>
              </a:r>
            </a:p>
          </p:txBody>
        </p:sp>
        <p:sp>
          <p:nvSpPr>
            <p:cNvPr id="113" name="CuadroTexto 112">
              <a:extLst>
                <a:ext uri="{FF2B5EF4-FFF2-40B4-BE49-F238E27FC236}">
                  <a16:creationId xmlns:a16="http://schemas.microsoft.com/office/drawing/2014/main" id="{8C29D56C-3B16-064B-E0AC-E824F140C9B9}"/>
                </a:ext>
              </a:extLst>
            </p:cNvPr>
            <p:cNvSpPr txBox="1"/>
            <p:nvPr/>
          </p:nvSpPr>
          <p:spPr>
            <a:xfrm>
              <a:off x="10510367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14%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Dos</a:t>
              </a:r>
            </a:p>
          </p:txBody>
        </p:sp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2A5BDC1C-CB3E-C2D4-51B2-B648B8A49C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artisticPencilGrayscale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043317" y="3855923"/>
              <a:ext cx="655939" cy="655939"/>
            </a:xfrm>
            <a:prstGeom prst="rect">
              <a:avLst/>
            </a:prstGeom>
          </p:spPr>
        </p:pic>
      </p:grp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B43EE1AB-2655-5F7C-AC17-DA8F40D31D1A}"/>
              </a:ext>
            </a:extLst>
          </p:cNvPr>
          <p:cNvSpPr txBox="1"/>
          <p:nvPr/>
        </p:nvSpPr>
        <p:spPr>
          <a:xfrm>
            <a:off x="5289967" y="3228845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37%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 Cero</a:t>
            </a:r>
          </a:p>
        </p:txBody>
      </p:sp>
      <p:grpSp>
        <p:nvGrpSpPr>
          <p:cNvPr id="123" name="Grupo 122">
            <a:extLst>
              <a:ext uri="{FF2B5EF4-FFF2-40B4-BE49-F238E27FC236}">
                <a16:creationId xmlns:a16="http://schemas.microsoft.com/office/drawing/2014/main" id="{00793E6B-31E3-8ED2-2369-6FA4ED1EBF74}"/>
              </a:ext>
            </a:extLst>
          </p:cNvPr>
          <p:cNvGrpSpPr/>
          <p:nvPr/>
        </p:nvGrpSpPr>
        <p:grpSpPr>
          <a:xfrm>
            <a:off x="5340592" y="2790246"/>
            <a:ext cx="2602288" cy="1933541"/>
            <a:chOff x="5931142" y="3127128"/>
            <a:chExt cx="2602288" cy="1933541"/>
          </a:xfrm>
        </p:grpSpPr>
        <p:grpSp>
          <p:nvGrpSpPr>
            <p:cNvPr id="93" name="Grupo 92">
              <a:extLst>
                <a:ext uri="{FF2B5EF4-FFF2-40B4-BE49-F238E27FC236}">
                  <a16:creationId xmlns:a16="http://schemas.microsoft.com/office/drawing/2014/main" id="{AF878CD4-2EA2-1E01-1A0E-C112E65AF1FB}"/>
                </a:ext>
              </a:extLst>
            </p:cNvPr>
            <p:cNvGrpSpPr/>
            <p:nvPr/>
          </p:nvGrpSpPr>
          <p:grpSpPr>
            <a:xfrm>
              <a:off x="5931142" y="3127128"/>
              <a:ext cx="2601495" cy="1933541"/>
              <a:chOff x="7590765" y="1110832"/>
              <a:chExt cx="2601495" cy="1780012"/>
            </a:xfrm>
          </p:grpSpPr>
          <p:sp>
            <p:nvSpPr>
              <p:cNvPr id="94" name="Rectángulo 93">
                <a:extLst>
                  <a:ext uri="{FF2B5EF4-FFF2-40B4-BE49-F238E27FC236}">
                    <a16:creationId xmlns:a16="http://schemas.microsoft.com/office/drawing/2014/main" id="{4955FFB3-CD27-6D05-5A80-BD5EFCB19860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95" name="Grupo 94">
                <a:extLst>
                  <a:ext uri="{FF2B5EF4-FFF2-40B4-BE49-F238E27FC236}">
                    <a16:creationId xmlns:a16="http://schemas.microsoft.com/office/drawing/2014/main" id="{8FB7153A-B88F-EE01-AEBE-320EC1ADA35D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1922369" cy="1647802"/>
                <a:chOff x="3026344" y="1212927"/>
                <a:chExt cx="1922369" cy="1647802"/>
              </a:xfrm>
            </p:grpSpPr>
            <p:sp>
              <p:nvSpPr>
                <p:cNvPr id="97" name="CuadroTexto 96">
                  <a:extLst>
                    <a:ext uri="{FF2B5EF4-FFF2-40B4-BE49-F238E27FC236}">
                      <a16:creationId xmlns:a16="http://schemas.microsoft.com/office/drawing/2014/main" id="{5F5F8069-890A-8E2C-D96D-F90BC1769675}"/>
                    </a:ext>
                  </a:extLst>
                </p:cNvPr>
                <p:cNvSpPr txBox="1"/>
                <p:nvPr/>
              </p:nvSpPr>
              <p:spPr>
                <a:xfrm>
                  <a:off x="4021092" y="1212927"/>
                  <a:ext cx="92762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PAC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98" name="CuadroTexto 97">
                  <a:extLst>
                    <a:ext uri="{FF2B5EF4-FFF2-40B4-BE49-F238E27FC236}">
                      <a16:creationId xmlns:a16="http://schemas.microsoft.com/office/drawing/2014/main" id="{E803AD54-991D-FE31-0DE7-0F4A0A61733A}"/>
                    </a:ext>
                  </a:extLst>
                </p:cNvPr>
                <p:cNvSpPr txBox="1"/>
                <p:nvPr/>
              </p:nvSpPr>
              <p:spPr>
                <a:xfrm>
                  <a:off x="3026344" y="2294053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9%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  <p:sp>
            <p:nvSpPr>
              <p:cNvPr id="96" name="CuadroTexto 95">
                <a:extLst>
                  <a:ext uri="{FF2B5EF4-FFF2-40B4-BE49-F238E27FC236}">
                    <a16:creationId xmlns:a16="http://schemas.microsoft.com/office/drawing/2014/main" id="{6A417689-43EC-9EC4-9371-774F722D3C3F}"/>
                  </a:ext>
                </a:extLst>
              </p:cNvPr>
              <p:cNvSpPr txBox="1"/>
              <p:nvPr/>
            </p:nvSpPr>
            <p:spPr>
              <a:xfrm>
                <a:off x="9019351" y="2317778"/>
                <a:ext cx="1172909" cy="566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Cuatro</a:t>
                </a:r>
              </a:p>
            </p:txBody>
          </p:sp>
        </p:grpSp>
        <p:grpSp>
          <p:nvGrpSpPr>
            <p:cNvPr id="121" name="Grupo 120">
              <a:extLst>
                <a:ext uri="{FF2B5EF4-FFF2-40B4-BE49-F238E27FC236}">
                  <a16:creationId xmlns:a16="http://schemas.microsoft.com/office/drawing/2014/main" id="{41B6EB46-5B89-5934-B7CF-272F68ECC087}"/>
                </a:ext>
              </a:extLst>
            </p:cNvPr>
            <p:cNvGrpSpPr/>
            <p:nvPr/>
          </p:nvGrpSpPr>
          <p:grpSpPr>
            <a:xfrm>
              <a:off x="6649678" y="3565727"/>
              <a:ext cx="1883752" cy="1414028"/>
              <a:chOff x="6649678" y="3565727"/>
              <a:chExt cx="1883752" cy="1414028"/>
            </a:xfrm>
          </p:grpSpPr>
          <p:sp>
            <p:nvSpPr>
              <p:cNvPr id="99" name="CuadroTexto 98">
                <a:extLst>
                  <a:ext uri="{FF2B5EF4-FFF2-40B4-BE49-F238E27FC236}">
                    <a16:creationId xmlns:a16="http://schemas.microsoft.com/office/drawing/2014/main" id="{4F18B21F-2D7D-D0BF-0DE3-E018A23AA5CC}"/>
                  </a:ext>
                </a:extLst>
              </p:cNvPr>
              <p:cNvSpPr txBox="1"/>
              <p:nvPr/>
            </p:nvSpPr>
            <p:spPr>
              <a:xfrm>
                <a:off x="6649678" y="358240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31%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Uno</a:t>
                </a:r>
              </a:p>
            </p:txBody>
          </p:sp>
          <p:sp>
            <p:nvSpPr>
              <p:cNvPr id="101" name="CuadroTexto 100">
                <a:extLst>
                  <a:ext uri="{FF2B5EF4-FFF2-40B4-BE49-F238E27FC236}">
                    <a16:creationId xmlns:a16="http://schemas.microsoft.com/office/drawing/2014/main" id="{77699DE3-33B9-9AFA-2452-EEA4D008B9D0}"/>
                  </a:ext>
                </a:extLst>
              </p:cNvPr>
              <p:cNvSpPr txBox="1"/>
              <p:nvPr/>
            </p:nvSpPr>
            <p:spPr>
              <a:xfrm>
                <a:off x="7360521" y="3565727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21%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Dos</a:t>
                </a:r>
              </a:p>
            </p:txBody>
          </p:sp>
          <p:pic>
            <p:nvPicPr>
              <p:cNvPr id="118" name="Imagen 117">
                <a:extLst>
                  <a:ext uri="{FF2B5EF4-FFF2-40B4-BE49-F238E27FC236}">
                    <a16:creationId xmlns:a16="http://schemas.microsoft.com/office/drawing/2014/main" id="{EB28169E-8005-80AB-42E5-34A68E5A77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artisticPaintStrokes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886925" y="4205951"/>
                <a:ext cx="773804" cy="773804"/>
              </a:xfrm>
              <a:prstGeom prst="rect">
                <a:avLst/>
              </a:prstGeom>
            </p:spPr>
          </p:pic>
        </p:grpSp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13A89E02-B01C-56A1-C003-4F2F17204FDA}"/>
              </a:ext>
            </a:extLst>
          </p:cNvPr>
          <p:cNvGrpSpPr/>
          <p:nvPr/>
        </p:nvGrpSpPr>
        <p:grpSpPr>
          <a:xfrm>
            <a:off x="8022470" y="853892"/>
            <a:ext cx="2195988" cy="1780012"/>
            <a:chOff x="7814360" y="1110832"/>
            <a:chExt cx="2195988" cy="1780012"/>
          </a:xfrm>
        </p:grpSpPr>
        <p:grpSp>
          <p:nvGrpSpPr>
            <p:cNvPr id="66" name="Grupo 65">
              <a:extLst>
                <a:ext uri="{FF2B5EF4-FFF2-40B4-BE49-F238E27FC236}">
                  <a16:creationId xmlns:a16="http://schemas.microsoft.com/office/drawing/2014/main" id="{E2E4EC70-57DC-3CC1-A4B7-8E618355C393}"/>
                </a:ext>
              </a:extLst>
            </p:cNvPr>
            <p:cNvGrpSpPr/>
            <p:nvPr/>
          </p:nvGrpSpPr>
          <p:grpSpPr>
            <a:xfrm>
              <a:off x="7814360" y="1110832"/>
              <a:ext cx="2195988" cy="1780012"/>
              <a:chOff x="7814360" y="1110832"/>
              <a:chExt cx="2195988" cy="1780012"/>
            </a:xfrm>
          </p:grpSpPr>
          <p:sp>
            <p:nvSpPr>
              <p:cNvPr id="60" name="Rectángulo 59">
                <a:extLst>
                  <a:ext uri="{FF2B5EF4-FFF2-40B4-BE49-F238E27FC236}">
                    <a16:creationId xmlns:a16="http://schemas.microsoft.com/office/drawing/2014/main" id="{CBA28DFD-D92B-133E-6518-53CC504DA9EF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61" name="Grupo 60">
                <a:extLst>
                  <a:ext uri="{FF2B5EF4-FFF2-40B4-BE49-F238E27FC236}">
                    <a16:creationId xmlns:a16="http://schemas.microsoft.com/office/drawing/2014/main" id="{CDF632B4-E2BC-5B89-0FE2-38AA9A9B5096}"/>
                  </a:ext>
                </a:extLst>
              </p:cNvPr>
              <p:cNvGrpSpPr/>
              <p:nvPr/>
            </p:nvGrpSpPr>
            <p:grpSpPr>
              <a:xfrm>
                <a:off x="7814361" y="1223137"/>
                <a:ext cx="2083693" cy="1630468"/>
                <a:chOff x="3249940" y="1229837"/>
                <a:chExt cx="2083693" cy="1630468"/>
              </a:xfrm>
            </p:grpSpPr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C634C437-74B8-5C76-DD1E-23147CE4AAFD}"/>
                    </a:ext>
                  </a:extLst>
                </p:cNvPr>
                <p:cNvSpPr txBox="1"/>
                <p:nvPr/>
              </p:nvSpPr>
              <p:spPr>
                <a:xfrm>
                  <a:off x="3552927" y="1229837"/>
                  <a:ext cx="1780706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Rango Edad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D28DED6B-9587-A72F-5008-288E38D2041E}"/>
                    </a:ext>
                  </a:extLst>
                </p:cNvPr>
                <p:cNvSpPr txBox="1"/>
                <p:nvPr/>
              </p:nvSpPr>
              <p:spPr>
                <a:xfrm>
                  <a:off x="3249940" y="2306307"/>
                  <a:ext cx="1172909" cy="5539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48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20 a 35 años</a:t>
                  </a:r>
                </a:p>
              </p:txBody>
            </p:sp>
          </p:grpSp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D03E67D6-34F2-1E0B-A3AA-5F096A5F4216}"/>
                  </a:ext>
                </a:extLst>
              </p:cNvPr>
              <p:cNvSpPr txBox="1"/>
              <p:nvPr/>
            </p:nvSpPr>
            <p:spPr>
              <a:xfrm>
                <a:off x="8837439" y="2289285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31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36 a 45 años</a:t>
                </a:r>
              </a:p>
            </p:txBody>
          </p:sp>
        </p:grpSp>
        <p:pic>
          <p:nvPicPr>
            <p:cNvPr id="128" name="Imagen 127">
              <a:extLst>
                <a:ext uri="{FF2B5EF4-FFF2-40B4-BE49-F238E27FC236}">
                  <a16:creationId xmlns:a16="http://schemas.microsoft.com/office/drawing/2014/main" id="{D0FE031D-1885-12A4-CCE9-40C8AD707F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17644" y="1602912"/>
              <a:ext cx="655473" cy="655473"/>
            </a:xfrm>
            <a:prstGeom prst="rect">
              <a:avLst/>
            </a:prstGeom>
          </p:spPr>
        </p:pic>
      </p:grpSp>
      <p:grpSp>
        <p:nvGrpSpPr>
          <p:cNvPr id="189" name="Grupo 188">
            <a:extLst>
              <a:ext uri="{FF2B5EF4-FFF2-40B4-BE49-F238E27FC236}">
                <a16:creationId xmlns:a16="http://schemas.microsoft.com/office/drawing/2014/main" id="{8BC68896-147C-761D-A211-E084E9F51E29}"/>
              </a:ext>
            </a:extLst>
          </p:cNvPr>
          <p:cNvGrpSpPr/>
          <p:nvPr/>
        </p:nvGrpSpPr>
        <p:grpSpPr>
          <a:xfrm>
            <a:off x="-114768" y="4837223"/>
            <a:ext cx="3758502" cy="1933541"/>
            <a:chOff x="435340" y="4837223"/>
            <a:chExt cx="4854517" cy="1933541"/>
          </a:xfrm>
        </p:grpSpPr>
        <p:grpSp>
          <p:nvGrpSpPr>
            <p:cNvPr id="138" name="Grupo 137">
              <a:extLst>
                <a:ext uri="{FF2B5EF4-FFF2-40B4-BE49-F238E27FC236}">
                  <a16:creationId xmlns:a16="http://schemas.microsoft.com/office/drawing/2014/main" id="{A8443FD9-E156-28BA-1325-0D2411E76550}"/>
                </a:ext>
              </a:extLst>
            </p:cNvPr>
            <p:cNvGrpSpPr/>
            <p:nvPr/>
          </p:nvGrpSpPr>
          <p:grpSpPr>
            <a:xfrm>
              <a:off x="435340" y="4837223"/>
              <a:ext cx="4854517" cy="1933541"/>
              <a:chOff x="9135236" y="3127128"/>
              <a:chExt cx="3830051" cy="1933541"/>
            </a:xfrm>
          </p:grpSpPr>
          <p:grpSp>
            <p:nvGrpSpPr>
              <p:cNvPr id="139" name="Grupo 138">
                <a:extLst>
                  <a:ext uri="{FF2B5EF4-FFF2-40B4-BE49-F238E27FC236}">
                    <a16:creationId xmlns:a16="http://schemas.microsoft.com/office/drawing/2014/main" id="{ACF4F75D-7E60-BB79-5FA8-BCCC2AC6FB2A}"/>
                  </a:ext>
                </a:extLst>
              </p:cNvPr>
              <p:cNvGrpSpPr/>
              <p:nvPr/>
            </p:nvGrpSpPr>
            <p:grpSpPr>
              <a:xfrm>
                <a:off x="9229918" y="3127128"/>
                <a:ext cx="3735369" cy="1933541"/>
                <a:chOff x="7739695" y="1110832"/>
                <a:chExt cx="3735369" cy="1780012"/>
              </a:xfrm>
            </p:grpSpPr>
            <p:sp>
              <p:nvSpPr>
                <p:cNvPr id="143" name="Rectángulo 142">
                  <a:extLst>
                    <a:ext uri="{FF2B5EF4-FFF2-40B4-BE49-F238E27FC236}">
                      <a16:creationId xmlns:a16="http://schemas.microsoft.com/office/drawing/2014/main" id="{C1C5D495-EA27-8FB8-5536-1F0A8EE237ED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3246650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44" name="Grupo 143">
                  <a:extLst>
                    <a:ext uri="{FF2B5EF4-FFF2-40B4-BE49-F238E27FC236}">
                      <a16:creationId xmlns:a16="http://schemas.microsoft.com/office/drawing/2014/main" id="{B53CF63E-8F61-FA63-EB04-631E62AAE36A}"/>
                    </a:ext>
                  </a:extLst>
                </p:cNvPr>
                <p:cNvGrpSpPr/>
                <p:nvPr/>
              </p:nvGrpSpPr>
              <p:grpSpPr>
                <a:xfrm>
                  <a:off x="7739695" y="1236316"/>
                  <a:ext cx="3735369" cy="1532075"/>
                  <a:chOff x="3175274" y="1243016"/>
                  <a:chExt cx="3735369" cy="1532075"/>
                </a:xfrm>
              </p:grpSpPr>
              <p:sp>
                <p:nvSpPr>
                  <p:cNvPr id="146" name="CuadroTexto 145">
                    <a:extLst>
                      <a:ext uri="{FF2B5EF4-FFF2-40B4-BE49-F238E27FC236}">
                        <a16:creationId xmlns:a16="http://schemas.microsoft.com/office/drawing/2014/main" id="{A2382E72-29E7-951F-0C63-B4E51F03DB3E}"/>
                      </a:ext>
                    </a:extLst>
                  </p:cNvPr>
                  <p:cNvSpPr txBox="1"/>
                  <p:nvPr/>
                </p:nvSpPr>
                <p:spPr>
                  <a:xfrm>
                    <a:off x="3854322" y="1243016"/>
                    <a:ext cx="3056321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Segmento Empresas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47" name="CuadroTexto 146">
                    <a:extLst>
                      <a:ext uri="{FF2B5EF4-FFF2-40B4-BE49-F238E27FC236}">
                        <a16:creationId xmlns:a16="http://schemas.microsoft.com/office/drawing/2014/main" id="{9939AC16-986E-D520-8380-9B5DF8156472}"/>
                      </a:ext>
                    </a:extLst>
                  </p:cNvPr>
                  <p:cNvSpPr txBox="1"/>
                  <p:nvPr/>
                </p:nvSpPr>
                <p:spPr>
                  <a:xfrm>
                    <a:off x="3175274" y="2208415"/>
                    <a:ext cx="1945898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23%</a:t>
                    </a:r>
                    <a:endParaRPr lang="es-CO" sz="1400" b="1" dirty="0">
                      <a:solidFill>
                        <a:schemeClr val="bg1"/>
                      </a:solidFill>
                    </a:endParaRP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Medianas</a:t>
                    </a:r>
                  </a:p>
                </p:txBody>
              </p:sp>
            </p:grpSp>
            <p:sp>
              <p:nvSpPr>
                <p:cNvPr id="145" name="CuadroTexto 144">
                  <a:extLst>
                    <a:ext uri="{FF2B5EF4-FFF2-40B4-BE49-F238E27FC236}">
                      <a16:creationId xmlns:a16="http://schemas.microsoft.com/office/drawing/2014/main" id="{DCBF40E0-55B7-A591-831A-F5074D0CC6C3}"/>
                    </a:ext>
                  </a:extLst>
                </p:cNvPr>
                <p:cNvSpPr txBox="1"/>
                <p:nvPr/>
              </p:nvSpPr>
              <p:spPr>
                <a:xfrm>
                  <a:off x="9864249" y="1523867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26%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Grandes</a:t>
                  </a:r>
                </a:p>
              </p:txBody>
            </p:sp>
          </p:grpSp>
          <p:sp>
            <p:nvSpPr>
              <p:cNvPr id="140" name="CuadroTexto 139">
                <a:extLst>
                  <a:ext uri="{FF2B5EF4-FFF2-40B4-BE49-F238E27FC236}">
                    <a16:creationId xmlns:a16="http://schemas.microsoft.com/office/drawing/2014/main" id="{41C20F11-7375-7EDF-E185-7E305CFA6150}"/>
                  </a:ext>
                </a:extLst>
              </p:cNvPr>
              <p:cNvSpPr txBox="1"/>
              <p:nvPr/>
            </p:nvSpPr>
            <p:spPr>
              <a:xfrm>
                <a:off x="9135236" y="3565727"/>
                <a:ext cx="145027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12%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</a:t>
                </a:r>
                <a:r>
                  <a:rPr lang="es-CO" sz="1400" b="1" dirty="0" err="1">
                    <a:solidFill>
                      <a:schemeClr val="bg1"/>
                    </a:solidFill>
                  </a:rPr>
                  <a:t>Emp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Top</a:t>
                </a:r>
              </a:p>
            </p:txBody>
          </p:sp>
          <p:sp>
            <p:nvSpPr>
              <p:cNvPr id="141" name="CuadroTexto 140">
                <a:extLst>
                  <a:ext uri="{FF2B5EF4-FFF2-40B4-BE49-F238E27FC236}">
                    <a16:creationId xmlns:a16="http://schemas.microsoft.com/office/drawing/2014/main" id="{324B50A9-D766-C0CF-FE10-4FD00207F625}"/>
                  </a:ext>
                </a:extLst>
              </p:cNvPr>
              <p:cNvSpPr txBox="1"/>
              <p:nvPr/>
            </p:nvSpPr>
            <p:spPr>
              <a:xfrm>
                <a:off x="10055645" y="3580594"/>
                <a:ext cx="152651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28%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    Micro    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Transaccional</a:t>
                </a:r>
              </a:p>
            </p:txBody>
          </p:sp>
        </p:grpSp>
        <p:pic>
          <p:nvPicPr>
            <p:cNvPr id="149" name="Imagen 148">
              <a:extLst>
                <a:ext uri="{FF2B5EF4-FFF2-40B4-BE49-F238E27FC236}">
                  <a16:creationId xmlns:a16="http://schemas.microsoft.com/office/drawing/2014/main" id="{B752E3A4-850B-15AD-F119-A26B98221D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325932" y="6027593"/>
              <a:ext cx="677562" cy="677562"/>
            </a:xfrm>
            <a:prstGeom prst="rect">
              <a:avLst/>
            </a:prstGeom>
          </p:spPr>
        </p:pic>
      </p:grp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3D95EBBE-9D74-3A83-54E1-9F481FD3021E}"/>
              </a:ext>
            </a:extLst>
          </p:cNvPr>
          <p:cNvSpPr txBox="1"/>
          <p:nvPr/>
        </p:nvSpPr>
        <p:spPr>
          <a:xfrm>
            <a:off x="2093411" y="5976448"/>
            <a:ext cx="128594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5%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Estándar</a:t>
            </a:r>
          </a:p>
        </p:txBody>
      </p:sp>
      <p:grpSp>
        <p:nvGrpSpPr>
          <p:cNvPr id="151" name="Grupo 150">
            <a:extLst>
              <a:ext uri="{FF2B5EF4-FFF2-40B4-BE49-F238E27FC236}">
                <a16:creationId xmlns:a16="http://schemas.microsoft.com/office/drawing/2014/main" id="{BC0D9E49-7E6C-F991-7A1B-558B31BE2C5D}"/>
              </a:ext>
            </a:extLst>
          </p:cNvPr>
          <p:cNvGrpSpPr/>
          <p:nvPr/>
        </p:nvGrpSpPr>
        <p:grpSpPr>
          <a:xfrm>
            <a:off x="3075715" y="4852302"/>
            <a:ext cx="2441275" cy="1933541"/>
            <a:chOff x="9059295" y="3127128"/>
            <a:chExt cx="2441275" cy="1933541"/>
          </a:xfrm>
        </p:grpSpPr>
        <p:grpSp>
          <p:nvGrpSpPr>
            <p:cNvPr id="152" name="Grupo 151">
              <a:extLst>
                <a:ext uri="{FF2B5EF4-FFF2-40B4-BE49-F238E27FC236}">
                  <a16:creationId xmlns:a16="http://schemas.microsoft.com/office/drawing/2014/main" id="{AFC421C3-A99A-41D3-5147-DC043B333C80}"/>
                </a:ext>
              </a:extLst>
            </p:cNvPr>
            <p:cNvGrpSpPr/>
            <p:nvPr/>
          </p:nvGrpSpPr>
          <p:grpSpPr>
            <a:xfrm>
              <a:off x="9304583" y="3127128"/>
              <a:ext cx="2195987" cy="1933541"/>
              <a:chOff x="7814360" y="1110832"/>
              <a:chExt cx="2195987" cy="1780012"/>
            </a:xfrm>
          </p:grpSpPr>
          <p:sp>
            <p:nvSpPr>
              <p:cNvPr id="157" name="Rectángulo 156">
                <a:extLst>
                  <a:ext uri="{FF2B5EF4-FFF2-40B4-BE49-F238E27FC236}">
                    <a16:creationId xmlns:a16="http://schemas.microsoft.com/office/drawing/2014/main" id="{28916E9D-187B-8929-A9C9-186A9C9FA72D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60" name="CuadroTexto 159">
                <a:extLst>
                  <a:ext uri="{FF2B5EF4-FFF2-40B4-BE49-F238E27FC236}">
                    <a16:creationId xmlns:a16="http://schemas.microsoft.com/office/drawing/2014/main" id="{21FA540D-B1E1-55C9-42A9-1BDDE8EAC780}"/>
                  </a:ext>
                </a:extLst>
              </p:cNvPr>
              <p:cNvSpPr txBox="1"/>
              <p:nvPr/>
            </p:nvSpPr>
            <p:spPr>
              <a:xfrm>
                <a:off x="7973412" y="1206227"/>
                <a:ext cx="1949604" cy="3116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 dirty="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Departamento</a:t>
                </a:r>
                <a:endParaRPr lang="es-ES" sz="1600" dirty="0">
                  <a:solidFill>
                    <a:srgbClr val="FFC000"/>
                  </a:solidFill>
                </a:endParaRPr>
              </a:p>
            </p:txBody>
          </p:sp>
        </p:grpSp>
        <p:sp>
          <p:nvSpPr>
            <p:cNvPr id="154" name="CuadroTexto 153">
              <a:extLst>
                <a:ext uri="{FF2B5EF4-FFF2-40B4-BE49-F238E27FC236}">
                  <a16:creationId xmlns:a16="http://schemas.microsoft.com/office/drawing/2014/main" id="{CEC942F8-BCC7-C648-DCAD-9CD3430D859D}"/>
                </a:ext>
              </a:extLst>
            </p:cNvPr>
            <p:cNvSpPr txBox="1"/>
            <p:nvPr/>
          </p:nvSpPr>
          <p:spPr>
            <a:xfrm>
              <a:off x="9059295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1%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Soacha</a:t>
              </a:r>
            </a:p>
          </p:txBody>
        </p:sp>
        <p:sp>
          <p:nvSpPr>
            <p:cNvPr id="155" name="CuadroTexto 154">
              <a:extLst>
                <a:ext uri="{FF2B5EF4-FFF2-40B4-BE49-F238E27FC236}">
                  <a16:creationId xmlns:a16="http://schemas.microsoft.com/office/drawing/2014/main" id="{9CEB7AA2-3639-B743-EB56-962592FE4E35}"/>
                </a:ext>
              </a:extLst>
            </p:cNvPr>
            <p:cNvSpPr txBox="1"/>
            <p:nvPr/>
          </p:nvSpPr>
          <p:spPr>
            <a:xfrm>
              <a:off x="10229580" y="4171084"/>
              <a:ext cx="1160334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57%</a:t>
              </a:r>
              <a:r>
                <a:rPr lang="es-CO" sz="1400" b="1" dirty="0">
                  <a:solidFill>
                    <a:schemeClr val="bg1"/>
                  </a:solidFill>
                </a:rPr>
                <a:t>     </a:t>
              </a:r>
              <a:r>
                <a:rPr lang="es-CO" sz="1400" b="1" dirty="0" err="1">
                  <a:solidFill>
                    <a:schemeClr val="bg1"/>
                  </a:solidFill>
                </a:rPr>
                <a:t>Bogota</a:t>
              </a:r>
              <a:endParaRPr lang="es-CO" sz="1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01" name="Grupo 200">
            <a:extLst>
              <a:ext uri="{FF2B5EF4-FFF2-40B4-BE49-F238E27FC236}">
                <a16:creationId xmlns:a16="http://schemas.microsoft.com/office/drawing/2014/main" id="{E38A99B8-74EB-E02C-3FF2-1EF2C14EEFCE}"/>
              </a:ext>
            </a:extLst>
          </p:cNvPr>
          <p:cNvGrpSpPr/>
          <p:nvPr/>
        </p:nvGrpSpPr>
        <p:grpSpPr>
          <a:xfrm>
            <a:off x="5407406" y="4842106"/>
            <a:ext cx="2693579" cy="1985915"/>
            <a:chOff x="5483606" y="4842106"/>
            <a:chExt cx="2693579" cy="1985915"/>
          </a:xfrm>
        </p:grpSpPr>
        <p:grpSp>
          <p:nvGrpSpPr>
            <p:cNvPr id="164" name="Grupo 163">
              <a:extLst>
                <a:ext uri="{FF2B5EF4-FFF2-40B4-BE49-F238E27FC236}">
                  <a16:creationId xmlns:a16="http://schemas.microsoft.com/office/drawing/2014/main" id="{FF949857-8C08-5F5C-1261-397AFC741B2F}"/>
                </a:ext>
              </a:extLst>
            </p:cNvPr>
            <p:cNvGrpSpPr/>
            <p:nvPr/>
          </p:nvGrpSpPr>
          <p:grpSpPr>
            <a:xfrm>
              <a:off x="5483606" y="4842106"/>
              <a:ext cx="2693579" cy="1957609"/>
              <a:chOff x="9049330" y="3127128"/>
              <a:chExt cx="2693579" cy="1957609"/>
            </a:xfrm>
          </p:grpSpPr>
          <p:grpSp>
            <p:nvGrpSpPr>
              <p:cNvPr id="165" name="Grupo 164">
                <a:extLst>
                  <a:ext uri="{FF2B5EF4-FFF2-40B4-BE49-F238E27FC236}">
                    <a16:creationId xmlns:a16="http://schemas.microsoft.com/office/drawing/2014/main" id="{111BCDB6-FAE1-040F-A661-D58B82DBF5DE}"/>
                  </a:ext>
                </a:extLst>
              </p:cNvPr>
              <p:cNvGrpSpPr/>
              <p:nvPr/>
            </p:nvGrpSpPr>
            <p:grpSpPr>
              <a:xfrm>
                <a:off x="9049330" y="3127128"/>
                <a:ext cx="2655911" cy="1957609"/>
                <a:chOff x="7559107" y="1110832"/>
                <a:chExt cx="2655911" cy="1802169"/>
              </a:xfrm>
            </p:grpSpPr>
            <p:sp>
              <p:nvSpPr>
                <p:cNvPr id="168" name="Rectángulo 167">
                  <a:extLst>
                    <a:ext uri="{FF2B5EF4-FFF2-40B4-BE49-F238E27FC236}">
                      <a16:creationId xmlns:a16="http://schemas.microsoft.com/office/drawing/2014/main" id="{7FF4E264-B3A8-35F8-3E46-ABC34E64ED23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195987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70" name="Grupo 169">
                  <a:extLst>
                    <a:ext uri="{FF2B5EF4-FFF2-40B4-BE49-F238E27FC236}">
                      <a16:creationId xmlns:a16="http://schemas.microsoft.com/office/drawing/2014/main" id="{478D40E0-08D3-6F38-B8EE-07CBFFA7EFAF}"/>
                    </a:ext>
                  </a:extLst>
                </p:cNvPr>
                <p:cNvGrpSpPr/>
                <p:nvPr/>
              </p:nvGrpSpPr>
              <p:grpSpPr>
                <a:xfrm>
                  <a:off x="7559107" y="1207829"/>
                  <a:ext cx="2655911" cy="1705172"/>
                  <a:chOff x="2994686" y="1214529"/>
                  <a:chExt cx="2655911" cy="1705172"/>
                </a:xfrm>
              </p:grpSpPr>
              <p:sp>
                <p:nvSpPr>
                  <p:cNvPr id="171" name="CuadroTexto 170">
                    <a:extLst>
                      <a:ext uri="{FF2B5EF4-FFF2-40B4-BE49-F238E27FC236}">
                        <a16:creationId xmlns:a16="http://schemas.microsoft.com/office/drawing/2014/main" id="{4956A28E-6B0A-F61B-1441-B307AF6DC3F2}"/>
                      </a:ext>
                    </a:extLst>
                  </p:cNvPr>
                  <p:cNvSpPr txBox="1"/>
                  <p:nvPr/>
                </p:nvSpPr>
                <p:spPr>
                  <a:xfrm>
                    <a:off x="3700993" y="1214529"/>
                    <a:ext cx="1949604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 dirty="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Localidad</a:t>
                    </a:r>
                    <a:endParaRPr lang="es-ES" sz="1600" dirty="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72" name="CuadroTexto 171">
                    <a:extLst>
                      <a:ext uri="{FF2B5EF4-FFF2-40B4-BE49-F238E27FC236}">
                        <a16:creationId xmlns:a16="http://schemas.microsoft.com/office/drawing/2014/main" id="{CB62E66D-6DFD-F51E-234F-A54818ABD0E0}"/>
                      </a:ext>
                    </a:extLst>
                  </p:cNvPr>
                  <p:cNvSpPr txBox="1"/>
                  <p:nvPr/>
                </p:nvSpPr>
                <p:spPr>
                  <a:xfrm>
                    <a:off x="2994686" y="2353025"/>
                    <a:ext cx="1378262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4%</a:t>
                    </a: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    Chapinero</a:t>
                    </a:r>
                  </a:p>
                </p:txBody>
              </p:sp>
            </p:grpSp>
          </p:grpSp>
          <p:sp>
            <p:nvSpPr>
              <p:cNvPr id="166" name="CuadroTexto 165">
                <a:extLst>
                  <a:ext uri="{FF2B5EF4-FFF2-40B4-BE49-F238E27FC236}">
                    <a16:creationId xmlns:a16="http://schemas.microsoft.com/office/drawing/2014/main" id="{6B91A234-4448-F873-F518-0AC258DE24FD}"/>
                  </a:ext>
                </a:extLst>
              </p:cNvPr>
              <p:cNvSpPr txBox="1"/>
              <p:nvPr/>
            </p:nvSpPr>
            <p:spPr>
              <a:xfrm>
                <a:off x="9059295" y="3565727"/>
                <a:ext cx="128594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9%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San </a:t>
                </a:r>
                <a:r>
                  <a:rPr lang="es-CO" sz="1400" b="1" dirty="0" err="1">
                    <a:solidFill>
                      <a:schemeClr val="bg1"/>
                    </a:solidFill>
                  </a:rPr>
                  <a:t>crist</a:t>
                </a:r>
                <a:endParaRPr lang="es-CO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7" name="CuadroTexto 166">
                <a:extLst>
                  <a:ext uri="{FF2B5EF4-FFF2-40B4-BE49-F238E27FC236}">
                    <a16:creationId xmlns:a16="http://schemas.microsoft.com/office/drawing/2014/main" id="{8DF96B2A-E325-C64A-B534-23FF2E1B79D5}"/>
                  </a:ext>
                </a:extLst>
              </p:cNvPr>
              <p:cNvSpPr txBox="1"/>
              <p:nvPr/>
            </p:nvSpPr>
            <p:spPr>
              <a:xfrm>
                <a:off x="10498522" y="3549824"/>
                <a:ext cx="1244387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9%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</a:t>
                </a:r>
                <a:r>
                  <a:rPr lang="es-CO" sz="1400" b="1" dirty="0" err="1">
                    <a:solidFill>
                      <a:schemeClr val="bg1"/>
                    </a:solidFill>
                  </a:rPr>
                  <a:t>Engativa</a:t>
                </a:r>
                <a:endParaRPr lang="es-CO" sz="14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85" name="CuadroTexto 184">
              <a:extLst>
                <a:ext uri="{FF2B5EF4-FFF2-40B4-BE49-F238E27FC236}">
                  <a16:creationId xmlns:a16="http://schemas.microsoft.com/office/drawing/2014/main" id="{F57535DB-36E6-D569-3D12-23BE8012A641}"/>
                </a:ext>
              </a:extLst>
            </p:cNvPr>
            <p:cNvSpPr txBox="1"/>
            <p:nvPr/>
          </p:nvSpPr>
          <p:spPr>
            <a:xfrm>
              <a:off x="6625166" y="6212468"/>
              <a:ext cx="1323041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60%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 Sin </a:t>
              </a:r>
              <a:r>
                <a:rPr lang="es-CO" sz="1400" b="1" dirty="0" err="1">
                  <a:solidFill>
                    <a:schemeClr val="bg1"/>
                  </a:solidFill>
                </a:rPr>
                <a:t>Infor</a:t>
              </a:r>
              <a:endParaRPr lang="es-CO" sz="1400" b="1" dirty="0">
                <a:solidFill>
                  <a:schemeClr val="bg1"/>
                </a:solidFill>
              </a:endParaRPr>
            </a:p>
          </p:txBody>
        </p:sp>
        <p:pic>
          <p:nvPicPr>
            <p:cNvPr id="187" name="Imagen 186">
              <a:extLst>
                <a:ext uri="{FF2B5EF4-FFF2-40B4-BE49-F238E27FC236}">
                  <a16:creationId xmlns:a16="http://schemas.microsoft.com/office/drawing/2014/main" id="{BC762DC5-0918-BB8F-7FFA-5CF824E8B1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401571" y="5793688"/>
              <a:ext cx="1266970" cy="620378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grpSp>
        <p:nvGrpSpPr>
          <p:cNvPr id="190" name="Grupo 189">
            <a:extLst>
              <a:ext uri="{FF2B5EF4-FFF2-40B4-BE49-F238E27FC236}">
                <a16:creationId xmlns:a16="http://schemas.microsoft.com/office/drawing/2014/main" id="{AE094CD3-6911-12C7-06BD-CF46A55541F9}"/>
              </a:ext>
            </a:extLst>
          </p:cNvPr>
          <p:cNvGrpSpPr/>
          <p:nvPr/>
        </p:nvGrpSpPr>
        <p:grpSpPr>
          <a:xfrm>
            <a:off x="7930968" y="4834201"/>
            <a:ext cx="2464776" cy="1933541"/>
            <a:chOff x="9267841" y="3127128"/>
            <a:chExt cx="2586590" cy="1933541"/>
          </a:xfrm>
        </p:grpSpPr>
        <p:grpSp>
          <p:nvGrpSpPr>
            <p:cNvPr id="191" name="Grupo 190">
              <a:extLst>
                <a:ext uri="{FF2B5EF4-FFF2-40B4-BE49-F238E27FC236}">
                  <a16:creationId xmlns:a16="http://schemas.microsoft.com/office/drawing/2014/main" id="{21FAEE19-BEFE-35B1-8B10-949A91E26FF3}"/>
                </a:ext>
              </a:extLst>
            </p:cNvPr>
            <p:cNvGrpSpPr/>
            <p:nvPr/>
          </p:nvGrpSpPr>
          <p:grpSpPr>
            <a:xfrm>
              <a:off x="9280641" y="3127128"/>
              <a:ext cx="2573790" cy="1933541"/>
              <a:chOff x="7790418" y="1110832"/>
              <a:chExt cx="2573790" cy="1780012"/>
            </a:xfrm>
          </p:grpSpPr>
          <p:sp>
            <p:nvSpPr>
              <p:cNvPr id="194" name="Rectángulo 193">
                <a:extLst>
                  <a:ext uri="{FF2B5EF4-FFF2-40B4-BE49-F238E27FC236}">
                    <a16:creationId xmlns:a16="http://schemas.microsoft.com/office/drawing/2014/main" id="{4612E1C1-2361-A777-2C8B-1543FE539F6F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368574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97" name="CuadroTexto 196">
                <a:extLst>
                  <a:ext uri="{FF2B5EF4-FFF2-40B4-BE49-F238E27FC236}">
                    <a16:creationId xmlns:a16="http://schemas.microsoft.com/office/drawing/2014/main" id="{840708E9-EC6D-D22C-3377-05287F0E6EB9}"/>
                  </a:ext>
                </a:extLst>
              </p:cNvPr>
              <p:cNvSpPr txBox="1"/>
              <p:nvPr/>
            </p:nvSpPr>
            <p:spPr>
              <a:xfrm>
                <a:off x="7790418" y="1207828"/>
                <a:ext cx="2573790" cy="3116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Entidad Financieras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</p:grpSp>
        <p:sp>
          <p:nvSpPr>
            <p:cNvPr id="192" name="CuadroTexto 191">
              <a:extLst>
                <a:ext uri="{FF2B5EF4-FFF2-40B4-BE49-F238E27FC236}">
                  <a16:creationId xmlns:a16="http://schemas.microsoft.com/office/drawing/2014/main" id="{0D87320E-685C-19B6-8936-F7BBF03294AB}"/>
                </a:ext>
              </a:extLst>
            </p:cNvPr>
            <p:cNvSpPr txBox="1"/>
            <p:nvPr/>
          </p:nvSpPr>
          <p:spPr>
            <a:xfrm>
              <a:off x="9267841" y="3565727"/>
              <a:ext cx="1337256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38%</a:t>
              </a:r>
              <a:r>
                <a:rPr lang="es-CO" sz="1400" b="1" dirty="0">
                  <a:solidFill>
                    <a:schemeClr val="bg1"/>
                  </a:solidFill>
                </a:rPr>
                <a:t>          Colsubsidio</a:t>
              </a:r>
            </a:p>
          </p:txBody>
        </p:sp>
        <p:sp>
          <p:nvSpPr>
            <p:cNvPr id="193" name="CuadroTexto 192">
              <a:extLst>
                <a:ext uri="{FF2B5EF4-FFF2-40B4-BE49-F238E27FC236}">
                  <a16:creationId xmlns:a16="http://schemas.microsoft.com/office/drawing/2014/main" id="{BDE0AD98-D73F-A1F6-AF78-9F2B4F2D21B1}"/>
                </a:ext>
              </a:extLst>
            </p:cNvPr>
            <p:cNvSpPr txBox="1"/>
            <p:nvPr/>
          </p:nvSpPr>
          <p:spPr>
            <a:xfrm>
              <a:off x="10498522" y="3549824"/>
              <a:ext cx="1244387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24%</a:t>
              </a:r>
              <a:r>
                <a:rPr lang="es-CO" sz="1400" b="1" dirty="0">
                  <a:solidFill>
                    <a:schemeClr val="bg1"/>
                  </a:solidFill>
                </a:rPr>
                <a:t>             Davivienda</a:t>
              </a:r>
            </a:p>
          </p:txBody>
        </p:sp>
      </p:grpSp>
      <p:pic>
        <p:nvPicPr>
          <p:cNvPr id="205" name="Imagen 204">
            <a:extLst>
              <a:ext uri="{FF2B5EF4-FFF2-40B4-BE49-F238E27FC236}">
                <a16:creationId xmlns:a16="http://schemas.microsoft.com/office/drawing/2014/main" id="{C7FBD260-65FC-69F6-4F3B-5245F67F0FAF}"/>
              </a:ext>
            </a:extLst>
          </p:cNvPr>
          <p:cNvPicPr>
            <a:picLocks noChangeAspect="1"/>
          </p:cNvPicPr>
          <p:nvPr/>
        </p:nvPicPr>
        <p:blipFill>
          <a:blip r:embed="rId22">
            <a:duotone>
              <a:prstClr val="black"/>
              <a:schemeClr val="tx1">
                <a:lumMod val="75000"/>
                <a:lumOff val="2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4538" y="5846263"/>
            <a:ext cx="673981" cy="673981"/>
          </a:xfrm>
          <a:prstGeom prst="rect">
            <a:avLst/>
          </a:prstGeom>
        </p:spPr>
      </p:pic>
      <p:grpSp>
        <p:nvGrpSpPr>
          <p:cNvPr id="208" name="Grupo 207">
            <a:extLst>
              <a:ext uri="{FF2B5EF4-FFF2-40B4-BE49-F238E27FC236}">
                <a16:creationId xmlns:a16="http://schemas.microsoft.com/office/drawing/2014/main" id="{0FEB0220-8539-10C1-EDB9-DFF30CF4131E}"/>
              </a:ext>
            </a:extLst>
          </p:cNvPr>
          <p:cNvGrpSpPr/>
          <p:nvPr/>
        </p:nvGrpSpPr>
        <p:grpSpPr>
          <a:xfrm>
            <a:off x="10245555" y="853892"/>
            <a:ext cx="1956550" cy="5540381"/>
            <a:chOff x="7793864" y="1110832"/>
            <a:chExt cx="1816602" cy="1780012"/>
          </a:xfrm>
        </p:grpSpPr>
        <p:sp>
          <p:nvSpPr>
            <p:cNvPr id="212" name="Rectángulo 211">
              <a:extLst>
                <a:ext uri="{FF2B5EF4-FFF2-40B4-BE49-F238E27FC236}">
                  <a16:creationId xmlns:a16="http://schemas.microsoft.com/office/drawing/2014/main" id="{9985EFFC-5933-48B3-2C53-27D5F40EBE0B}"/>
                </a:ext>
              </a:extLst>
            </p:cNvPr>
            <p:cNvSpPr/>
            <p:nvPr/>
          </p:nvSpPr>
          <p:spPr>
            <a:xfrm>
              <a:off x="7814360" y="1110832"/>
              <a:ext cx="1666611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5" name="CuadroTexto 214">
              <a:extLst>
                <a:ext uri="{FF2B5EF4-FFF2-40B4-BE49-F238E27FC236}">
                  <a16:creationId xmlns:a16="http://schemas.microsoft.com/office/drawing/2014/main" id="{5FDE0B71-BCA0-44FD-AFF8-D8B7BB549C8C}"/>
                </a:ext>
              </a:extLst>
            </p:cNvPr>
            <p:cNvSpPr txBox="1"/>
            <p:nvPr/>
          </p:nvSpPr>
          <p:spPr>
            <a:xfrm>
              <a:off x="7793864" y="1161252"/>
              <a:ext cx="1816602" cy="1141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1600">
                  <a:solidFill>
                    <a:srgbClr val="FFC000"/>
                  </a:solidFill>
                  <a:latin typeface="KG Red Hands" panose="02000505000000020004" pitchFamily="2" charset="0"/>
                </a:rPr>
                <a:t>Top Empresas</a:t>
              </a:r>
              <a:endParaRPr lang="es-ES" sz="1600">
                <a:solidFill>
                  <a:srgbClr val="FFC000"/>
                </a:solidFill>
              </a:endParaRPr>
            </a:p>
          </p:txBody>
        </p:sp>
        <p:sp>
          <p:nvSpPr>
            <p:cNvPr id="214" name="CuadroTexto 213">
              <a:extLst>
                <a:ext uri="{FF2B5EF4-FFF2-40B4-BE49-F238E27FC236}">
                  <a16:creationId xmlns:a16="http://schemas.microsoft.com/office/drawing/2014/main" id="{D8CA9383-006F-200E-C246-CC583AB218C9}"/>
                </a:ext>
              </a:extLst>
            </p:cNvPr>
            <p:cNvSpPr txBox="1"/>
            <p:nvPr/>
          </p:nvSpPr>
          <p:spPr>
            <a:xfrm>
              <a:off x="7830402" y="1354030"/>
              <a:ext cx="1689688" cy="3263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500" b="1" dirty="0">
                  <a:solidFill>
                    <a:schemeClr val="bg1"/>
                  </a:solidFill>
                </a:rPr>
                <a:t>COLSUBSIDIO	23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CONSORCIO EXPRESS S A S	15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TELEPERFORMANCE	8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MEDICALL TALENTO HUMANO 	7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ADECCO SERVICIOS COLOMBI	6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MERCADOLIBRE COLOMBIA	4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IMPUESTOS Y ADUANAS	4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PROMOAMBIENTAL DISTRITO	3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MANUFACTURAS ELIOT S A S	3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SECURITAS COLOMBIA S A	3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JERONIMO MARTINS COLOMB	3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	                               </a:t>
              </a: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A5DBD999-7234-C866-5272-B21EBCD0191C}"/>
              </a:ext>
            </a:extLst>
          </p:cNvPr>
          <p:cNvSpPr txBox="1"/>
          <p:nvPr/>
        </p:nvSpPr>
        <p:spPr>
          <a:xfrm>
            <a:off x="10330342" y="6461181"/>
            <a:ext cx="14292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100" dirty="0">
                <a:solidFill>
                  <a:srgbClr val="FFC000"/>
                </a:solidFill>
                <a:latin typeface="KG Red Hands" panose="02000505000000020004" pitchFamily="2" charset="0"/>
              </a:rPr>
              <a:t>*Corte 15/01/2026</a:t>
            </a:r>
            <a:endParaRPr lang="es-ES" sz="1100" dirty="0">
              <a:solidFill>
                <a:srgbClr val="FFC000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46D1A92-7D34-03E5-BF0B-C3CA04A46A50}"/>
              </a:ext>
            </a:extLst>
          </p:cNvPr>
          <p:cNvSpPr txBox="1"/>
          <p:nvPr/>
        </p:nvSpPr>
        <p:spPr>
          <a:xfrm>
            <a:off x="7937979" y="6112629"/>
            <a:ext cx="1185783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11%</a:t>
            </a:r>
            <a:r>
              <a:rPr lang="es-CO" sz="1400" b="1" dirty="0">
                <a:solidFill>
                  <a:schemeClr val="bg1"/>
                </a:solidFill>
              </a:rPr>
              <a:t>             F Nacional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1265DE3-0F15-FC36-35CD-2CE2D466C1D2}"/>
              </a:ext>
            </a:extLst>
          </p:cNvPr>
          <p:cNvSpPr txBox="1"/>
          <p:nvPr/>
        </p:nvSpPr>
        <p:spPr>
          <a:xfrm>
            <a:off x="8903783" y="6121686"/>
            <a:ext cx="134287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10%</a:t>
            </a:r>
            <a:r>
              <a:rPr lang="es-CO" sz="1400" b="1" dirty="0">
                <a:solidFill>
                  <a:schemeClr val="bg1"/>
                </a:solidFill>
              </a:rPr>
              <a:t>             Bancolombia</a:t>
            </a:r>
          </a:p>
        </p:txBody>
      </p:sp>
    </p:spTree>
    <p:extLst>
      <p:ext uri="{BB962C8B-B14F-4D97-AF65-F5344CB8AC3E}">
        <p14:creationId xmlns:p14="http://schemas.microsoft.com/office/powerpoint/2010/main" val="31737877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EA7C2-C6E7-FC15-7C0C-CE4B6447A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D15C43D6-52B7-41A6-5E73-E4EEDF05DC91}"/>
              </a:ext>
            </a:extLst>
          </p:cNvPr>
          <p:cNvCxnSpPr>
            <a:cxnSpLocks/>
          </p:cNvCxnSpPr>
          <p:nvPr/>
        </p:nvCxnSpPr>
        <p:spPr>
          <a:xfrm flipH="1">
            <a:off x="0" y="645614"/>
            <a:ext cx="10809007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uadroTexto 85">
            <a:extLst>
              <a:ext uri="{FF2B5EF4-FFF2-40B4-BE49-F238E27FC236}">
                <a16:creationId xmlns:a16="http://schemas.microsoft.com/office/drawing/2014/main" id="{0E7DD34B-91E6-CC86-4703-6FC8DF82541B}"/>
              </a:ext>
            </a:extLst>
          </p:cNvPr>
          <p:cNvSpPr txBox="1"/>
          <p:nvPr/>
        </p:nvSpPr>
        <p:spPr>
          <a:xfrm>
            <a:off x="-128399" y="120715"/>
            <a:ext cx="95771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dirty="0">
                <a:solidFill>
                  <a:schemeClr val="bg1"/>
                </a:solidFill>
                <a:latin typeface="KG Red Hands" panose="02000505000000020004" pitchFamily="2" charset="0"/>
              </a:rPr>
              <a:t>      Municipios norte</a:t>
            </a:r>
            <a:endParaRPr lang="es-ES" sz="24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408C71B-EF9E-727B-041B-B6F006F0EAB0}"/>
              </a:ext>
              <a:ext uri="{147F2762-F138-4A5C-976F-8EAC2B608ADB}">
                <a16:predDERef xmlns:a16="http://schemas.microsoft.com/office/drawing/2014/main" pred="{95DEFF95-1524-40DB-8538-DE0C2D5BEC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3398838"/>
            <a:ext cx="555625" cy="49371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B57743F8-6C9D-F0E0-6440-29154AC5A05E}"/>
              </a:ext>
              <a:ext uri="{147F2762-F138-4A5C-976F-8EAC2B608ADB}">
                <a16:predDERef xmlns:a16="http://schemas.microsoft.com/office/drawing/2014/main" pred="{95FFDEC5-E647-4E60-9FB8-32349ACC1E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087813"/>
            <a:ext cx="555625" cy="46196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3D28F60C-D817-4C5F-6474-39C0E9AE1DB9}"/>
              </a:ext>
              <a:ext uri="{147F2762-F138-4A5C-976F-8EAC2B608ADB}">
                <a16:predDERef xmlns:a16="http://schemas.microsoft.com/office/drawing/2014/main" pred="{D53D0C4A-FE71-44C0-97B3-1EA296D3DCE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814888"/>
            <a:ext cx="555625" cy="41116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819B360C-4920-4B53-D682-7E0FA74CE947}"/>
              </a:ext>
              <a:ext uri="{147F2762-F138-4A5C-976F-8EAC2B608ADB}">
                <a16:predDERef xmlns:a16="http://schemas.microsoft.com/office/drawing/2014/main" pred="{7008BA42-7365-4AD1-B913-F26820CE47E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1775" y="5427663"/>
            <a:ext cx="465138" cy="433387"/>
          </a:xfrm>
          <a:prstGeom prst="rect">
            <a:avLst/>
          </a:prstGeom>
        </p:spPr>
      </p:pic>
      <p:grpSp>
        <p:nvGrpSpPr>
          <p:cNvPr id="135" name="Grupo 134">
            <a:extLst>
              <a:ext uri="{FF2B5EF4-FFF2-40B4-BE49-F238E27FC236}">
                <a16:creationId xmlns:a16="http://schemas.microsoft.com/office/drawing/2014/main" id="{5AD6B385-58CD-D476-80AC-ACB68515BD60}"/>
              </a:ext>
            </a:extLst>
          </p:cNvPr>
          <p:cNvGrpSpPr/>
          <p:nvPr/>
        </p:nvGrpSpPr>
        <p:grpSpPr>
          <a:xfrm>
            <a:off x="5564187" y="853892"/>
            <a:ext cx="2195988" cy="1780012"/>
            <a:chOff x="5353656" y="1110832"/>
            <a:chExt cx="2195988" cy="1780012"/>
          </a:xfrm>
        </p:grpSpPr>
        <p:sp>
          <p:nvSpPr>
            <p:cNvPr id="58" name="Rectángulo 57">
              <a:extLst>
                <a:ext uri="{FF2B5EF4-FFF2-40B4-BE49-F238E27FC236}">
                  <a16:creationId xmlns:a16="http://schemas.microsoft.com/office/drawing/2014/main" id="{ABDF8D63-DB6F-52E8-2342-64437C59CD12}"/>
                </a:ext>
              </a:extLst>
            </p:cNvPr>
            <p:cNvSpPr/>
            <p:nvPr/>
          </p:nvSpPr>
          <p:spPr>
            <a:xfrm>
              <a:off x="5353656" y="1110832"/>
              <a:ext cx="2195987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43" name="Grupo 42">
              <a:extLst>
                <a:ext uri="{FF2B5EF4-FFF2-40B4-BE49-F238E27FC236}">
                  <a16:creationId xmlns:a16="http://schemas.microsoft.com/office/drawing/2014/main" id="{3944C0A5-5923-9644-541C-1B4AF2F0504D}"/>
                </a:ext>
              </a:extLst>
            </p:cNvPr>
            <p:cNvGrpSpPr/>
            <p:nvPr/>
          </p:nvGrpSpPr>
          <p:grpSpPr>
            <a:xfrm>
              <a:off x="5353657" y="1223137"/>
              <a:ext cx="2083693" cy="1630468"/>
              <a:chOff x="3249940" y="1229837"/>
              <a:chExt cx="2083693" cy="1630468"/>
            </a:xfrm>
          </p:grpSpPr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8019E79D-2C13-DBE4-B183-2764C1D90847}"/>
                  </a:ext>
                </a:extLst>
              </p:cNvPr>
              <p:cNvSpPr txBox="1"/>
              <p:nvPr/>
            </p:nvSpPr>
            <p:spPr>
              <a:xfrm>
                <a:off x="3552927" y="1229837"/>
                <a:ext cx="178070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Rango Salario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360F4650-4ACA-B7C9-B40E-A5100060F623}"/>
                  </a:ext>
                </a:extLst>
              </p:cNvPr>
              <p:cNvSpPr txBox="1"/>
              <p:nvPr/>
            </p:nvSpPr>
            <p:spPr>
              <a:xfrm>
                <a:off x="3249940" y="2306307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75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Hasta 2 </a:t>
                </a:r>
                <a:r>
                  <a:rPr lang="es-CO" sz="1200" b="1" dirty="0" err="1">
                    <a:solidFill>
                      <a:schemeClr val="bg1"/>
                    </a:solidFill>
                  </a:rPr>
                  <a:t>smlv</a:t>
                </a:r>
                <a:endParaRPr lang="es-CO" sz="12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53" name="Imagen 52">
              <a:extLst>
                <a:ext uri="{FF2B5EF4-FFF2-40B4-BE49-F238E27FC236}">
                  <a16:creationId xmlns:a16="http://schemas.microsoft.com/office/drawing/2014/main" id="{FC608066-DD7B-5826-7BB8-2D3BCF836D0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12042" y="1623254"/>
              <a:ext cx="641350" cy="641350"/>
            </a:xfrm>
            <a:prstGeom prst="rect">
              <a:avLst/>
            </a:prstGeom>
          </p:spPr>
        </p:pic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EE3FAE09-DC90-C118-6CA9-84A596CEC6C9}"/>
                </a:ext>
              </a:extLst>
            </p:cNvPr>
            <p:cNvSpPr txBox="1"/>
            <p:nvPr/>
          </p:nvSpPr>
          <p:spPr>
            <a:xfrm>
              <a:off x="6376735" y="2289285"/>
              <a:ext cx="1172909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25</a:t>
              </a:r>
              <a:r>
                <a:rPr lang="es-CO" sz="18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Mas de 2 </a:t>
              </a:r>
              <a:r>
                <a:rPr lang="es-CO" sz="1200" b="1" dirty="0" err="1">
                  <a:solidFill>
                    <a:schemeClr val="bg1"/>
                  </a:solidFill>
                </a:rPr>
                <a:t>smlv</a:t>
              </a:r>
              <a:endParaRPr lang="es-CO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54A74E2D-A3AB-E8CC-5587-FFDDD1FBF893}"/>
              </a:ext>
            </a:extLst>
          </p:cNvPr>
          <p:cNvGrpSpPr/>
          <p:nvPr/>
        </p:nvGrpSpPr>
        <p:grpSpPr>
          <a:xfrm>
            <a:off x="3320687" y="874756"/>
            <a:ext cx="1941094" cy="1759148"/>
            <a:chOff x="3224463" y="1110832"/>
            <a:chExt cx="1941094" cy="1759148"/>
          </a:xfrm>
        </p:grpSpPr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F75E390B-98D2-E2C9-25BC-C4F412F92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36596" y="1677993"/>
              <a:ext cx="721895" cy="721895"/>
            </a:xfrm>
            <a:prstGeom prst="rect">
              <a:avLst/>
            </a:prstGeom>
          </p:spPr>
        </p:pic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6389D1AA-AA63-CC34-968E-F745E70E1F00}"/>
                </a:ext>
              </a:extLst>
            </p:cNvPr>
            <p:cNvGrpSpPr/>
            <p:nvPr/>
          </p:nvGrpSpPr>
          <p:grpSpPr>
            <a:xfrm>
              <a:off x="3420553" y="1223137"/>
              <a:ext cx="1609350" cy="1516670"/>
              <a:chOff x="3420553" y="1223137"/>
              <a:chExt cx="1609350" cy="1516670"/>
            </a:xfrm>
          </p:grpSpPr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FCCDE426-4574-1234-E9E1-23CBA36C18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74608" y="1613811"/>
                <a:ext cx="723600" cy="723600"/>
              </a:xfrm>
              <a:prstGeom prst="rect">
                <a:avLst/>
              </a:prstGeom>
            </p:spPr>
          </p:pic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F05B09E2-C139-F789-0840-EA45E6CAD844}"/>
                  </a:ext>
                </a:extLst>
              </p:cNvPr>
              <p:cNvSpPr txBox="1"/>
              <p:nvPr/>
            </p:nvSpPr>
            <p:spPr>
              <a:xfrm>
                <a:off x="3685253" y="1223137"/>
                <a:ext cx="1098946" cy="345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Género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DDE65F9A-8F2F-BB1E-F30C-154D124CFA09}"/>
                  </a:ext>
                </a:extLst>
              </p:cNvPr>
              <p:cNvSpPr txBox="1"/>
              <p:nvPr/>
            </p:nvSpPr>
            <p:spPr>
              <a:xfrm>
                <a:off x="3420553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55%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7BF7EC36-841F-B54A-D0C2-76030B5E6984}"/>
                  </a:ext>
                </a:extLst>
              </p:cNvPr>
              <p:cNvSpPr txBox="1"/>
              <p:nvPr/>
            </p:nvSpPr>
            <p:spPr>
              <a:xfrm>
                <a:off x="4308008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45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</p:grp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75353993-4FBD-9D2A-C723-DD60F5D18F89}"/>
                </a:ext>
              </a:extLst>
            </p:cNvPr>
            <p:cNvSpPr/>
            <p:nvPr/>
          </p:nvSpPr>
          <p:spPr>
            <a:xfrm>
              <a:off x="3224463" y="1110832"/>
              <a:ext cx="1941094" cy="175914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78" name="CuadroTexto 77">
            <a:extLst>
              <a:ext uri="{FF2B5EF4-FFF2-40B4-BE49-F238E27FC236}">
                <a16:creationId xmlns:a16="http://schemas.microsoft.com/office/drawing/2014/main" id="{D4E118F7-72C6-116A-0C6B-019814D2BAF8}"/>
              </a:ext>
            </a:extLst>
          </p:cNvPr>
          <p:cNvSpPr txBox="1"/>
          <p:nvPr/>
        </p:nvSpPr>
        <p:spPr>
          <a:xfrm>
            <a:off x="1376075" y="3222417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28%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Joven</a:t>
            </a:r>
          </a:p>
        </p:txBody>
      </p: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9E27EDBC-6473-8DFB-C782-DC205360A8C2}"/>
              </a:ext>
            </a:extLst>
          </p:cNvPr>
          <p:cNvGrpSpPr/>
          <p:nvPr/>
        </p:nvGrpSpPr>
        <p:grpSpPr>
          <a:xfrm>
            <a:off x="-155207" y="2771278"/>
            <a:ext cx="2688149" cy="1998661"/>
            <a:chOff x="435343" y="3108160"/>
            <a:chExt cx="2688149" cy="1998661"/>
          </a:xfrm>
        </p:grpSpPr>
        <p:grpSp>
          <p:nvGrpSpPr>
            <p:cNvPr id="69" name="Grupo 68">
              <a:extLst>
                <a:ext uri="{FF2B5EF4-FFF2-40B4-BE49-F238E27FC236}">
                  <a16:creationId xmlns:a16="http://schemas.microsoft.com/office/drawing/2014/main" id="{66EEC80F-2E4F-00E1-269B-D0A45F973CD3}"/>
                </a:ext>
              </a:extLst>
            </p:cNvPr>
            <p:cNvGrpSpPr/>
            <p:nvPr/>
          </p:nvGrpSpPr>
          <p:grpSpPr>
            <a:xfrm>
              <a:off x="457829" y="3108160"/>
              <a:ext cx="2665663" cy="1998661"/>
              <a:chOff x="7590765" y="1110832"/>
              <a:chExt cx="2665663" cy="1822499"/>
            </a:xfrm>
          </p:grpSpPr>
          <p:sp>
            <p:nvSpPr>
              <p:cNvPr id="70" name="Rectángulo 69">
                <a:extLst>
                  <a:ext uri="{FF2B5EF4-FFF2-40B4-BE49-F238E27FC236}">
                    <a16:creationId xmlns:a16="http://schemas.microsoft.com/office/drawing/2014/main" id="{C6FC7498-8FCC-59E5-FB2A-8378D8074A4A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71" name="Grupo 70">
                <a:extLst>
                  <a:ext uri="{FF2B5EF4-FFF2-40B4-BE49-F238E27FC236}">
                    <a16:creationId xmlns:a16="http://schemas.microsoft.com/office/drawing/2014/main" id="{96FCF5A3-B2B8-ADCC-2701-6EA7F2F918A3}"/>
                  </a:ext>
                </a:extLst>
              </p:cNvPr>
              <p:cNvGrpSpPr/>
              <p:nvPr/>
            </p:nvGrpSpPr>
            <p:grpSpPr>
              <a:xfrm>
                <a:off x="7590765" y="1223137"/>
                <a:ext cx="2024519" cy="1655939"/>
                <a:chOff x="3026344" y="1229837"/>
                <a:chExt cx="2024519" cy="1655939"/>
              </a:xfrm>
            </p:grpSpPr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46E9E7A6-B665-CF9F-E2A3-FB3F7142A6D0}"/>
                    </a:ext>
                  </a:extLst>
                </p:cNvPr>
                <p:cNvSpPr txBox="1"/>
                <p:nvPr/>
              </p:nvSpPr>
              <p:spPr>
                <a:xfrm>
                  <a:off x="3645002" y="1229837"/>
                  <a:ext cx="1405861" cy="3087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Segmento 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997A01C9-BF19-8EE0-7E51-7AEBC5AD9963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12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36%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Básico</a:t>
                  </a:r>
                </a:p>
              </p:txBody>
            </p:sp>
          </p:grpSp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543480D9-991A-4803-3210-BC549E0078C0}"/>
                  </a:ext>
                </a:extLst>
              </p:cNvPr>
              <p:cNvSpPr txBox="1"/>
              <p:nvPr/>
            </p:nvSpPr>
            <p:spPr>
              <a:xfrm>
                <a:off x="9083519" y="231777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0%</a:t>
                </a:r>
              </a:p>
              <a:p>
                <a:r>
                  <a:rPr lang="es-CO" sz="1400" b="1">
                    <a:solidFill>
                      <a:schemeClr val="bg1"/>
                    </a:solidFill>
                  </a:rPr>
                  <a:t>       Alto</a:t>
                </a:r>
              </a:p>
            </p:txBody>
          </p:sp>
        </p:grpSp>
        <p:sp>
          <p:nvSpPr>
            <p:cNvPr id="77" name="CuadroTexto 76">
              <a:extLst>
                <a:ext uri="{FF2B5EF4-FFF2-40B4-BE49-F238E27FC236}">
                  <a16:creationId xmlns:a16="http://schemas.microsoft.com/office/drawing/2014/main" id="{B5644EA6-7B42-972A-45C1-D05790C55441}"/>
                </a:ext>
              </a:extLst>
            </p:cNvPr>
            <p:cNvSpPr txBox="1"/>
            <p:nvPr/>
          </p:nvSpPr>
          <p:spPr>
            <a:xfrm>
              <a:off x="435343" y="3559299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36%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Medio</a:t>
              </a:r>
            </a:p>
          </p:txBody>
        </p:sp>
        <p:pic>
          <p:nvPicPr>
            <p:cNvPr id="80" name="Imagen 79">
              <a:extLst>
                <a:ext uri="{FF2B5EF4-FFF2-40B4-BE49-F238E27FC236}">
                  <a16:creationId xmlns:a16="http://schemas.microsoft.com/office/drawing/2014/main" id="{5FFF7DDA-AE4C-AE02-7C96-D83299643C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LineDrawing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90862" y="3871141"/>
              <a:ext cx="680857" cy="680857"/>
            </a:xfrm>
            <a:prstGeom prst="rect">
              <a:avLst/>
            </a:prstGeom>
          </p:spPr>
        </p:pic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5F592C49-FAF5-63CD-5BD2-0F6138AED964}"/>
              </a:ext>
            </a:extLst>
          </p:cNvPr>
          <p:cNvGrpSpPr/>
          <p:nvPr/>
        </p:nvGrpSpPr>
        <p:grpSpPr>
          <a:xfrm>
            <a:off x="2169335" y="2774370"/>
            <a:ext cx="3284086" cy="1963483"/>
            <a:chOff x="2759885" y="3111252"/>
            <a:chExt cx="3284086" cy="1963483"/>
          </a:xfrm>
        </p:grpSpPr>
        <p:sp>
          <p:nvSpPr>
            <p:cNvPr id="88" name="CuadroTexto 87">
              <a:extLst>
                <a:ext uri="{FF2B5EF4-FFF2-40B4-BE49-F238E27FC236}">
                  <a16:creationId xmlns:a16="http://schemas.microsoft.com/office/drawing/2014/main" id="{AE2EECF7-8B2C-7169-A77D-F79DCCA5B33A}"/>
                </a:ext>
              </a:extLst>
            </p:cNvPr>
            <p:cNvSpPr txBox="1"/>
            <p:nvPr/>
          </p:nvSpPr>
          <p:spPr>
            <a:xfrm>
              <a:off x="2759885" y="3531697"/>
              <a:ext cx="154680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   44%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             Sin Grupo</a:t>
              </a:r>
            </a:p>
          </p:txBody>
        </p:sp>
        <p:grpSp>
          <p:nvGrpSpPr>
            <p:cNvPr id="124" name="Grupo 123">
              <a:extLst>
                <a:ext uri="{FF2B5EF4-FFF2-40B4-BE49-F238E27FC236}">
                  <a16:creationId xmlns:a16="http://schemas.microsoft.com/office/drawing/2014/main" id="{2FF043C5-A43C-F9AD-C959-88E6CC1305A5}"/>
                </a:ext>
              </a:extLst>
            </p:cNvPr>
            <p:cNvGrpSpPr/>
            <p:nvPr/>
          </p:nvGrpSpPr>
          <p:grpSpPr>
            <a:xfrm>
              <a:off x="2827705" y="3111252"/>
              <a:ext cx="3216266" cy="1963483"/>
              <a:chOff x="2827705" y="3111252"/>
              <a:chExt cx="3216266" cy="1963483"/>
            </a:xfrm>
          </p:grpSpPr>
          <p:grpSp>
            <p:nvGrpSpPr>
              <p:cNvPr id="81" name="Grupo 80">
                <a:extLst>
                  <a:ext uri="{FF2B5EF4-FFF2-40B4-BE49-F238E27FC236}">
                    <a16:creationId xmlns:a16="http://schemas.microsoft.com/office/drawing/2014/main" id="{94641895-0E65-A83C-C6C2-A7C8FB5DE74D}"/>
                  </a:ext>
                </a:extLst>
              </p:cNvPr>
              <p:cNvGrpSpPr/>
              <p:nvPr/>
            </p:nvGrpSpPr>
            <p:grpSpPr>
              <a:xfrm>
                <a:off x="2827705" y="3111252"/>
                <a:ext cx="3216266" cy="1963483"/>
                <a:chOff x="7593779" y="1110832"/>
                <a:chExt cx="3216266" cy="1780012"/>
              </a:xfrm>
            </p:grpSpPr>
            <p:sp>
              <p:nvSpPr>
                <p:cNvPr id="82" name="Rectángulo 81">
                  <a:extLst>
                    <a:ext uri="{FF2B5EF4-FFF2-40B4-BE49-F238E27FC236}">
                      <a16:creationId xmlns:a16="http://schemas.microsoft.com/office/drawing/2014/main" id="{BE940331-56DB-36FC-6C0F-4C6EC336FB95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808386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83" name="Grupo 82">
                  <a:extLst>
                    <a:ext uri="{FF2B5EF4-FFF2-40B4-BE49-F238E27FC236}">
                      <a16:creationId xmlns:a16="http://schemas.microsoft.com/office/drawing/2014/main" id="{02FFF958-4179-CFB9-D551-8DC3FAA623D7}"/>
                    </a:ext>
                  </a:extLst>
                </p:cNvPr>
                <p:cNvGrpSpPr/>
                <p:nvPr/>
              </p:nvGrpSpPr>
              <p:grpSpPr>
                <a:xfrm>
                  <a:off x="7593779" y="1166870"/>
                  <a:ext cx="2748715" cy="1628029"/>
                  <a:chOff x="3029358" y="1173570"/>
                  <a:chExt cx="2748715" cy="1628029"/>
                </a:xfrm>
              </p:grpSpPr>
              <p:sp>
                <p:nvSpPr>
                  <p:cNvPr id="85" name="CuadroTexto 84">
                    <a:extLst>
                      <a:ext uri="{FF2B5EF4-FFF2-40B4-BE49-F238E27FC236}">
                        <a16:creationId xmlns:a16="http://schemas.microsoft.com/office/drawing/2014/main" id="{1BED9255-D1D0-2C39-2C0E-967667E05144}"/>
                      </a:ext>
                    </a:extLst>
                  </p:cNvPr>
                  <p:cNvSpPr txBox="1"/>
                  <p:nvPr/>
                </p:nvSpPr>
                <p:spPr>
                  <a:xfrm>
                    <a:off x="3634807" y="1173570"/>
                    <a:ext cx="2143266" cy="30691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Segmento Familia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87" name="CuadroTexto 86">
                    <a:extLst>
                      <a:ext uri="{FF2B5EF4-FFF2-40B4-BE49-F238E27FC236}">
                        <a16:creationId xmlns:a16="http://schemas.microsoft.com/office/drawing/2014/main" id="{B59B4E24-5BF9-EB5A-BB5B-BBDEE1DFC273}"/>
                      </a:ext>
                    </a:extLst>
                  </p:cNvPr>
                  <p:cNvSpPr txBox="1"/>
                  <p:nvPr/>
                </p:nvSpPr>
                <p:spPr>
                  <a:xfrm>
                    <a:off x="3029358" y="2131957"/>
                    <a:ext cx="1923771" cy="66964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 5</a:t>
                    </a:r>
                    <a:r>
                      <a:rPr lang="es-CO" sz="18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%</a:t>
                    </a:r>
                  </a:p>
                  <a:p>
                    <a:r>
                      <a:rPr lang="es-CO" sz="1200" b="1" dirty="0">
                        <a:solidFill>
                          <a:schemeClr val="bg1"/>
                        </a:solidFill>
                      </a:rPr>
                      <a:t>      Monoparental</a:t>
                    </a:r>
                  </a:p>
                  <a:p>
                    <a:r>
                      <a:rPr lang="es-CO" sz="1200" b="1" dirty="0">
                        <a:solidFill>
                          <a:schemeClr val="bg1"/>
                        </a:solidFill>
                      </a:rPr>
                      <a:t>      Ampliada</a:t>
                    </a:r>
                  </a:p>
                </p:txBody>
              </p:sp>
            </p:grpSp>
            <p:sp>
              <p:nvSpPr>
                <p:cNvPr id="84" name="CuadroTexto 83">
                  <a:extLst>
                    <a:ext uri="{FF2B5EF4-FFF2-40B4-BE49-F238E27FC236}">
                      <a16:creationId xmlns:a16="http://schemas.microsoft.com/office/drawing/2014/main" id="{723052E5-771B-83E5-86FC-9032AEE25770}"/>
                    </a:ext>
                  </a:extLst>
                </p:cNvPr>
                <p:cNvSpPr txBox="1"/>
                <p:nvPr/>
              </p:nvSpPr>
              <p:spPr>
                <a:xfrm>
                  <a:off x="9185077" y="2110714"/>
                  <a:ext cx="1624968" cy="5022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        12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 Nuclear Integrada</a:t>
                  </a:r>
                </a:p>
              </p:txBody>
            </p:sp>
          </p:grpSp>
          <p:sp>
            <p:nvSpPr>
              <p:cNvPr id="89" name="CuadroTexto 88">
                <a:extLst>
                  <a:ext uri="{FF2B5EF4-FFF2-40B4-BE49-F238E27FC236}">
                    <a16:creationId xmlns:a16="http://schemas.microsoft.com/office/drawing/2014/main" id="{AAC081A3-BAA6-2467-880A-E9374BEB614B}"/>
                  </a:ext>
                </a:extLst>
              </p:cNvPr>
              <p:cNvSpPr txBox="1"/>
              <p:nvPr/>
            </p:nvSpPr>
            <p:spPr>
              <a:xfrm>
                <a:off x="4771770" y="3534141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35%</a:t>
                </a:r>
                <a:r>
                  <a:rPr lang="es-CO" sz="1200" b="1" dirty="0">
                    <a:solidFill>
                      <a:schemeClr val="bg1"/>
                    </a:solidFill>
                  </a:rPr>
                  <a:t> Monoparental</a:t>
                </a:r>
              </a:p>
            </p:txBody>
          </p:sp>
          <p:pic>
            <p:nvPicPr>
              <p:cNvPr id="92" name="Imagen 91">
                <a:extLst>
                  <a:ext uri="{FF2B5EF4-FFF2-40B4-BE49-F238E27FC236}">
                    <a16:creationId xmlns:a16="http://schemas.microsoft.com/office/drawing/2014/main" id="{4AAC97B7-3BD1-6FA2-5383-94C9A23681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artisticGlowDiffused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075298" y="3683026"/>
                <a:ext cx="754362" cy="754362"/>
              </a:xfrm>
              <a:prstGeom prst="rect">
                <a:avLst/>
              </a:prstGeom>
            </p:spPr>
          </p:pic>
        </p:grp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6B7CE3BC-F9F3-DF42-6596-247A1E6BEBD4}"/>
              </a:ext>
            </a:extLst>
          </p:cNvPr>
          <p:cNvGrpSpPr/>
          <p:nvPr/>
        </p:nvGrpSpPr>
        <p:grpSpPr>
          <a:xfrm>
            <a:off x="90873" y="847081"/>
            <a:ext cx="3094159" cy="1780012"/>
            <a:chOff x="681423" y="1183963"/>
            <a:chExt cx="3094159" cy="1780012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E9BD3EFC-BD19-1B6D-A3B0-F1F519A90B7C}"/>
                </a:ext>
              </a:extLst>
            </p:cNvPr>
            <p:cNvSpPr txBox="1"/>
            <p:nvPr/>
          </p:nvSpPr>
          <p:spPr>
            <a:xfrm>
              <a:off x="942955" y="1217834"/>
              <a:ext cx="2376943" cy="16927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s-CO" sz="2000" b="1" dirty="0">
                <a:solidFill>
                  <a:srgbClr val="FFC000"/>
                </a:solidFill>
              </a:endParaRP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Afiliado     </a:t>
              </a:r>
              <a:r>
                <a:rPr lang="es-CO" sz="2800" b="1" dirty="0">
                  <a:solidFill>
                    <a:srgbClr val="FFC000"/>
                  </a:solidFill>
                </a:rPr>
                <a:t>   </a:t>
              </a:r>
              <a:r>
                <a:rPr lang="es-CO" sz="2800" b="1" dirty="0">
                  <a:solidFill>
                    <a:schemeClr val="bg1"/>
                  </a:solidFill>
                </a:rPr>
                <a:t>64%</a:t>
              </a: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No Afilado   </a:t>
              </a:r>
              <a:r>
                <a:rPr lang="es-CO" sz="2800" b="1" dirty="0">
                  <a:solidFill>
                    <a:schemeClr val="bg1"/>
                  </a:solidFill>
                </a:rPr>
                <a:t>36%</a:t>
              </a:r>
            </a:p>
            <a:p>
              <a:endParaRPr lang="es-ES" sz="28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05" name="Rectángulo 104">
              <a:extLst>
                <a:ext uri="{FF2B5EF4-FFF2-40B4-BE49-F238E27FC236}">
                  <a16:creationId xmlns:a16="http://schemas.microsoft.com/office/drawing/2014/main" id="{B3F0A460-5453-5666-4A02-7955FAFBA465}"/>
                </a:ext>
              </a:extLst>
            </p:cNvPr>
            <p:cNvSpPr/>
            <p:nvPr/>
          </p:nvSpPr>
          <p:spPr>
            <a:xfrm>
              <a:off x="681423" y="1183963"/>
              <a:ext cx="3094159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20" name="Grupo 119">
            <a:extLst>
              <a:ext uri="{FF2B5EF4-FFF2-40B4-BE49-F238E27FC236}">
                <a16:creationId xmlns:a16="http://schemas.microsoft.com/office/drawing/2014/main" id="{16C829D3-7B20-2BF0-1B0C-825998DB57CA}"/>
              </a:ext>
            </a:extLst>
          </p:cNvPr>
          <p:cNvGrpSpPr/>
          <p:nvPr/>
        </p:nvGrpSpPr>
        <p:grpSpPr>
          <a:xfrm>
            <a:off x="7777183" y="2775745"/>
            <a:ext cx="2623981" cy="1933541"/>
            <a:chOff x="9059295" y="3127128"/>
            <a:chExt cx="2623981" cy="1933541"/>
          </a:xfrm>
        </p:grpSpPr>
        <p:grpSp>
          <p:nvGrpSpPr>
            <p:cNvPr id="106" name="Grupo 105">
              <a:extLst>
                <a:ext uri="{FF2B5EF4-FFF2-40B4-BE49-F238E27FC236}">
                  <a16:creationId xmlns:a16="http://schemas.microsoft.com/office/drawing/2014/main" id="{20B6D795-EAFE-FE07-3F69-F7E3F29EDBBD}"/>
                </a:ext>
              </a:extLst>
            </p:cNvPr>
            <p:cNvGrpSpPr/>
            <p:nvPr/>
          </p:nvGrpSpPr>
          <p:grpSpPr>
            <a:xfrm>
              <a:off x="9080988" y="3127128"/>
              <a:ext cx="2601495" cy="1933541"/>
              <a:chOff x="7590765" y="1110832"/>
              <a:chExt cx="2601495" cy="1780012"/>
            </a:xfrm>
          </p:grpSpPr>
          <p:sp>
            <p:nvSpPr>
              <p:cNvPr id="107" name="Rectángulo 106">
                <a:extLst>
                  <a:ext uri="{FF2B5EF4-FFF2-40B4-BE49-F238E27FC236}">
                    <a16:creationId xmlns:a16="http://schemas.microsoft.com/office/drawing/2014/main" id="{EB28302D-7045-BF9F-5693-5DE9E01D17CF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108" name="Grupo 107">
                <a:extLst>
                  <a:ext uri="{FF2B5EF4-FFF2-40B4-BE49-F238E27FC236}">
                    <a16:creationId xmlns:a16="http://schemas.microsoft.com/office/drawing/2014/main" id="{4CDB54F3-045F-4C53-CB67-03A60D6A28B5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2191150" cy="1678227"/>
                <a:chOff x="3026344" y="1212927"/>
                <a:chExt cx="2191150" cy="1678227"/>
              </a:xfrm>
            </p:grpSpPr>
            <p:sp>
              <p:nvSpPr>
                <p:cNvPr id="110" name="CuadroTexto 109">
                  <a:extLst>
                    <a:ext uri="{FF2B5EF4-FFF2-40B4-BE49-F238E27FC236}">
                      <a16:creationId xmlns:a16="http://schemas.microsoft.com/office/drawing/2014/main" id="{57551668-A39E-45AB-6F75-F04F722C0E44}"/>
                    </a:ext>
                  </a:extLst>
                </p:cNvPr>
                <p:cNvSpPr txBox="1"/>
                <p:nvPr/>
              </p:nvSpPr>
              <p:spPr>
                <a:xfrm>
                  <a:off x="3811633" y="1212927"/>
                  <a:ext cx="140586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Estrato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11" name="CuadroTexto 110">
                  <a:extLst>
                    <a:ext uri="{FF2B5EF4-FFF2-40B4-BE49-F238E27FC236}">
                      <a16:creationId xmlns:a16="http://schemas.microsoft.com/office/drawing/2014/main" id="{923E1CA6-3788-F624-0620-65C98A6BAD9B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17%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  <p:sp>
            <p:nvSpPr>
              <p:cNvPr id="109" name="CuadroTexto 108">
                <a:extLst>
                  <a:ext uri="{FF2B5EF4-FFF2-40B4-BE49-F238E27FC236}">
                    <a16:creationId xmlns:a16="http://schemas.microsoft.com/office/drawing/2014/main" id="{CC56F0F3-7A85-6F16-CD6C-274EF4B99F96}"/>
                  </a:ext>
                </a:extLst>
              </p:cNvPr>
              <p:cNvSpPr txBox="1"/>
              <p:nvPr/>
            </p:nvSpPr>
            <p:spPr>
              <a:xfrm>
                <a:off x="9019351" y="2317778"/>
                <a:ext cx="1172909" cy="566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Cuatro</a:t>
                </a:r>
              </a:p>
            </p:txBody>
          </p:sp>
        </p:grpSp>
        <p:sp>
          <p:nvSpPr>
            <p:cNvPr id="112" name="CuadroTexto 111">
              <a:extLst>
                <a:ext uri="{FF2B5EF4-FFF2-40B4-BE49-F238E27FC236}">
                  <a16:creationId xmlns:a16="http://schemas.microsoft.com/office/drawing/2014/main" id="{D00A926F-ADEE-BA44-3C37-AA52C76EE99F}"/>
                </a:ext>
              </a:extLst>
            </p:cNvPr>
            <p:cNvSpPr txBox="1"/>
            <p:nvPr/>
          </p:nvSpPr>
          <p:spPr>
            <a:xfrm>
              <a:off x="9059295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2%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Uno</a:t>
              </a:r>
            </a:p>
          </p:txBody>
        </p:sp>
        <p:sp>
          <p:nvSpPr>
            <p:cNvPr id="113" name="CuadroTexto 112">
              <a:extLst>
                <a:ext uri="{FF2B5EF4-FFF2-40B4-BE49-F238E27FC236}">
                  <a16:creationId xmlns:a16="http://schemas.microsoft.com/office/drawing/2014/main" id="{A80F4122-F6F6-7277-7C3A-EB48553D8606}"/>
                </a:ext>
              </a:extLst>
            </p:cNvPr>
            <p:cNvSpPr txBox="1"/>
            <p:nvPr/>
          </p:nvSpPr>
          <p:spPr>
            <a:xfrm>
              <a:off x="10510367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13%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Dos</a:t>
              </a:r>
            </a:p>
          </p:txBody>
        </p:sp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0059BCB3-EC15-9524-3BDD-10D9175764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artisticPencilGrayscale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043317" y="3855923"/>
              <a:ext cx="655939" cy="655939"/>
            </a:xfrm>
            <a:prstGeom prst="rect">
              <a:avLst/>
            </a:prstGeom>
          </p:spPr>
        </p:pic>
      </p:grp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A4295C80-7150-AE3D-03C0-9C9DFB6F2D29}"/>
              </a:ext>
            </a:extLst>
          </p:cNvPr>
          <p:cNvSpPr txBox="1"/>
          <p:nvPr/>
        </p:nvSpPr>
        <p:spPr>
          <a:xfrm>
            <a:off x="5289967" y="3228845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44%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 Cero</a:t>
            </a:r>
          </a:p>
        </p:txBody>
      </p:sp>
      <p:grpSp>
        <p:nvGrpSpPr>
          <p:cNvPr id="123" name="Grupo 122">
            <a:extLst>
              <a:ext uri="{FF2B5EF4-FFF2-40B4-BE49-F238E27FC236}">
                <a16:creationId xmlns:a16="http://schemas.microsoft.com/office/drawing/2014/main" id="{428E2632-1F92-AFB0-43B4-4FAB221CEC43}"/>
              </a:ext>
            </a:extLst>
          </p:cNvPr>
          <p:cNvGrpSpPr/>
          <p:nvPr/>
        </p:nvGrpSpPr>
        <p:grpSpPr>
          <a:xfrm>
            <a:off x="5340592" y="2790246"/>
            <a:ext cx="2602288" cy="1933541"/>
            <a:chOff x="5931142" y="3127128"/>
            <a:chExt cx="2602288" cy="1933541"/>
          </a:xfrm>
        </p:grpSpPr>
        <p:grpSp>
          <p:nvGrpSpPr>
            <p:cNvPr id="93" name="Grupo 92">
              <a:extLst>
                <a:ext uri="{FF2B5EF4-FFF2-40B4-BE49-F238E27FC236}">
                  <a16:creationId xmlns:a16="http://schemas.microsoft.com/office/drawing/2014/main" id="{AD690110-AAEF-60D1-A287-9CD3FB48C9B0}"/>
                </a:ext>
              </a:extLst>
            </p:cNvPr>
            <p:cNvGrpSpPr/>
            <p:nvPr/>
          </p:nvGrpSpPr>
          <p:grpSpPr>
            <a:xfrm>
              <a:off x="5931142" y="3127128"/>
              <a:ext cx="2601495" cy="1933541"/>
              <a:chOff x="7590765" y="1110832"/>
              <a:chExt cx="2601495" cy="1780012"/>
            </a:xfrm>
          </p:grpSpPr>
          <p:sp>
            <p:nvSpPr>
              <p:cNvPr id="94" name="Rectángulo 93">
                <a:extLst>
                  <a:ext uri="{FF2B5EF4-FFF2-40B4-BE49-F238E27FC236}">
                    <a16:creationId xmlns:a16="http://schemas.microsoft.com/office/drawing/2014/main" id="{B7838F8D-A6AE-82E6-AE73-B974EEAAC2D5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95" name="Grupo 94">
                <a:extLst>
                  <a:ext uri="{FF2B5EF4-FFF2-40B4-BE49-F238E27FC236}">
                    <a16:creationId xmlns:a16="http://schemas.microsoft.com/office/drawing/2014/main" id="{B4343A04-DBFF-B116-5FF4-E7CBFC5D0DE7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1922369" cy="1647802"/>
                <a:chOff x="3026344" y="1212927"/>
                <a:chExt cx="1922369" cy="1647802"/>
              </a:xfrm>
            </p:grpSpPr>
            <p:sp>
              <p:nvSpPr>
                <p:cNvPr id="97" name="CuadroTexto 96">
                  <a:extLst>
                    <a:ext uri="{FF2B5EF4-FFF2-40B4-BE49-F238E27FC236}">
                      <a16:creationId xmlns:a16="http://schemas.microsoft.com/office/drawing/2014/main" id="{4E89AF41-6191-5579-5E38-204BA9503172}"/>
                    </a:ext>
                  </a:extLst>
                </p:cNvPr>
                <p:cNvSpPr txBox="1"/>
                <p:nvPr/>
              </p:nvSpPr>
              <p:spPr>
                <a:xfrm>
                  <a:off x="4021092" y="1212927"/>
                  <a:ext cx="92762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PAC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98" name="CuadroTexto 97">
                  <a:extLst>
                    <a:ext uri="{FF2B5EF4-FFF2-40B4-BE49-F238E27FC236}">
                      <a16:creationId xmlns:a16="http://schemas.microsoft.com/office/drawing/2014/main" id="{E0A4EDCF-FBAD-0E17-7EAE-E8B2CC9DC462}"/>
                    </a:ext>
                  </a:extLst>
                </p:cNvPr>
                <p:cNvSpPr txBox="1"/>
                <p:nvPr/>
              </p:nvSpPr>
              <p:spPr>
                <a:xfrm>
                  <a:off x="3026344" y="2294053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8%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  <p:sp>
            <p:nvSpPr>
              <p:cNvPr id="96" name="CuadroTexto 95">
                <a:extLst>
                  <a:ext uri="{FF2B5EF4-FFF2-40B4-BE49-F238E27FC236}">
                    <a16:creationId xmlns:a16="http://schemas.microsoft.com/office/drawing/2014/main" id="{A2D824CE-340D-6B9A-844C-B89D9CB25702}"/>
                  </a:ext>
                </a:extLst>
              </p:cNvPr>
              <p:cNvSpPr txBox="1"/>
              <p:nvPr/>
            </p:nvSpPr>
            <p:spPr>
              <a:xfrm>
                <a:off x="9019351" y="2317778"/>
                <a:ext cx="1172909" cy="566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1%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Cuatro</a:t>
                </a:r>
              </a:p>
            </p:txBody>
          </p:sp>
        </p:grpSp>
        <p:grpSp>
          <p:nvGrpSpPr>
            <p:cNvPr id="121" name="Grupo 120">
              <a:extLst>
                <a:ext uri="{FF2B5EF4-FFF2-40B4-BE49-F238E27FC236}">
                  <a16:creationId xmlns:a16="http://schemas.microsoft.com/office/drawing/2014/main" id="{65F145C1-8D40-2593-CDDD-298E122E1508}"/>
                </a:ext>
              </a:extLst>
            </p:cNvPr>
            <p:cNvGrpSpPr/>
            <p:nvPr/>
          </p:nvGrpSpPr>
          <p:grpSpPr>
            <a:xfrm>
              <a:off x="6649678" y="3565727"/>
              <a:ext cx="1883752" cy="1414028"/>
              <a:chOff x="6649678" y="3565727"/>
              <a:chExt cx="1883752" cy="1414028"/>
            </a:xfrm>
          </p:grpSpPr>
          <p:sp>
            <p:nvSpPr>
              <p:cNvPr id="99" name="CuadroTexto 98">
                <a:extLst>
                  <a:ext uri="{FF2B5EF4-FFF2-40B4-BE49-F238E27FC236}">
                    <a16:creationId xmlns:a16="http://schemas.microsoft.com/office/drawing/2014/main" id="{94065D0A-8C69-99AC-84A5-89E060A2D73A}"/>
                  </a:ext>
                </a:extLst>
              </p:cNvPr>
              <p:cNvSpPr txBox="1"/>
              <p:nvPr/>
            </p:nvSpPr>
            <p:spPr>
              <a:xfrm>
                <a:off x="6649678" y="358240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29%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Uno</a:t>
                </a:r>
              </a:p>
            </p:txBody>
          </p:sp>
          <p:sp>
            <p:nvSpPr>
              <p:cNvPr id="101" name="CuadroTexto 100">
                <a:extLst>
                  <a:ext uri="{FF2B5EF4-FFF2-40B4-BE49-F238E27FC236}">
                    <a16:creationId xmlns:a16="http://schemas.microsoft.com/office/drawing/2014/main" id="{77CFAEB0-F4FA-662F-C774-D326C7E83EC6}"/>
                  </a:ext>
                </a:extLst>
              </p:cNvPr>
              <p:cNvSpPr txBox="1"/>
              <p:nvPr/>
            </p:nvSpPr>
            <p:spPr>
              <a:xfrm>
                <a:off x="7360521" y="3565727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17%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Dos</a:t>
                </a:r>
              </a:p>
            </p:txBody>
          </p:sp>
          <p:pic>
            <p:nvPicPr>
              <p:cNvPr id="118" name="Imagen 117">
                <a:extLst>
                  <a:ext uri="{FF2B5EF4-FFF2-40B4-BE49-F238E27FC236}">
                    <a16:creationId xmlns:a16="http://schemas.microsoft.com/office/drawing/2014/main" id="{E5CC7B75-60AE-446E-90ED-EEEF840532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artisticPaintStrokes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886925" y="4205951"/>
                <a:ext cx="773804" cy="773804"/>
              </a:xfrm>
              <a:prstGeom prst="rect">
                <a:avLst/>
              </a:prstGeom>
            </p:spPr>
          </p:pic>
        </p:grpSp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2840A1BE-61FD-36C2-0412-9349BBDFBB85}"/>
              </a:ext>
            </a:extLst>
          </p:cNvPr>
          <p:cNvGrpSpPr/>
          <p:nvPr/>
        </p:nvGrpSpPr>
        <p:grpSpPr>
          <a:xfrm>
            <a:off x="8022470" y="853892"/>
            <a:ext cx="2195988" cy="1780012"/>
            <a:chOff x="7814360" y="1110832"/>
            <a:chExt cx="2195988" cy="1780012"/>
          </a:xfrm>
        </p:grpSpPr>
        <p:grpSp>
          <p:nvGrpSpPr>
            <p:cNvPr id="66" name="Grupo 65">
              <a:extLst>
                <a:ext uri="{FF2B5EF4-FFF2-40B4-BE49-F238E27FC236}">
                  <a16:creationId xmlns:a16="http://schemas.microsoft.com/office/drawing/2014/main" id="{0E11C1E6-71CC-6B3E-B49B-658EFB8DD2CE}"/>
                </a:ext>
              </a:extLst>
            </p:cNvPr>
            <p:cNvGrpSpPr/>
            <p:nvPr/>
          </p:nvGrpSpPr>
          <p:grpSpPr>
            <a:xfrm>
              <a:off x="7814360" y="1110832"/>
              <a:ext cx="2195988" cy="1780012"/>
              <a:chOff x="7814360" y="1110832"/>
              <a:chExt cx="2195988" cy="1780012"/>
            </a:xfrm>
          </p:grpSpPr>
          <p:sp>
            <p:nvSpPr>
              <p:cNvPr id="60" name="Rectángulo 59">
                <a:extLst>
                  <a:ext uri="{FF2B5EF4-FFF2-40B4-BE49-F238E27FC236}">
                    <a16:creationId xmlns:a16="http://schemas.microsoft.com/office/drawing/2014/main" id="{412E0419-9F6E-9177-BFE6-403DC4107147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61" name="Grupo 60">
                <a:extLst>
                  <a:ext uri="{FF2B5EF4-FFF2-40B4-BE49-F238E27FC236}">
                    <a16:creationId xmlns:a16="http://schemas.microsoft.com/office/drawing/2014/main" id="{F95BFFDC-E801-8A84-7F76-84F3E77037ED}"/>
                  </a:ext>
                </a:extLst>
              </p:cNvPr>
              <p:cNvGrpSpPr/>
              <p:nvPr/>
            </p:nvGrpSpPr>
            <p:grpSpPr>
              <a:xfrm>
                <a:off x="7814361" y="1223137"/>
                <a:ext cx="2083693" cy="1630468"/>
                <a:chOff x="3249940" y="1229837"/>
                <a:chExt cx="2083693" cy="1630468"/>
              </a:xfrm>
            </p:grpSpPr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010B28BA-1436-CFDC-25E6-4C4546345932}"/>
                    </a:ext>
                  </a:extLst>
                </p:cNvPr>
                <p:cNvSpPr txBox="1"/>
                <p:nvPr/>
              </p:nvSpPr>
              <p:spPr>
                <a:xfrm>
                  <a:off x="3552927" y="1229837"/>
                  <a:ext cx="1780706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Rango Edad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46A68D3F-8587-34E7-99E6-AAEC103FDC92}"/>
                    </a:ext>
                  </a:extLst>
                </p:cNvPr>
                <p:cNvSpPr txBox="1"/>
                <p:nvPr/>
              </p:nvSpPr>
              <p:spPr>
                <a:xfrm>
                  <a:off x="3249940" y="2306307"/>
                  <a:ext cx="1172909" cy="5539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54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20 a 35 años</a:t>
                  </a:r>
                </a:p>
              </p:txBody>
            </p:sp>
          </p:grpSp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C62AFF23-37E0-EAC7-E727-1D1A72312AF7}"/>
                  </a:ext>
                </a:extLst>
              </p:cNvPr>
              <p:cNvSpPr txBox="1"/>
              <p:nvPr/>
            </p:nvSpPr>
            <p:spPr>
              <a:xfrm>
                <a:off x="8837439" y="2289285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25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36 a 45 años</a:t>
                </a:r>
              </a:p>
            </p:txBody>
          </p:sp>
        </p:grpSp>
        <p:pic>
          <p:nvPicPr>
            <p:cNvPr id="128" name="Imagen 127">
              <a:extLst>
                <a:ext uri="{FF2B5EF4-FFF2-40B4-BE49-F238E27FC236}">
                  <a16:creationId xmlns:a16="http://schemas.microsoft.com/office/drawing/2014/main" id="{255A62CC-CC84-F07D-9321-724724BC81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17644" y="1602912"/>
              <a:ext cx="655473" cy="655473"/>
            </a:xfrm>
            <a:prstGeom prst="rect">
              <a:avLst/>
            </a:prstGeom>
          </p:spPr>
        </p:pic>
      </p:grpSp>
      <p:grpSp>
        <p:nvGrpSpPr>
          <p:cNvPr id="189" name="Grupo 188">
            <a:extLst>
              <a:ext uri="{FF2B5EF4-FFF2-40B4-BE49-F238E27FC236}">
                <a16:creationId xmlns:a16="http://schemas.microsoft.com/office/drawing/2014/main" id="{DD3C1FA0-32F9-C9FB-CD84-B0082A59D4A3}"/>
              </a:ext>
            </a:extLst>
          </p:cNvPr>
          <p:cNvGrpSpPr/>
          <p:nvPr/>
        </p:nvGrpSpPr>
        <p:grpSpPr>
          <a:xfrm>
            <a:off x="-114768" y="4837223"/>
            <a:ext cx="3758502" cy="1933541"/>
            <a:chOff x="435340" y="4837223"/>
            <a:chExt cx="4854517" cy="1933541"/>
          </a:xfrm>
        </p:grpSpPr>
        <p:grpSp>
          <p:nvGrpSpPr>
            <p:cNvPr id="138" name="Grupo 137">
              <a:extLst>
                <a:ext uri="{FF2B5EF4-FFF2-40B4-BE49-F238E27FC236}">
                  <a16:creationId xmlns:a16="http://schemas.microsoft.com/office/drawing/2014/main" id="{4C430CB4-CF10-1119-57CC-B38C10A3FE7F}"/>
                </a:ext>
              </a:extLst>
            </p:cNvPr>
            <p:cNvGrpSpPr/>
            <p:nvPr/>
          </p:nvGrpSpPr>
          <p:grpSpPr>
            <a:xfrm>
              <a:off x="435340" y="4837223"/>
              <a:ext cx="4854517" cy="1933541"/>
              <a:chOff x="9135236" y="3127128"/>
              <a:chExt cx="3830051" cy="1933541"/>
            </a:xfrm>
          </p:grpSpPr>
          <p:grpSp>
            <p:nvGrpSpPr>
              <p:cNvPr id="139" name="Grupo 138">
                <a:extLst>
                  <a:ext uri="{FF2B5EF4-FFF2-40B4-BE49-F238E27FC236}">
                    <a16:creationId xmlns:a16="http://schemas.microsoft.com/office/drawing/2014/main" id="{E1D032C4-2FFE-A280-7D54-AEB16E4F0E5C}"/>
                  </a:ext>
                </a:extLst>
              </p:cNvPr>
              <p:cNvGrpSpPr/>
              <p:nvPr/>
            </p:nvGrpSpPr>
            <p:grpSpPr>
              <a:xfrm>
                <a:off x="9229918" y="3127128"/>
                <a:ext cx="3735369" cy="1933541"/>
                <a:chOff x="7739695" y="1110832"/>
                <a:chExt cx="3735369" cy="1780012"/>
              </a:xfrm>
            </p:grpSpPr>
            <p:sp>
              <p:nvSpPr>
                <p:cNvPr id="143" name="Rectángulo 142">
                  <a:extLst>
                    <a:ext uri="{FF2B5EF4-FFF2-40B4-BE49-F238E27FC236}">
                      <a16:creationId xmlns:a16="http://schemas.microsoft.com/office/drawing/2014/main" id="{F79CB35E-3B9B-E965-C0D0-0C5617D09D53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3246650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44" name="Grupo 143">
                  <a:extLst>
                    <a:ext uri="{FF2B5EF4-FFF2-40B4-BE49-F238E27FC236}">
                      <a16:creationId xmlns:a16="http://schemas.microsoft.com/office/drawing/2014/main" id="{8BF24DD5-B618-B6B1-A2AF-E6E7AB2BB291}"/>
                    </a:ext>
                  </a:extLst>
                </p:cNvPr>
                <p:cNvGrpSpPr/>
                <p:nvPr/>
              </p:nvGrpSpPr>
              <p:grpSpPr>
                <a:xfrm>
                  <a:off x="7739695" y="1236316"/>
                  <a:ext cx="3735369" cy="1532075"/>
                  <a:chOff x="3175274" y="1243016"/>
                  <a:chExt cx="3735369" cy="1532075"/>
                </a:xfrm>
              </p:grpSpPr>
              <p:sp>
                <p:nvSpPr>
                  <p:cNvPr id="146" name="CuadroTexto 145">
                    <a:extLst>
                      <a:ext uri="{FF2B5EF4-FFF2-40B4-BE49-F238E27FC236}">
                        <a16:creationId xmlns:a16="http://schemas.microsoft.com/office/drawing/2014/main" id="{E6B237C9-9E73-0A6F-7408-3FA75A8D38DA}"/>
                      </a:ext>
                    </a:extLst>
                  </p:cNvPr>
                  <p:cNvSpPr txBox="1"/>
                  <p:nvPr/>
                </p:nvSpPr>
                <p:spPr>
                  <a:xfrm>
                    <a:off x="3854322" y="1243016"/>
                    <a:ext cx="3056321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Segmento Empresas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47" name="CuadroTexto 146">
                    <a:extLst>
                      <a:ext uri="{FF2B5EF4-FFF2-40B4-BE49-F238E27FC236}">
                        <a16:creationId xmlns:a16="http://schemas.microsoft.com/office/drawing/2014/main" id="{CCF284C8-7C7C-7CA0-0863-A2E282A9010E}"/>
                      </a:ext>
                    </a:extLst>
                  </p:cNvPr>
                  <p:cNvSpPr txBox="1"/>
                  <p:nvPr/>
                </p:nvSpPr>
                <p:spPr>
                  <a:xfrm>
                    <a:off x="3175274" y="2208415"/>
                    <a:ext cx="1945898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25%</a:t>
                    </a:r>
                    <a:endParaRPr lang="es-CO" sz="1400" b="1" dirty="0">
                      <a:solidFill>
                        <a:schemeClr val="bg1"/>
                      </a:solidFill>
                    </a:endParaRP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Medianas</a:t>
                    </a:r>
                  </a:p>
                </p:txBody>
              </p:sp>
            </p:grpSp>
            <p:sp>
              <p:nvSpPr>
                <p:cNvPr id="145" name="CuadroTexto 144">
                  <a:extLst>
                    <a:ext uri="{FF2B5EF4-FFF2-40B4-BE49-F238E27FC236}">
                      <a16:creationId xmlns:a16="http://schemas.microsoft.com/office/drawing/2014/main" id="{24005B96-D88A-FFDD-7C17-F22F801B16BA}"/>
                    </a:ext>
                  </a:extLst>
                </p:cNvPr>
                <p:cNvSpPr txBox="1"/>
                <p:nvPr/>
              </p:nvSpPr>
              <p:spPr>
                <a:xfrm>
                  <a:off x="9864249" y="1523867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16%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Grandes</a:t>
                  </a:r>
                </a:p>
              </p:txBody>
            </p:sp>
          </p:grpSp>
          <p:sp>
            <p:nvSpPr>
              <p:cNvPr id="140" name="CuadroTexto 139">
                <a:extLst>
                  <a:ext uri="{FF2B5EF4-FFF2-40B4-BE49-F238E27FC236}">
                    <a16:creationId xmlns:a16="http://schemas.microsoft.com/office/drawing/2014/main" id="{3909919F-DAFF-E10C-F913-7201BF3E2DAE}"/>
                  </a:ext>
                </a:extLst>
              </p:cNvPr>
              <p:cNvSpPr txBox="1"/>
              <p:nvPr/>
            </p:nvSpPr>
            <p:spPr>
              <a:xfrm>
                <a:off x="9135236" y="3565727"/>
                <a:ext cx="145027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19%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</a:t>
                </a:r>
                <a:r>
                  <a:rPr lang="es-CO" sz="1400" b="1" dirty="0" err="1">
                    <a:solidFill>
                      <a:schemeClr val="bg1"/>
                    </a:solidFill>
                  </a:rPr>
                  <a:t>Emp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Top</a:t>
                </a:r>
              </a:p>
            </p:txBody>
          </p:sp>
          <p:sp>
            <p:nvSpPr>
              <p:cNvPr id="141" name="CuadroTexto 140">
                <a:extLst>
                  <a:ext uri="{FF2B5EF4-FFF2-40B4-BE49-F238E27FC236}">
                    <a16:creationId xmlns:a16="http://schemas.microsoft.com/office/drawing/2014/main" id="{7EB4C6FD-43DD-3AFA-B80E-30059C493705}"/>
                  </a:ext>
                </a:extLst>
              </p:cNvPr>
              <p:cNvSpPr txBox="1"/>
              <p:nvPr/>
            </p:nvSpPr>
            <p:spPr>
              <a:xfrm>
                <a:off x="10055645" y="3580594"/>
                <a:ext cx="152651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34%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    Micro    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Transaccional</a:t>
                </a:r>
              </a:p>
            </p:txBody>
          </p:sp>
        </p:grpSp>
        <p:pic>
          <p:nvPicPr>
            <p:cNvPr id="149" name="Imagen 148">
              <a:extLst>
                <a:ext uri="{FF2B5EF4-FFF2-40B4-BE49-F238E27FC236}">
                  <a16:creationId xmlns:a16="http://schemas.microsoft.com/office/drawing/2014/main" id="{0923050B-68C6-6370-E823-6AFD9AF56F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325932" y="6027593"/>
              <a:ext cx="677562" cy="677562"/>
            </a:xfrm>
            <a:prstGeom prst="rect">
              <a:avLst/>
            </a:prstGeom>
          </p:spPr>
        </p:pic>
      </p:grp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F89AE1CF-F3E0-EA81-B3E5-1C41951E69B0}"/>
              </a:ext>
            </a:extLst>
          </p:cNvPr>
          <p:cNvSpPr txBox="1"/>
          <p:nvPr/>
        </p:nvSpPr>
        <p:spPr>
          <a:xfrm>
            <a:off x="2093411" y="5976448"/>
            <a:ext cx="128594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4%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Estándar</a:t>
            </a:r>
          </a:p>
        </p:txBody>
      </p:sp>
      <p:grpSp>
        <p:nvGrpSpPr>
          <p:cNvPr id="151" name="Grupo 150">
            <a:extLst>
              <a:ext uri="{FF2B5EF4-FFF2-40B4-BE49-F238E27FC236}">
                <a16:creationId xmlns:a16="http://schemas.microsoft.com/office/drawing/2014/main" id="{2088EF59-2016-0C23-9A18-4170EAEA3CF0}"/>
              </a:ext>
            </a:extLst>
          </p:cNvPr>
          <p:cNvGrpSpPr/>
          <p:nvPr/>
        </p:nvGrpSpPr>
        <p:grpSpPr>
          <a:xfrm>
            <a:off x="3041036" y="4852302"/>
            <a:ext cx="2475954" cy="1933541"/>
            <a:chOff x="9024616" y="3127128"/>
            <a:chExt cx="2475954" cy="1933541"/>
          </a:xfrm>
        </p:grpSpPr>
        <p:grpSp>
          <p:nvGrpSpPr>
            <p:cNvPr id="152" name="Grupo 151">
              <a:extLst>
                <a:ext uri="{FF2B5EF4-FFF2-40B4-BE49-F238E27FC236}">
                  <a16:creationId xmlns:a16="http://schemas.microsoft.com/office/drawing/2014/main" id="{A3AAAE99-7C40-DAA4-16A4-8B98080C156D}"/>
                </a:ext>
              </a:extLst>
            </p:cNvPr>
            <p:cNvGrpSpPr/>
            <p:nvPr/>
          </p:nvGrpSpPr>
          <p:grpSpPr>
            <a:xfrm>
              <a:off x="9024616" y="3127128"/>
              <a:ext cx="2475954" cy="1933541"/>
              <a:chOff x="7534393" y="1110832"/>
              <a:chExt cx="2475954" cy="1780012"/>
            </a:xfrm>
          </p:grpSpPr>
          <p:sp>
            <p:nvSpPr>
              <p:cNvPr id="157" name="Rectángulo 156">
                <a:extLst>
                  <a:ext uri="{FF2B5EF4-FFF2-40B4-BE49-F238E27FC236}">
                    <a16:creationId xmlns:a16="http://schemas.microsoft.com/office/drawing/2014/main" id="{6D378E4B-DA88-5033-72F6-597EE3CD2C20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158" name="Grupo 157">
                <a:extLst>
                  <a:ext uri="{FF2B5EF4-FFF2-40B4-BE49-F238E27FC236}">
                    <a16:creationId xmlns:a16="http://schemas.microsoft.com/office/drawing/2014/main" id="{1837D3FB-6AA2-EAE0-A7EC-004BE3077204}"/>
                  </a:ext>
                </a:extLst>
              </p:cNvPr>
              <p:cNvGrpSpPr/>
              <p:nvPr/>
            </p:nvGrpSpPr>
            <p:grpSpPr>
              <a:xfrm>
                <a:off x="7534393" y="1206227"/>
                <a:ext cx="2388623" cy="1388251"/>
                <a:chOff x="2969972" y="1212927"/>
                <a:chExt cx="2388623" cy="1388251"/>
              </a:xfrm>
            </p:grpSpPr>
            <p:sp>
              <p:nvSpPr>
                <p:cNvPr id="160" name="CuadroTexto 159">
                  <a:extLst>
                    <a:ext uri="{FF2B5EF4-FFF2-40B4-BE49-F238E27FC236}">
                      <a16:creationId xmlns:a16="http://schemas.microsoft.com/office/drawing/2014/main" id="{165FE7AB-F021-9C6E-88DE-01BC64971F0C}"/>
                    </a:ext>
                  </a:extLst>
                </p:cNvPr>
                <p:cNvSpPr txBox="1"/>
                <p:nvPr/>
              </p:nvSpPr>
              <p:spPr>
                <a:xfrm>
                  <a:off x="3408991" y="1212927"/>
                  <a:ext cx="1949604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 dirty="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Departamento</a:t>
                  </a:r>
                  <a:endParaRPr lang="es-ES" sz="1600" dirty="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61" name="CuadroTexto 160">
                  <a:extLst>
                    <a:ext uri="{FF2B5EF4-FFF2-40B4-BE49-F238E27FC236}">
                      <a16:creationId xmlns:a16="http://schemas.microsoft.com/office/drawing/2014/main" id="{252D659A-D9AB-F3D0-FCB7-4ABBB28245A4}"/>
                    </a:ext>
                  </a:extLst>
                </p:cNvPr>
                <p:cNvSpPr txBox="1"/>
                <p:nvPr/>
              </p:nvSpPr>
              <p:spPr>
                <a:xfrm>
                  <a:off x="2969972" y="2034502"/>
                  <a:ext cx="1411846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4%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</a:t>
                  </a:r>
                  <a:r>
                    <a:rPr lang="es-CO" sz="1400" b="1" dirty="0" err="1">
                      <a:solidFill>
                        <a:schemeClr val="bg1"/>
                      </a:solidFill>
                    </a:rPr>
                    <a:t>Chia</a:t>
                  </a:r>
                  <a:endParaRPr lang="es-CO" sz="14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154" name="CuadroTexto 153">
              <a:extLst>
                <a:ext uri="{FF2B5EF4-FFF2-40B4-BE49-F238E27FC236}">
                  <a16:creationId xmlns:a16="http://schemas.microsoft.com/office/drawing/2014/main" id="{38B78064-96DB-F153-FF4B-5FE8EEF1E9FA}"/>
                </a:ext>
              </a:extLst>
            </p:cNvPr>
            <p:cNvSpPr txBox="1"/>
            <p:nvPr/>
          </p:nvSpPr>
          <p:spPr>
            <a:xfrm>
              <a:off x="9059295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8%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</a:t>
              </a:r>
              <a:r>
                <a:rPr lang="es-CO" sz="1400" b="1" dirty="0" err="1">
                  <a:solidFill>
                    <a:schemeClr val="bg1"/>
                  </a:solidFill>
                </a:rPr>
                <a:t>Ubate</a:t>
              </a:r>
              <a:endParaRPr lang="es-CO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155" name="CuadroTexto 154">
              <a:extLst>
                <a:ext uri="{FF2B5EF4-FFF2-40B4-BE49-F238E27FC236}">
                  <a16:creationId xmlns:a16="http://schemas.microsoft.com/office/drawing/2014/main" id="{31ED069C-46CD-530A-4033-74A92195C62D}"/>
                </a:ext>
              </a:extLst>
            </p:cNvPr>
            <p:cNvSpPr txBox="1"/>
            <p:nvPr/>
          </p:nvSpPr>
          <p:spPr>
            <a:xfrm>
              <a:off x="10219600" y="3565504"/>
              <a:ext cx="1160334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34%</a:t>
              </a:r>
              <a:r>
                <a:rPr lang="es-CO" sz="1400" b="1" dirty="0">
                  <a:solidFill>
                    <a:schemeClr val="bg1"/>
                  </a:solidFill>
                </a:rPr>
                <a:t>     </a:t>
              </a:r>
              <a:r>
                <a:rPr lang="es-CO" sz="1400" b="1" dirty="0" err="1">
                  <a:solidFill>
                    <a:schemeClr val="bg1"/>
                  </a:solidFill>
                </a:rPr>
                <a:t>Bogota</a:t>
              </a:r>
              <a:endParaRPr lang="es-CO" sz="1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01" name="Grupo 200">
            <a:extLst>
              <a:ext uri="{FF2B5EF4-FFF2-40B4-BE49-F238E27FC236}">
                <a16:creationId xmlns:a16="http://schemas.microsoft.com/office/drawing/2014/main" id="{EAF04996-7B1D-97AB-274B-B1003E7DAA78}"/>
              </a:ext>
            </a:extLst>
          </p:cNvPr>
          <p:cNvGrpSpPr/>
          <p:nvPr/>
        </p:nvGrpSpPr>
        <p:grpSpPr>
          <a:xfrm>
            <a:off x="5407406" y="4842106"/>
            <a:ext cx="2693579" cy="1985915"/>
            <a:chOff x="5483606" y="4842106"/>
            <a:chExt cx="2693579" cy="1985915"/>
          </a:xfrm>
        </p:grpSpPr>
        <p:grpSp>
          <p:nvGrpSpPr>
            <p:cNvPr id="164" name="Grupo 163">
              <a:extLst>
                <a:ext uri="{FF2B5EF4-FFF2-40B4-BE49-F238E27FC236}">
                  <a16:creationId xmlns:a16="http://schemas.microsoft.com/office/drawing/2014/main" id="{62155163-37A7-49E1-5FED-603D24CD19B2}"/>
                </a:ext>
              </a:extLst>
            </p:cNvPr>
            <p:cNvGrpSpPr/>
            <p:nvPr/>
          </p:nvGrpSpPr>
          <p:grpSpPr>
            <a:xfrm>
              <a:off x="5483606" y="4842106"/>
              <a:ext cx="2693579" cy="1957609"/>
              <a:chOff x="9049330" y="3127128"/>
              <a:chExt cx="2693579" cy="1957609"/>
            </a:xfrm>
          </p:grpSpPr>
          <p:grpSp>
            <p:nvGrpSpPr>
              <p:cNvPr id="165" name="Grupo 164">
                <a:extLst>
                  <a:ext uri="{FF2B5EF4-FFF2-40B4-BE49-F238E27FC236}">
                    <a16:creationId xmlns:a16="http://schemas.microsoft.com/office/drawing/2014/main" id="{CA53571B-07EF-F3B1-556E-CE5482B2EB59}"/>
                  </a:ext>
                </a:extLst>
              </p:cNvPr>
              <p:cNvGrpSpPr/>
              <p:nvPr/>
            </p:nvGrpSpPr>
            <p:grpSpPr>
              <a:xfrm>
                <a:off x="9049330" y="3127128"/>
                <a:ext cx="2655911" cy="1957609"/>
                <a:chOff x="7559107" y="1110832"/>
                <a:chExt cx="2655911" cy="1802169"/>
              </a:xfrm>
            </p:grpSpPr>
            <p:sp>
              <p:nvSpPr>
                <p:cNvPr id="168" name="Rectángulo 167">
                  <a:extLst>
                    <a:ext uri="{FF2B5EF4-FFF2-40B4-BE49-F238E27FC236}">
                      <a16:creationId xmlns:a16="http://schemas.microsoft.com/office/drawing/2014/main" id="{4F0619F1-50A4-785D-D5A8-675B7EBF8D2A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195987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70" name="Grupo 169">
                  <a:extLst>
                    <a:ext uri="{FF2B5EF4-FFF2-40B4-BE49-F238E27FC236}">
                      <a16:creationId xmlns:a16="http://schemas.microsoft.com/office/drawing/2014/main" id="{FD05285C-CE6B-6637-0A85-598D48E3A6C2}"/>
                    </a:ext>
                  </a:extLst>
                </p:cNvPr>
                <p:cNvGrpSpPr/>
                <p:nvPr/>
              </p:nvGrpSpPr>
              <p:grpSpPr>
                <a:xfrm>
                  <a:off x="7559107" y="1207829"/>
                  <a:ext cx="2655911" cy="1705172"/>
                  <a:chOff x="2994686" y="1214529"/>
                  <a:chExt cx="2655911" cy="1705172"/>
                </a:xfrm>
              </p:grpSpPr>
              <p:sp>
                <p:nvSpPr>
                  <p:cNvPr id="171" name="CuadroTexto 170">
                    <a:extLst>
                      <a:ext uri="{FF2B5EF4-FFF2-40B4-BE49-F238E27FC236}">
                        <a16:creationId xmlns:a16="http://schemas.microsoft.com/office/drawing/2014/main" id="{35228FD1-8286-F254-BEA4-06F2F47C3714}"/>
                      </a:ext>
                    </a:extLst>
                  </p:cNvPr>
                  <p:cNvSpPr txBox="1"/>
                  <p:nvPr/>
                </p:nvSpPr>
                <p:spPr>
                  <a:xfrm>
                    <a:off x="3700993" y="1214529"/>
                    <a:ext cx="1949604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 dirty="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Localidad</a:t>
                    </a:r>
                    <a:endParaRPr lang="es-ES" sz="1600" dirty="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72" name="CuadroTexto 171">
                    <a:extLst>
                      <a:ext uri="{FF2B5EF4-FFF2-40B4-BE49-F238E27FC236}">
                        <a16:creationId xmlns:a16="http://schemas.microsoft.com/office/drawing/2014/main" id="{DE9A451E-0063-7D71-BEF0-4465EACBCD99}"/>
                      </a:ext>
                    </a:extLst>
                  </p:cNvPr>
                  <p:cNvSpPr txBox="1"/>
                  <p:nvPr/>
                </p:nvSpPr>
                <p:spPr>
                  <a:xfrm>
                    <a:off x="2994686" y="2353025"/>
                    <a:ext cx="1323041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4%</a:t>
                    </a: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    </a:t>
                    </a:r>
                    <a:r>
                      <a:rPr lang="es-CO" sz="1400" b="1" dirty="0" err="1">
                        <a:solidFill>
                          <a:schemeClr val="bg1"/>
                        </a:solidFill>
                      </a:rPr>
                      <a:t>Engativa</a:t>
                    </a:r>
                    <a:endParaRPr lang="es-CO" sz="14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</p:grpSp>
          <p:sp>
            <p:nvSpPr>
              <p:cNvPr id="166" name="CuadroTexto 165">
                <a:extLst>
                  <a:ext uri="{FF2B5EF4-FFF2-40B4-BE49-F238E27FC236}">
                    <a16:creationId xmlns:a16="http://schemas.microsoft.com/office/drawing/2014/main" id="{5BE9EFDE-F6DF-363D-DEA0-87222C63E517}"/>
                  </a:ext>
                </a:extLst>
              </p:cNvPr>
              <p:cNvSpPr txBox="1"/>
              <p:nvPr/>
            </p:nvSpPr>
            <p:spPr>
              <a:xfrm>
                <a:off x="9059295" y="3565727"/>
                <a:ext cx="128594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7%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Suba</a:t>
                </a:r>
              </a:p>
            </p:txBody>
          </p:sp>
          <p:sp>
            <p:nvSpPr>
              <p:cNvPr id="167" name="CuadroTexto 166">
                <a:extLst>
                  <a:ext uri="{FF2B5EF4-FFF2-40B4-BE49-F238E27FC236}">
                    <a16:creationId xmlns:a16="http://schemas.microsoft.com/office/drawing/2014/main" id="{C4E34325-0BD8-426B-72AE-E6B710FC2DB5}"/>
                  </a:ext>
                </a:extLst>
              </p:cNvPr>
              <p:cNvSpPr txBox="1"/>
              <p:nvPr/>
            </p:nvSpPr>
            <p:spPr>
              <a:xfrm>
                <a:off x="10498522" y="3549824"/>
                <a:ext cx="1244387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6%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</a:t>
                </a:r>
                <a:r>
                  <a:rPr lang="es-CO" sz="1400" b="1" dirty="0" err="1">
                    <a:solidFill>
                      <a:schemeClr val="bg1"/>
                    </a:solidFill>
                  </a:rPr>
                  <a:t>Ubate</a:t>
                </a:r>
                <a:endParaRPr lang="es-CO" sz="14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85" name="CuadroTexto 184">
              <a:extLst>
                <a:ext uri="{FF2B5EF4-FFF2-40B4-BE49-F238E27FC236}">
                  <a16:creationId xmlns:a16="http://schemas.microsoft.com/office/drawing/2014/main" id="{F4F0B0BA-295A-F1D1-E8EB-D6BA31AF575B}"/>
                </a:ext>
              </a:extLst>
            </p:cNvPr>
            <p:cNvSpPr txBox="1"/>
            <p:nvPr/>
          </p:nvSpPr>
          <p:spPr>
            <a:xfrm>
              <a:off x="6625166" y="6212468"/>
              <a:ext cx="1323041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61%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 Sin </a:t>
              </a:r>
              <a:r>
                <a:rPr lang="es-CO" sz="1400" b="1" dirty="0" err="1">
                  <a:solidFill>
                    <a:schemeClr val="bg1"/>
                  </a:solidFill>
                </a:rPr>
                <a:t>Infor</a:t>
              </a:r>
              <a:endParaRPr lang="es-CO" sz="1400" b="1" dirty="0">
                <a:solidFill>
                  <a:schemeClr val="bg1"/>
                </a:solidFill>
              </a:endParaRPr>
            </a:p>
          </p:txBody>
        </p:sp>
        <p:pic>
          <p:nvPicPr>
            <p:cNvPr id="187" name="Imagen 186">
              <a:extLst>
                <a:ext uri="{FF2B5EF4-FFF2-40B4-BE49-F238E27FC236}">
                  <a16:creationId xmlns:a16="http://schemas.microsoft.com/office/drawing/2014/main" id="{9E4E4054-A6AA-92B6-850D-ECD914EE20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401571" y="5793688"/>
              <a:ext cx="1266970" cy="620378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grpSp>
        <p:nvGrpSpPr>
          <p:cNvPr id="190" name="Grupo 189">
            <a:extLst>
              <a:ext uri="{FF2B5EF4-FFF2-40B4-BE49-F238E27FC236}">
                <a16:creationId xmlns:a16="http://schemas.microsoft.com/office/drawing/2014/main" id="{B2D75F2F-EA97-D1F5-4304-C947639ADE7A}"/>
              </a:ext>
            </a:extLst>
          </p:cNvPr>
          <p:cNvGrpSpPr/>
          <p:nvPr/>
        </p:nvGrpSpPr>
        <p:grpSpPr>
          <a:xfrm>
            <a:off x="7930968" y="4834201"/>
            <a:ext cx="2464776" cy="1933541"/>
            <a:chOff x="9267841" y="3127128"/>
            <a:chExt cx="2586590" cy="1933541"/>
          </a:xfrm>
        </p:grpSpPr>
        <p:grpSp>
          <p:nvGrpSpPr>
            <p:cNvPr id="191" name="Grupo 190">
              <a:extLst>
                <a:ext uri="{FF2B5EF4-FFF2-40B4-BE49-F238E27FC236}">
                  <a16:creationId xmlns:a16="http://schemas.microsoft.com/office/drawing/2014/main" id="{69FC4C28-D062-692C-83C5-5F9FD13275BE}"/>
                </a:ext>
              </a:extLst>
            </p:cNvPr>
            <p:cNvGrpSpPr/>
            <p:nvPr/>
          </p:nvGrpSpPr>
          <p:grpSpPr>
            <a:xfrm>
              <a:off x="9280641" y="3127128"/>
              <a:ext cx="2573790" cy="1933541"/>
              <a:chOff x="7790418" y="1110832"/>
              <a:chExt cx="2573790" cy="1780012"/>
            </a:xfrm>
          </p:grpSpPr>
          <p:sp>
            <p:nvSpPr>
              <p:cNvPr id="194" name="Rectángulo 193">
                <a:extLst>
                  <a:ext uri="{FF2B5EF4-FFF2-40B4-BE49-F238E27FC236}">
                    <a16:creationId xmlns:a16="http://schemas.microsoft.com/office/drawing/2014/main" id="{60C9A570-9454-5ADA-BFC7-DE1E610CBF5A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368574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97" name="CuadroTexto 196">
                <a:extLst>
                  <a:ext uri="{FF2B5EF4-FFF2-40B4-BE49-F238E27FC236}">
                    <a16:creationId xmlns:a16="http://schemas.microsoft.com/office/drawing/2014/main" id="{308B4C0F-DE44-A9DD-1D27-31122B05659C}"/>
                  </a:ext>
                </a:extLst>
              </p:cNvPr>
              <p:cNvSpPr txBox="1"/>
              <p:nvPr/>
            </p:nvSpPr>
            <p:spPr>
              <a:xfrm>
                <a:off x="7790418" y="1207828"/>
                <a:ext cx="2573790" cy="3116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Entidad Financieras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</p:grpSp>
        <p:sp>
          <p:nvSpPr>
            <p:cNvPr id="192" name="CuadroTexto 191">
              <a:extLst>
                <a:ext uri="{FF2B5EF4-FFF2-40B4-BE49-F238E27FC236}">
                  <a16:creationId xmlns:a16="http://schemas.microsoft.com/office/drawing/2014/main" id="{163AD1DE-A4D5-E2D7-3B74-7E074CEB0A54}"/>
                </a:ext>
              </a:extLst>
            </p:cNvPr>
            <p:cNvSpPr txBox="1"/>
            <p:nvPr/>
          </p:nvSpPr>
          <p:spPr>
            <a:xfrm>
              <a:off x="9267841" y="3565727"/>
              <a:ext cx="1337256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66%</a:t>
              </a:r>
              <a:r>
                <a:rPr lang="es-CO" sz="1400" b="1" dirty="0">
                  <a:solidFill>
                    <a:schemeClr val="bg1"/>
                  </a:solidFill>
                </a:rPr>
                <a:t>          Colsubsidio</a:t>
              </a:r>
            </a:p>
          </p:txBody>
        </p:sp>
        <p:sp>
          <p:nvSpPr>
            <p:cNvPr id="193" name="CuadroTexto 192">
              <a:extLst>
                <a:ext uri="{FF2B5EF4-FFF2-40B4-BE49-F238E27FC236}">
                  <a16:creationId xmlns:a16="http://schemas.microsoft.com/office/drawing/2014/main" id="{1FB828E6-C767-EFFF-3631-6557B9EA07D0}"/>
                </a:ext>
              </a:extLst>
            </p:cNvPr>
            <p:cNvSpPr txBox="1"/>
            <p:nvPr/>
          </p:nvSpPr>
          <p:spPr>
            <a:xfrm>
              <a:off x="10498522" y="3549824"/>
              <a:ext cx="1244387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9%</a:t>
              </a:r>
              <a:r>
                <a:rPr lang="es-CO" sz="1400" b="1" dirty="0">
                  <a:solidFill>
                    <a:schemeClr val="bg1"/>
                  </a:solidFill>
                </a:rPr>
                <a:t>             La Hipoteca</a:t>
              </a:r>
            </a:p>
          </p:txBody>
        </p:sp>
      </p:grpSp>
      <p:sp>
        <p:nvSpPr>
          <p:cNvPr id="200" name="CuadroTexto 199">
            <a:extLst>
              <a:ext uri="{FF2B5EF4-FFF2-40B4-BE49-F238E27FC236}">
                <a16:creationId xmlns:a16="http://schemas.microsoft.com/office/drawing/2014/main" id="{DDA0D132-32AF-1551-503D-9595E27C540E}"/>
              </a:ext>
            </a:extLst>
          </p:cNvPr>
          <p:cNvSpPr txBox="1"/>
          <p:nvPr/>
        </p:nvSpPr>
        <p:spPr>
          <a:xfrm>
            <a:off x="4140736" y="5856787"/>
            <a:ext cx="137625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2%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</a:t>
            </a:r>
            <a:r>
              <a:rPr lang="es-CO" sz="1400" b="1" dirty="0" err="1">
                <a:solidFill>
                  <a:schemeClr val="bg1"/>
                </a:solidFill>
              </a:rPr>
              <a:t>Tocancipa</a:t>
            </a:r>
            <a:endParaRPr lang="es-CO" sz="1400" b="1" dirty="0">
              <a:solidFill>
                <a:schemeClr val="bg1"/>
              </a:solidFill>
            </a:endParaRPr>
          </a:p>
        </p:txBody>
      </p:sp>
      <p:pic>
        <p:nvPicPr>
          <p:cNvPr id="205" name="Imagen 204">
            <a:extLst>
              <a:ext uri="{FF2B5EF4-FFF2-40B4-BE49-F238E27FC236}">
                <a16:creationId xmlns:a16="http://schemas.microsoft.com/office/drawing/2014/main" id="{5CB7C3B5-6AFE-77D2-CFD8-0C0AB7E1E87D}"/>
              </a:ext>
            </a:extLst>
          </p:cNvPr>
          <p:cNvPicPr>
            <a:picLocks noChangeAspect="1"/>
          </p:cNvPicPr>
          <p:nvPr/>
        </p:nvPicPr>
        <p:blipFill>
          <a:blip r:embed="rId22">
            <a:duotone>
              <a:prstClr val="black"/>
              <a:schemeClr val="tx1">
                <a:lumMod val="75000"/>
                <a:lumOff val="2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4538" y="5846263"/>
            <a:ext cx="673981" cy="673981"/>
          </a:xfrm>
          <a:prstGeom prst="rect">
            <a:avLst/>
          </a:prstGeom>
        </p:spPr>
      </p:pic>
      <p:grpSp>
        <p:nvGrpSpPr>
          <p:cNvPr id="208" name="Grupo 207">
            <a:extLst>
              <a:ext uri="{FF2B5EF4-FFF2-40B4-BE49-F238E27FC236}">
                <a16:creationId xmlns:a16="http://schemas.microsoft.com/office/drawing/2014/main" id="{C8857499-1F17-2CA3-8947-F2DE397E1C62}"/>
              </a:ext>
            </a:extLst>
          </p:cNvPr>
          <p:cNvGrpSpPr/>
          <p:nvPr/>
        </p:nvGrpSpPr>
        <p:grpSpPr>
          <a:xfrm>
            <a:off x="10245555" y="853892"/>
            <a:ext cx="1956550" cy="5540381"/>
            <a:chOff x="7793864" y="1110832"/>
            <a:chExt cx="1816602" cy="1780012"/>
          </a:xfrm>
        </p:grpSpPr>
        <p:sp>
          <p:nvSpPr>
            <p:cNvPr id="212" name="Rectángulo 211">
              <a:extLst>
                <a:ext uri="{FF2B5EF4-FFF2-40B4-BE49-F238E27FC236}">
                  <a16:creationId xmlns:a16="http://schemas.microsoft.com/office/drawing/2014/main" id="{74E074D9-0154-6B9B-97C6-7BD62DA4A1D1}"/>
                </a:ext>
              </a:extLst>
            </p:cNvPr>
            <p:cNvSpPr/>
            <p:nvPr/>
          </p:nvSpPr>
          <p:spPr>
            <a:xfrm>
              <a:off x="7814360" y="1110832"/>
              <a:ext cx="1666611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5" name="CuadroTexto 214">
              <a:extLst>
                <a:ext uri="{FF2B5EF4-FFF2-40B4-BE49-F238E27FC236}">
                  <a16:creationId xmlns:a16="http://schemas.microsoft.com/office/drawing/2014/main" id="{AAA48167-1102-CEE0-D30D-32CC22B21095}"/>
                </a:ext>
              </a:extLst>
            </p:cNvPr>
            <p:cNvSpPr txBox="1"/>
            <p:nvPr/>
          </p:nvSpPr>
          <p:spPr>
            <a:xfrm>
              <a:off x="7793864" y="1161252"/>
              <a:ext cx="1816602" cy="1141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1600">
                  <a:solidFill>
                    <a:srgbClr val="FFC000"/>
                  </a:solidFill>
                  <a:latin typeface="KG Red Hands" panose="02000505000000020004" pitchFamily="2" charset="0"/>
                </a:rPr>
                <a:t>Top Empresas</a:t>
              </a:r>
              <a:endParaRPr lang="es-ES" sz="1600">
                <a:solidFill>
                  <a:srgbClr val="FFC000"/>
                </a:solidFill>
              </a:endParaRPr>
            </a:p>
          </p:txBody>
        </p:sp>
        <p:sp>
          <p:nvSpPr>
            <p:cNvPr id="214" name="CuadroTexto 213">
              <a:extLst>
                <a:ext uri="{FF2B5EF4-FFF2-40B4-BE49-F238E27FC236}">
                  <a16:creationId xmlns:a16="http://schemas.microsoft.com/office/drawing/2014/main" id="{1F5042FA-D964-8F76-990D-0D58A0C219A0}"/>
                </a:ext>
              </a:extLst>
            </p:cNvPr>
            <p:cNvSpPr txBox="1"/>
            <p:nvPr/>
          </p:nvSpPr>
          <p:spPr>
            <a:xfrm>
              <a:off x="7830402" y="1354030"/>
              <a:ext cx="1689688" cy="3263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500" b="1" dirty="0">
                  <a:solidFill>
                    <a:schemeClr val="bg1"/>
                  </a:solidFill>
                </a:rPr>
                <a:t>COLSUBSIDIO	20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TOPTEX S.A.	11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G DE CUNDINAMARCA	10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FLORES UBATE S A S	10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FLORVAL S A S	10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TELEPERFORMANCE	8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ALPINA	8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COLUMBIA COAL COMPANY 	7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SECURITAS COLOMBIA S A	6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CONSORCIO EXPRESS S A S	6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CARBONIFERA DE SAMACA	5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	                               </a:t>
              </a: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65F673E8-F8D7-FD44-EBB7-957733B47816}"/>
              </a:ext>
            </a:extLst>
          </p:cNvPr>
          <p:cNvSpPr txBox="1"/>
          <p:nvPr/>
        </p:nvSpPr>
        <p:spPr>
          <a:xfrm>
            <a:off x="10330342" y="6461181"/>
            <a:ext cx="14292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100" dirty="0">
                <a:solidFill>
                  <a:srgbClr val="FFC000"/>
                </a:solidFill>
                <a:latin typeface="KG Red Hands" panose="02000505000000020004" pitchFamily="2" charset="0"/>
              </a:rPr>
              <a:t>*Corte 15/01/2026</a:t>
            </a:r>
            <a:endParaRPr lang="es-ES" sz="1100" dirty="0">
              <a:solidFill>
                <a:srgbClr val="FFC000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A4A8662-3E24-8F6C-32F6-62B49F8E0070}"/>
              </a:ext>
            </a:extLst>
          </p:cNvPr>
          <p:cNvSpPr txBox="1"/>
          <p:nvPr/>
        </p:nvSpPr>
        <p:spPr>
          <a:xfrm>
            <a:off x="7916630" y="6086496"/>
            <a:ext cx="127427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8%</a:t>
            </a:r>
            <a:r>
              <a:rPr lang="es-CO" sz="1400" b="1" dirty="0">
                <a:solidFill>
                  <a:schemeClr val="bg1"/>
                </a:solidFill>
              </a:rPr>
              <a:t>          Davivienda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98BD405-9958-982D-BE09-9BB5EA3CB43A}"/>
              </a:ext>
            </a:extLst>
          </p:cNvPr>
          <p:cNvSpPr txBox="1"/>
          <p:nvPr/>
        </p:nvSpPr>
        <p:spPr>
          <a:xfrm>
            <a:off x="9008357" y="6065505"/>
            <a:ext cx="127427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5%</a:t>
            </a:r>
            <a:r>
              <a:rPr lang="es-CO" sz="1400" b="1" dirty="0">
                <a:solidFill>
                  <a:schemeClr val="bg1"/>
                </a:solidFill>
              </a:rPr>
              <a:t>              F </a:t>
            </a:r>
            <a:r>
              <a:rPr lang="es-CO" sz="1400" b="1" dirty="0" err="1">
                <a:solidFill>
                  <a:schemeClr val="bg1"/>
                </a:solidFill>
              </a:rPr>
              <a:t>Nal</a:t>
            </a:r>
            <a:r>
              <a:rPr lang="es-CO" sz="1400" b="1" dirty="0">
                <a:solidFill>
                  <a:schemeClr val="bg1"/>
                </a:solidFill>
              </a:rPr>
              <a:t> Ahorro</a:t>
            </a:r>
          </a:p>
        </p:txBody>
      </p:sp>
    </p:spTree>
    <p:extLst>
      <p:ext uri="{BB962C8B-B14F-4D97-AF65-F5344CB8AC3E}">
        <p14:creationId xmlns:p14="http://schemas.microsoft.com/office/powerpoint/2010/main" val="3564098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7641C-0F62-F7CD-08DD-014EFB02C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8EF436C5-22FA-20D7-A07D-857AAE2F0B7D}"/>
              </a:ext>
            </a:extLst>
          </p:cNvPr>
          <p:cNvCxnSpPr>
            <a:cxnSpLocks/>
          </p:cNvCxnSpPr>
          <p:nvPr/>
        </p:nvCxnSpPr>
        <p:spPr>
          <a:xfrm flipH="1">
            <a:off x="0" y="645614"/>
            <a:ext cx="10809007" cy="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uadroTexto 85">
            <a:extLst>
              <a:ext uri="{FF2B5EF4-FFF2-40B4-BE49-F238E27FC236}">
                <a16:creationId xmlns:a16="http://schemas.microsoft.com/office/drawing/2014/main" id="{A35C3056-D957-48E0-3C27-139FC64346F1}"/>
              </a:ext>
            </a:extLst>
          </p:cNvPr>
          <p:cNvSpPr txBox="1"/>
          <p:nvPr/>
        </p:nvSpPr>
        <p:spPr>
          <a:xfrm>
            <a:off x="-128399" y="120715"/>
            <a:ext cx="95771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dirty="0">
                <a:solidFill>
                  <a:schemeClr val="bg1"/>
                </a:solidFill>
                <a:latin typeface="KG Red Hands" panose="02000505000000020004" pitchFamily="2" charset="0"/>
              </a:rPr>
              <a:t>      </a:t>
            </a:r>
            <a:r>
              <a:rPr lang="es-CO" sz="2400">
                <a:solidFill>
                  <a:schemeClr val="bg1"/>
                </a:solidFill>
                <a:latin typeface="KG Red Hands" panose="02000505000000020004" pitchFamily="2" charset="0"/>
              </a:rPr>
              <a:t>Municipios sur</a:t>
            </a:r>
            <a:endParaRPr lang="es-ES" sz="24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DFBE2D7-34F8-3F45-1DA9-3A60AC0E43BD}"/>
              </a:ext>
              <a:ext uri="{147F2762-F138-4A5C-976F-8EAC2B608ADB}">
                <a16:predDERef xmlns:a16="http://schemas.microsoft.com/office/drawing/2014/main" pred="{95DEFF95-1524-40DB-8538-DE0C2D5BEC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3398838"/>
            <a:ext cx="555625" cy="49371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59ADF9B7-607D-E169-9231-4E64A8F6D0B8}"/>
              </a:ext>
              <a:ext uri="{147F2762-F138-4A5C-976F-8EAC2B608ADB}">
                <a16:predDERef xmlns:a16="http://schemas.microsoft.com/office/drawing/2014/main" pred="{95FFDEC5-E647-4E60-9FB8-32349ACC1E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087813"/>
            <a:ext cx="555625" cy="46196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4EACF111-285C-B41A-4104-300E702525CC}"/>
              </a:ext>
              <a:ext uri="{147F2762-F138-4A5C-976F-8EAC2B608ADB}">
                <a16:predDERef xmlns:a16="http://schemas.microsoft.com/office/drawing/2014/main" pred="{D53D0C4A-FE71-44C0-97B3-1EA296D3DCE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5738" y="4814888"/>
            <a:ext cx="555625" cy="41116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1A17467F-2674-4D87-C3B9-560A9CB29CDF}"/>
              </a:ext>
              <a:ext uri="{147F2762-F138-4A5C-976F-8EAC2B608ADB}">
                <a16:predDERef xmlns:a16="http://schemas.microsoft.com/office/drawing/2014/main" pred="{7008BA42-7365-4AD1-B913-F26820CE47E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1775" y="5427663"/>
            <a:ext cx="465138" cy="433387"/>
          </a:xfrm>
          <a:prstGeom prst="rect">
            <a:avLst/>
          </a:prstGeom>
        </p:spPr>
      </p:pic>
      <p:grpSp>
        <p:nvGrpSpPr>
          <p:cNvPr id="135" name="Grupo 134">
            <a:extLst>
              <a:ext uri="{FF2B5EF4-FFF2-40B4-BE49-F238E27FC236}">
                <a16:creationId xmlns:a16="http://schemas.microsoft.com/office/drawing/2014/main" id="{D6686C3B-433A-1CA4-C617-84DC62E99DB8}"/>
              </a:ext>
            </a:extLst>
          </p:cNvPr>
          <p:cNvGrpSpPr/>
          <p:nvPr/>
        </p:nvGrpSpPr>
        <p:grpSpPr>
          <a:xfrm>
            <a:off x="5564187" y="853892"/>
            <a:ext cx="2195988" cy="1780012"/>
            <a:chOff x="5353656" y="1110832"/>
            <a:chExt cx="2195988" cy="1780012"/>
          </a:xfrm>
        </p:grpSpPr>
        <p:sp>
          <p:nvSpPr>
            <p:cNvPr id="58" name="Rectángulo 57">
              <a:extLst>
                <a:ext uri="{FF2B5EF4-FFF2-40B4-BE49-F238E27FC236}">
                  <a16:creationId xmlns:a16="http://schemas.microsoft.com/office/drawing/2014/main" id="{B18E3482-9BD0-92C0-ED1C-6DE74D815B52}"/>
                </a:ext>
              </a:extLst>
            </p:cNvPr>
            <p:cNvSpPr/>
            <p:nvPr/>
          </p:nvSpPr>
          <p:spPr>
            <a:xfrm>
              <a:off x="5353656" y="1110832"/>
              <a:ext cx="2195987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43" name="Grupo 42">
              <a:extLst>
                <a:ext uri="{FF2B5EF4-FFF2-40B4-BE49-F238E27FC236}">
                  <a16:creationId xmlns:a16="http://schemas.microsoft.com/office/drawing/2014/main" id="{4885C309-B6BA-22D4-0868-F032151F51A0}"/>
                </a:ext>
              </a:extLst>
            </p:cNvPr>
            <p:cNvGrpSpPr/>
            <p:nvPr/>
          </p:nvGrpSpPr>
          <p:grpSpPr>
            <a:xfrm>
              <a:off x="5353657" y="1223137"/>
              <a:ext cx="2083693" cy="1630468"/>
              <a:chOff x="3249940" y="1229837"/>
              <a:chExt cx="2083693" cy="1630468"/>
            </a:xfrm>
          </p:grpSpPr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569F83E9-8928-738D-29E3-A4A451844E0F}"/>
                  </a:ext>
                </a:extLst>
              </p:cNvPr>
              <p:cNvSpPr txBox="1"/>
              <p:nvPr/>
            </p:nvSpPr>
            <p:spPr>
              <a:xfrm>
                <a:off x="3552927" y="1229837"/>
                <a:ext cx="178070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Rango Salario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78757F05-7D50-3317-79B3-501433B4CCB1}"/>
                  </a:ext>
                </a:extLst>
              </p:cNvPr>
              <p:cNvSpPr txBox="1"/>
              <p:nvPr/>
            </p:nvSpPr>
            <p:spPr>
              <a:xfrm>
                <a:off x="3249940" y="2306307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65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Hasta 2 </a:t>
                </a:r>
                <a:r>
                  <a:rPr lang="es-CO" sz="1200" b="1" dirty="0" err="1">
                    <a:solidFill>
                      <a:schemeClr val="bg1"/>
                    </a:solidFill>
                  </a:rPr>
                  <a:t>smlv</a:t>
                </a:r>
                <a:endParaRPr lang="es-CO" sz="1200" b="1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53" name="Imagen 52">
              <a:extLst>
                <a:ext uri="{FF2B5EF4-FFF2-40B4-BE49-F238E27FC236}">
                  <a16:creationId xmlns:a16="http://schemas.microsoft.com/office/drawing/2014/main" id="{FDD3FB9B-B1CF-6EF7-B371-AA0EC43670C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12042" y="1623254"/>
              <a:ext cx="641350" cy="641350"/>
            </a:xfrm>
            <a:prstGeom prst="rect">
              <a:avLst/>
            </a:prstGeom>
          </p:spPr>
        </p:pic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A2E354DE-0A6A-69CF-4C98-64F373FB1F99}"/>
                </a:ext>
              </a:extLst>
            </p:cNvPr>
            <p:cNvSpPr txBox="1"/>
            <p:nvPr/>
          </p:nvSpPr>
          <p:spPr>
            <a:xfrm>
              <a:off x="6376735" y="2289285"/>
              <a:ext cx="1172909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45</a:t>
              </a:r>
              <a:r>
                <a:rPr lang="es-CO" sz="18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Mas de 2 </a:t>
              </a:r>
              <a:r>
                <a:rPr lang="es-CO" sz="1200" b="1" dirty="0" err="1">
                  <a:solidFill>
                    <a:schemeClr val="bg1"/>
                  </a:solidFill>
                </a:rPr>
                <a:t>smlv</a:t>
              </a:r>
              <a:endParaRPr lang="es-CO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5C415ABB-8DA9-77A8-AC5B-AD511C2E31C7}"/>
              </a:ext>
            </a:extLst>
          </p:cNvPr>
          <p:cNvGrpSpPr/>
          <p:nvPr/>
        </p:nvGrpSpPr>
        <p:grpSpPr>
          <a:xfrm>
            <a:off x="3320687" y="874756"/>
            <a:ext cx="1941094" cy="1759148"/>
            <a:chOff x="3224463" y="1110832"/>
            <a:chExt cx="1941094" cy="1759148"/>
          </a:xfrm>
        </p:grpSpPr>
        <p:pic>
          <p:nvPicPr>
            <p:cNvPr id="33" name="Imagen 32">
              <a:extLst>
                <a:ext uri="{FF2B5EF4-FFF2-40B4-BE49-F238E27FC236}">
                  <a16:creationId xmlns:a16="http://schemas.microsoft.com/office/drawing/2014/main" id="{2D241DE1-48C8-C828-5A55-D0B56E4E2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36596" y="1677993"/>
              <a:ext cx="721895" cy="721895"/>
            </a:xfrm>
            <a:prstGeom prst="rect">
              <a:avLst/>
            </a:prstGeom>
          </p:spPr>
        </p:pic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24CD006B-81F3-302B-4747-BCCFFB93A754}"/>
                </a:ext>
              </a:extLst>
            </p:cNvPr>
            <p:cNvGrpSpPr/>
            <p:nvPr/>
          </p:nvGrpSpPr>
          <p:grpSpPr>
            <a:xfrm>
              <a:off x="3420553" y="1223137"/>
              <a:ext cx="1609350" cy="1516670"/>
              <a:chOff x="3420553" y="1223137"/>
              <a:chExt cx="1609350" cy="1516670"/>
            </a:xfrm>
          </p:grpSpPr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50E7A720-C328-E88F-89A6-44AA315291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74608" y="1613811"/>
                <a:ext cx="723600" cy="723600"/>
              </a:xfrm>
              <a:prstGeom prst="rect">
                <a:avLst/>
              </a:prstGeom>
            </p:spPr>
          </p:pic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C1A0F11A-D006-ECF2-D7B2-E70D8E2AC79A}"/>
                  </a:ext>
                </a:extLst>
              </p:cNvPr>
              <p:cNvSpPr txBox="1"/>
              <p:nvPr/>
            </p:nvSpPr>
            <p:spPr>
              <a:xfrm>
                <a:off x="3685253" y="1223137"/>
                <a:ext cx="1098946" cy="3452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Género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37B8B777-FB8B-C864-A421-28B79444D4B9}"/>
                  </a:ext>
                </a:extLst>
              </p:cNvPr>
              <p:cNvSpPr txBox="1"/>
              <p:nvPr/>
            </p:nvSpPr>
            <p:spPr>
              <a:xfrm>
                <a:off x="3420553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50%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6D8185E9-982D-223C-2725-630F093BD516}"/>
                  </a:ext>
                </a:extLst>
              </p:cNvPr>
              <p:cNvSpPr txBox="1"/>
              <p:nvPr/>
            </p:nvSpPr>
            <p:spPr>
              <a:xfrm>
                <a:off x="4308008" y="2370475"/>
                <a:ext cx="7218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50%</a:t>
                </a:r>
                <a:endParaRPr lang="es-CO" sz="1800" b="1" dirty="0">
                  <a:solidFill>
                    <a:srgbClr val="FFC000"/>
                  </a:solidFill>
                </a:endParaRPr>
              </a:p>
            </p:txBody>
          </p:sp>
        </p:grp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B40D03DF-1939-E90C-9868-F8456215B3F7}"/>
                </a:ext>
              </a:extLst>
            </p:cNvPr>
            <p:cNvSpPr/>
            <p:nvPr/>
          </p:nvSpPr>
          <p:spPr>
            <a:xfrm>
              <a:off x="3224463" y="1110832"/>
              <a:ext cx="1941094" cy="175914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78" name="CuadroTexto 77">
            <a:extLst>
              <a:ext uri="{FF2B5EF4-FFF2-40B4-BE49-F238E27FC236}">
                <a16:creationId xmlns:a16="http://schemas.microsoft.com/office/drawing/2014/main" id="{A075A11B-933D-111C-7E16-A4ACF5205C5A}"/>
              </a:ext>
            </a:extLst>
          </p:cNvPr>
          <p:cNvSpPr txBox="1"/>
          <p:nvPr/>
        </p:nvSpPr>
        <p:spPr>
          <a:xfrm>
            <a:off x="1376075" y="3222417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22%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Joven</a:t>
            </a:r>
          </a:p>
        </p:txBody>
      </p: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9DF4CA8A-FACE-831E-C762-28F0D14B0649}"/>
              </a:ext>
            </a:extLst>
          </p:cNvPr>
          <p:cNvGrpSpPr/>
          <p:nvPr/>
        </p:nvGrpSpPr>
        <p:grpSpPr>
          <a:xfrm>
            <a:off x="-155207" y="2771278"/>
            <a:ext cx="2688149" cy="1998661"/>
            <a:chOff x="435343" y="3108160"/>
            <a:chExt cx="2688149" cy="1998661"/>
          </a:xfrm>
        </p:grpSpPr>
        <p:grpSp>
          <p:nvGrpSpPr>
            <p:cNvPr id="69" name="Grupo 68">
              <a:extLst>
                <a:ext uri="{FF2B5EF4-FFF2-40B4-BE49-F238E27FC236}">
                  <a16:creationId xmlns:a16="http://schemas.microsoft.com/office/drawing/2014/main" id="{37681F9F-F3BB-636A-4548-4075401E0698}"/>
                </a:ext>
              </a:extLst>
            </p:cNvPr>
            <p:cNvGrpSpPr/>
            <p:nvPr/>
          </p:nvGrpSpPr>
          <p:grpSpPr>
            <a:xfrm>
              <a:off x="457829" y="3108160"/>
              <a:ext cx="2665663" cy="1998661"/>
              <a:chOff x="7590765" y="1110832"/>
              <a:chExt cx="2665663" cy="1822499"/>
            </a:xfrm>
          </p:grpSpPr>
          <p:sp>
            <p:nvSpPr>
              <p:cNvPr id="70" name="Rectángulo 69">
                <a:extLst>
                  <a:ext uri="{FF2B5EF4-FFF2-40B4-BE49-F238E27FC236}">
                    <a16:creationId xmlns:a16="http://schemas.microsoft.com/office/drawing/2014/main" id="{C6AC205D-B360-41FC-3F71-D006DFEEB7F2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71" name="Grupo 70">
                <a:extLst>
                  <a:ext uri="{FF2B5EF4-FFF2-40B4-BE49-F238E27FC236}">
                    <a16:creationId xmlns:a16="http://schemas.microsoft.com/office/drawing/2014/main" id="{FDA350AB-D5EA-0A09-E626-18FDCEC2F532}"/>
                  </a:ext>
                </a:extLst>
              </p:cNvPr>
              <p:cNvGrpSpPr/>
              <p:nvPr/>
            </p:nvGrpSpPr>
            <p:grpSpPr>
              <a:xfrm>
                <a:off x="7590765" y="1223137"/>
                <a:ext cx="2024519" cy="1655939"/>
                <a:chOff x="3026344" y="1229837"/>
                <a:chExt cx="2024519" cy="1655939"/>
              </a:xfrm>
            </p:grpSpPr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3FF92CC9-7E6A-32DE-A154-C74EBE2888F7}"/>
                    </a:ext>
                  </a:extLst>
                </p:cNvPr>
                <p:cNvSpPr txBox="1"/>
                <p:nvPr/>
              </p:nvSpPr>
              <p:spPr>
                <a:xfrm>
                  <a:off x="3645002" y="1229837"/>
                  <a:ext cx="1405861" cy="3087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Segmento 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4FFFC9D4-723A-D3D8-0F80-595E00476BB4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12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32%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Básico</a:t>
                  </a:r>
                </a:p>
              </p:txBody>
            </p:sp>
          </p:grpSp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7B3FC995-A902-BC3B-2047-470793E547B5}"/>
                  </a:ext>
                </a:extLst>
              </p:cNvPr>
              <p:cNvSpPr txBox="1"/>
              <p:nvPr/>
            </p:nvSpPr>
            <p:spPr>
              <a:xfrm>
                <a:off x="9083519" y="231777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0%</a:t>
                </a:r>
              </a:p>
              <a:p>
                <a:r>
                  <a:rPr lang="es-CO" sz="1400" b="1">
                    <a:solidFill>
                      <a:schemeClr val="bg1"/>
                    </a:solidFill>
                  </a:rPr>
                  <a:t>       Alto</a:t>
                </a:r>
              </a:p>
            </p:txBody>
          </p:sp>
        </p:grpSp>
        <p:sp>
          <p:nvSpPr>
            <p:cNvPr id="77" name="CuadroTexto 76">
              <a:extLst>
                <a:ext uri="{FF2B5EF4-FFF2-40B4-BE49-F238E27FC236}">
                  <a16:creationId xmlns:a16="http://schemas.microsoft.com/office/drawing/2014/main" id="{CE8BC4EF-1028-54B6-1858-1CA62C77CF6F}"/>
                </a:ext>
              </a:extLst>
            </p:cNvPr>
            <p:cNvSpPr txBox="1"/>
            <p:nvPr/>
          </p:nvSpPr>
          <p:spPr>
            <a:xfrm>
              <a:off x="435343" y="3559299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47%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Medio</a:t>
              </a:r>
            </a:p>
          </p:txBody>
        </p:sp>
        <p:pic>
          <p:nvPicPr>
            <p:cNvPr id="80" name="Imagen 79">
              <a:extLst>
                <a:ext uri="{FF2B5EF4-FFF2-40B4-BE49-F238E27FC236}">
                  <a16:creationId xmlns:a16="http://schemas.microsoft.com/office/drawing/2014/main" id="{3DB0F31D-95E3-1317-B4BE-1C2E265B6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artisticLineDrawing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90862" y="3871141"/>
              <a:ext cx="680857" cy="680857"/>
            </a:xfrm>
            <a:prstGeom prst="rect">
              <a:avLst/>
            </a:prstGeom>
          </p:spPr>
        </p:pic>
      </p:grpSp>
      <p:grpSp>
        <p:nvGrpSpPr>
          <p:cNvPr id="125" name="Grupo 124">
            <a:extLst>
              <a:ext uri="{FF2B5EF4-FFF2-40B4-BE49-F238E27FC236}">
                <a16:creationId xmlns:a16="http://schemas.microsoft.com/office/drawing/2014/main" id="{9CD5044F-324A-B41E-7900-7F97A71BB5C2}"/>
              </a:ext>
            </a:extLst>
          </p:cNvPr>
          <p:cNvGrpSpPr/>
          <p:nvPr/>
        </p:nvGrpSpPr>
        <p:grpSpPr>
          <a:xfrm>
            <a:off x="2169335" y="2774370"/>
            <a:ext cx="3284086" cy="1963483"/>
            <a:chOff x="2759885" y="3111252"/>
            <a:chExt cx="3284086" cy="1963483"/>
          </a:xfrm>
        </p:grpSpPr>
        <p:sp>
          <p:nvSpPr>
            <p:cNvPr id="88" name="CuadroTexto 87">
              <a:extLst>
                <a:ext uri="{FF2B5EF4-FFF2-40B4-BE49-F238E27FC236}">
                  <a16:creationId xmlns:a16="http://schemas.microsoft.com/office/drawing/2014/main" id="{855D08F6-1DAA-3D60-62DC-80E7A1A79382}"/>
                </a:ext>
              </a:extLst>
            </p:cNvPr>
            <p:cNvSpPr txBox="1"/>
            <p:nvPr/>
          </p:nvSpPr>
          <p:spPr>
            <a:xfrm>
              <a:off x="2759885" y="3531697"/>
              <a:ext cx="154680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   48%</a:t>
              </a:r>
            </a:p>
            <a:p>
              <a:r>
                <a:rPr lang="es-CO" sz="1200" b="1" dirty="0">
                  <a:solidFill>
                    <a:schemeClr val="bg1"/>
                  </a:solidFill>
                </a:rPr>
                <a:t>             Sin Grupo</a:t>
              </a:r>
            </a:p>
          </p:txBody>
        </p:sp>
        <p:grpSp>
          <p:nvGrpSpPr>
            <p:cNvPr id="124" name="Grupo 123">
              <a:extLst>
                <a:ext uri="{FF2B5EF4-FFF2-40B4-BE49-F238E27FC236}">
                  <a16:creationId xmlns:a16="http://schemas.microsoft.com/office/drawing/2014/main" id="{806CA455-F63A-DF5B-8B6B-703C14CEA579}"/>
                </a:ext>
              </a:extLst>
            </p:cNvPr>
            <p:cNvGrpSpPr/>
            <p:nvPr/>
          </p:nvGrpSpPr>
          <p:grpSpPr>
            <a:xfrm>
              <a:off x="2827705" y="3111252"/>
              <a:ext cx="3216266" cy="1963483"/>
              <a:chOff x="2827705" y="3111252"/>
              <a:chExt cx="3216266" cy="1963483"/>
            </a:xfrm>
          </p:grpSpPr>
          <p:grpSp>
            <p:nvGrpSpPr>
              <p:cNvPr id="81" name="Grupo 80">
                <a:extLst>
                  <a:ext uri="{FF2B5EF4-FFF2-40B4-BE49-F238E27FC236}">
                    <a16:creationId xmlns:a16="http://schemas.microsoft.com/office/drawing/2014/main" id="{BD0B6E99-4675-98DA-A996-5DF0B539F180}"/>
                  </a:ext>
                </a:extLst>
              </p:cNvPr>
              <p:cNvGrpSpPr/>
              <p:nvPr/>
            </p:nvGrpSpPr>
            <p:grpSpPr>
              <a:xfrm>
                <a:off x="2827705" y="3111252"/>
                <a:ext cx="3216266" cy="1963483"/>
                <a:chOff x="7593779" y="1110832"/>
                <a:chExt cx="3216266" cy="1780012"/>
              </a:xfrm>
            </p:grpSpPr>
            <p:sp>
              <p:nvSpPr>
                <p:cNvPr id="82" name="Rectángulo 81">
                  <a:extLst>
                    <a:ext uri="{FF2B5EF4-FFF2-40B4-BE49-F238E27FC236}">
                      <a16:creationId xmlns:a16="http://schemas.microsoft.com/office/drawing/2014/main" id="{360C1634-A298-7791-1B3D-2443AB064104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808386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83" name="Grupo 82">
                  <a:extLst>
                    <a:ext uri="{FF2B5EF4-FFF2-40B4-BE49-F238E27FC236}">
                      <a16:creationId xmlns:a16="http://schemas.microsoft.com/office/drawing/2014/main" id="{265B06EB-E1E1-40BB-62A7-51121CCB84C5}"/>
                    </a:ext>
                  </a:extLst>
                </p:cNvPr>
                <p:cNvGrpSpPr/>
                <p:nvPr/>
              </p:nvGrpSpPr>
              <p:grpSpPr>
                <a:xfrm>
                  <a:off x="7593779" y="1166870"/>
                  <a:ext cx="2748715" cy="1628029"/>
                  <a:chOff x="3029358" y="1173570"/>
                  <a:chExt cx="2748715" cy="1628029"/>
                </a:xfrm>
              </p:grpSpPr>
              <p:sp>
                <p:nvSpPr>
                  <p:cNvPr id="85" name="CuadroTexto 84">
                    <a:extLst>
                      <a:ext uri="{FF2B5EF4-FFF2-40B4-BE49-F238E27FC236}">
                        <a16:creationId xmlns:a16="http://schemas.microsoft.com/office/drawing/2014/main" id="{6FB74E86-4C2F-2B58-DEE4-97B54C6C20FD}"/>
                      </a:ext>
                    </a:extLst>
                  </p:cNvPr>
                  <p:cNvSpPr txBox="1"/>
                  <p:nvPr/>
                </p:nvSpPr>
                <p:spPr>
                  <a:xfrm>
                    <a:off x="3634807" y="1173570"/>
                    <a:ext cx="2143266" cy="30691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Segmento Familia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87" name="CuadroTexto 86">
                    <a:extLst>
                      <a:ext uri="{FF2B5EF4-FFF2-40B4-BE49-F238E27FC236}">
                        <a16:creationId xmlns:a16="http://schemas.microsoft.com/office/drawing/2014/main" id="{E2B5A336-23BE-CF8C-C353-2784C60A3C82}"/>
                      </a:ext>
                    </a:extLst>
                  </p:cNvPr>
                  <p:cNvSpPr txBox="1"/>
                  <p:nvPr/>
                </p:nvSpPr>
                <p:spPr>
                  <a:xfrm>
                    <a:off x="3029358" y="2131957"/>
                    <a:ext cx="1923771" cy="66964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 5</a:t>
                    </a:r>
                    <a:r>
                      <a:rPr lang="es-CO" sz="18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%</a:t>
                    </a:r>
                  </a:p>
                  <a:p>
                    <a:r>
                      <a:rPr lang="es-CO" sz="1200" b="1" dirty="0">
                        <a:solidFill>
                          <a:schemeClr val="bg1"/>
                        </a:solidFill>
                      </a:rPr>
                      <a:t>      Monoparental</a:t>
                    </a:r>
                  </a:p>
                  <a:p>
                    <a:r>
                      <a:rPr lang="es-CO" sz="1200" b="1" dirty="0">
                        <a:solidFill>
                          <a:schemeClr val="bg1"/>
                        </a:solidFill>
                      </a:rPr>
                      <a:t>      Ampliada</a:t>
                    </a:r>
                  </a:p>
                </p:txBody>
              </p:sp>
            </p:grpSp>
            <p:sp>
              <p:nvSpPr>
                <p:cNvPr id="84" name="CuadroTexto 83">
                  <a:extLst>
                    <a:ext uri="{FF2B5EF4-FFF2-40B4-BE49-F238E27FC236}">
                      <a16:creationId xmlns:a16="http://schemas.microsoft.com/office/drawing/2014/main" id="{BEF1509B-E738-7523-6C0B-685A28567C3C}"/>
                    </a:ext>
                  </a:extLst>
                </p:cNvPr>
                <p:cNvSpPr txBox="1"/>
                <p:nvPr/>
              </p:nvSpPr>
              <p:spPr>
                <a:xfrm>
                  <a:off x="9185077" y="2110714"/>
                  <a:ext cx="1624968" cy="5022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        11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 Nuclear Integrada</a:t>
                  </a:r>
                </a:p>
              </p:txBody>
            </p:sp>
          </p:grpSp>
          <p:sp>
            <p:nvSpPr>
              <p:cNvPr id="89" name="CuadroTexto 88">
                <a:extLst>
                  <a:ext uri="{FF2B5EF4-FFF2-40B4-BE49-F238E27FC236}">
                    <a16:creationId xmlns:a16="http://schemas.microsoft.com/office/drawing/2014/main" id="{5A3021C2-BC9D-9FC7-ADB8-BAF2D149E0AE}"/>
                  </a:ext>
                </a:extLst>
              </p:cNvPr>
              <p:cNvSpPr txBox="1"/>
              <p:nvPr/>
            </p:nvSpPr>
            <p:spPr>
              <a:xfrm>
                <a:off x="4771770" y="3534141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32%</a:t>
                </a:r>
                <a:r>
                  <a:rPr lang="es-CO" sz="1200" b="1" dirty="0">
                    <a:solidFill>
                      <a:schemeClr val="bg1"/>
                    </a:solidFill>
                  </a:rPr>
                  <a:t> Monoparental</a:t>
                </a:r>
              </a:p>
            </p:txBody>
          </p:sp>
          <p:pic>
            <p:nvPicPr>
              <p:cNvPr id="92" name="Imagen 91">
                <a:extLst>
                  <a:ext uri="{FF2B5EF4-FFF2-40B4-BE49-F238E27FC236}">
                    <a16:creationId xmlns:a16="http://schemas.microsoft.com/office/drawing/2014/main" id="{044B2810-F95B-D17B-FA54-4252086442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artisticGlowDiffused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4075298" y="3683026"/>
                <a:ext cx="754362" cy="754362"/>
              </a:xfrm>
              <a:prstGeom prst="rect">
                <a:avLst/>
              </a:prstGeom>
            </p:spPr>
          </p:pic>
        </p:grpSp>
      </p:grpSp>
      <p:grpSp>
        <p:nvGrpSpPr>
          <p:cNvPr id="137" name="Grupo 136">
            <a:extLst>
              <a:ext uri="{FF2B5EF4-FFF2-40B4-BE49-F238E27FC236}">
                <a16:creationId xmlns:a16="http://schemas.microsoft.com/office/drawing/2014/main" id="{E52E7296-7C57-61E7-B0C0-17D524327C9E}"/>
              </a:ext>
            </a:extLst>
          </p:cNvPr>
          <p:cNvGrpSpPr/>
          <p:nvPr/>
        </p:nvGrpSpPr>
        <p:grpSpPr>
          <a:xfrm>
            <a:off x="90873" y="847081"/>
            <a:ext cx="3094159" cy="1780012"/>
            <a:chOff x="681423" y="1183963"/>
            <a:chExt cx="3094159" cy="1780012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0A7E2B69-9F66-B204-EBC6-54DA160A4234}"/>
                </a:ext>
              </a:extLst>
            </p:cNvPr>
            <p:cNvSpPr txBox="1"/>
            <p:nvPr/>
          </p:nvSpPr>
          <p:spPr>
            <a:xfrm>
              <a:off x="942955" y="1217834"/>
              <a:ext cx="2376943" cy="16927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s-CO" sz="2000" b="1" dirty="0">
                <a:solidFill>
                  <a:srgbClr val="FFC000"/>
                </a:solidFill>
              </a:endParaRP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Afiliado     </a:t>
              </a:r>
              <a:r>
                <a:rPr lang="es-CO" sz="2800" b="1" dirty="0">
                  <a:solidFill>
                    <a:srgbClr val="FFC000"/>
                  </a:solidFill>
                </a:rPr>
                <a:t>   </a:t>
              </a:r>
              <a:r>
                <a:rPr lang="es-CO" sz="2800" b="1" dirty="0">
                  <a:solidFill>
                    <a:schemeClr val="bg1"/>
                  </a:solidFill>
                </a:rPr>
                <a:t>67%</a:t>
              </a:r>
            </a:p>
            <a:p>
              <a:r>
                <a:rPr lang="es-CO" sz="2000" b="1" dirty="0">
                  <a:solidFill>
                    <a:srgbClr val="FFC000"/>
                  </a:solidFill>
                </a:rPr>
                <a:t>No Afilado   </a:t>
              </a:r>
              <a:r>
                <a:rPr lang="es-CO" sz="2800" b="1" dirty="0">
                  <a:solidFill>
                    <a:schemeClr val="bg1"/>
                  </a:solidFill>
                </a:rPr>
                <a:t>33%</a:t>
              </a:r>
            </a:p>
            <a:p>
              <a:endParaRPr lang="es-ES" sz="28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05" name="Rectángulo 104">
              <a:extLst>
                <a:ext uri="{FF2B5EF4-FFF2-40B4-BE49-F238E27FC236}">
                  <a16:creationId xmlns:a16="http://schemas.microsoft.com/office/drawing/2014/main" id="{7455033B-F76B-0824-C4B2-22DB9733D99E}"/>
                </a:ext>
              </a:extLst>
            </p:cNvPr>
            <p:cNvSpPr/>
            <p:nvPr/>
          </p:nvSpPr>
          <p:spPr>
            <a:xfrm>
              <a:off x="681423" y="1183963"/>
              <a:ext cx="3094159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20" name="Grupo 119">
            <a:extLst>
              <a:ext uri="{FF2B5EF4-FFF2-40B4-BE49-F238E27FC236}">
                <a16:creationId xmlns:a16="http://schemas.microsoft.com/office/drawing/2014/main" id="{6CCCA39A-81C6-055F-04E3-B3A4A06232EF}"/>
              </a:ext>
            </a:extLst>
          </p:cNvPr>
          <p:cNvGrpSpPr/>
          <p:nvPr/>
        </p:nvGrpSpPr>
        <p:grpSpPr>
          <a:xfrm>
            <a:off x="7777183" y="2775745"/>
            <a:ext cx="2623981" cy="1933541"/>
            <a:chOff x="9059295" y="3127128"/>
            <a:chExt cx="2623981" cy="1933541"/>
          </a:xfrm>
        </p:grpSpPr>
        <p:grpSp>
          <p:nvGrpSpPr>
            <p:cNvPr id="106" name="Grupo 105">
              <a:extLst>
                <a:ext uri="{FF2B5EF4-FFF2-40B4-BE49-F238E27FC236}">
                  <a16:creationId xmlns:a16="http://schemas.microsoft.com/office/drawing/2014/main" id="{FD6F2C16-55FF-CDA1-61FB-F648AAF920CD}"/>
                </a:ext>
              </a:extLst>
            </p:cNvPr>
            <p:cNvGrpSpPr/>
            <p:nvPr/>
          </p:nvGrpSpPr>
          <p:grpSpPr>
            <a:xfrm>
              <a:off x="9080988" y="3127128"/>
              <a:ext cx="2601495" cy="1933541"/>
              <a:chOff x="7590765" y="1110832"/>
              <a:chExt cx="2601495" cy="1780012"/>
            </a:xfrm>
          </p:grpSpPr>
          <p:sp>
            <p:nvSpPr>
              <p:cNvPr id="107" name="Rectángulo 106">
                <a:extLst>
                  <a:ext uri="{FF2B5EF4-FFF2-40B4-BE49-F238E27FC236}">
                    <a16:creationId xmlns:a16="http://schemas.microsoft.com/office/drawing/2014/main" id="{C00E5FF6-AB44-2058-71A9-1FABA050BCC4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108" name="Grupo 107">
                <a:extLst>
                  <a:ext uri="{FF2B5EF4-FFF2-40B4-BE49-F238E27FC236}">
                    <a16:creationId xmlns:a16="http://schemas.microsoft.com/office/drawing/2014/main" id="{9B1FD8DD-15A2-095D-4CBF-791F2DCFF3BE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2191150" cy="1678227"/>
                <a:chOff x="3026344" y="1212927"/>
                <a:chExt cx="2191150" cy="1678227"/>
              </a:xfrm>
            </p:grpSpPr>
            <p:sp>
              <p:nvSpPr>
                <p:cNvPr id="110" name="CuadroTexto 109">
                  <a:extLst>
                    <a:ext uri="{FF2B5EF4-FFF2-40B4-BE49-F238E27FC236}">
                      <a16:creationId xmlns:a16="http://schemas.microsoft.com/office/drawing/2014/main" id="{33A5504E-E9D1-37DE-EF2A-F4D7D9C496F1}"/>
                    </a:ext>
                  </a:extLst>
                </p:cNvPr>
                <p:cNvSpPr txBox="1"/>
                <p:nvPr/>
              </p:nvSpPr>
              <p:spPr>
                <a:xfrm>
                  <a:off x="3811633" y="1212927"/>
                  <a:ext cx="140586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Estrato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11" name="CuadroTexto 110">
                  <a:extLst>
                    <a:ext uri="{FF2B5EF4-FFF2-40B4-BE49-F238E27FC236}">
                      <a16:creationId xmlns:a16="http://schemas.microsoft.com/office/drawing/2014/main" id="{0918A121-3735-7D4D-74B1-AEB1DF0E62D3}"/>
                    </a:ext>
                  </a:extLst>
                </p:cNvPr>
                <p:cNvSpPr txBox="1"/>
                <p:nvPr/>
              </p:nvSpPr>
              <p:spPr>
                <a:xfrm>
                  <a:off x="3026344" y="2324478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13%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  <p:sp>
            <p:nvSpPr>
              <p:cNvPr id="109" name="CuadroTexto 108">
                <a:extLst>
                  <a:ext uri="{FF2B5EF4-FFF2-40B4-BE49-F238E27FC236}">
                    <a16:creationId xmlns:a16="http://schemas.microsoft.com/office/drawing/2014/main" id="{62D7EEAB-2A1C-239B-B40F-1685CC957585}"/>
                  </a:ext>
                </a:extLst>
              </p:cNvPr>
              <p:cNvSpPr txBox="1"/>
              <p:nvPr/>
            </p:nvSpPr>
            <p:spPr>
              <a:xfrm>
                <a:off x="9019351" y="2317778"/>
                <a:ext cx="1172909" cy="566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3%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Cuatro</a:t>
                </a:r>
              </a:p>
            </p:txBody>
          </p:sp>
        </p:grpSp>
        <p:sp>
          <p:nvSpPr>
            <p:cNvPr id="112" name="CuadroTexto 111">
              <a:extLst>
                <a:ext uri="{FF2B5EF4-FFF2-40B4-BE49-F238E27FC236}">
                  <a16:creationId xmlns:a16="http://schemas.microsoft.com/office/drawing/2014/main" id="{C1DC77C1-80AD-EC34-0816-84667581E400}"/>
                </a:ext>
              </a:extLst>
            </p:cNvPr>
            <p:cNvSpPr txBox="1"/>
            <p:nvPr/>
          </p:nvSpPr>
          <p:spPr>
            <a:xfrm>
              <a:off x="9059295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3%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Uno</a:t>
              </a:r>
            </a:p>
          </p:txBody>
        </p:sp>
        <p:sp>
          <p:nvSpPr>
            <p:cNvPr id="113" name="CuadroTexto 112">
              <a:extLst>
                <a:ext uri="{FF2B5EF4-FFF2-40B4-BE49-F238E27FC236}">
                  <a16:creationId xmlns:a16="http://schemas.microsoft.com/office/drawing/2014/main" id="{B46A4E43-BEEB-5CF3-14DF-0E6EE3D9F5D3}"/>
                </a:ext>
              </a:extLst>
            </p:cNvPr>
            <p:cNvSpPr txBox="1"/>
            <p:nvPr/>
          </p:nvSpPr>
          <p:spPr>
            <a:xfrm>
              <a:off x="10510367" y="3565727"/>
              <a:ext cx="1172909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14%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Dos</a:t>
              </a:r>
            </a:p>
          </p:txBody>
        </p:sp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C3D94BE0-84A9-DF62-8450-AADD154FF6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artisticPencilGrayscale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0043317" y="3855923"/>
              <a:ext cx="655939" cy="655939"/>
            </a:xfrm>
            <a:prstGeom prst="rect">
              <a:avLst/>
            </a:prstGeom>
          </p:spPr>
        </p:pic>
      </p:grpSp>
      <p:sp>
        <p:nvSpPr>
          <p:cNvPr id="115" name="CuadroTexto 114">
            <a:extLst>
              <a:ext uri="{FF2B5EF4-FFF2-40B4-BE49-F238E27FC236}">
                <a16:creationId xmlns:a16="http://schemas.microsoft.com/office/drawing/2014/main" id="{2ABAA2D4-C572-0C9E-81F1-D889B9A26F4C}"/>
              </a:ext>
            </a:extLst>
          </p:cNvPr>
          <p:cNvSpPr txBox="1"/>
          <p:nvPr/>
        </p:nvSpPr>
        <p:spPr>
          <a:xfrm>
            <a:off x="5289967" y="3228845"/>
            <a:ext cx="117290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48%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 Cero</a:t>
            </a:r>
          </a:p>
        </p:txBody>
      </p:sp>
      <p:grpSp>
        <p:nvGrpSpPr>
          <p:cNvPr id="123" name="Grupo 122">
            <a:extLst>
              <a:ext uri="{FF2B5EF4-FFF2-40B4-BE49-F238E27FC236}">
                <a16:creationId xmlns:a16="http://schemas.microsoft.com/office/drawing/2014/main" id="{BE28504E-6AB8-8027-1918-D1CC3988F0F0}"/>
              </a:ext>
            </a:extLst>
          </p:cNvPr>
          <p:cNvGrpSpPr/>
          <p:nvPr/>
        </p:nvGrpSpPr>
        <p:grpSpPr>
          <a:xfrm>
            <a:off x="5340592" y="2790246"/>
            <a:ext cx="2602288" cy="1933541"/>
            <a:chOff x="5931142" y="3127128"/>
            <a:chExt cx="2602288" cy="1933541"/>
          </a:xfrm>
        </p:grpSpPr>
        <p:grpSp>
          <p:nvGrpSpPr>
            <p:cNvPr id="93" name="Grupo 92">
              <a:extLst>
                <a:ext uri="{FF2B5EF4-FFF2-40B4-BE49-F238E27FC236}">
                  <a16:creationId xmlns:a16="http://schemas.microsoft.com/office/drawing/2014/main" id="{8526A551-569F-84D6-DDDB-0C3B371303FB}"/>
                </a:ext>
              </a:extLst>
            </p:cNvPr>
            <p:cNvGrpSpPr/>
            <p:nvPr/>
          </p:nvGrpSpPr>
          <p:grpSpPr>
            <a:xfrm>
              <a:off x="5931142" y="3127128"/>
              <a:ext cx="2601495" cy="1933541"/>
              <a:chOff x="7590765" y="1110832"/>
              <a:chExt cx="2601495" cy="1780012"/>
            </a:xfrm>
          </p:grpSpPr>
          <p:sp>
            <p:nvSpPr>
              <p:cNvPr id="94" name="Rectángulo 93">
                <a:extLst>
                  <a:ext uri="{FF2B5EF4-FFF2-40B4-BE49-F238E27FC236}">
                    <a16:creationId xmlns:a16="http://schemas.microsoft.com/office/drawing/2014/main" id="{5355F0ED-61CE-E50F-20A8-A0C588ADC4E5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95" name="Grupo 94">
                <a:extLst>
                  <a:ext uri="{FF2B5EF4-FFF2-40B4-BE49-F238E27FC236}">
                    <a16:creationId xmlns:a16="http://schemas.microsoft.com/office/drawing/2014/main" id="{D5F57717-FE67-08DA-27FD-1F86C215BE20}"/>
                  </a:ext>
                </a:extLst>
              </p:cNvPr>
              <p:cNvGrpSpPr/>
              <p:nvPr/>
            </p:nvGrpSpPr>
            <p:grpSpPr>
              <a:xfrm>
                <a:off x="7590765" y="1206227"/>
                <a:ext cx="1922369" cy="1647802"/>
                <a:chOff x="3026344" y="1212927"/>
                <a:chExt cx="1922369" cy="1647802"/>
              </a:xfrm>
            </p:grpSpPr>
            <p:sp>
              <p:nvSpPr>
                <p:cNvPr id="97" name="CuadroTexto 96">
                  <a:extLst>
                    <a:ext uri="{FF2B5EF4-FFF2-40B4-BE49-F238E27FC236}">
                      <a16:creationId xmlns:a16="http://schemas.microsoft.com/office/drawing/2014/main" id="{E8DE8E4F-C392-123E-B454-8B65FF530422}"/>
                    </a:ext>
                  </a:extLst>
                </p:cNvPr>
                <p:cNvSpPr txBox="1"/>
                <p:nvPr/>
              </p:nvSpPr>
              <p:spPr>
                <a:xfrm>
                  <a:off x="4021092" y="1212927"/>
                  <a:ext cx="927621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PAC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98" name="CuadroTexto 97">
                  <a:extLst>
                    <a:ext uri="{FF2B5EF4-FFF2-40B4-BE49-F238E27FC236}">
                      <a16:creationId xmlns:a16="http://schemas.microsoft.com/office/drawing/2014/main" id="{7C6A9B56-958D-627F-C978-6318C2786671}"/>
                    </a:ext>
                  </a:extLst>
                </p:cNvPr>
                <p:cNvSpPr txBox="1"/>
                <p:nvPr/>
              </p:nvSpPr>
              <p:spPr>
                <a:xfrm>
                  <a:off x="3026344" y="2294053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7%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Tres</a:t>
                  </a:r>
                </a:p>
              </p:txBody>
            </p:sp>
          </p:grpSp>
          <p:sp>
            <p:nvSpPr>
              <p:cNvPr id="96" name="CuadroTexto 95">
                <a:extLst>
                  <a:ext uri="{FF2B5EF4-FFF2-40B4-BE49-F238E27FC236}">
                    <a16:creationId xmlns:a16="http://schemas.microsoft.com/office/drawing/2014/main" id="{67F090C0-0BFD-48EE-EE1A-DB1B765971C7}"/>
                  </a:ext>
                </a:extLst>
              </p:cNvPr>
              <p:cNvSpPr txBox="1"/>
              <p:nvPr/>
            </p:nvSpPr>
            <p:spPr>
              <a:xfrm>
                <a:off x="9019351" y="2317778"/>
                <a:ext cx="1172909" cy="566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1%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Cuatro</a:t>
                </a:r>
              </a:p>
            </p:txBody>
          </p:sp>
        </p:grpSp>
        <p:grpSp>
          <p:nvGrpSpPr>
            <p:cNvPr id="121" name="Grupo 120">
              <a:extLst>
                <a:ext uri="{FF2B5EF4-FFF2-40B4-BE49-F238E27FC236}">
                  <a16:creationId xmlns:a16="http://schemas.microsoft.com/office/drawing/2014/main" id="{5B0F98C3-9044-2D00-3C93-17CACD2439A3}"/>
                </a:ext>
              </a:extLst>
            </p:cNvPr>
            <p:cNvGrpSpPr/>
            <p:nvPr/>
          </p:nvGrpSpPr>
          <p:grpSpPr>
            <a:xfrm>
              <a:off x="6649678" y="3565727"/>
              <a:ext cx="1883752" cy="1414028"/>
              <a:chOff x="6649678" y="3565727"/>
              <a:chExt cx="1883752" cy="1414028"/>
            </a:xfrm>
          </p:grpSpPr>
          <p:sp>
            <p:nvSpPr>
              <p:cNvPr id="99" name="CuadroTexto 98">
                <a:extLst>
                  <a:ext uri="{FF2B5EF4-FFF2-40B4-BE49-F238E27FC236}">
                    <a16:creationId xmlns:a16="http://schemas.microsoft.com/office/drawing/2014/main" id="{5BB9E51B-2221-526C-FFC9-689D1ECD9D22}"/>
                  </a:ext>
                </a:extLst>
              </p:cNvPr>
              <p:cNvSpPr txBox="1"/>
              <p:nvPr/>
            </p:nvSpPr>
            <p:spPr>
              <a:xfrm>
                <a:off x="6649678" y="3582408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27%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Uno</a:t>
                </a:r>
              </a:p>
            </p:txBody>
          </p:sp>
          <p:sp>
            <p:nvSpPr>
              <p:cNvPr id="101" name="CuadroTexto 100">
                <a:extLst>
                  <a:ext uri="{FF2B5EF4-FFF2-40B4-BE49-F238E27FC236}">
                    <a16:creationId xmlns:a16="http://schemas.microsoft.com/office/drawing/2014/main" id="{6A00B70F-4E3E-0CA7-C39E-58599FED24B1}"/>
                  </a:ext>
                </a:extLst>
              </p:cNvPr>
              <p:cNvSpPr txBox="1"/>
              <p:nvPr/>
            </p:nvSpPr>
            <p:spPr>
              <a:xfrm>
                <a:off x="7360521" y="3565727"/>
                <a:ext cx="117290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16%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Dos</a:t>
                </a:r>
              </a:p>
            </p:txBody>
          </p:sp>
          <p:pic>
            <p:nvPicPr>
              <p:cNvPr id="118" name="Imagen 117">
                <a:extLst>
                  <a:ext uri="{FF2B5EF4-FFF2-40B4-BE49-F238E27FC236}">
                    <a16:creationId xmlns:a16="http://schemas.microsoft.com/office/drawing/2014/main" id="{36AF604A-E22A-27B6-F05F-60BD289499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artisticPaintStrokes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886925" y="4205951"/>
                <a:ext cx="773804" cy="773804"/>
              </a:xfrm>
              <a:prstGeom prst="rect">
                <a:avLst/>
              </a:prstGeom>
            </p:spPr>
          </p:pic>
        </p:grpSp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6BF35284-9E2B-A58F-26BE-3DC3AF78042A}"/>
              </a:ext>
            </a:extLst>
          </p:cNvPr>
          <p:cNvGrpSpPr/>
          <p:nvPr/>
        </p:nvGrpSpPr>
        <p:grpSpPr>
          <a:xfrm>
            <a:off x="8022470" y="853892"/>
            <a:ext cx="2195988" cy="1780012"/>
            <a:chOff x="7814360" y="1110832"/>
            <a:chExt cx="2195988" cy="1780012"/>
          </a:xfrm>
        </p:grpSpPr>
        <p:grpSp>
          <p:nvGrpSpPr>
            <p:cNvPr id="66" name="Grupo 65">
              <a:extLst>
                <a:ext uri="{FF2B5EF4-FFF2-40B4-BE49-F238E27FC236}">
                  <a16:creationId xmlns:a16="http://schemas.microsoft.com/office/drawing/2014/main" id="{D252B42E-5E0D-3F45-5FFF-1BCB8E056352}"/>
                </a:ext>
              </a:extLst>
            </p:cNvPr>
            <p:cNvGrpSpPr/>
            <p:nvPr/>
          </p:nvGrpSpPr>
          <p:grpSpPr>
            <a:xfrm>
              <a:off x="7814360" y="1110832"/>
              <a:ext cx="2195988" cy="1780012"/>
              <a:chOff x="7814360" y="1110832"/>
              <a:chExt cx="2195988" cy="1780012"/>
            </a:xfrm>
          </p:grpSpPr>
          <p:sp>
            <p:nvSpPr>
              <p:cNvPr id="60" name="Rectángulo 59">
                <a:extLst>
                  <a:ext uri="{FF2B5EF4-FFF2-40B4-BE49-F238E27FC236}">
                    <a16:creationId xmlns:a16="http://schemas.microsoft.com/office/drawing/2014/main" id="{121C3FC4-0848-48EB-DD11-079000305561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61" name="Grupo 60">
                <a:extLst>
                  <a:ext uri="{FF2B5EF4-FFF2-40B4-BE49-F238E27FC236}">
                    <a16:creationId xmlns:a16="http://schemas.microsoft.com/office/drawing/2014/main" id="{EE81C3ED-DEF9-F3D7-C646-5706E6B3243B}"/>
                  </a:ext>
                </a:extLst>
              </p:cNvPr>
              <p:cNvGrpSpPr/>
              <p:nvPr/>
            </p:nvGrpSpPr>
            <p:grpSpPr>
              <a:xfrm>
                <a:off x="7814361" y="1223137"/>
                <a:ext cx="2083693" cy="1630468"/>
                <a:chOff x="3249940" y="1229837"/>
                <a:chExt cx="2083693" cy="1630468"/>
              </a:xfrm>
            </p:grpSpPr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A6246068-E04C-7CBE-3084-6706076FF411}"/>
                    </a:ext>
                  </a:extLst>
                </p:cNvPr>
                <p:cNvSpPr txBox="1"/>
                <p:nvPr/>
              </p:nvSpPr>
              <p:spPr>
                <a:xfrm>
                  <a:off x="3552927" y="1229837"/>
                  <a:ext cx="1780706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Rango Edad</a:t>
                  </a:r>
                  <a:endParaRPr lang="es-ES" sz="160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5193E119-FB58-EEED-599D-2DEB242102B5}"/>
                    </a:ext>
                  </a:extLst>
                </p:cNvPr>
                <p:cNvSpPr txBox="1"/>
                <p:nvPr/>
              </p:nvSpPr>
              <p:spPr>
                <a:xfrm>
                  <a:off x="3249940" y="2306307"/>
                  <a:ext cx="1172909" cy="5539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41</a:t>
                  </a:r>
                  <a:r>
                    <a:rPr lang="es-CO" sz="18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%</a:t>
                  </a:r>
                </a:p>
                <a:p>
                  <a:r>
                    <a:rPr lang="es-CO" sz="1200" b="1" dirty="0">
                      <a:solidFill>
                        <a:schemeClr val="bg1"/>
                      </a:solidFill>
                    </a:rPr>
                    <a:t>20 a 35 años</a:t>
                  </a:r>
                </a:p>
              </p:txBody>
            </p:sp>
          </p:grpSp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2CE4DDAD-1FE5-DA2D-9D58-136A75B6535E}"/>
                  </a:ext>
                </a:extLst>
              </p:cNvPr>
              <p:cNvSpPr txBox="1"/>
              <p:nvPr/>
            </p:nvSpPr>
            <p:spPr>
              <a:xfrm>
                <a:off x="8837439" y="2289285"/>
                <a:ext cx="117290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31</a:t>
                </a:r>
                <a:r>
                  <a:rPr lang="es-CO" sz="18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%</a:t>
                </a:r>
              </a:p>
              <a:p>
                <a:r>
                  <a:rPr lang="es-CO" sz="1200" b="1" dirty="0">
                    <a:solidFill>
                      <a:schemeClr val="bg1"/>
                    </a:solidFill>
                  </a:rPr>
                  <a:t>36 a 45 años</a:t>
                </a:r>
              </a:p>
            </p:txBody>
          </p:sp>
        </p:grpSp>
        <p:pic>
          <p:nvPicPr>
            <p:cNvPr id="128" name="Imagen 127">
              <a:extLst>
                <a:ext uri="{FF2B5EF4-FFF2-40B4-BE49-F238E27FC236}">
                  <a16:creationId xmlns:a16="http://schemas.microsoft.com/office/drawing/2014/main" id="{52B0B859-D850-132E-8DAC-11A31477A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517644" y="1602912"/>
              <a:ext cx="655473" cy="655473"/>
            </a:xfrm>
            <a:prstGeom prst="rect">
              <a:avLst/>
            </a:prstGeom>
          </p:spPr>
        </p:pic>
      </p:grpSp>
      <p:grpSp>
        <p:nvGrpSpPr>
          <p:cNvPr id="189" name="Grupo 188">
            <a:extLst>
              <a:ext uri="{FF2B5EF4-FFF2-40B4-BE49-F238E27FC236}">
                <a16:creationId xmlns:a16="http://schemas.microsoft.com/office/drawing/2014/main" id="{1FB55409-1F81-47CA-1641-19F9562A3B7B}"/>
              </a:ext>
            </a:extLst>
          </p:cNvPr>
          <p:cNvGrpSpPr/>
          <p:nvPr/>
        </p:nvGrpSpPr>
        <p:grpSpPr>
          <a:xfrm>
            <a:off x="-114768" y="4837223"/>
            <a:ext cx="3758502" cy="1933541"/>
            <a:chOff x="435340" y="4837223"/>
            <a:chExt cx="4854517" cy="1933541"/>
          </a:xfrm>
        </p:grpSpPr>
        <p:grpSp>
          <p:nvGrpSpPr>
            <p:cNvPr id="138" name="Grupo 137">
              <a:extLst>
                <a:ext uri="{FF2B5EF4-FFF2-40B4-BE49-F238E27FC236}">
                  <a16:creationId xmlns:a16="http://schemas.microsoft.com/office/drawing/2014/main" id="{FD114733-4C84-A549-9978-C618A7F595E2}"/>
                </a:ext>
              </a:extLst>
            </p:cNvPr>
            <p:cNvGrpSpPr/>
            <p:nvPr/>
          </p:nvGrpSpPr>
          <p:grpSpPr>
            <a:xfrm>
              <a:off x="435340" y="4837223"/>
              <a:ext cx="4854517" cy="1933541"/>
              <a:chOff x="9135236" y="3127128"/>
              <a:chExt cx="3830051" cy="1933541"/>
            </a:xfrm>
          </p:grpSpPr>
          <p:grpSp>
            <p:nvGrpSpPr>
              <p:cNvPr id="139" name="Grupo 138">
                <a:extLst>
                  <a:ext uri="{FF2B5EF4-FFF2-40B4-BE49-F238E27FC236}">
                    <a16:creationId xmlns:a16="http://schemas.microsoft.com/office/drawing/2014/main" id="{E6A0C820-78C4-4C57-2DA1-3582A89A18FB}"/>
                  </a:ext>
                </a:extLst>
              </p:cNvPr>
              <p:cNvGrpSpPr/>
              <p:nvPr/>
            </p:nvGrpSpPr>
            <p:grpSpPr>
              <a:xfrm>
                <a:off x="9229918" y="3127128"/>
                <a:ext cx="3735369" cy="1933541"/>
                <a:chOff x="7739695" y="1110832"/>
                <a:chExt cx="3735369" cy="1780012"/>
              </a:xfrm>
            </p:grpSpPr>
            <p:sp>
              <p:nvSpPr>
                <p:cNvPr id="143" name="Rectángulo 142">
                  <a:extLst>
                    <a:ext uri="{FF2B5EF4-FFF2-40B4-BE49-F238E27FC236}">
                      <a16:creationId xmlns:a16="http://schemas.microsoft.com/office/drawing/2014/main" id="{C42FED09-A84A-60A4-5419-FE42C20C9EFE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3246650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44" name="Grupo 143">
                  <a:extLst>
                    <a:ext uri="{FF2B5EF4-FFF2-40B4-BE49-F238E27FC236}">
                      <a16:creationId xmlns:a16="http://schemas.microsoft.com/office/drawing/2014/main" id="{A367AECF-2C4B-ACD0-2A99-622F458AAA4E}"/>
                    </a:ext>
                  </a:extLst>
                </p:cNvPr>
                <p:cNvGrpSpPr/>
                <p:nvPr/>
              </p:nvGrpSpPr>
              <p:grpSpPr>
                <a:xfrm>
                  <a:off x="7739695" y="1236316"/>
                  <a:ext cx="3735369" cy="1532075"/>
                  <a:chOff x="3175274" y="1243016"/>
                  <a:chExt cx="3735369" cy="1532075"/>
                </a:xfrm>
              </p:grpSpPr>
              <p:sp>
                <p:nvSpPr>
                  <p:cNvPr id="146" name="CuadroTexto 145">
                    <a:extLst>
                      <a:ext uri="{FF2B5EF4-FFF2-40B4-BE49-F238E27FC236}">
                        <a16:creationId xmlns:a16="http://schemas.microsoft.com/office/drawing/2014/main" id="{6AF0AFBD-23D1-F39D-8BCF-41AE50776D69}"/>
                      </a:ext>
                    </a:extLst>
                  </p:cNvPr>
                  <p:cNvSpPr txBox="1"/>
                  <p:nvPr/>
                </p:nvSpPr>
                <p:spPr>
                  <a:xfrm>
                    <a:off x="3854322" y="1243016"/>
                    <a:ext cx="3056321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Segmento Empresas</a:t>
                    </a:r>
                    <a:endParaRPr lang="es-ES" sz="160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47" name="CuadroTexto 146">
                    <a:extLst>
                      <a:ext uri="{FF2B5EF4-FFF2-40B4-BE49-F238E27FC236}">
                        <a16:creationId xmlns:a16="http://schemas.microsoft.com/office/drawing/2014/main" id="{65050B1E-B50F-03E1-CC73-2ECE662FD682}"/>
                      </a:ext>
                    </a:extLst>
                  </p:cNvPr>
                  <p:cNvSpPr txBox="1"/>
                  <p:nvPr/>
                </p:nvSpPr>
                <p:spPr>
                  <a:xfrm>
                    <a:off x="3175274" y="2208415"/>
                    <a:ext cx="1945898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17%</a:t>
                    </a:r>
                    <a:endParaRPr lang="es-CO" sz="1400" b="1" dirty="0">
                      <a:solidFill>
                        <a:schemeClr val="bg1"/>
                      </a:solidFill>
                    </a:endParaRP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Medianas</a:t>
                    </a:r>
                  </a:p>
                </p:txBody>
              </p:sp>
            </p:grpSp>
            <p:sp>
              <p:nvSpPr>
                <p:cNvPr id="145" name="CuadroTexto 144">
                  <a:extLst>
                    <a:ext uri="{FF2B5EF4-FFF2-40B4-BE49-F238E27FC236}">
                      <a16:creationId xmlns:a16="http://schemas.microsoft.com/office/drawing/2014/main" id="{E5F07EAF-7891-BF2A-BC2F-4C708DC3BCF4}"/>
                    </a:ext>
                  </a:extLst>
                </p:cNvPr>
                <p:cNvSpPr txBox="1"/>
                <p:nvPr/>
              </p:nvSpPr>
              <p:spPr>
                <a:xfrm>
                  <a:off x="9864249" y="1523867"/>
                  <a:ext cx="1172909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 23%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Grandes</a:t>
                  </a:r>
                </a:p>
              </p:txBody>
            </p:sp>
          </p:grpSp>
          <p:sp>
            <p:nvSpPr>
              <p:cNvPr id="140" name="CuadroTexto 139">
                <a:extLst>
                  <a:ext uri="{FF2B5EF4-FFF2-40B4-BE49-F238E27FC236}">
                    <a16:creationId xmlns:a16="http://schemas.microsoft.com/office/drawing/2014/main" id="{F7B8788F-BB82-48F8-81E5-4E09B83322CB}"/>
                  </a:ext>
                </a:extLst>
              </p:cNvPr>
              <p:cNvSpPr txBox="1"/>
              <p:nvPr/>
            </p:nvSpPr>
            <p:spPr>
              <a:xfrm>
                <a:off x="9135236" y="3565727"/>
                <a:ext cx="145027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9%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</a:t>
                </a:r>
                <a:r>
                  <a:rPr lang="es-CO" sz="1400" b="1" dirty="0" err="1">
                    <a:solidFill>
                      <a:schemeClr val="bg1"/>
                    </a:solidFill>
                  </a:rPr>
                  <a:t>Emp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Top</a:t>
                </a:r>
              </a:p>
            </p:txBody>
          </p:sp>
          <p:sp>
            <p:nvSpPr>
              <p:cNvPr id="141" name="CuadroTexto 140">
                <a:extLst>
                  <a:ext uri="{FF2B5EF4-FFF2-40B4-BE49-F238E27FC236}">
                    <a16:creationId xmlns:a16="http://schemas.microsoft.com/office/drawing/2014/main" id="{1ECA750D-8CE9-A809-1138-1435E60867ED}"/>
                  </a:ext>
                </a:extLst>
              </p:cNvPr>
              <p:cNvSpPr txBox="1"/>
              <p:nvPr/>
            </p:nvSpPr>
            <p:spPr>
              <a:xfrm>
                <a:off x="10055645" y="3580594"/>
                <a:ext cx="152651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     45%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     Micro    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Transaccional</a:t>
                </a:r>
              </a:p>
            </p:txBody>
          </p:sp>
        </p:grpSp>
        <p:pic>
          <p:nvPicPr>
            <p:cNvPr id="149" name="Imagen 148">
              <a:extLst>
                <a:ext uri="{FF2B5EF4-FFF2-40B4-BE49-F238E27FC236}">
                  <a16:creationId xmlns:a16="http://schemas.microsoft.com/office/drawing/2014/main" id="{DCE34F25-E716-FEA9-637B-944686CE78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325932" y="6027593"/>
              <a:ext cx="677562" cy="677562"/>
            </a:xfrm>
            <a:prstGeom prst="rect">
              <a:avLst/>
            </a:prstGeom>
          </p:spPr>
        </p:pic>
      </p:grp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C92C9F13-04C5-4352-A0E0-9AAF18A56A4B}"/>
              </a:ext>
            </a:extLst>
          </p:cNvPr>
          <p:cNvSpPr txBox="1"/>
          <p:nvPr/>
        </p:nvSpPr>
        <p:spPr>
          <a:xfrm>
            <a:off x="2093411" y="5976448"/>
            <a:ext cx="128594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4%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  Estándar</a:t>
            </a:r>
          </a:p>
        </p:txBody>
      </p:sp>
      <p:grpSp>
        <p:nvGrpSpPr>
          <p:cNvPr id="151" name="Grupo 150">
            <a:extLst>
              <a:ext uri="{FF2B5EF4-FFF2-40B4-BE49-F238E27FC236}">
                <a16:creationId xmlns:a16="http://schemas.microsoft.com/office/drawing/2014/main" id="{00EC451A-8BC9-2C00-52C0-AE802BA8D3D4}"/>
              </a:ext>
            </a:extLst>
          </p:cNvPr>
          <p:cNvGrpSpPr/>
          <p:nvPr/>
        </p:nvGrpSpPr>
        <p:grpSpPr>
          <a:xfrm>
            <a:off x="3041036" y="4852302"/>
            <a:ext cx="2475954" cy="1933541"/>
            <a:chOff x="9024616" y="3127128"/>
            <a:chExt cx="2475954" cy="1933541"/>
          </a:xfrm>
        </p:grpSpPr>
        <p:grpSp>
          <p:nvGrpSpPr>
            <p:cNvPr id="152" name="Grupo 151">
              <a:extLst>
                <a:ext uri="{FF2B5EF4-FFF2-40B4-BE49-F238E27FC236}">
                  <a16:creationId xmlns:a16="http://schemas.microsoft.com/office/drawing/2014/main" id="{76675DFA-8698-E7DB-C186-C2E52754AC29}"/>
                </a:ext>
              </a:extLst>
            </p:cNvPr>
            <p:cNvGrpSpPr/>
            <p:nvPr/>
          </p:nvGrpSpPr>
          <p:grpSpPr>
            <a:xfrm>
              <a:off x="9024616" y="3127128"/>
              <a:ext cx="2475954" cy="1933541"/>
              <a:chOff x="7534393" y="1110832"/>
              <a:chExt cx="2475954" cy="1780012"/>
            </a:xfrm>
          </p:grpSpPr>
          <p:sp>
            <p:nvSpPr>
              <p:cNvPr id="157" name="Rectángulo 156">
                <a:extLst>
                  <a:ext uri="{FF2B5EF4-FFF2-40B4-BE49-F238E27FC236}">
                    <a16:creationId xmlns:a16="http://schemas.microsoft.com/office/drawing/2014/main" id="{B664AC17-7E2F-6DA5-B3E8-37113B86872D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195987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grpSp>
            <p:nvGrpSpPr>
              <p:cNvPr id="158" name="Grupo 157">
                <a:extLst>
                  <a:ext uri="{FF2B5EF4-FFF2-40B4-BE49-F238E27FC236}">
                    <a16:creationId xmlns:a16="http://schemas.microsoft.com/office/drawing/2014/main" id="{CC55E1E6-2301-FD3B-A651-B9281865B01A}"/>
                  </a:ext>
                </a:extLst>
              </p:cNvPr>
              <p:cNvGrpSpPr/>
              <p:nvPr/>
            </p:nvGrpSpPr>
            <p:grpSpPr>
              <a:xfrm>
                <a:off x="7534393" y="1206227"/>
                <a:ext cx="2388623" cy="1388251"/>
                <a:chOff x="2969972" y="1212927"/>
                <a:chExt cx="2388623" cy="1388251"/>
              </a:xfrm>
            </p:grpSpPr>
            <p:sp>
              <p:nvSpPr>
                <p:cNvPr id="160" name="CuadroTexto 159">
                  <a:extLst>
                    <a:ext uri="{FF2B5EF4-FFF2-40B4-BE49-F238E27FC236}">
                      <a16:creationId xmlns:a16="http://schemas.microsoft.com/office/drawing/2014/main" id="{4120C67B-8574-3676-0E6E-D35E9B13E5BB}"/>
                    </a:ext>
                  </a:extLst>
                </p:cNvPr>
                <p:cNvSpPr txBox="1"/>
                <p:nvPr/>
              </p:nvSpPr>
              <p:spPr>
                <a:xfrm>
                  <a:off x="3408991" y="1212927"/>
                  <a:ext cx="1949604" cy="3116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1600" dirty="0">
                      <a:solidFill>
                        <a:srgbClr val="FFC000"/>
                      </a:solidFill>
                      <a:latin typeface="KG Red Hands" panose="02000505000000020004" pitchFamily="2" charset="0"/>
                    </a:rPr>
                    <a:t>Departamento</a:t>
                  </a:r>
                  <a:endParaRPr lang="es-ES" sz="1600" dirty="0">
                    <a:solidFill>
                      <a:srgbClr val="FFC000"/>
                    </a:solidFill>
                  </a:endParaRPr>
                </a:p>
              </p:txBody>
            </p:sp>
            <p:sp>
              <p:nvSpPr>
                <p:cNvPr id="161" name="CuadroTexto 160">
                  <a:extLst>
                    <a:ext uri="{FF2B5EF4-FFF2-40B4-BE49-F238E27FC236}">
                      <a16:creationId xmlns:a16="http://schemas.microsoft.com/office/drawing/2014/main" id="{D94FA4ED-98CA-9D67-5EA0-14451B132788}"/>
                    </a:ext>
                  </a:extLst>
                </p:cNvPr>
                <p:cNvSpPr txBox="1"/>
                <p:nvPr/>
              </p:nvSpPr>
              <p:spPr>
                <a:xfrm>
                  <a:off x="2969972" y="2034502"/>
                  <a:ext cx="1411846" cy="5666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CO" sz="2000" b="1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        2%</a:t>
                  </a:r>
                </a:p>
                <a:p>
                  <a:r>
                    <a:rPr lang="es-CO" sz="1400" b="1" dirty="0">
                      <a:solidFill>
                        <a:schemeClr val="bg1"/>
                      </a:solidFill>
                    </a:rPr>
                    <a:t>         Soacha</a:t>
                  </a:r>
                </a:p>
              </p:txBody>
            </p:sp>
          </p:grpSp>
        </p:grpSp>
        <p:sp>
          <p:nvSpPr>
            <p:cNvPr id="154" name="CuadroTexto 153">
              <a:extLst>
                <a:ext uri="{FF2B5EF4-FFF2-40B4-BE49-F238E27FC236}">
                  <a16:creationId xmlns:a16="http://schemas.microsoft.com/office/drawing/2014/main" id="{9375C1C8-0CF4-8D15-967C-FE0D8862EFE9}"/>
                </a:ext>
              </a:extLst>
            </p:cNvPr>
            <p:cNvSpPr txBox="1"/>
            <p:nvPr/>
          </p:nvSpPr>
          <p:spPr>
            <a:xfrm>
              <a:off x="9059295" y="3565727"/>
              <a:ext cx="1218662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3%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Girardot</a:t>
              </a:r>
            </a:p>
          </p:txBody>
        </p:sp>
        <p:sp>
          <p:nvSpPr>
            <p:cNvPr id="155" name="CuadroTexto 154">
              <a:extLst>
                <a:ext uri="{FF2B5EF4-FFF2-40B4-BE49-F238E27FC236}">
                  <a16:creationId xmlns:a16="http://schemas.microsoft.com/office/drawing/2014/main" id="{D8B3E1F0-38F1-8F25-2500-D8F490D7CBAA}"/>
                </a:ext>
              </a:extLst>
            </p:cNvPr>
            <p:cNvSpPr txBox="1"/>
            <p:nvPr/>
          </p:nvSpPr>
          <p:spPr>
            <a:xfrm>
              <a:off x="10219600" y="3565504"/>
              <a:ext cx="1160334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50%</a:t>
              </a:r>
              <a:r>
                <a:rPr lang="es-CO" sz="1400" b="1" dirty="0">
                  <a:solidFill>
                    <a:schemeClr val="bg1"/>
                  </a:solidFill>
                </a:rPr>
                <a:t>     </a:t>
              </a:r>
              <a:r>
                <a:rPr lang="es-CO" sz="1400" b="1" dirty="0" err="1">
                  <a:solidFill>
                    <a:schemeClr val="bg1"/>
                  </a:solidFill>
                </a:rPr>
                <a:t>Bogota</a:t>
              </a:r>
              <a:endParaRPr lang="es-CO" sz="1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01" name="Grupo 200">
            <a:extLst>
              <a:ext uri="{FF2B5EF4-FFF2-40B4-BE49-F238E27FC236}">
                <a16:creationId xmlns:a16="http://schemas.microsoft.com/office/drawing/2014/main" id="{9F2F43E9-B090-BA23-FB0C-37A3EC5A07A1}"/>
              </a:ext>
            </a:extLst>
          </p:cNvPr>
          <p:cNvGrpSpPr/>
          <p:nvPr/>
        </p:nvGrpSpPr>
        <p:grpSpPr>
          <a:xfrm>
            <a:off x="5407406" y="4842106"/>
            <a:ext cx="2693579" cy="1985915"/>
            <a:chOff x="5483606" y="4842106"/>
            <a:chExt cx="2693579" cy="1985915"/>
          </a:xfrm>
        </p:grpSpPr>
        <p:grpSp>
          <p:nvGrpSpPr>
            <p:cNvPr id="164" name="Grupo 163">
              <a:extLst>
                <a:ext uri="{FF2B5EF4-FFF2-40B4-BE49-F238E27FC236}">
                  <a16:creationId xmlns:a16="http://schemas.microsoft.com/office/drawing/2014/main" id="{4A124BEB-6FB1-5313-3252-45353A88B113}"/>
                </a:ext>
              </a:extLst>
            </p:cNvPr>
            <p:cNvGrpSpPr/>
            <p:nvPr/>
          </p:nvGrpSpPr>
          <p:grpSpPr>
            <a:xfrm>
              <a:off x="5483606" y="4842106"/>
              <a:ext cx="2693579" cy="1957609"/>
              <a:chOff x="9049330" y="3127128"/>
              <a:chExt cx="2693579" cy="1957609"/>
            </a:xfrm>
          </p:grpSpPr>
          <p:grpSp>
            <p:nvGrpSpPr>
              <p:cNvPr id="165" name="Grupo 164">
                <a:extLst>
                  <a:ext uri="{FF2B5EF4-FFF2-40B4-BE49-F238E27FC236}">
                    <a16:creationId xmlns:a16="http://schemas.microsoft.com/office/drawing/2014/main" id="{AFE9895B-B21A-7E74-1371-C8EE4C438C02}"/>
                  </a:ext>
                </a:extLst>
              </p:cNvPr>
              <p:cNvGrpSpPr/>
              <p:nvPr/>
            </p:nvGrpSpPr>
            <p:grpSpPr>
              <a:xfrm>
                <a:off x="9049330" y="3127128"/>
                <a:ext cx="2655911" cy="1957609"/>
                <a:chOff x="7559107" y="1110832"/>
                <a:chExt cx="2655911" cy="1802169"/>
              </a:xfrm>
            </p:grpSpPr>
            <p:sp>
              <p:nvSpPr>
                <p:cNvPr id="168" name="Rectángulo 167">
                  <a:extLst>
                    <a:ext uri="{FF2B5EF4-FFF2-40B4-BE49-F238E27FC236}">
                      <a16:creationId xmlns:a16="http://schemas.microsoft.com/office/drawing/2014/main" id="{51607880-B53F-7E71-4ABB-858F8C0E033C}"/>
                    </a:ext>
                  </a:extLst>
                </p:cNvPr>
                <p:cNvSpPr/>
                <p:nvPr/>
              </p:nvSpPr>
              <p:spPr>
                <a:xfrm>
                  <a:off x="7814360" y="1110832"/>
                  <a:ext cx="2195987" cy="1780012"/>
                </a:xfrm>
                <a:prstGeom prst="rect">
                  <a:avLst/>
                </a:prstGeom>
                <a:no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grpSp>
              <p:nvGrpSpPr>
                <p:cNvPr id="170" name="Grupo 169">
                  <a:extLst>
                    <a:ext uri="{FF2B5EF4-FFF2-40B4-BE49-F238E27FC236}">
                      <a16:creationId xmlns:a16="http://schemas.microsoft.com/office/drawing/2014/main" id="{ED323C95-70D3-924A-5B3D-339421915DCD}"/>
                    </a:ext>
                  </a:extLst>
                </p:cNvPr>
                <p:cNvGrpSpPr/>
                <p:nvPr/>
              </p:nvGrpSpPr>
              <p:grpSpPr>
                <a:xfrm>
                  <a:off x="7559107" y="1207829"/>
                  <a:ext cx="2655911" cy="1705172"/>
                  <a:chOff x="2994686" y="1214529"/>
                  <a:chExt cx="2655911" cy="1705172"/>
                </a:xfrm>
              </p:grpSpPr>
              <p:sp>
                <p:nvSpPr>
                  <p:cNvPr id="171" name="CuadroTexto 170">
                    <a:extLst>
                      <a:ext uri="{FF2B5EF4-FFF2-40B4-BE49-F238E27FC236}">
                        <a16:creationId xmlns:a16="http://schemas.microsoft.com/office/drawing/2014/main" id="{AF36936D-1F01-F28A-9909-34956DE68DA5}"/>
                      </a:ext>
                    </a:extLst>
                  </p:cNvPr>
                  <p:cNvSpPr txBox="1"/>
                  <p:nvPr/>
                </p:nvSpPr>
                <p:spPr>
                  <a:xfrm>
                    <a:off x="3700993" y="1214529"/>
                    <a:ext cx="1949604" cy="31167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1600" dirty="0">
                        <a:solidFill>
                          <a:srgbClr val="FFC000"/>
                        </a:solidFill>
                        <a:latin typeface="KG Red Hands" panose="02000505000000020004" pitchFamily="2" charset="0"/>
                      </a:rPr>
                      <a:t>Localidad</a:t>
                    </a:r>
                    <a:endParaRPr lang="es-ES" sz="1600" dirty="0">
                      <a:solidFill>
                        <a:srgbClr val="FFC000"/>
                      </a:solidFill>
                    </a:endParaRPr>
                  </a:p>
                </p:txBody>
              </p:sp>
              <p:sp>
                <p:nvSpPr>
                  <p:cNvPr id="172" name="CuadroTexto 171">
                    <a:extLst>
                      <a:ext uri="{FF2B5EF4-FFF2-40B4-BE49-F238E27FC236}">
                        <a16:creationId xmlns:a16="http://schemas.microsoft.com/office/drawing/2014/main" id="{EB2C5085-4B89-69A8-DF6A-49FBD2B9A199}"/>
                      </a:ext>
                    </a:extLst>
                  </p:cNvPr>
                  <p:cNvSpPr txBox="1"/>
                  <p:nvPr/>
                </p:nvSpPr>
                <p:spPr>
                  <a:xfrm>
                    <a:off x="2994686" y="2353025"/>
                    <a:ext cx="1323041" cy="566676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s-CO" sz="2000" b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rPr>
                      <a:t>         1%</a:t>
                    </a:r>
                  </a:p>
                  <a:p>
                    <a:r>
                      <a:rPr lang="es-CO" sz="1400" b="1" dirty="0">
                        <a:solidFill>
                          <a:schemeClr val="bg1"/>
                        </a:solidFill>
                      </a:rPr>
                      <a:t>         </a:t>
                    </a:r>
                    <a:r>
                      <a:rPr lang="es-CO" sz="1400" b="1" dirty="0" err="1">
                        <a:solidFill>
                          <a:schemeClr val="bg1"/>
                        </a:solidFill>
                      </a:rPr>
                      <a:t>Kenedy</a:t>
                    </a:r>
                    <a:endParaRPr lang="es-CO" sz="14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</p:grpSp>
          <p:sp>
            <p:nvSpPr>
              <p:cNvPr id="166" name="CuadroTexto 165">
                <a:extLst>
                  <a:ext uri="{FF2B5EF4-FFF2-40B4-BE49-F238E27FC236}">
                    <a16:creationId xmlns:a16="http://schemas.microsoft.com/office/drawing/2014/main" id="{1D4E0454-A7A7-564B-44DA-2E4778342732}"/>
                  </a:ext>
                </a:extLst>
              </p:cNvPr>
              <p:cNvSpPr txBox="1"/>
              <p:nvPr/>
            </p:nvSpPr>
            <p:spPr>
              <a:xfrm>
                <a:off x="9059295" y="3565727"/>
                <a:ext cx="1285949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   6%</a:t>
                </a:r>
              </a:p>
              <a:p>
                <a:r>
                  <a:rPr lang="es-CO" sz="1400" b="1" dirty="0">
                    <a:solidFill>
                      <a:schemeClr val="bg1"/>
                    </a:solidFill>
                  </a:rPr>
                  <a:t>         Kennedy</a:t>
                </a:r>
              </a:p>
            </p:txBody>
          </p:sp>
          <p:sp>
            <p:nvSpPr>
              <p:cNvPr id="167" name="CuadroTexto 166">
                <a:extLst>
                  <a:ext uri="{FF2B5EF4-FFF2-40B4-BE49-F238E27FC236}">
                    <a16:creationId xmlns:a16="http://schemas.microsoft.com/office/drawing/2014/main" id="{24F1451A-6A0A-82E5-6198-91CC980FC51C}"/>
                  </a:ext>
                </a:extLst>
              </p:cNvPr>
              <p:cNvSpPr txBox="1"/>
              <p:nvPr/>
            </p:nvSpPr>
            <p:spPr>
              <a:xfrm>
                <a:off x="10498522" y="3549824"/>
                <a:ext cx="1244387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   6%</a:t>
                </a:r>
                <a:r>
                  <a:rPr lang="es-CO" sz="1400" b="1" dirty="0">
                    <a:solidFill>
                      <a:schemeClr val="bg1"/>
                    </a:solidFill>
                  </a:rPr>
                  <a:t>             </a:t>
                </a:r>
                <a:r>
                  <a:rPr lang="es-CO" sz="1400" b="1" dirty="0" err="1">
                    <a:solidFill>
                      <a:schemeClr val="bg1"/>
                    </a:solidFill>
                  </a:rPr>
                  <a:t>Engativa</a:t>
                </a:r>
                <a:endParaRPr lang="es-CO" sz="14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85" name="CuadroTexto 184">
              <a:extLst>
                <a:ext uri="{FF2B5EF4-FFF2-40B4-BE49-F238E27FC236}">
                  <a16:creationId xmlns:a16="http://schemas.microsoft.com/office/drawing/2014/main" id="{229EBD1D-707C-26E6-FB5E-37604A5A615C}"/>
                </a:ext>
              </a:extLst>
            </p:cNvPr>
            <p:cNvSpPr txBox="1"/>
            <p:nvPr/>
          </p:nvSpPr>
          <p:spPr>
            <a:xfrm>
              <a:off x="6625166" y="6212468"/>
              <a:ext cx="1323041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   60%</a:t>
              </a:r>
            </a:p>
            <a:p>
              <a:r>
                <a:rPr lang="es-CO" sz="1400" b="1" dirty="0">
                  <a:solidFill>
                    <a:schemeClr val="bg1"/>
                  </a:solidFill>
                </a:rPr>
                <a:t>           Sin </a:t>
              </a:r>
              <a:r>
                <a:rPr lang="es-CO" sz="1400" b="1" dirty="0" err="1">
                  <a:solidFill>
                    <a:schemeClr val="bg1"/>
                  </a:solidFill>
                </a:rPr>
                <a:t>Infor</a:t>
              </a:r>
              <a:endParaRPr lang="es-CO" sz="1400" b="1" dirty="0">
                <a:solidFill>
                  <a:schemeClr val="bg1"/>
                </a:solidFill>
              </a:endParaRPr>
            </a:p>
          </p:txBody>
        </p:sp>
        <p:pic>
          <p:nvPicPr>
            <p:cNvPr id="187" name="Imagen 186">
              <a:extLst>
                <a:ext uri="{FF2B5EF4-FFF2-40B4-BE49-F238E27FC236}">
                  <a16:creationId xmlns:a16="http://schemas.microsoft.com/office/drawing/2014/main" id="{D4E33497-9659-90C7-983A-DD1E2255E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6401571" y="5793688"/>
              <a:ext cx="1266970" cy="620378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grpSp>
        <p:nvGrpSpPr>
          <p:cNvPr id="190" name="Grupo 189">
            <a:extLst>
              <a:ext uri="{FF2B5EF4-FFF2-40B4-BE49-F238E27FC236}">
                <a16:creationId xmlns:a16="http://schemas.microsoft.com/office/drawing/2014/main" id="{BAA9C8A1-9426-4308-0108-C638565668D6}"/>
              </a:ext>
            </a:extLst>
          </p:cNvPr>
          <p:cNvGrpSpPr/>
          <p:nvPr/>
        </p:nvGrpSpPr>
        <p:grpSpPr>
          <a:xfrm>
            <a:off x="7930968" y="4834201"/>
            <a:ext cx="2464776" cy="1933541"/>
            <a:chOff x="9267841" y="3127128"/>
            <a:chExt cx="2586590" cy="1933541"/>
          </a:xfrm>
        </p:grpSpPr>
        <p:grpSp>
          <p:nvGrpSpPr>
            <p:cNvPr id="191" name="Grupo 190">
              <a:extLst>
                <a:ext uri="{FF2B5EF4-FFF2-40B4-BE49-F238E27FC236}">
                  <a16:creationId xmlns:a16="http://schemas.microsoft.com/office/drawing/2014/main" id="{624D5DE7-ABCA-EF27-723E-7B8AD520F48F}"/>
                </a:ext>
              </a:extLst>
            </p:cNvPr>
            <p:cNvGrpSpPr/>
            <p:nvPr/>
          </p:nvGrpSpPr>
          <p:grpSpPr>
            <a:xfrm>
              <a:off x="9280641" y="3127128"/>
              <a:ext cx="2573790" cy="1933541"/>
              <a:chOff x="7790418" y="1110832"/>
              <a:chExt cx="2573790" cy="1780012"/>
            </a:xfrm>
          </p:grpSpPr>
          <p:sp>
            <p:nvSpPr>
              <p:cNvPr id="194" name="Rectángulo 193">
                <a:extLst>
                  <a:ext uri="{FF2B5EF4-FFF2-40B4-BE49-F238E27FC236}">
                    <a16:creationId xmlns:a16="http://schemas.microsoft.com/office/drawing/2014/main" id="{036A2BE3-6EBD-81FC-4D40-6955E4254E10}"/>
                  </a:ext>
                </a:extLst>
              </p:cNvPr>
              <p:cNvSpPr/>
              <p:nvPr/>
            </p:nvSpPr>
            <p:spPr>
              <a:xfrm>
                <a:off x="7814360" y="1110832"/>
                <a:ext cx="2368574" cy="1780012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97" name="CuadroTexto 196">
                <a:extLst>
                  <a:ext uri="{FF2B5EF4-FFF2-40B4-BE49-F238E27FC236}">
                    <a16:creationId xmlns:a16="http://schemas.microsoft.com/office/drawing/2014/main" id="{77895A26-6D58-8C4B-1509-375DFDBCC4BF}"/>
                  </a:ext>
                </a:extLst>
              </p:cNvPr>
              <p:cNvSpPr txBox="1"/>
              <p:nvPr/>
            </p:nvSpPr>
            <p:spPr>
              <a:xfrm>
                <a:off x="7790418" y="1207828"/>
                <a:ext cx="2573790" cy="3116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CO" sz="1600">
                    <a:solidFill>
                      <a:srgbClr val="FFC000"/>
                    </a:solidFill>
                    <a:latin typeface="KG Red Hands" panose="02000505000000020004" pitchFamily="2" charset="0"/>
                  </a:rPr>
                  <a:t>Entidad Financieras</a:t>
                </a:r>
                <a:endParaRPr lang="es-ES" sz="1600">
                  <a:solidFill>
                    <a:srgbClr val="FFC000"/>
                  </a:solidFill>
                </a:endParaRPr>
              </a:p>
            </p:txBody>
          </p:sp>
        </p:grpSp>
        <p:sp>
          <p:nvSpPr>
            <p:cNvPr id="192" name="CuadroTexto 191">
              <a:extLst>
                <a:ext uri="{FF2B5EF4-FFF2-40B4-BE49-F238E27FC236}">
                  <a16:creationId xmlns:a16="http://schemas.microsoft.com/office/drawing/2014/main" id="{08194C15-D7CF-B729-E0E9-96E2A233231D}"/>
                </a:ext>
              </a:extLst>
            </p:cNvPr>
            <p:cNvSpPr txBox="1"/>
            <p:nvPr/>
          </p:nvSpPr>
          <p:spPr>
            <a:xfrm>
              <a:off x="9267841" y="3565727"/>
              <a:ext cx="1337256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28%</a:t>
              </a:r>
              <a:r>
                <a:rPr lang="es-CO" sz="1400" b="1" dirty="0">
                  <a:solidFill>
                    <a:schemeClr val="bg1"/>
                  </a:solidFill>
                </a:rPr>
                <a:t>          Colsubsidio</a:t>
              </a:r>
            </a:p>
          </p:txBody>
        </p:sp>
        <p:sp>
          <p:nvSpPr>
            <p:cNvPr id="193" name="CuadroTexto 192">
              <a:extLst>
                <a:ext uri="{FF2B5EF4-FFF2-40B4-BE49-F238E27FC236}">
                  <a16:creationId xmlns:a16="http://schemas.microsoft.com/office/drawing/2014/main" id="{9D209C3B-3AE2-2A59-4F87-0E5CA2B4E8FC}"/>
                </a:ext>
              </a:extLst>
            </p:cNvPr>
            <p:cNvSpPr txBox="1"/>
            <p:nvPr/>
          </p:nvSpPr>
          <p:spPr>
            <a:xfrm>
              <a:off x="10498522" y="3549824"/>
              <a:ext cx="1244387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20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     23%</a:t>
              </a:r>
              <a:r>
                <a:rPr lang="es-CO" sz="1400" b="1" dirty="0">
                  <a:solidFill>
                    <a:schemeClr val="bg1"/>
                  </a:solidFill>
                </a:rPr>
                <a:t>             B </a:t>
              </a:r>
              <a:r>
                <a:rPr lang="es-CO" sz="1400" b="1" dirty="0" err="1">
                  <a:solidFill>
                    <a:schemeClr val="bg1"/>
                  </a:solidFill>
                </a:rPr>
                <a:t>Bogota</a:t>
              </a:r>
              <a:endParaRPr lang="es-CO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00" name="CuadroTexto 199">
            <a:extLst>
              <a:ext uri="{FF2B5EF4-FFF2-40B4-BE49-F238E27FC236}">
                <a16:creationId xmlns:a16="http://schemas.microsoft.com/office/drawing/2014/main" id="{B2C8661A-19B4-EE41-F982-C7887072C2F8}"/>
              </a:ext>
            </a:extLst>
          </p:cNvPr>
          <p:cNvSpPr txBox="1"/>
          <p:nvPr/>
        </p:nvSpPr>
        <p:spPr>
          <a:xfrm>
            <a:off x="4140736" y="5856787"/>
            <a:ext cx="137625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2%</a:t>
            </a:r>
          </a:p>
          <a:p>
            <a:r>
              <a:rPr lang="es-CO" sz="1400" b="1" dirty="0">
                <a:solidFill>
                  <a:schemeClr val="bg1"/>
                </a:solidFill>
              </a:rPr>
              <a:t>      </a:t>
            </a:r>
            <a:r>
              <a:rPr lang="es-CO" sz="1400" b="1" dirty="0" err="1">
                <a:solidFill>
                  <a:schemeClr val="bg1"/>
                </a:solidFill>
              </a:rPr>
              <a:t>Fusagasuga</a:t>
            </a:r>
            <a:endParaRPr lang="es-CO" sz="1400" b="1" dirty="0">
              <a:solidFill>
                <a:schemeClr val="bg1"/>
              </a:solidFill>
            </a:endParaRPr>
          </a:p>
        </p:txBody>
      </p:sp>
      <p:pic>
        <p:nvPicPr>
          <p:cNvPr id="205" name="Imagen 204">
            <a:extLst>
              <a:ext uri="{FF2B5EF4-FFF2-40B4-BE49-F238E27FC236}">
                <a16:creationId xmlns:a16="http://schemas.microsoft.com/office/drawing/2014/main" id="{F9A04E48-E2F9-9EEB-6327-DDF0642581F7}"/>
              </a:ext>
            </a:extLst>
          </p:cNvPr>
          <p:cNvPicPr>
            <a:picLocks noChangeAspect="1"/>
          </p:cNvPicPr>
          <p:nvPr/>
        </p:nvPicPr>
        <p:blipFill>
          <a:blip r:embed="rId22">
            <a:duotone>
              <a:prstClr val="black"/>
              <a:schemeClr val="tx1">
                <a:lumMod val="75000"/>
                <a:lumOff val="25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84538" y="5846263"/>
            <a:ext cx="673981" cy="673981"/>
          </a:xfrm>
          <a:prstGeom prst="rect">
            <a:avLst/>
          </a:prstGeom>
        </p:spPr>
      </p:pic>
      <p:grpSp>
        <p:nvGrpSpPr>
          <p:cNvPr id="208" name="Grupo 207">
            <a:extLst>
              <a:ext uri="{FF2B5EF4-FFF2-40B4-BE49-F238E27FC236}">
                <a16:creationId xmlns:a16="http://schemas.microsoft.com/office/drawing/2014/main" id="{2B71D3B3-9468-0B63-2182-E51426A97DFA}"/>
              </a:ext>
            </a:extLst>
          </p:cNvPr>
          <p:cNvGrpSpPr/>
          <p:nvPr/>
        </p:nvGrpSpPr>
        <p:grpSpPr>
          <a:xfrm>
            <a:off x="10245555" y="853892"/>
            <a:ext cx="1956550" cy="5540381"/>
            <a:chOff x="7793864" y="1110832"/>
            <a:chExt cx="1816602" cy="1780012"/>
          </a:xfrm>
        </p:grpSpPr>
        <p:sp>
          <p:nvSpPr>
            <p:cNvPr id="212" name="Rectángulo 211">
              <a:extLst>
                <a:ext uri="{FF2B5EF4-FFF2-40B4-BE49-F238E27FC236}">
                  <a16:creationId xmlns:a16="http://schemas.microsoft.com/office/drawing/2014/main" id="{34D129FA-2AA2-B332-F7A1-BBBEF93905D5}"/>
                </a:ext>
              </a:extLst>
            </p:cNvPr>
            <p:cNvSpPr/>
            <p:nvPr/>
          </p:nvSpPr>
          <p:spPr>
            <a:xfrm>
              <a:off x="7814360" y="1110832"/>
              <a:ext cx="1666611" cy="1780012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5" name="CuadroTexto 214">
              <a:extLst>
                <a:ext uri="{FF2B5EF4-FFF2-40B4-BE49-F238E27FC236}">
                  <a16:creationId xmlns:a16="http://schemas.microsoft.com/office/drawing/2014/main" id="{39B862B5-1C73-D915-853E-9676CE57101E}"/>
                </a:ext>
              </a:extLst>
            </p:cNvPr>
            <p:cNvSpPr txBox="1"/>
            <p:nvPr/>
          </p:nvSpPr>
          <p:spPr>
            <a:xfrm>
              <a:off x="7793864" y="1161252"/>
              <a:ext cx="1816602" cy="1141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1600">
                  <a:solidFill>
                    <a:srgbClr val="FFC000"/>
                  </a:solidFill>
                  <a:latin typeface="KG Red Hands" panose="02000505000000020004" pitchFamily="2" charset="0"/>
                </a:rPr>
                <a:t>Top Empresas</a:t>
              </a:r>
              <a:endParaRPr lang="es-ES" sz="1600">
                <a:solidFill>
                  <a:srgbClr val="FFC000"/>
                </a:solidFill>
              </a:endParaRPr>
            </a:p>
          </p:txBody>
        </p:sp>
        <p:sp>
          <p:nvSpPr>
            <p:cNvPr id="214" name="CuadroTexto 213">
              <a:extLst>
                <a:ext uri="{FF2B5EF4-FFF2-40B4-BE49-F238E27FC236}">
                  <a16:creationId xmlns:a16="http://schemas.microsoft.com/office/drawing/2014/main" id="{3E4D4FA9-2741-8020-5510-CB28C5866364}"/>
                </a:ext>
              </a:extLst>
            </p:cNvPr>
            <p:cNvSpPr txBox="1"/>
            <p:nvPr/>
          </p:nvSpPr>
          <p:spPr>
            <a:xfrm>
              <a:off x="7830402" y="1354030"/>
              <a:ext cx="1689688" cy="3263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sz="500" b="1" dirty="0">
                  <a:solidFill>
                    <a:schemeClr val="bg1"/>
                  </a:solidFill>
                </a:rPr>
                <a:t>COLSUBSIDIO	27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MINUTO DE DIOS	5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INPEC	4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G EMPRESARIAL EN LINEA SA	4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NTT DATA COLOMBIA S. A. S.	4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ADM JUDI DE CUNDINAMARCA	4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G DE CUNDINAMARCA	4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CONSORCIO EXPRESS S A S	3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CLINICA COLSANITAS S.A.	3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DIR SECCIONAL ADMON JUDI	3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BANCO DE OCCIDENTE S A	3</a:t>
              </a:r>
            </a:p>
            <a:p>
              <a:r>
                <a:rPr lang="es-CO" sz="500" b="1" dirty="0">
                  <a:solidFill>
                    <a:schemeClr val="bg1"/>
                  </a:solidFill>
                </a:rPr>
                <a:t>	                               </a:t>
              </a: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8BB7F813-A7C6-9449-E0BB-BFD4B152A870}"/>
              </a:ext>
            </a:extLst>
          </p:cNvPr>
          <p:cNvSpPr txBox="1"/>
          <p:nvPr/>
        </p:nvSpPr>
        <p:spPr>
          <a:xfrm>
            <a:off x="10330342" y="6461181"/>
            <a:ext cx="142926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100" dirty="0">
                <a:solidFill>
                  <a:srgbClr val="FFC000"/>
                </a:solidFill>
                <a:latin typeface="KG Red Hands" panose="02000505000000020004" pitchFamily="2" charset="0"/>
              </a:rPr>
              <a:t>*Corte 15/01/2026</a:t>
            </a:r>
            <a:endParaRPr lang="es-ES" sz="1100" dirty="0">
              <a:solidFill>
                <a:srgbClr val="FFC000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94B3CEE-6CAC-B739-E003-EC61D5DB47EF}"/>
              </a:ext>
            </a:extLst>
          </p:cNvPr>
          <p:cNvSpPr txBox="1"/>
          <p:nvPr/>
        </p:nvSpPr>
        <p:spPr>
          <a:xfrm>
            <a:off x="7923846" y="6148684"/>
            <a:ext cx="127427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18%</a:t>
            </a:r>
            <a:r>
              <a:rPr lang="es-CO" sz="1400" b="1" dirty="0">
                <a:solidFill>
                  <a:schemeClr val="bg1"/>
                </a:solidFill>
              </a:rPr>
              <a:t>          B </a:t>
            </a:r>
            <a:r>
              <a:rPr lang="es-CO" sz="1400" b="1" dirty="0" err="1">
                <a:solidFill>
                  <a:schemeClr val="bg1"/>
                </a:solidFill>
              </a:rPr>
              <a:t>Bilvao</a:t>
            </a:r>
            <a:endParaRPr lang="es-CO" sz="1400" b="1" dirty="0">
              <a:solidFill>
                <a:schemeClr val="bg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2506365-B84C-0CD4-858F-E0574ACBE074}"/>
              </a:ext>
            </a:extLst>
          </p:cNvPr>
          <p:cNvSpPr txBox="1"/>
          <p:nvPr/>
        </p:nvSpPr>
        <p:spPr>
          <a:xfrm>
            <a:off x="9042700" y="6139712"/>
            <a:ext cx="127427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14%</a:t>
            </a:r>
            <a:r>
              <a:rPr lang="es-CO" sz="1400" b="1" dirty="0">
                <a:solidFill>
                  <a:schemeClr val="bg1"/>
                </a:solidFill>
              </a:rPr>
              <a:t>          Davivienda</a:t>
            </a:r>
          </a:p>
        </p:txBody>
      </p:sp>
    </p:spTree>
    <p:extLst>
      <p:ext uri="{BB962C8B-B14F-4D97-AF65-F5344CB8AC3E}">
        <p14:creationId xmlns:p14="http://schemas.microsoft.com/office/powerpoint/2010/main" val="31951698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A1597A235830847BE0E22F91AF13140" ma:contentTypeVersion="18" ma:contentTypeDescription="Crear nuevo documento." ma:contentTypeScope="" ma:versionID="48bd04bd6f2635bf15f4c00aeeac9c6a">
  <xsd:schema xmlns:xsd="http://www.w3.org/2001/XMLSchema" xmlns:xs="http://www.w3.org/2001/XMLSchema" xmlns:p="http://schemas.microsoft.com/office/2006/metadata/properties" xmlns:ns1="http://schemas.microsoft.com/sharepoint/v3" xmlns:ns2="1d421adb-72e5-4d87-ace8-0aaa30b24409" xmlns:ns3="46aec23b-a94f-4600-94a4-d49accea19d2" targetNamespace="http://schemas.microsoft.com/office/2006/metadata/properties" ma:root="true" ma:fieldsID="74f729e539598f2727f172a6c981afc1" ns1:_="" ns2:_="" ns3:_="">
    <xsd:import namespace="http://schemas.microsoft.com/sharepoint/v3"/>
    <xsd:import namespace="1d421adb-72e5-4d87-ace8-0aaa30b24409"/>
    <xsd:import namespace="46aec23b-a94f-4600-94a4-d49accea19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4" nillable="true" ma:displayName="Propiedades de la Directiva de cumplimiento unificado" ma:hidden="true" ma:internalName="_ip_UnifiedCompliancePolicyProperties">
      <xsd:simpleType>
        <xsd:restriction base="dms:Note"/>
      </xsd:simpleType>
    </xsd:element>
    <xsd:element name="_ip_UnifiedCompliancePolicyUIAction" ma:index="15" nillable="true" ma:displayName="Acción de IU de la Directiva de cumplimiento unificado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421adb-72e5-4d87-ace8-0aaa30b244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n" ma:readOnly="false" ma:fieldId="{5cf76f15-5ced-4ddc-b409-7134ff3c332f}" ma:taxonomyMulti="true" ma:sspId="615e11ee-7774-49ee-bc99-2ecbdf2ab5e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aec23b-a94f-4600-94a4-d49accea19d2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57df90cb-3711-40d5-a3e3-a1027fd07eda}" ma:internalName="TaxCatchAll" ma:showField="CatchAllData" ma:web="46aec23b-a94f-4600-94a4-d49accea19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46aec23b-a94f-4600-94a4-d49accea19d2" xsi:nil="true"/>
    <_ip_UnifiedCompliancePolicyProperties xmlns="http://schemas.microsoft.com/sharepoint/v3" xsi:nil="true"/>
    <lcf76f155ced4ddcb4097134ff3c332f xmlns="1d421adb-72e5-4d87-ace8-0aaa30b2440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7DDC44E-2DC3-492D-9729-A8B36F44D9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1d421adb-72e5-4d87-ace8-0aaa30b24409"/>
    <ds:schemaRef ds:uri="46aec23b-a94f-4600-94a4-d49accea19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C3DD470-9F16-42FE-952D-317CE0BEC80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3B83EDE-54B3-4978-8DAB-2633E71E764D}">
  <ds:schemaRefs>
    <ds:schemaRef ds:uri="http://purl.org/dc/dcmitype/"/>
    <ds:schemaRef ds:uri="http://schemas.microsoft.com/office/2006/documentManagement/types"/>
    <ds:schemaRef ds:uri="21323721-1c2a-4d18-bf49-4709133caf70"/>
    <ds:schemaRef ds:uri="http://purl.org/dc/elements/1.1/"/>
    <ds:schemaRef ds:uri="http://www.w3.org/XML/1998/namespace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schemas.microsoft.com/sharepoint/v3"/>
    <ds:schemaRef ds:uri="46aec23b-a94f-4600-94a4-d49accea19d2"/>
    <ds:schemaRef ds:uri="1d421adb-72e5-4d87-ace8-0aaa30b24409"/>
  </ds:schemaRefs>
</ds:datastoreItem>
</file>

<file path=docMetadata/LabelInfo.xml><?xml version="1.0" encoding="utf-8"?>
<clbl:labelList xmlns:clbl="http://schemas.microsoft.com/office/2020/mipLabelMetadata">
  <clbl:label id="{79ad402c-ae6c-4756-ae09-651fc7a4e0ab}" enabled="0" method="" siteId="{79ad402c-ae6c-4756-ae09-651fc7a4e0a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6369</TotalTime>
  <Words>6396</Words>
  <Application>Microsoft Office PowerPoint</Application>
  <PresentationFormat>Widescreen</PresentationFormat>
  <Paragraphs>2258</Paragraphs>
  <Slides>22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ADOLFO GANTIVA RINCON</dc:creator>
  <cp:lastModifiedBy>JULIAN AYARTH MORALES ARANGUREN</cp:lastModifiedBy>
  <cp:revision>3</cp:revision>
  <dcterms:created xsi:type="dcterms:W3CDTF">2025-06-13T18:49:46Z</dcterms:created>
  <dcterms:modified xsi:type="dcterms:W3CDTF">2026-07-17T21:33:09Z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0x0101007A1597A235830847BE0E22F91AF13140</vt:lpwstr>
  </property>
</Properties>
</file>